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核心信号是高压实正极材料的竞争前移至前驱体环节：10万吨磷酸二氢锂项目主体完工，指向磷酸铁锂路线补链；同时行业数据显示全年需求约169万吨而稳定量产供货仅120万至135万吨，存在刚性缺口。政策端，动力电池质量安全大会强调全链安全，铁路运输新规11月1日实施，利好规范企业。整体看，供给瓶颈与标准趋严并行，具备前驱体一体化能力的企业可能获得结构性优势。</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今日磷酸铁锂行业核心信号是高压实正极材料的竞争前移至前驱体环节：10万吨磷酸二氢锂项目主体完工，指向磷酸铁锂路线补链；同时行业数据显示全年需求</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今日磷酸铁锂行业核心信号是高压实正极材料的竞争前移至前驱体环节：10万吨磷酸二氢锂项目主体完工，指向磷酸铁锂路线补链；同时行业数据显示全年需求</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1316736"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高压实磷酸铁锂的竞争焦点正从正极材料产能向前驱体磷酸二氢锂延伸，10万吨项目主体完工是补链信号；行业需求约169万吨、稳定供货仅120万至135万吨的缺口意味着短期供给偏紧；</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877824"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高压实磷酸铁锂的技术路线出现分化：一条是正极材料环节的压实密度提升，另一条是向前驱体磷酸二氢锂延伸补链；10万吨磷酸二氢锂项目主体完工表明后一条路线正在获得产能支撑，可能降低</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[3]</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877824"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供给端出现补链动作：10万吨磷酸二氢锂项目主体完工，指向高压实铁锂前驱体产能扩张；需求端行业全年需求约169万吨而稳定量产供货仅120万至135万吨，缺口约34万至49万吨，</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877824"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供给缺口约34万至49万吨的格局下，高压实磷酸铁锂前驱体及正极材料价格存在支撑；但前驱体补链项目推进可能在中长期缓解紧张，价格上行空间受制于新增产能投放节奏，外购前驱体的正极</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今日磷酸铁锂行业核心信号是高压实正极材料的竞争前移至前驱体环节：10万吨磷酸二氢锂项目主体完工，指向磷酸铁锂路线补链；同时行业数据显示全年需求</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的竞争焦点正从正极材料产能向前驱体磷酸二氢锂延伸，10万吨项目主体完工是补链信号；行业需求约169万吨、稳定供货仅120万至135万吨的缺口意味着短期供给偏紧；动力电池质量安全大会与铁路运输新规强化全链安全与合规要求，可能加速低端产能出清。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上述信号相互关联：前驱体补链直接针对高压实铁锂的供给瓶颈，而质量安全大会和铁路新规从标准端抬高准入门槛，两者共同作用可能使具备一体化前驱体能力的企业在供给缺口期获得份额。需要继续调研的是：该10万吨磷酸二氢锂项目的投产时间表、实际配套的正极客户，以及铁路新规对电池运输成本的具体影响幅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该磷酸二氢锂项目按预期投产且良率达标，则高压实铁锂前驱体供给缺口可能收窄，具备自供能力的企业成本优势显现；跟踪指标包括项目投产公告、月度磷酸二氢锂价格及高压实铁锂出货量；证据边界在于项目进度仅见主体完工，尚无试产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高压实磷酸铁锂的竞争焦点正</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行业需求约169万吨、稳定</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动力电池质量安全大会与铁路</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高压实磷酸铁锂的竞争焦点正</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若该磷酸二氢锂项目按预期投产且良率达标，则高压实铁锂前驱体供给缺口可能收窄，具备自供能力的企业成本优势显现</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的技术路线出现分化：一条是正极材料环节的压实密度提升，另一条是向前驱体磷酸二氢锂延伸补链；10万吨磷酸二氢锂项目主体完工表明后一条路线正在获得产能支撑，可能降低对进口或外购前驱体的依赖。 [3]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该信号与今日结论中的供给缺口直接相关：前驱体自供能力决定高压实铁锂的稳定量产上限。若磷酸二氢锂路线成熟，可能影响现有外购前驱体的正极厂商成本结构，并改变高压实产品的竞争格局。需要验证的是该路线的产品一致性数据、下游电芯厂认证进度，以及与传统磷酸铁路线的成本对比。</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磷酸二氢锂路线在2027年一季度前实现批量供货且压实密度达标，则高压实铁锂前驱体外购比例可能下降，拥有该路线的企业议价能力增强；跟踪指标为项目试产公告、下游电芯厂认证通过数量；证据边界在于当前仅有主体完工信息，无量产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高压实磷酸铁锂的技术路线出</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10万吨磷酸二氢锂项目主体</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[3] 该信号与今日结论中</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高压实磷酸铁锂的技术路线出</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若磷酸二氢锂路线在2027年一季度前实现批量供货且压实密度达标，则高压实铁锂前驱体外购比例可能下降，拥有该路线的企业议价能力增强</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供给端出现补链动作：10万吨磷酸二氢锂项目主体完工，指向高压实铁锂前驱体产能扩张；需求端行业全年需求约169万吨而稳定量产供货仅120万至135万吨，缺口约34万至49万吨，短期供给偏紧格局延续。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该产能信号与需求缺口形成对照：前驱体补链是缓解缺口的必要条件，但主体完工到稳定量产仍有时间差，短期缺口难以快速填补。可能影响具备前驱体自供能力或已锁定前驱体长协的正极厂商，使其在客户订单获取上更具优势。需要调研的是该10万吨项目的下游客户意向、投产节奏，以及其他前驱体项目的在建进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前驱体缺口在2027年上半年仍未收窄，则高压实铁锂正极价格可能维持坚挺，拥有前驱体产能的企业订单份额提升；跟踪指标为月度前驱体产量、正极厂开工率、下游电芯厂招标价格；证据边界在于缺口数据来自单一行业搜索摘要，需交叉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落地链路</a:t>
            </a:r>
            <a:endParaRPr lang="en-US" sz="1200" dirty="0"/>
          </a:p>
        </p:txBody>
      </p:sp>
      <p:sp>
        <p:nvSpPr>
          <p:cNvPr id="24" name="Shape 22"/>
          <p:cNvSpPr/>
          <p:nvPr/>
        </p:nvSpPr>
        <p:spPr>
          <a:xfrm>
            <a:off x="7882128" y="2029968"/>
            <a:ext cx="2377440" cy="365760"/>
          </a:xfrm>
          <a:prstGeom prst="roundRect">
            <a:avLst>
              <a:gd name="adj" fmla="val 10000"/>
            </a:avLst>
          </a:prstGeom>
          <a:solidFill>
            <a:srgbClr val="F4FAF6"/>
          </a:solidFill>
          <a:ln w="8890">
            <a:solidFill>
              <a:srgbClr val="DADADA"/>
            </a:solidFill>
            <a:prstDash val="solid"/>
          </a:ln>
        </p:spPr>
      </p:sp>
      <p:sp>
        <p:nvSpPr>
          <p:cNvPr id="25" name="Text 23"/>
          <p:cNvSpPr/>
          <p:nvPr/>
        </p:nvSpPr>
        <p:spPr>
          <a:xfrm>
            <a:off x="8028432" y="2139696"/>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产能</a:t>
            </a:r>
            <a:endParaRPr lang="en-US" sz="720" dirty="0"/>
          </a:p>
        </p:txBody>
      </p:sp>
      <p:sp>
        <p:nvSpPr>
          <p:cNvPr id="26" name="Text 24"/>
          <p:cNvSpPr/>
          <p:nvPr/>
        </p:nvSpPr>
        <p:spPr>
          <a:xfrm>
            <a:off x="8613648" y="2139696"/>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供给端出现补链动作：10万吨磷酸二</a:t>
            </a:r>
            <a:endParaRPr lang="en-US" sz="700" dirty="0"/>
          </a:p>
        </p:txBody>
      </p:sp>
      <p:sp>
        <p:nvSpPr>
          <p:cNvPr id="27" name="Shape 25"/>
          <p:cNvSpPr/>
          <p:nvPr/>
        </p:nvSpPr>
        <p:spPr>
          <a:xfrm>
            <a:off x="8979408" y="2441448"/>
            <a:ext cx="164592" cy="146304"/>
          </a:xfrm>
          <a:prstGeom prst="downArrow">
            <a:avLst/>
          </a:prstGeom>
          <a:solidFill>
            <a:srgbClr val="7F9D84"/>
          </a:solidFill>
          <a:ln w="12700">
            <a:solidFill>
              <a:srgbClr val="7F9D84"/>
            </a:solidFill>
            <a:prstDash val="solid"/>
          </a:ln>
        </p:spPr>
      </p:sp>
      <p:sp>
        <p:nvSpPr>
          <p:cNvPr id="28" name="Shape 26"/>
          <p:cNvSpPr/>
          <p:nvPr/>
        </p:nvSpPr>
        <p:spPr>
          <a:xfrm>
            <a:off x="7882128" y="2596896"/>
            <a:ext cx="2377440" cy="365760"/>
          </a:xfrm>
          <a:prstGeom prst="roundRect">
            <a:avLst>
              <a:gd name="adj" fmla="val 10000"/>
            </a:avLst>
          </a:prstGeom>
          <a:solidFill>
            <a:srgbClr val="FFFFFF"/>
          </a:solidFill>
          <a:ln w="8890">
            <a:solidFill>
              <a:srgbClr val="DADADA"/>
            </a:solidFill>
            <a:prstDash val="solid"/>
          </a:ln>
        </p:spPr>
      </p:sp>
      <p:sp>
        <p:nvSpPr>
          <p:cNvPr id="29" name="Text 27"/>
          <p:cNvSpPr/>
          <p:nvPr/>
        </p:nvSpPr>
        <p:spPr>
          <a:xfrm>
            <a:off x="8028432" y="2706624"/>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客户</a:t>
            </a:r>
            <a:endParaRPr lang="en-US" sz="720" dirty="0"/>
          </a:p>
        </p:txBody>
      </p:sp>
      <p:sp>
        <p:nvSpPr>
          <p:cNvPr id="30" name="Text 28"/>
          <p:cNvSpPr/>
          <p:nvPr/>
        </p:nvSpPr>
        <p:spPr>
          <a:xfrm>
            <a:off x="8613648" y="2706624"/>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需求端行业全年需求约169万吨而稳</a:t>
            </a:r>
            <a:endParaRPr lang="en-US" sz="700" dirty="0"/>
          </a:p>
        </p:txBody>
      </p:sp>
      <p:sp>
        <p:nvSpPr>
          <p:cNvPr id="31" name="Shape 29"/>
          <p:cNvSpPr/>
          <p:nvPr/>
        </p:nvSpPr>
        <p:spPr>
          <a:xfrm>
            <a:off x="8979408" y="3008376"/>
            <a:ext cx="164592" cy="146304"/>
          </a:xfrm>
          <a:prstGeom prst="downArrow">
            <a:avLst/>
          </a:prstGeom>
          <a:solidFill>
            <a:srgbClr val="7F9D84"/>
          </a:solidFill>
          <a:ln w="12700">
            <a:solidFill>
              <a:srgbClr val="7F9D84"/>
            </a:solidFill>
            <a:prstDash val="solid"/>
          </a:ln>
        </p:spPr>
      </p:sp>
      <p:sp>
        <p:nvSpPr>
          <p:cNvPr id="32" name="Shape 30"/>
          <p:cNvSpPr/>
          <p:nvPr/>
        </p:nvSpPr>
        <p:spPr>
          <a:xfrm>
            <a:off x="7882128" y="3163824"/>
            <a:ext cx="2377440" cy="365760"/>
          </a:xfrm>
          <a:prstGeom prst="roundRect">
            <a:avLst>
              <a:gd name="adj" fmla="val 10000"/>
            </a:avLst>
          </a:prstGeom>
          <a:solidFill>
            <a:srgbClr val="F4FAF6"/>
          </a:solidFill>
          <a:ln w="8890">
            <a:solidFill>
              <a:srgbClr val="DADADA"/>
            </a:solidFill>
            <a:prstDash val="solid"/>
          </a:ln>
        </p:spPr>
      </p:sp>
      <p:sp>
        <p:nvSpPr>
          <p:cNvPr id="33" name="Text 31"/>
          <p:cNvSpPr/>
          <p:nvPr/>
        </p:nvSpPr>
        <p:spPr>
          <a:xfrm>
            <a:off x="8028432" y="3273552"/>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落地</a:t>
            </a:r>
            <a:endParaRPr lang="en-US" sz="720" dirty="0"/>
          </a:p>
        </p:txBody>
      </p:sp>
      <p:sp>
        <p:nvSpPr>
          <p:cNvPr id="34" name="Text 32"/>
          <p:cNvSpPr/>
          <p:nvPr/>
        </p:nvSpPr>
        <p:spPr>
          <a:xfrm>
            <a:off x="8613648" y="3273552"/>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[1] 该产能信号与需求缺口形成对</a:t>
            </a:r>
            <a:endParaRPr lang="en-US" sz="700" dirty="0"/>
          </a:p>
        </p:txBody>
      </p:sp>
      <p:sp>
        <p:nvSpPr>
          <p:cNvPr id="35" name="Text 33"/>
          <p:cNvSpPr/>
          <p:nvPr/>
        </p:nvSpPr>
        <p:spPr>
          <a:xfrm>
            <a:off x="7726680" y="4535424"/>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用企业、项目、产能、客户的链路承接文字结论。</a:t>
            </a:r>
            <a:endParaRPr lang="en-US" sz="760" dirty="0"/>
          </a:p>
        </p:txBody>
      </p:sp>
      <p:sp>
        <p:nvSpPr>
          <p:cNvPr id="36" name="Shape 34"/>
          <p:cNvSpPr/>
          <p:nvPr/>
        </p:nvSpPr>
        <p:spPr>
          <a:xfrm>
            <a:off x="658368" y="5779008"/>
            <a:ext cx="1463040" cy="292608"/>
          </a:xfrm>
          <a:prstGeom prst="rect">
            <a:avLst/>
          </a:prstGeom>
          <a:solidFill>
            <a:srgbClr val="121212"/>
          </a:solidFill>
          <a:ln w="12700">
            <a:solidFill>
              <a:srgbClr val="121212"/>
            </a:solidFill>
            <a:prstDash val="solid"/>
          </a:ln>
        </p:spPr>
      </p:sp>
      <p:sp>
        <p:nvSpPr>
          <p:cNvPr id="37" name="Text 35"/>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8" name="Text 36"/>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若前驱体缺口在2027年上半年仍未收窄，则高压实铁锂正极价格可能维持坚挺，拥有前驱体产能的企业订单份额提升</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供给缺口约34万至49万吨的格局下，高压实磷酸铁锂前驱体及正极材料价格存在支撑；但前驱体补链项目推进可能在中长期缓解紧张，价格上行空间受制于新增产能投放节奏，外购前驱体的正极厂商短期盈利压力相对更大。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价格信号与产能信号互为因果：缺口支撑价格，而补链项目是价格回落的潜在变量。当前主体完工尚未形成实际供给，因此短期价格支撑逻辑强于回落逻辑。可能影响外购前驱体比例高的正极企业毛利率，而一体化企业相对受益。需要跟踪磷酸二氢锂现货报价、前驱体加工费以及正极厂库存天数。</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前驱体新增产能于2027年下半年集中释放，则高压实铁锂前驱体价格可能承压，外购厂商成本压力缓解但一体化厂商溢价收窄；跟踪指标为季度前驱体产能投放量、磷酸二氢锂市场均价；证据边界在于当前仅有主体完工信息，实际产出时间不确定。</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因果图</a:t>
            </a:r>
            <a:endParaRPr lang="en-US" sz="1200" dirty="0"/>
          </a:p>
        </p:txBody>
      </p:sp>
      <p:sp>
        <p:nvSpPr>
          <p:cNvPr id="24" name="Shape 22"/>
          <p:cNvSpPr/>
          <p:nvPr/>
        </p:nvSpPr>
        <p:spPr>
          <a:xfrm>
            <a:off x="7845552" y="3063240"/>
            <a:ext cx="2432304" cy="0"/>
          </a:xfrm>
          <a:prstGeom prst="line">
            <a:avLst/>
          </a:prstGeom>
          <a:noFill/>
          <a:ln w="15240">
            <a:solidFill>
              <a:srgbClr val="487052"/>
            </a:solidFill>
            <a:prstDash val="solid"/>
          </a:ln>
        </p:spPr>
      </p:sp>
      <p:sp>
        <p:nvSpPr>
          <p:cNvPr id="25" name="Shape 23"/>
          <p:cNvSpPr/>
          <p:nvPr/>
        </p:nvSpPr>
        <p:spPr>
          <a:xfrm>
            <a:off x="10012680" y="2889504"/>
            <a:ext cx="384048" cy="347472"/>
          </a:xfrm>
          <a:prstGeom prst="rightArrow">
            <a:avLst/>
          </a:prstGeom>
          <a:solidFill>
            <a:srgbClr val="487052"/>
          </a:solidFill>
          <a:ln w="12700">
            <a:solidFill>
              <a:srgbClr val="487052"/>
            </a:solidFill>
            <a:prstDash val="solid"/>
          </a:ln>
        </p:spPr>
      </p:sp>
      <p:sp>
        <p:nvSpPr>
          <p:cNvPr id="26" name="Text 24"/>
          <p:cNvSpPr/>
          <p:nvPr/>
        </p:nvSpPr>
        <p:spPr>
          <a:xfrm>
            <a:off x="9893808" y="3310128"/>
            <a:ext cx="475488" cy="146304"/>
          </a:xfrm>
          <a:prstGeom prst="rect">
            <a:avLst/>
          </a:prstGeom>
          <a:noFill/>
          <a:ln/>
        </p:spPr>
        <p:txBody>
          <a:bodyPr wrap="square" lIns="0" tIns="0" rIns="0" bIns="0" rtlCol="0" anchor="ct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影响</a:t>
            </a:r>
            <a:endParaRPr lang="en-US" sz="740" dirty="0"/>
          </a:p>
        </p:txBody>
      </p:sp>
      <p:sp>
        <p:nvSpPr>
          <p:cNvPr id="27" name="Shape 25"/>
          <p:cNvSpPr/>
          <p:nvPr/>
        </p:nvSpPr>
        <p:spPr>
          <a:xfrm>
            <a:off x="8028432" y="2359152"/>
            <a:ext cx="402336" cy="704088"/>
          </a:xfrm>
          <a:prstGeom prst="line">
            <a:avLst/>
          </a:prstGeom>
          <a:noFill/>
          <a:ln w="11430">
            <a:solidFill>
              <a:srgbClr val="7F9D84"/>
            </a:solidFill>
            <a:prstDash val="solid"/>
          </a:ln>
        </p:spPr>
      </p:sp>
      <p:sp>
        <p:nvSpPr>
          <p:cNvPr id="28" name="Shape 26"/>
          <p:cNvSpPr/>
          <p:nvPr/>
        </p:nvSpPr>
        <p:spPr>
          <a:xfrm>
            <a:off x="7882128" y="2249424"/>
            <a:ext cx="786384" cy="310896"/>
          </a:xfrm>
          <a:prstGeom prst="roundRect">
            <a:avLst>
              <a:gd name="adj" fmla="val 11765"/>
            </a:avLst>
          </a:prstGeom>
          <a:solidFill>
            <a:srgbClr val="F4FAF6"/>
          </a:solidFill>
          <a:ln w="7620">
            <a:solidFill>
              <a:srgbClr val="DADADA"/>
            </a:solidFill>
            <a:prstDash val="solid"/>
          </a:ln>
        </p:spPr>
      </p:sp>
      <p:sp>
        <p:nvSpPr>
          <p:cNvPr id="29" name="Text 27"/>
          <p:cNvSpPr/>
          <p:nvPr/>
        </p:nvSpPr>
        <p:spPr>
          <a:xfrm>
            <a:off x="7973568"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价格</a:t>
            </a:r>
            <a:endParaRPr lang="en-US" sz="680" dirty="0"/>
          </a:p>
        </p:txBody>
      </p:sp>
      <p:sp>
        <p:nvSpPr>
          <p:cNvPr id="30" name="Text 28"/>
          <p:cNvSpPr/>
          <p:nvPr/>
        </p:nvSpPr>
        <p:spPr>
          <a:xfrm>
            <a:off x="7863840"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供给缺口约34万至</a:t>
            </a:r>
            <a:endParaRPr lang="en-US" sz="640" dirty="0"/>
          </a:p>
        </p:txBody>
      </p:sp>
      <p:sp>
        <p:nvSpPr>
          <p:cNvPr id="31" name="Shape 29"/>
          <p:cNvSpPr/>
          <p:nvPr/>
        </p:nvSpPr>
        <p:spPr>
          <a:xfrm>
            <a:off x="8686800" y="3063240"/>
            <a:ext cx="402336" cy="685800"/>
          </a:xfrm>
          <a:prstGeom prst="line">
            <a:avLst/>
          </a:prstGeom>
          <a:noFill/>
          <a:ln w="11430">
            <a:solidFill>
              <a:srgbClr val="7F9D84"/>
            </a:solidFill>
            <a:prstDash val="solid"/>
          </a:ln>
        </p:spPr>
      </p:sp>
      <p:sp>
        <p:nvSpPr>
          <p:cNvPr id="32" name="Shape 30"/>
          <p:cNvSpPr/>
          <p:nvPr/>
        </p:nvSpPr>
        <p:spPr>
          <a:xfrm>
            <a:off x="8540496" y="3639312"/>
            <a:ext cx="786384" cy="310896"/>
          </a:xfrm>
          <a:prstGeom prst="roundRect">
            <a:avLst>
              <a:gd name="adj" fmla="val 11765"/>
            </a:avLst>
          </a:prstGeom>
          <a:solidFill>
            <a:srgbClr val="F4FAF6"/>
          </a:solidFill>
          <a:ln w="7620">
            <a:solidFill>
              <a:srgbClr val="DADADA"/>
            </a:solidFill>
            <a:prstDash val="solid"/>
          </a:ln>
        </p:spPr>
      </p:sp>
      <p:sp>
        <p:nvSpPr>
          <p:cNvPr id="33" name="Text 31"/>
          <p:cNvSpPr/>
          <p:nvPr/>
        </p:nvSpPr>
        <p:spPr>
          <a:xfrm>
            <a:off x="8631936" y="3739896"/>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成本</a:t>
            </a:r>
            <a:endParaRPr lang="en-US" sz="680" dirty="0"/>
          </a:p>
        </p:txBody>
      </p:sp>
      <p:sp>
        <p:nvSpPr>
          <p:cNvPr id="34" name="Text 32"/>
          <p:cNvSpPr/>
          <p:nvPr/>
        </p:nvSpPr>
        <p:spPr>
          <a:xfrm>
            <a:off x="8522208" y="4005072"/>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但前驱体补链项目推</a:t>
            </a:r>
            <a:endParaRPr lang="en-US" sz="640" dirty="0"/>
          </a:p>
        </p:txBody>
      </p:sp>
      <p:sp>
        <p:nvSpPr>
          <p:cNvPr id="35" name="Shape 33"/>
          <p:cNvSpPr/>
          <p:nvPr/>
        </p:nvSpPr>
        <p:spPr>
          <a:xfrm>
            <a:off x="9345168" y="2359152"/>
            <a:ext cx="402336" cy="704088"/>
          </a:xfrm>
          <a:prstGeom prst="line">
            <a:avLst/>
          </a:prstGeom>
          <a:noFill/>
          <a:ln w="11430">
            <a:solidFill>
              <a:srgbClr val="7F9D84"/>
            </a:solidFill>
            <a:prstDash val="solid"/>
          </a:ln>
        </p:spPr>
      </p:sp>
      <p:sp>
        <p:nvSpPr>
          <p:cNvPr id="36" name="Shape 34"/>
          <p:cNvSpPr/>
          <p:nvPr/>
        </p:nvSpPr>
        <p:spPr>
          <a:xfrm>
            <a:off x="9198864" y="2249424"/>
            <a:ext cx="786384" cy="310896"/>
          </a:xfrm>
          <a:prstGeom prst="roundRect">
            <a:avLst>
              <a:gd name="adj" fmla="val 11765"/>
            </a:avLst>
          </a:prstGeom>
          <a:solidFill>
            <a:srgbClr val="F4FAF6"/>
          </a:solidFill>
          <a:ln w="7620">
            <a:solidFill>
              <a:srgbClr val="DADADA"/>
            </a:solidFill>
            <a:prstDash val="solid"/>
          </a:ln>
        </p:spPr>
      </p:sp>
      <p:sp>
        <p:nvSpPr>
          <p:cNvPr id="37" name="Text 35"/>
          <p:cNvSpPr/>
          <p:nvPr/>
        </p:nvSpPr>
        <p:spPr>
          <a:xfrm>
            <a:off x="9290304"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利润</a:t>
            </a:r>
            <a:endParaRPr lang="en-US" sz="680" dirty="0"/>
          </a:p>
        </p:txBody>
      </p:sp>
      <p:sp>
        <p:nvSpPr>
          <p:cNvPr id="38" name="Text 36"/>
          <p:cNvSpPr/>
          <p:nvPr/>
        </p:nvSpPr>
        <p:spPr>
          <a:xfrm>
            <a:off x="9180576"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[1] 价格信号与</a:t>
            </a:r>
            <a:endParaRPr lang="en-US" sz="640" dirty="0"/>
          </a:p>
        </p:txBody>
      </p:sp>
      <p:sp>
        <p:nvSpPr>
          <p:cNvPr id="39" name="Text 37"/>
          <p:cNvSpPr/>
          <p:nvPr/>
        </p:nvSpPr>
        <p:spPr>
          <a:xfrm>
            <a:off x="7726680" y="4517136"/>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参考鱼骨图逻辑，只表达来源文本中的原因和影响。</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若前驱体新增产能于2027年下半年集中释放，则高压实铁锂前驱体价格可能承压，外购厂商成本压力缓解但一体化厂商溢价收窄</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政策端双线推进：第四届动力电池质量安全大会强调全链安全与质量，国家铁路局锂电池铁路运输新规11月1日实施；两者共同抬高生产与运输环节的合规门槛，可能加速低质产能出清，规范企业相对受益。 [2][4]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质量安全大会与铁路新规形成政策组合：前者从生产端强调全链质量，后者从运输端规范锂电池流通，可能增加不合规企业的运营成本。对磷酸铁锂行业而言，运输规范可能影响电池及材料的物流成本结构，而质量安全要求可能推动下游电芯厂提高对正极材料一致性的要求。需要调研铁路新规的具体运输条件、成本变化，以及质量安全大会是否形成新的行业标准草案。</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铁路新规实施后锂电池运输成本上升或审批趋严，则依赖铁路运输的材料企业物流成本可能增加，靠近客户布局产能的企业优势显现；跟踪指标为新规实施后首月锂电池铁路运量、运输报价变化；证据边界在于新规具体条款尚未见全文，影响幅度待评估。</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政策端双线推进：第四届动力电池质量</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两者共同抬高生产与运输环节的合规门</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[2][4] 质量安全大会与铁路新</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若铁路新规实施后锂电池运输成本上升或审批趋严，则依赖铁路运输的材料企业物流成本可能增加，靠近客户布局产能的企业优势显现</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竞品路线方面，磷酸铁锂与三元等其他路线在动力电池质量安全大会同台讨论，全链安全成为共同议题；同时内河电动化被提及为动力电池新战场，可能为磷酸铁锂打开船舶等新应用场景，但当前信号尚处早期。 [5][4]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依据：[5][4]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竞品观察需关注两条线：一是质量安全大会是否推动不同技术路线在安全标准上的统一，从而削弱磷酸铁锂的安全叙事优势；二是内河电动化若形成规模，可能为磷酸铁锂带来增量需求，但船用电池对循环寿命和成本的要求与车用不同。需要调研内河电动化的电池技术选型倾向、船用磷酸铁锂的认证进展，以及大会是否形成跨路线的安全共识文件。</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内河电动化在2027年形成批量订单且技术选型倾向磷酸铁锂，则磷酸铁锂需求增量可能超出车用市场预期；跟踪指标为内河船舶电动化项目招标数量、船用电池技术路线公告；证据边界在于当前仅为行业会议提及，无具体订单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竞品路线方面，磷酸铁锂与三</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同时内河电动化被提及为动力</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[5][4] 竞品观察需关</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竞品路线方面，磷酸铁锂与三</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若内河电动化在2027年形成批量订单且技术选型倾向磷酸铁锂，则磷酸铁锂需求增量可能超出车用市场预期</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机会在于前驱体补链与供给缺口并存，具备一体化能力的企业可能获得结构性优势；风险在于补链项目投产不及预期或质量安全标准执行趋严带来合规成本上升；需观察铁路新规实施效果、前驱体项目试产进度及下游电芯厂认证节奏。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与机会同源：供给缺口是机会，但补链项目进度是变量；政策趋严是风险，但也是低端产能出清的机会。两者传导路径均指向行业集中度可能提升。需要持续调研的是：10万吨磷酸二氢锂项目的试产时间与良率、铁路新规对运输成本的实际影响、以及质量安全大会后续是否出台具体标准文件。</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前驱体项目试产良率低于预期且铁路新规推高运输成本，则高压实铁锂供给缺口可能延长，价格支撑增强但下游电池成本压力上升；跟踪指标为项目试产公告、铁路锂电池运价、电芯厂采购价格；证据边界在于试产数据尚未披露，运输成本影响待新规实施后评估。</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机会在于前驱体补链与供</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风险在于补链项目投产不</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需观察铁路新规实施效果</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需观察铁路新规实施效果</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若前驱体项目试产良率低于预期且铁路新规推高运输成本，则高压实铁锂供给缺口可能延长，价格支撑增强但下游电池成本压力上升</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10万吨磷酸二氢锂主体完工!高压实磷酸铁锂的“另一条路线”正在补链</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2TN2Gq0-dvXdW_GiwQuiceZ4YHbQDZR4lqXa8Fplpd9ERkSRS6AmNGJpepzRLRcx1tShTE6ckp2F9BFWGJMeXkqdPKR4bYjHSG_9tPEGeROFJgsgdCB0I93rCWC36sETt6gTFQDdTcG9RwMn-JOLVwQoU2k1ZYtFNpoPxUPxLUETrcfV7PKlN9_jJpkqcTP8Tjnb_IVdqwZJHjpuhPohw_y08OLTBhW0A..&amp;type=2&amp;query=%E9%93%81%E9%94%82 %E9%AB%98%E5%8E%8B%E5%AE%9E %E6%AD%A3%E6%9E%81%E6%9D%90%E6%96%99 %E9%87%8F%E4%BA%A7&amp;token=C0E9011E93870BB5A1A6FEA73058DD89A1FE1B256AE411E3</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锂电池上铁路，有标准了！国家铁路局新规11月1日实施 - 京报网</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https://news.bjd.com.cn/2026/10/29/12011097.shtml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10万吨磷酸二氢锂主体完工!高压实磷酸铁锂的“另一条路线”正在补链</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2TN2Gq0-dvXdW_GiwQuiceZ4YHbQDZR4lqXa8Fplpd9zGb_lbg8xz8l91Abygjvwqn7DCXqRrnjGnvvunIrUT0qQPc-Brud-52C-W50IO2l8c41W9hXUN9kH3V_50UREqFh5hRJAh6vP4VSq3jzEH74wZ98mp-T7KLT52hHlWYZGAnGXUmx7QtcTM7U1R8yqIjpXphHGvPGe-lEimZRQ7jdrgozfSg6bw..&amp;type=2&amp;query=%E9%93%81%E9%94%82 %E9%AB%98%E5%8E%8B%E5%AE%9E %E6%AD%A3%E6%9E%81%E6%9D%90%E6%96%99 %E9%87%8F%E4%BA%A7&amp;token=C0E9011E93870BB5A1A6FEA73058DD89A1FE1B256AE411E3</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全链向新 质领安全——第四届动力电池质量安全大会在郴州临武召开 - 新</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https://news.google.com/rss/articles/CBMigAFBVV95cUxOWDhZU2YxU2E0VkFKNmwzZndEUVIwbXA3MkpPU3QwRXItckdmcWloMS1WdzZic0pTbk5wd0RqZjBrWUFFMmlTd25oaDVvdjZCVGhYQUZMWS0tcEk3ZTU1UTNRLUt0RFBoRzk1ZDFTc2RxenZNM1lCSzFfVGYwUVlxUQ?oc=5</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内河电动化，动力电池“新战场” - 搜狐网</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https://news.google.com/rss/articles/CBMijAFBVV95cUxPanRFMW1HbEZRUHRXaUNCdWRHdlg4ejlyN0o3cjF2anNiVW1HV0E4S0wzejNlYm1rZnBMQkx6SXd6QV9mZE9sOHluSnY3NGNmM1FMajY0V0l6STJwWWp0TmZDdTVVenZWRWE5ZTJDRHBVdGlJNU1KQWtTQkZnWWdiT19oYm1SVXR1LWNRSg?oc=5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我国研发新型无钴高镍正极材料 显著提升快充效率与循环寿命_电池网</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https://www.itdcw.com/news/focus/100415Rb2026.html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【正极材料周报】湖南裕能拟20亿元于湖南湘潭再建厂！万华化学山东莱州项</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https://www.itdcw.com/news/dczk/102615X3H026.html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2026-10-30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国新办举行国务院政策例行吹风会 介绍加强中小企业回款难问题治理有关工作</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http://www.miit.gov.cn/xwfb/bldhd/art/2026/art_7285ee48244d4f20b0f127c7f013ec11.html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四部门关于开展2026年度享受增值税加计抵减政策的集成电路企业清单制定</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http://www.miit.gov.cn/zwgk/zcwj/wjfb/tz/art/2026/art_7d2e760b4be94217b8f55caec840b30d.html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万润新能源</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磷酸铁锂-湖北万润新能源科技股份有限公司_动力电池材料_消费电池材料_</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https://www.hbwanrun.com/application_details/1.html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https://www.yunengchem.com/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友山科技</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友山科技</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https://www.youshan-tech.com/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2026-10-30</dc:title>
  <dc:subject>LFP daily briefing</dc:subject>
  <dc:creator>lifepo4_brief</dc:creator>
  <cp:lastModifiedBy>lifepo4_brief</cp:lastModifiedBy>
  <cp:revision>1</cp:revision>
  <dcterms:created xsi:type="dcterms:W3CDTF">2026-10-30T03:42:25Z</dcterms:created>
  <dcterms:modified xsi:type="dcterms:W3CDTF">2026-10-30T03:42:25Z</dcterms:modified>
</cp:coreProperties>
</file>