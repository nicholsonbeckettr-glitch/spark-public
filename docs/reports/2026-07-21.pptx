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需求超预期，头部企业排产大增30%，价格同步上涨，湖南裕能等企业利润预期大幅提升。同时，行业出现分化：高压实产品量产推进，但部分企业产能利用率低仍扩产，动力电池回收新规施行带来合规压力。埃安电芯故障事件引发对电池安全与质量的关注。</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今日磷酸铁锂行业需求超预期，头部企业排产大增30%，价格同步上涨，湖南裕能等企业利润预期大幅提升。同时，行业出现分化：高压实产品量产推进，但部</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今日磷酸铁锂行业需求超预期，头部企业排产大增30%，价格同步上涨，湖南裕能等企业利润预期大幅提升。同时，行业出现分化：高压实产品量产推进，但部</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1316736"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三季度需求超预期，头部企业排产大增30%，价格同步上涨，湖南裕能利润预期大幅提升。但行业分化加剧：高压实产品量产推进，部分企业产能利用率低仍扩产，动力电池回收新规施行带来合规</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第五代高压实磷酸铁锂产品已进入中试量产阶段，持续向高端动力市场渗透。二代刀片电池上市后，磷酸铁锂与三元锂电池的竞争格局进一步明确。</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[3][4]</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三季度需求超预期，头部企业排产大增30%，湖南裕能等企业利润预期大幅提升。但部分企业产能利用率低仍扩产，如安纳达拟33亿元投磷酸铁一体化项目，其产能利用率去年仅为34%。</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[1][5]</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877824"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磷酸铁锂价格暴涨84%，预计湖南裕能26年利润剑指45亿。但部分企业产能利用率低，盈利压力较大。</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今日磷酸铁锂行业需求超预期，头部企业排产大增30%，价格同步上涨，湖南裕能等企业利润预期大幅提升。同时，行业出现分化：高压实产品量产推进，但部</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三季度需求超预期，头部企业排产大增30%，价格同步上涨，湖南裕能利润预期大幅提升。但行业分化加剧：高压实产品量产推进，部分企业产能利用率低仍扩产，动力电池回收新规施行带来合规压力。埃安电芯故障事件引发对电池安全与质量的关注。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公众号报道三季度需求超预期，头部企业排产大增30%，价格同步上涨，湖南裕能利润预期大幅提升。同时，高压实产品量产推进，但部分企业产能利用率低仍扩产，动力电池回收新规施行带来合规压力。埃安电芯故障事件引发对电池安全与质量的关注。</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若三季度需求持续超预期，则头部企业排产和利润有望进一步增长，但需跟踪下游订单实际交付情况。若价格继续上涨，则可能刺激更多产能释放，需关注新增产能对供需平衡的影响。</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786384"/>
          </a:xfrm>
          <a:prstGeom prst="roundRect">
            <a:avLst>
              <a:gd name="adj" fmla="val 4651"/>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30%</a:t>
            </a:r>
            <a:endParaRPr lang="en-US" sz="16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头部企业排产大增</a:t>
            </a:r>
            <a:endParaRPr lang="en-US" sz="820" dirty="0"/>
          </a:p>
        </p:txBody>
      </p:sp>
      <p:sp>
        <p:nvSpPr>
          <p:cNvPr id="27" name="Text 25"/>
          <p:cNvSpPr/>
          <p:nvPr/>
        </p:nvSpPr>
        <p:spPr>
          <a:xfrm>
            <a:off x="7918704" y="2578608"/>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公开信息：三季度需求超预期，头部企业排产大增30%，价格同步上涨，湖</a:t>
            </a:r>
            <a:endParaRPr lang="en-US" sz="840" dirty="0"/>
          </a:p>
        </p:txBody>
      </p:sp>
      <p:sp>
        <p:nvSpPr>
          <p:cNvPr id="28" name="Shape 26"/>
          <p:cNvSpPr/>
          <p:nvPr/>
        </p:nvSpPr>
        <p:spPr>
          <a:xfrm>
            <a:off x="7772400" y="2926080"/>
            <a:ext cx="2560320" cy="786384"/>
          </a:xfrm>
          <a:prstGeom prst="roundRect">
            <a:avLst>
              <a:gd name="adj" fmla="val 4651"/>
            </a:avLst>
          </a:prstGeom>
          <a:solidFill>
            <a:srgbClr val="FFFFFF"/>
          </a:solidFill>
          <a:ln w="7620">
            <a:solidFill>
              <a:srgbClr val="DADADA"/>
            </a:solidFill>
            <a:prstDash val="solid"/>
          </a:ln>
        </p:spPr>
      </p:sp>
      <p:sp>
        <p:nvSpPr>
          <p:cNvPr id="29" name="Text 27"/>
          <p:cNvSpPr/>
          <p:nvPr/>
        </p:nvSpPr>
        <p:spPr>
          <a:xfrm>
            <a:off x="7918704" y="3035808"/>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30%</a:t>
            </a:r>
            <a:endParaRPr lang="en-US" sz="1600" dirty="0"/>
          </a:p>
        </p:txBody>
      </p:sp>
      <p:sp>
        <p:nvSpPr>
          <p:cNvPr id="30" name="Text 28"/>
          <p:cNvSpPr/>
          <p:nvPr/>
        </p:nvSpPr>
        <p:spPr>
          <a:xfrm>
            <a:off x="8759952" y="3099816"/>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头部企业排产大增</a:t>
            </a:r>
            <a:endParaRPr lang="en-US" sz="820" dirty="0"/>
          </a:p>
        </p:txBody>
      </p:sp>
      <p:sp>
        <p:nvSpPr>
          <p:cNvPr id="31" name="Text 29"/>
          <p:cNvSpPr/>
          <p:nvPr/>
        </p:nvSpPr>
        <p:spPr>
          <a:xfrm>
            <a:off x="7918704" y="3511296"/>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公开信息：[1][2] 公众号报道三季度需求超预期，头部企业排产大增</a:t>
            </a:r>
            <a:endParaRPr lang="en-US" sz="840" dirty="0"/>
          </a:p>
        </p:txBody>
      </p:sp>
      <p:sp>
        <p:nvSpPr>
          <p:cNvPr id="32" name="Text 30"/>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若三季度需求持续超预期，则头部企业排产和利润有望进一步增长，但需跟踪下游订单实际交付情况</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第五代高压实磷酸铁锂产品已进入中试量产阶段，持续向高端动力市场渗透。二代刀片电池上市后，磷酸铁锂与三元锂电池的竞争格局进一步明确。 [3][4]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公众号报道第五代高压实产品已进入中试量产阶段，持续向高端动力市场渗透。二代刀片电池上市后，磷酸铁锂与三元锂电池的竞争格局进一步明确。</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若高压实产品量产顺利，则有望在高端动力市场替代部分三元电池，需跟踪其能量密度和成本数据。若二代刀片电池持续放量，则磷酸铁锂在乘用车领域的渗透率可能进一步提升。</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第五代高压实磷酸铁锂产品已</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二代刀片电池上市后，磷酸铁</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[3][4] 公众号报道第</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第五代高压实磷酸铁锂产品已</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若高压实产品量产顺利，则有望在高端动力市场替代部分三元电池，需跟踪其能量密度和成本数据</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三季度需求超预期，头部企业排产大增30%，湖南裕能等企业利润预期大幅提升。但部分企业产能利用率低仍扩产，如安纳达拟33亿元投磷酸铁一体化项目，其产能利用率去年仅为34%。 [1][5]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公众号报道三季度需求超预期，头部企业排产大增30%，湖南裕能等企业利润预期大幅提升。但部分企业产能利用率低仍扩产，如安纳达拟33亿元投磷酸铁一体化项目，其产能利用率去年仅为34%。</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若头部企业排产持续增长，则其市场份额可能进一步集中，需跟踪其客户订单稳定性。若安纳达等企业扩产项目落地，则可能加剧行业产能过剩，需关注其产能利用率能否提升。</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关键数据解读</a:t>
            </a:r>
            <a:endParaRPr lang="en-US" sz="1200" dirty="0"/>
          </a:p>
        </p:txBody>
      </p:sp>
      <p:sp>
        <p:nvSpPr>
          <p:cNvPr id="24" name="Shape 22"/>
          <p:cNvSpPr/>
          <p:nvPr/>
        </p:nvSpPr>
        <p:spPr>
          <a:xfrm>
            <a:off x="7772400" y="1993392"/>
            <a:ext cx="2560320" cy="786384"/>
          </a:xfrm>
          <a:prstGeom prst="roundRect">
            <a:avLst>
              <a:gd name="adj" fmla="val 4651"/>
            </a:avLst>
          </a:prstGeom>
          <a:solidFill>
            <a:srgbClr val="F4FAF6"/>
          </a:solidFill>
          <a:ln w="7620">
            <a:solidFill>
              <a:srgbClr val="DADADA"/>
            </a:solidFill>
            <a:prstDash val="solid"/>
          </a:ln>
        </p:spPr>
      </p:sp>
      <p:sp>
        <p:nvSpPr>
          <p:cNvPr id="25" name="Text 23"/>
          <p:cNvSpPr/>
          <p:nvPr/>
        </p:nvSpPr>
        <p:spPr>
          <a:xfrm>
            <a:off x="7918704" y="2103120"/>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30%</a:t>
            </a:r>
            <a:endParaRPr lang="en-US" sz="1600" dirty="0"/>
          </a:p>
        </p:txBody>
      </p:sp>
      <p:sp>
        <p:nvSpPr>
          <p:cNvPr id="26" name="Text 24"/>
          <p:cNvSpPr/>
          <p:nvPr/>
        </p:nvSpPr>
        <p:spPr>
          <a:xfrm>
            <a:off x="8759952" y="2167128"/>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头部企业排产大增</a:t>
            </a:r>
            <a:endParaRPr lang="en-US" sz="820" dirty="0"/>
          </a:p>
        </p:txBody>
      </p:sp>
      <p:sp>
        <p:nvSpPr>
          <p:cNvPr id="27" name="Text 25"/>
          <p:cNvSpPr/>
          <p:nvPr/>
        </p:nvSpPr>
        <p:spPr>
          <a:xfrm>
            <a:off x="7918704" y="2578608"/>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公开信息：三季度需求超预期，头部企业排产大增30%，湖南裕能等企业利</a:t>
            </a:r>
            <a:endParaRPr lang="en-US" sz="840" dirty="0"/>
          </a:p>
        </p:txBody>
      </p:sp>
      <p:sp>
        <p:nvSpPr>
          <p:cNvPr id="28" name="Shape 26"/>
          <p:cNvSpPr/>
          <p:nvPr/>
        </p:nvSpPr>
        <p:spPr>
          <a:xfrm>
            <a:off x="7772400" y="2926080"/>
            <a:ext cx="2560320" cy="786384"/>
          </a:xfrm>
          <a:prstGeom prst="roundRect">
            <a:avLst>
              <a:gd name="adj" fmla="val 4651"/>
            </a:avLst>
          </a:prstGeom>
          <a:solidFill>
            <a:srgbClr val="FFFFFF"/>
          </a:solidFill>
          <a:ln w="7620">
            <a:solidFill>
              <a:srgbClr val="DADADA"/>
            </a:solidFill>
            <a:prstDash val="solid"/>
          </a:ln>
        </p:spPr>
      </p:sp>
      <p:sp>
        <p:nvSpPr>
          <p:cNvPr id="29" name="Text 27"/>
          <p:cNvSpPr/>
          <p:nvPr/>
        </p:nvSpPr>
        <p:spPr>
          <a:xfrm>
            <a:off x="7918704" y="3035808"/>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34%</a:t>
            </a:r>
            <a:endParaRPr lang="en-US" sz="1600" dirty="0"/>
          </a:p>
        </p:txBody>
      </p:sp>
      <p:sp>
        <p:nvSpPr>
          <p:cNvPr id="30" name="Text 28"/>
          <p:cNvSpPr/>
          <p:nvPr/>
        </p:nvSpPr>
        <p:spPr>
          <a:xfrm>
            <a:off x="8759952" y="3099816"/>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其产能利用率去年仅</a:t>
            </a:r>
            <a:endParaRPr lang="en-US" sz="820" dirty="0"/>
          </a:p>
        </p:txBody>
      </p:sp>
      <p:sp>
        <p:nvSpPr>
          <p:cNvPr id="31" name="Text 29"/>
          <p:cNvSpPr/>
          <p:nvPr/>
        </p:nvSpPr>
        <p:spPr>
          <a:xfrm>
            <a:off x="7918704" y="3511296"/>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公开信息：但部分企业产能利用率低仍扩产，如安纳达拟33亿元投磷酸铁一</a:t>
            </a:r>
            <a:endParaRPr lang="en-US" sz="840" dirty="0"/>
          </a:p>
        </p:txBody>
      </p:sp>
      <p:sp>
        <p:nvSpPr>
          <p:cNvPr id="32" name="Shape 30"/>
          <p:cNvSpPr/>
          <p:nvPr/>
        </p:nvSpPr>
        <p:spPr>
          <a:xfrm>
            <a:off x="7772400" y="3858768"/>
            <a:ext cx="2560320" cy="786384"/>
          </a:xfrm>
          <a:prstGeom prst="roundRect">
            <a:avLst>
              <a:gd name="adj" fmla="val 4651"/>
            </a:avLst>
          </a:prstGeom>
          <a:solidFill>
            <a:srgbClr val="F4FAF6"/>
          </a:solidFill>
          <a:ln w="7620">
            <a:solidFill>
              <a:srgbClr val="DADADA"/>
            </a:solidFill>
            <a:prstDash val="solid"/>
          </a:ln>
        </p:spPr>
      </p:sp>
      <p:sp>
        <p:nvSpPr>
          <p:cNvPr id="33" name="Text 31"/>
          <p:cNvSpPr/>
          <p:nvPr/>
        </p:nvSpPr>
        <p:spPr>
          <a:xfrm>
            <a:off x="7918704" y="3968496"/>
            <a:ext cx="822960" cy="384048"/>
          </a:xfrm>
          <a:prstGeom prst="rect">
            <a:avLst/>
          </a:prstGeom>
          <a:noFill/>
          <a:ln/>
        </p:spPr>
        <p:txBody>
          <a:bodyPr wrap="square" lIns="0" tIns="0" rIns="0" bIns="0" rtlCol="0" anchor="ctr">
            <a:normAutofit/>
          </a:bodyPr>
          <a:lstStyle/>
          <a:p>
            <a:pPr indent="0" marL="0">
              <a:buNone/>
            </a:pPr>
            <a:r>
              <a:rPr lang="en-US" sz="1600" b="1" dirty="0">
                <a:solidFill>
                  <a:srgbClr val="487052"/>
                </a:solidFill>
                <a:latin typeface="Aptos" pitchFamily="34" charset="0"/>
                <a:ea typeface="Aptos" pitchFamily="34" charset="-122"/>
                <a:cs typeface="Aptos" pitchFamily="34" charset="-120"/>
              </a:rPr>
              <a:t>30%</a:t>
            </a:r>
            <a:endParaRPr lang="en-US" sz="1600" dirty="0"/>
          </a:p>
        </p:txBody>
      </p:sp>
      <p:sp>
        <p:nvSpPr>
          <p:cNvPr id="34" name="Text 32"/>
          <p:cNvSpPr/>
          <p:nvPr/>
        </p:nvSpPr>
        <p:spPr>
          <a:xfrm>
            <a:off x="8759952" y="4032504"/>
            <a:ext cx="1371600" cy="201168"/>
          </a:xfrm>
          <a:prstGeom prst="rect">
            <a:avLst/>
          </a:prstGeom>
          <a:noFill/>
          <a:ln/>
        </p:spPr>
        <p:txBody>
          <a:bodyPr wrap="square" lIns="0" tIns="0" rIns="0" bIns="0" rtlCol="0" anchor="ctr">
            <a:normAutofit/>
          </a:bodyPr>
          <a:lstStyle/>
          <a:p>
            <a:pPr indent="0" marL="0">
              <a:buNone/>
            </a:pPr>
            <a:r>
              <a:rPr lang="en-US" sz="820" b="1" dirty="0">
                <a:solidFill>
                  <a:srgbClr val="121212"/>
                </a:solidFill>
                <a:latin typeface="Microsoft YaHei" pitchFamily="34" charset="0"/>
                <a:ea typeface="Microsoft YaHei" pitchFamily="34" charset="-122"/>
                <a:cs typeface="Microsoft YaHei" pitchFamily="34" charset="-120"/>
              </a:rPr>
              <a:t>头部企业排产大增</a:t>
            </a:r>
            <a:endParaRPr lang="en-US" sz="820" dirty="0"/>
          </a:p>
        </p:txBody>
      </p:sp>
      <p:sp>
        <p:nvSpPr>
          <p:cNvPr id="35" name="Text 33"/>
          <p:cNvSpPr/>
          <p:nvPr/>
        </p:nvSpPr>
        <p:spPr>
          <a:xfrm>
            <a:off x="7918704" y="4443984"/>
            <a:ext cx="2176272" cy="201168"/>
          </a:xfrm>
          <a:prstGeom prst="rect">
            <a:avLst/>
          </a:prstGeom>
          <a:noFill/>
          <a:ln/>
        </p:spPr>
        <p:txBody>
          <a:bodyPr wrap="square" lIns="0" tIns="0" rIns="0" bIns="0" rtlCol="0" anchor="t">
            <a:normAutofit/>
          </a:bodyPr>
          <a:lstStyle/>
          <a:p>
            <a:pPr indent="0" marL="0">
              <a:buNone/>
            </a:pPr>
            <a:r>
              <a:rPr lang="en-US" sz="840" dirty="0">
                <a:solidFill>
                  <a:srgbClr val="121212"/>
                </a:solidFill>
                <a:latin typeface="Microsoft YaHei" pitchFamily="34" charset="0"/>
                <a:ea typeface="Microsoft YaHei" pitchFamily="34" charset="-122"/>
                <a:cs typeface="Microsoft YaHei" pitchFamily="34" charset="-120"/>
              </a:rPr>
              <a:t>公开信息：[1][5] 公众号报道三季度需求超预期，头部企业排产大增</a:t>
            </a:r>
            <a:endParaRPr lang="en-US" sz="840" dirty="0"/>
          </a:p>
        </p:txBody>
      </p:sp>
      <p:sp>
        <p:nvSpPr>
          <p:cNvPr id="36" name="Text 34"/>
          <p:cNvSpPr/>
          <p:nvPr/>
        </p:nvSpPr>
        <p:spPr>
          <a:xfrm>
            <a:off x="7772400" y="4498848"/>
            <a:ext cx="2560320" cy="384048"/>
          </a:xfrm>
          <a:prstGeom prst="rect">
            <a:avLst/>
          </a:prstGeom>
          <a:noFill/>
          <a:ln/>
        </p:spPr>
        <p:txBody>
          <a:bodyPr wrap="square" lIns="0" tIns="0" rIns="0" bIns="0" rtlCol="0" anchor="t">
            <a:normAutofit/>
          </a:bodyPr>
          <a:lstStyle/>
          <a:p>
            <a:pPr indent="0" marL="0">
              <a:buNone/>
            </a:pPr>
            <a:r>
              <a:rPr lang="en-US" sz="800" dirty="0">
                <a:solidFill>
                  <a:srgbClr val="6D756F"/>
                </a:solidFill>
                <a:latin typeface="Microsoft YaHei" pitchFamily="34" charset="0"/>
                <a:ea typeface="Microsoft YaHei" pitchFamily="34" charset="-122"/>
                <a:cs typeface="Microsoft YaHei" pitchFamily="34" charset="-120"/>
              </a:rPr>
              <a:t>阅读提示：仅按公开报道原文呈现；不同企业、时间和统计范围不可直接横向比较。</a:t>
            </a:r>
            <a:endParaRPr lang="en-US" sz="800" dirty="0"/>
          </a:p>
        </p:txBody>
      </p:sp>
      <p:sp>
        <p:nvSpPr>
          <p:cNvPr id="37" name="Shape 35"/>
          <p:cNvSpPr/>
          <p:nvPr/>
        </p:nvSpPr>
        <p:spPr>
          <a:xfrm>
            <a:off x="658368" y="5779008"/>
            <a:ext cx="1463040" cy="292608"/>
          </a:xfrm>
          <a:prstGeom prst="rect">
            <a:avLst/>
          </a:prstGeom>
          <a:solidFill>
            <a:srgbClr val="121212"/>
          </a:solidFill>
          <a:ln w="12700">
            <a:solidFill>
              <a:srgbClr val="121212"/>
            </a:solidFill>
            <a:prstDash val="solid"/>
          </a:ln>
        </p:spPr>
      </p:sp>
      <p:sp>
        <p:nvSpPr>
          <p:cNvPr id="38" name="Text 36"/>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9" name="Text 37"/>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若头部企业排产持续增长，则其市场份额可能进一步集中，需跟踪其客户订单稳定性</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DYNAMIC SIGNALS</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1143000" y="932688"/>
            <a:ext cx="256032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重点板块</a:t>
            </a:r>
            <a:endParaRPr lang="en-US" sz="2000" dirty="0"/>
          </a:p>
        </p:txBody>
      </p:sp>
      <p:sp>
        <p:nvSpPr>
          <p:cNvPr id="10" name="Shape 8"/>
          <p:cNvSpPr/>
          <p:nvPr/>
        </p:nvSpPr>
        <p:spPr>
          <a:xfrm>
            <a:off x="658368" y="1371600"/>
            <a:ext cx="10881360" cy="1225296"/>
          </a:xfrm>
          <a:prstGeom prst="roundRect">
            <a:avLst>
              <a:gd name="adj" fmla="val 5970"/>
            </a:avLst>
          </a:prstGeom>
          <a:solidFill>
            <a:srgbClr val="F4FAF6"/>
          </a:solidFill>
          <a:ln w="10160">
            <a:solidFill>
              <a:srgbClr val="DADADA"/>
            </a:solidFill>
            <a:prstDash val="solid"/>
          </a:ln>
        </p:spPr>
      </p:sp>
      <p:sp>
        <p:nvSpPr>
          <p:cNvPr id="11" name="Text 9"/>
          <p:cNvSpPr/>
          <p:nvPr/>
        </p:nvSpPr>
        <p:spPr>
          <a:xfrm>
            <a:off x="932688" y="1536192"/>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价格/盈利压力</a:t>
            </a:r>
            <a:endParaRPr lang="en-US" sz="1250" dirty="0"/>
          </a:p>
        </p:txBody>
      </p:sp>
      <p:sp>
        <p:nvSpPr>
          <p:cNvPr id="12" name="Text 10"/>
          <p:cNvSpPr/>
          <p:nvPr/>
        </p:nvSpPr>
        <p:spPr>
          <a:xfrm>
            <a:off x="2788920" y="1536192"/>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事实判断：磷酸铁锂价格暴涨84%，预计湖南裕能26年利润剑指45亿。但部分企业产能利用率低，盈利压力较大。 [2] 影响分析：新闻显示磷酸铁锂价格暴涨84%，预计湖南裕能26年利润剑指45亿。但部分企业产能利用率低，盈利压力较大。 后续研判：若价格持续上涨，则头部企业盈利有望改善，但需跟踪原材料成本变化。若价格回落，则高成本产能可能面临出清，需关注行业平均成本曲线。</a:t>
            </a:r>
            <a:endParaRPr lang="en-US" sz="910" dirty="0"/>
          </a:p>
        </p:txBody>
      </p:sp>
      <p:sp>
        <p:nvSpPr>
          <p:cNvPr id="13" name="Text 11"/>
          <p:cNvSpPr/>
          <p:nvPr/>
        </p:nvSpPr>
        <p:spPr>
          <a:xfrm>
            <a:off x="2788920" y="2322576"/>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依据：[2]</a:t>
            </a:r>
            <a:endParaRPr lang="en-US" sz="740" dirty="0"/>
          </a:p>
        </p:txBody>
      </p:sp>
      <p:sp>
        <p:nvSpPr>
          <p:cNvPr id="14" name="Shape 12"/>
          <p:cNvSpPr/>
          <p:nvPr/>
        </p:nvSpPr>
        <p:spPr>
          <a:xfrm>
            <a:off x="658368" y="2889504"/>
            <a:ext cx="10881360" cy="1225296"/>
          </a:xfrm>
          <a:prstGeom prst="roundRect">
            <a:avLst>
              <a:gd name="adj" fmla="val 5970"/>
            </a:avLst>
          </a:prstGeom>
          <a:solidFill>
            <a:srgbClr val="FFFFFF"/>
          </a:solidFill>
          <a:ln w="10160">
            <a:solidFill>
              <a:srgbClr val="DADADA"/>
            </a:solidFill>
            <a:prstDash val="solid"/>
          </a:ln>
        </p:spPr>
      </p:sp>
      <p:sp>
        <p:nvSpPr>
          <p:cNvPr id="15" name="Text 13"/>
          <p:cNvSpPr/>
          <p:nvPr/>
        </p:nvSpPr>
        <p:spPr>
          <a:xfrm>
            <a:off x="932688" y="3054096"/>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政策/合规风险</a:t>
            </a:r>
            <a:endParaRPr lang="en-US" sz="1250" dirty="0"/>
          </a:p>
        </p:txBody>
      </p:sp>
      <p:sp>
        <p:nvSpPr>
          <p:cNvPr id="16" name="Text 14"/>
          <p:cNvSpPr/>
          <p:nvPr/>
        </p:nvSpPr>
        <p:spPr>
          <a:xfrm>
            <a:off x="2788920" y="3054096"/>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事实判断：动力电池回收新规施行，回收商违规、车企一起罚。津巴布韦出口禁令维持，影响锂资源供应。 [6][7] 影响分析：新闻显示动力电池回收新规施行，回收商违规、车企一起罚。津巴布韦出口禁令维持，影响锂资源供应。 后续研判：若回收新规严格执行，则合规成本上升，可能淘汰部分小回收商，需跟踪政策执行力度。若津巴布韦出口禁令持续，则锂资源供应可能收紧，需关注替代来源。</a:t>
            </a:r>
            <a:endParaRPr lang="en-US" sz="910" dirty="0"/>
          </a:p>
        </p:txBody>
      </p:sp>
      <p:sp>
        <p:nvSpPr>
          <p:cNvPr id="17" name="Text 15"/>
          <p:cNvSpPr/>
          <p:nvPr/>
        </p:nvSpPr>
        <p:spPr>
          <a:xfrm>
            <a:off x="2788920" y="3840480"/>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依据：[6][7]</a:t>
            </a:r>
            <a:endParaRPr lang="en-US" sz="740" dirty="0"/>
          </a:p>
        </p:txBody>
      </p:sp>
      <p:sp>
        <p:nvSpPr>
          <p:cNvPr id="18" name="Shape 16"/>
          <p:cNvSpPr/>
          <p:nvPr/>
        </p:nvSpPr>
        <p:spPr>
          <a:xfrm>
            <a:off x="658368" y="4407408"/>
            <a:ext cx="10881360" cy="1225296"/>
          </a:xfrm>
          <a:prstGeom prst="roundRect">
            <a:avLst>
              <a:gd name="adj" fmla="val 5970"/>
            </a:avLst>
          </a:prstGeom>
          <a:solidFill>
            <a:srgbClr val="F4FAF6"/>
          </a:solidFill>
          <a:ln w="10160">
            <a:solidFill>
              <a:srgbClr val="DADADA"/>
            </a:solidFill>
            <a:prstDash val="solid"/>
          </a:ln>
        </p:spPr>
      </p:sp>
      <p:sp>
        <p:nvSpPr>
          <p:cNvPr id="19" name="Text 17"/>
          <p:cNvSpPr/>
          <p:nvPr/>
        </p:nvSpPr>
        <p:spPr>
          <a:xfrm>
            <a:off x="932688" y="4572000"/>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竞品观察</a:t>
            </a:r>
            <a:endParaRPr lang="en-US" sz="1250" dirty="0"/>
          </a:p>
        </p:txBody>
      </p:sp>
      <p:sp>
        <p:nvSpPr>
          <p:cNvPr id="20" name="Text 18"/>
          <p:cNvSpPr/>
          <p:nvPr/>
        </p:nvSpPr>
        <p:spPr>
          <a:xfrm>
            <a:off x="2788920" y="4572000"/>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事实判断：埃安177Ah电芯集中故障，引发对电池安全与质量的关注。天奇股份专注于三元锂电池及磷酸铁锂电池循环利用。 [8][9] 影响分析：新闻显示埃安177Ah电芯集中故障，引发对电池安全与质量的关注。天奇股份专注于三元锂电池及磷酸铁锂电池循环利用。 后续研判：若埃安电芯故障问题持续发酵，则可能影响其供应商订单，需跟踪故障原因和解决方案。若天奇股份在回收领域持续布局，则可能受益于回收新规，需关注其回收技术和成本。</a:t>
            </a:r>
            <a:endParaRPr lang="en-US" sz="910" dirty="0"/>
          </a:p>
        </p:txBody>
      </p:sp>
      <p:sp>
        <p:nvSpPr>
          <p:cNvPr id="21" name="Text 19"/>
          <p:cNvSpPr/>
          <p:nvPr/>
        </p:nvSpPr>
        <p:spPr>
          <a:xfrm>
            <a:off x="2788920" y="5358384"/>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依据：[8][9]</a:t>
            </a:r>
            <a:endParaRPr lang="en-US" sz="740" dirty="0"/>
          </a:p>
        </p:txBody>
      </p:sp>
      <p:sp>
        <p:nvSpPr>
          <p:cNvPr id="22" name="Shape 20"/>
          <p:cNvSpPr/>
          <p:nvPr/>
        </p:nvSpPr>
        <p:spPr>
          <a:xfrm>
            <a:off x="658368" y="5779008"/>
            <a:ext cx="1463040" cy="292608"/>
          </a:xfrm>
          <a:prstGeom prst="rect">
            <a:avLst/>
          </a:prstGeom>
          <a:solidFill>
            <a:srgbClr val="121212"/>
          </a:solidFill>
          <a:ln w="12700">
            <a:solidFill>
              <a:srgbClr val="121212"/>
            </a:solidFill>
            <a:prstDash val="solid"/>
          </a:ln>
        </p:spPr>
      </p:sp>
      <p:sp>
        <p:nvSpPr>
          <p:cNvPr id="23" name="Text 2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页面结论</a:t>
            </a:r>
            <a:endParaRPr lang="en-US" sz="780" dirty="0"/>
          </a:p>
        </p:txBody>
      </p:sp>
      <p:sp>
        <p:nvSpPr>
          <p:cNvPr id="24" name="Text 2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价格/盈利压力、政策/合规风险、竞品观察是本页重点观察方向，仍需后续公告与经营数据交叉验证。</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5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风险：产能过剩、价格波动、政策合规、电芯安全。机会：高压实产品量产、回收新规利好合规企业。观察：头部企业排产、价格走势、政策执行、电芯故障进展。 [1][2][5][6][8]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依据：[1][2][5][6][8]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风险：产能过剩、价格波动、政策合规、电芯安全。机会：高压实产品量产、回收新规利好合规企业。观察：头部企业排产、价格走势、政策执行、电芯故障进展。</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若产能过剩风险加剧，则行业可能进入洗牌期，需跟踪企业现金流和产能利用率。若回收新规利好合规企业，则相关企业可能获得竞争优势，需关注其市场份额变化。</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风险：产能过剩、价格波</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机会：高压实产品量产、</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观察：头部企业排产、价</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观察：头部企业排产、价</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若产能过剩风险加剧，则行业可能进入洗牌期，需跟踪企业现金流和产能利用率</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三季度需求超预期,磷酸铁锂头部企业排产大增30%</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68wzfjusmJW-sCA9KZmL8vQOKiMiPOh41qXa8Fplpd9G_ToOngL-zplz4DcgGOgYNTqTy3-wrAeLly1AzanSXFvawWW4V2PaI0Eek2ip4JtVxRsXTgv4mTUL-fuaw0obBOLYoKBq1udOO2yx88t07CtRXEYQ_oFWOPt35KFGJdxI7JgJ3K4aQrfq3fgJpuFYMGQUAc0efukcd-9mf3UJI7y08OLTBhW0A..&amp;type=2&amp;query=%E7%A3%B7%E9%85%B8%E9%93%81%E9%94%82 %E8%AE%A2%E5%8D%95 %E5%AE%A2%E6%88%B7 %E5%8A%A8%E5%8A%9B%E7%94%B5%E6%B1%A0&amp;token=83D62C937E56E4797D7B2A683B2775DE7E3C60C96A5ED0DB</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磷酸铁锂暴涨84% 预计湖南裕能26年利润剑指45亿？ - 手机网易网</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https://news.google.com/rss/articles/CBMiYkFVX3lxTE11UlNJVkpNMDEzTFNiQTNzdWEwakIwS1FGMDNFVkF4UUNtQXZrU1g3aTk5M1JPcE0zMHU5bEFLTDUzaXdaTEF0Y1FFalVWM0VXV2NOY2UweUhuejNqdC1XNzJR?oc=5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磷酸铁锂(LFP)正极材料制备方法</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68wzfjusmJWs1O4vZtBTaDQOKiMiPOh41qXa8Fplpd9XX8WPrUI8XK6c9_lK0v1PoYucCQO8pFpvEUjpqsun24FRUtGDhQE6231LFku5couwM0xgKNeTswVCVsmAKMp7Vi3yKGjYBmtFpFJiUUPfnQlHKHrL3LjYCC1IotDY267U0ibu2cpItyHKZFJBMzkLTG-9Ci04rX36K0XQ8UFf3sSYTqT4eyLmA..&amp;type=2&amp;query=%E9%93%81%E9%94%82 %E9%AB%98%E5%8E%8B%E5%AE%9E %E6%AD%A3%E6%9E%81%E6%9D%90%E6%96%99 %E9%87%8F%E4%BA%A7&amp;token=83D643B87C56E57B7F79286A38E432A67F0FBFBE6A5ED0DF</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二代刀片电池上市后，磷酸铁锂和三元锂电池胜负已分！ - 汽车之家</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https://news.google.com/rss/articles/CBMiXkFVX3lxTFBXTjdZTXV2dGVRRXlpQXpSQzRhMDltcG9YU0pObDFaX2toMVpxZ1RoMHEyaVJGS0tiYUxYNm01enZpbVM5TWZzRFhQV0RwZ3dOc0p5Vzh5Ym1La2w0SUE?oc=5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产能过剩仍扩产？安纳达拟33亿元投磷酸铁一体化项目，公司磷酸铁产能利用</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https://www.sohu.com/a/1052397069_121010226?scm=10001.325_13-325_13.0.0-0-0-0-0.5_1334</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动力电池回收新规施行：回收商违规、车企一起罚，谁最先坐不住？ - 新浪网</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https://news.google.com/rss/articles/CBMif0FVX3lxTE5SS0VpVnpNdFh1RS1WVGFMYWNDR3Rvb0xZN1RkZnN5Ql9nTjktSmZqejAzU1dvWkVWcm1PXzZ6M25OWEdERVBydnVTQU03LWRvOXo1dnN0Mm5aY0ZCOFE2X0RWelhCRDgzRFV1RFFNcDMwS3dpeEg0RWdTcEFYQXc?oc=5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津巴布韦出口禁令维持，6家中企跻身全球储能集成商十强</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https://finance.ifeng.com/c/8uvQewUL5ws</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埃安177Ah电芯集中故障，营运电车选购避坑干货全梳理 - 新浪网</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https://news.google.com/rss/articles/CBMickFVX3lxTE8tNWRtTXVnRXU0UHEybEQ3UEpvTkoyV0hNTUtBVU5kUmJZbW5MRy1Ld2E0bmFxQ3BMWE96VHBHRUVlVk1CZ1hlVkhlTHZsVE9DUUl5bFgycFNkd1ZheTNZMUJpem1rVXBrUzFLTGp5SFZ4Zw?oc=5</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天奇股份：锂电池循环板块再生利用业务专注于三元锂电池及磷酸铁锂电池循环</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https://news.google.com/rss/articles/CBMiZkFVX3lxTE1NS3BfR0JiZFQxZmV6eDkyTmd6T1hPS3Z6SWlpZHNwUmlnSElTbUF4dTYxRGgxNURQekd3a1E5dV9jSW5qZDZYN2JaMXRIYktSbGd3TVV4eHJqQU4xSDh0X0trenFhUQ?oc=5</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【正极材料周报】贵州贵阳拟新建60万吨高压实磷酸铁锂项目！安徽六安万吨</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https://www.itdcw.com/news/dczk/0G315B502026.html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【正极材料周报】湖南裕能斥资240亿元扩产！正极材料公司中报预告密集出</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https://www.itdcw.com/news/dczk/0H015CU2026.html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2026-07-21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锂电产业链周记 | 宁德时代签下欧洲钠电储能大单 湖南裕能磷酸铁锂产品</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https://www.jiemian.com/article/14785863.html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三部门关于做好科技型企业孵化器相关政策衔接工作的通知</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http://www.miit.gov.cn/zwgk/zcwj/wjfb/tz/art/2026/art_21446a8c153f4fae86121552fe1e9fd4.html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公开征求《车用动力电池拆解破碎安全要求》等两项强制性国家标准的意见</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https://www.miit.gov.cn/gzcy/yjzj/art/2026/art_6ee188a6acf34735a568af7ebdc507b5.html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第五届通信海缆保护政策宣传周活动正式启动</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https://www.miit.gov.cn/xwfb/gxdt/sjdt/art/2026/art_fb47488a00ee428bb3840cf4771fdb1d.html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2026-07-21</dc:title>
  <dc:subject>LFP daily briefing</dc:subject>
  <dc:creator>lifepo4_brief</dc:creator>
  <cp:lastModifiedBy>lifepo4_brief</cp:lastModifiedBy>
  <cp:revision>1</cp:revision>
  <dcterms:created xsi:type="dcterms:W3CDTF">2026-07-21T01:53:13Z</dcterms:created>
  <dcterms:modified xsi:type="dcterms:W3CDTF">2026-07-21T01:53:13Z</dcterms:modified>
</cp:coreProperties>
</file>