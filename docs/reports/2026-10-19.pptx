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 DAILY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400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LFP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" y="217627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从公开事件到产业判断的每日工程化筛选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761488"/>
            <a:ext cx="5715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信号集中在技术路线与产能扩张：宝马第六代动力电池量产，强调制造韧性，可能加速高端车型对磷酸铁锂体系的结构性采用；中国储能电池产能激增110%，全球市场同步增长，显示储能端对磷酸铁锂需求形成支撑；电动摩托车锂电池强制性国标发布，明年7月实施，将提高小动力电池安全门槛，利好合规产能。需关注产能扩张与需求增速的匹配度，以及政策对低端产能的挤出效应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960120"/>
            <a:ext cx="3886200" cy="4526280"/>
          </a:xfrm>
          <a:prstGeom prst="rect">
            <a:avLst/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1887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今日逻辑主线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82128" y="1755648"/>
            <a:ext cx="0" cy="3090672"/>
          </a:xfrm>
          <a:prstGeom prst="line">
            <a:avLst/>
          </a:prstGeom>
          <a:noFill/>
          <a:ln w="15240">
            <a:solidFill>
              <a:srgbClr val="7F9D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700784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627632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70992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技术突破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790688" y="2267712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194560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27685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产能变化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90688" y="2834640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761488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8437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90688" y="3401568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83880" y="3328416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4107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企业信号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790688" y="3968496"/>
            <a:ext cx="182880" cy="182880"/>
          </a:xfrm>
          <a:prstGeom prst="ellipse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3895344"/>
            <a:ext cx="2514600" cy="365760"/>
          </a:xfrm>
          <a:prstGeom prst="rect">
            <a:avLst/>
          </a:prstGeom>
          <a:solidFill>
            <a:srgbClr val="DDEBE0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7764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风险机会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7790688" y="4535424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4462272"/>
            <a:ext cx="2514600" cy="365760"/>
          </a:xfrm>
          <a:prstGeom prst="rect">
            <a:avLst/>
          </a:prstGeom>
          <a:solidFill>
            <a:srgbClr val="FFFFFF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45445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今日磷酸铁锂行业信号集中在技术路线与产能扩张：宝马第六代动力电池量产，强调制造韧性，可能加速高端车型对磷酸铁锂体系的结构性采用；中国储能电池产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今日总览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99669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今日磷酸铁锂行业信号集中在技术路线与产能扩张：宝马第六代动力电池量产，强调制造韧性，可能加速高端车型对磷酸铁锂体系的结构性采用；中国储能电池产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8872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188720" y="1883664"/>
            <a:ext cx="2194560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宝马第六代动力电池量产，强调制造韧性，可能推动磷酸铁锂在高端车型渗透；中国储能电池产能激增110%，全球市场同步增长，储能端对磷酸铁锂需求形成支撑；电动摩托车锂电池强制性国标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118872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[1][2][3]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36208" y="1444752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6208" y="1444752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4224" y="16276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766560" y="1609344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1883664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029968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宝马第六代动力电池量产，强调制造韧性，可能加速高端车型对磷酸铁锂体系的结构性采用；固态电池专家提出2030年实用化量产目标，短期对磷酸铁锂替代威胁有限，但长期技术路线竞争需持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6766560" y="2862072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[1][4]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58368" y="3566160"/>
            <a:ext cx="5074920" cy="1737360"/>
          </a:xfrm>
          <a:prstGeom prst="rect">
            <a:avLst/>
          </a:prstGeom>
          <a:solidFill>
            <a:srgbClr val="F4FAF6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8872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8872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中国储能电池产能激增110%，全球市场同步增长，显示储能端对磷酸铁锂需求形成支撑；全国首批锂+钠示范落地河北，大电芯路线推进，可能加剧储能电池技术路线竞争，磷酸铁锂需关注在储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118872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[2][5]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236208" y="3566160"/>
            <a:ext cx="5074920" cy="1737360"/>
          </a:xfrm>
          <a:prstGeom prst="rect">
            <a:avLst/>
          </a:prstGeom>
          <a:solidFill>
            <a:srgbClr val="FFFFFF"/>
          </a:solidFill>
          <a:ln w="8890">
            <a:solidFill>
              <a:srgbClr val="DADA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36208" y="3566160"/>
            <a:ext cx="384048" cy="17373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7490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3730752"/>
            <a:ext cx="4233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766560" y="4005072"/>
            <a:ext cx="1316736" cy="54864"/>
          </a:xfrm>
          <a:prstGeom prst="rect">
            <a:avLst/>
          </a:prstGeom>
          <a:solidFill>
            <a:srgbClr val="487052"/>
          </a:solidFill>
          <a:ln w="12700">
            <a:solidFill>
              <a:srgbClr val="48705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151376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储能电池产能激增110%可能加剧行业供给竞争，对磷酸铁锂正极材料价格形成压制；电动摩托车锂电池强制性国标发布，可能提高小动力电池合规成本，推动低端产能出清，短期对磷酸铁锂价格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766560" y="4983480"/>
            <a:ext cx="4233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[2][3]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总览结论</a:t>
            </a:r>
            <a:endParaRPr lang="en-US" sz="780" dirty="0"/>
          </a:p>
        </p:txBody>
      </p:sp>
      <p:sp>
        <p:nvSpPr>
          <p:cNvPr id="41" name="Text 3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今日磷酸铁锂行业信号集中在技术路线与产能扩张：宝马第六代动力电池量产，强调制造韧性，可能加速高端车型对磷酸铁锂体系的结构性采用；中国储能电池产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今日结论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马第六代动力电池量产，强调制造韧性，可能推动磷酸铁锂在高端车型渗透；中国储能电池产能激增110%，全球市场同步增长，储能端对磷酸铁锂需求形成支撑；电动摩托车锂电池强制性国标发布，明年7月实施，将提高小动力电池安全门槛，利好合规产能。 [1][2][3]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马量产信息与储能产能激增共同指向磷酸铁锂需求端扩张，但前者侧重技术路线验证，后者侧重产能供给；电摩国标则从合规端抬升小动力电池门槛。三者叠加可能加剧行业分化：具备技术储备和合规产能的企业受益，低端产能面临出清。需验证宝马第六代电池是否明确采用磷酸铁锂体系，以及储能产能激增是否伴随实际订单落地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宝马第六代电池明确采用磷酸铁锂体系并逐步放量，则可能带动高端车型对磷酸铁锂的认可度提升，跟踪指标包括宝马官方技术参数披露和配套电池供应商名单；若储能产能激增伴随开工率维持高位，则可能支撑磷酸铁锂正极材料需求，跟踪指标为储能电池月度产量和出口数据；若电摩国标执行严格，则可能加速小动力电池行业集中度提升，跟踪指标为合规电池企业认证进度。证据边界限于公开报道，未覆盖企业实际订单和产能利用率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中国储能电池产能激增1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公开信息：中国储能电池产能激增110%，全球市场同步增长，储能端对磷酸铁锂需求形成支撑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若宝马第六代电池明确采用磷酸铁锂体系并逐步放量，则可能带动高端车型对磷酸铁锂的认可度提升，跟踪指标包括宝马官方技术参数披露和配套电池供应商名单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技术/产品路线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宝马第六代动力电池量产，强调制造韧性，可能加速高端车型对磷酸铁锂体系的结构性采用；固态电池专家提出2030年实用化量产目标，短期对磷酸铁锂替代威胁有限，但长期技术路线竞争需持续跟踪。 [1][4]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马量产信息来自搜狐网，固态电池观点来自每日经济新闻专访，两者均涉及动力电池技术路线。宝马量产若采用磷酸铁锂体系，将强化磷酸铁锂在中高端车型的渗透逻辑；固态电池量产目标在2030年，短期不构成替代压力，但提醒行业关注技术迭代风险。需验证宝马第六代电池的具体化学体系，以及固态电池量产时间表是否有企业级进展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宝马第六代电池确认采用磷酸铁锂或磷酸铁锰锂体系，则可能提升磷酸铁锂在高端乘用车市场的份额，跟踪指标为宝马新车型电池供应商公告和材料体系披露；若固态电池在2030年前实现小批量装车，则可能对磷酸铁锂长期需求预期形成扰动，跟踪指标为固态电池装车验证进度和成本下降曲线。证据边界限于公开报道，未覆盖宝马电池采购合同细节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宝马第六代动力电池量产，强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固态电池专家提出2030年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[1][4] 宝马量产信息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宝马第六代动力电池量产，强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若宝马第六代电池确认采用磷酸铁锂或磷酸铁锰锂体系，则可能提升磷酸铁锂在高端乘用车市场的份额，跟踪指标为宝马新车型电池供应商公告和材料体系披露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产能/客户/订单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中国储能电池产能激增110%，全球市场同步增长，显示储能端对磷酸铁锂需求形成支撑；全国首批锂+钠示范落地河北，大电芯路线推进，可能加剧储能电池技术路线竞争，磷酸铁锂需关注在储能场景的份额变化。 [2][5]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依据：[2][5]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电池产能激增信息来自VOI.ID，锂+钠示范项目来自搜狐，两者均涉及储能电池供给格局。产能激增可能带动磷酸铁锂正极材料需求，但锂+钠示范项目意味着钠离子电池在储能场景的替代尝试，可能分流部分低端储能需求。需验证储能电池产能激增的实际开工率和订单来源，以及锂+钠示范项目的规模和商业化时间表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电池产能激增伴随开工率维持高位，则可能持续拉动磷酸铁锂正极材料需求，跟踪指标为储能电池月度产量、出口数据和磷酸铁锂正极材料开工率；若锂+钠示范项目在储能场景实现规模化应用，则可能对磷酸铁锂在低端储能市场的份额形成挤压，跟踪指标为钠离子电池储能项目招标规模和成本对比。证据边界限于公开报道，未覆盖具体企业订单和产能利用率数据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中国储能电池产能激增1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公开信息：中国储能电池产能激增110%，全球市场同步增长，显示储能端对磷酸铁锂需求形成支撑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若储能电池产能激增伴随开工率维持高位，则可能持续拉动磷酸铁锂正极材料需求，跟踪指标为储能电池月度产量、出口数据和磷酸铁锂正极材料开工率</a:t>
            </a:r>
            <a:endParaRPr lang="en-US" sz="10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价格/盈利压力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储能电池产能激增110%可能加剧行业供给竞争，对磷酸铁锂正极材料价格形成压制；电动摩托车锂电池强制性国标发布，可能提高小动力电池合规成本，推动低端产能出清，短期对磷酸铁锂价格影响有限。 [2][3]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依据：[2][3]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能产能激增信息来自VOI.ID，电摩国标信息来自温州新闻，两者分别从供给扩张和合规成本角度影响盈利。储能产能快速扩张可能导致电池环节价格竞争加剧，向上传导至磷酸铁锂正极材料价格；电摩国标提高安全门槛，可能增加小动力电池企业合规成本，加速低端产能退出。需验证储能电池实际价格走势和电摩国标执行力度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电池产能利用率不足且价格竞争加剧，则可能传导至磷酸铁锂正极材料价格承压，跟踪指标为储能电池月度均价和磷酸铁锂正极材料报价；若电摩国标执行严格且合规成本上升，则可能加速小动力电池行业集中度提升，跟踪指标为电摩电池企业认证通过率和退出数量。证据边界限于公开报道，未覆盖具体价格数据和成本测算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关键数据解读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1993392"/>
            <a:ext cx="2560320" cy="1389888"/>
          </a:xfrm>
          <a:prstGeom prst="roundRect">
            <a:avLst>
              <a:gd name="adj" fmla="val 2632"/>
            </a:avLst>
          </a:prstGeom>
          <a:solidFill>
            <a:srgbClr val="F4FAF6"/>
          </a:solidFill>
          <a:ln w="7620">
            <a:solidFill>
              <a:srgbClr val="DADA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18704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759952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可能加剧行业供给竞争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7918704" y="2578608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公开信息：储能电池产能激增110%可能加剧行业供给竞争，对磷酸铁锂正极材料价格形成压制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7772400" y="44988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阅读提示：仅按公开报道原文呈现；不同企业、时间和统计范围不可直接横向比较。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若储能电池产能利用率不足且价格竞争加剧，则可能传导至磷酸铁锂正极材料价格承压，跟踪指标为储能电池月度均价和磷酸铁锂正极材料报价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政策/合规风险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动摩托车锂电池强制性国标发布，明年7月实施，将提高小动力电池安全门槛，利好合规产能；商务部将12项光伏技术列入禁止、限制出口名单，虽不直接涉及磷酸铁锂，但反映新能源领域出口管制趋严，需关注电池材料出口政策变化。 [3][6]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依据：[3][6]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摩国标信息来自温州新闻，光伏出口管制信息来自国际新能源网，两者均涉及新能源领域政策合规。电摩国标直接提高小动力锂电池安全要求，可能加速低端产能出清；光伏出口管制虽不直接涉及磷酸铁锂，但显示新能源技术出口管理趋严，可能对电池材料出口预期产生间接影响。需验证电摩国标的具体技术指标和过渡期安排，以及电池材料出口政策是否有联动调整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摩国标执行严格且过渡期较短，则可能加速小动力电池行业洗牌，跟踪指标为电摩电池企业认证进度和行业集中度变化；若新能源领域出口管制范围扩大至电池材料，则可能影响磷酸铁锂出口预期，跟踪指标为商务部出口管制清单更新和电池材料出口数据。证据边界限于公开报道，未覆盖政策执行细则和行业反馈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合规风险金字塔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03920" y="1975104"/>
            <a:ext cx="1097280" cy="512064"/>
          </a:xfrm>
          <a:prstGeom prst="trapezoid">
            <a:avLst/>
          </a:prstGeom>
          <a:solidFill>
            <a:srgbClr val="B85A4A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206654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监管红线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808976" y="249631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电动摩托车锂电池强制性国标发布，明</a:t>
            </a:r>
            <a:endParaRPr lang="en-US" sz="660" dirty="0"/>
          </a:p>
        </p:txBody>
      </p:sp>
      <p:sp>
        <p:nvSpPr>
          <p:cNvPr id="27" name="Shape 25"/>
          <p:cNvSpPr/>
          <p:nvPr/>
        </p:nvSpPr>
        <p:spPr>
          <a:xfrm>
            <a:off x="8183880" y="2615184"/>
            <a:ext cx="1737360" cy="512064"/>
          </a:xfrm>
          <a:prstGeom prst="trapezoid">
            <a:avLst/>
          </a:prstGeom>
          <a:solidFill>
            <a:srgbClr val="DDEBE0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2706624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合规动作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808976" y="313639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商务部将12项光伏技术列入禁止、限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7863840" y="3255264"/>
            <a:ext cx="2377440" cy="512064"/>
          </a:xfrm>
          <a:prstGeom prst="trapezoid">
            <a:avLst/>
          </a:prstGeom>
          <a:solidFill>
            <a:srgbClr val="F4FAF6"/>
          </a:solidFill>
          <a:ln w="8890">
            <a:solidFill>
              <a:srgbClr val="4870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34670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经营影响/观察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7808976" y="3776472"/>
            <a:ext cx="25146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[3][6] 电摩国标信息来自温州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若电摩国标执行严格且过渡期较短，则可能加速小动力电池行业洗牌，跟踪指标为电摩电池企业认证进度和行业集中度变化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全国首批锂+钠示范落地河北，大电芯路线推进，钠离子电池在储能场景的替代尝试可能对磷酸铁锂形成潜在竞争；固态电池专家提出2030年实用化量产目标，长期技术路线竞争需持续跟踪。 [5][4]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依据：[5][4]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+钠示范项目来自搜狐，固态电池观点来自每日经济新闻，两者分别代表钠离子电池和固态电池对磷酸铁锂的潜在替代。钠离子电池在储能场景的成本优势可能分流部分低端需求；固态电池量产目标在2030年，短期不构成威胁，但长期可能改变动力电池技术格局。需验证钠离子电池储能项目的实际规模和成本，以及固态电池量产时间表的可信度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钠离子电池在储能场景实现规模化应用且成本低于磷酸铁锂，则可能对磷酸铁锂在低端储能市场的份额形成挤压，跟踪指标为钠离子电池储能项目招标规模和度电成本对比；若固态电池在2030年前实现小批量装车，则可能对磷酸铁锂长期需求预期形成扰动，跟踪指标为固态电池装车验证进度和成本下降曲线。证据边界限于公开报道，未覆盖具体项目经济性数据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全国首批锂+钠示范落地河北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固态电池专家提出2030年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[5][4] 锂+钠示范项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全国首批锂+钠示范落地河北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若钠离子电池在储能场景实现规模化应用且成本低于磷酸铁锂，则可能对磷酸铁锂在低端储能市场的份额形成挤压，跟踪指标为钠离子电池储能项目招标规模和度电成本对比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DEEP DIVE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658368" y="9144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风险/机会/观察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条公开来源交叉验证｜事实、影响与后续研判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658368" y="144475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4FAF6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6642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事实判断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487168" y="1645920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方面，宝马第六代电池量产和储能产能激增可能支撑磷酸铁锂需求；风险方面，储能产能快速扩张可能加剧价格竞争，钠离子电池和固态电池长期替代威胁需跟踪；观察电摩国标执行对小动力电池行业集中度的影响。 [1][2][3]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487168" y="2432304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依据：[1][2][3]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58368" y="290779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1272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影响分析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487168" y="310896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今日信息，需求端有宝马量产和储能扩张支撑，但供给端储能产能激增可能带来价格压力，技术路线端钠离子电池和固态电池构成长期竞争。电摩国标从合规端加速小动力电池行业出清。需持续跟踪宝马电池技术路线确认、储能电池开工率和价格走势、钠离子电池储能项目经济性、固态电池量产进展以及电摩国标执行效果。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58368" y="4370832"/>
            <a:ext cx="6510528" cy="1207008"/>
          </a:xfrm>
          <a:prstGeom prst="roundRect">
            <a:avLst>
              <a:gd name="adj" fmla="val 6061"/>
            </a:avLst>
          </a:prstGeom>
          <a:solidFill>
            <a:srgbClr val="DDEBE0"/>
          </a:solidFill>
          <a:ln w="13970">
            <a:solidFill>
              <a:srgbClr val="1212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70832"/>
            <a:ext cx="109728" cy="12070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5902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后续研判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487168" y="4572000"/>
            <a:ext cx="4315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宝马第六代电池放量且储能电池开工率维持高位，则磷酸铁锂需求端可能获得双重支撑，跟踪指标为宝马新车型电池供应商公告和储能电池月度产量；若储能电池价格竞争加剧且钠离子电池储能项目规模化落地，则磷酸铁锂盈利压力可能上升，跟踪指标为储能电池均价和钠离子电池招标规模；若电摩国标执行严格，则小动力电池行业集中度可能提升，跟踪指标为合规企业认证进度。证据边界限于公开报道，未覆盖企业实际订单和成本数据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7479792" y="1444752"/>
            <a:ext cx="3273552" cy="37307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700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对比矩阵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18120" y="2176272"/>
            <a:ext cx="2487168" cy="1609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61704" y="2176272"/>
            <a:ext cx="0" cy="1609344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2980944"/>
            <a:ext cx="2487168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2176272"/>
            <a:ext cx="1243584" cy="804672"/>
          </a:xfrm>
          <a:prstGeom prst="rect">
            <a:avLst/>
          </a:prstGeom>
          <a:solidFill>
            <a:srgbClr val="DDEBE0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91272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路线A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7891272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机会方面，宝马第六代电池量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9061704" y="2176272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路线B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9134856" y="25054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风险方面，储能产能快速扩张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7818120" y="2980944"/>
            <a:ext cx="1243584" cy="804672"/>
          </a:xfrm>
          <a:prstGeom prst="rect">
            <a:avLst/>
          </a:prstGeom>
          <a:solidFill>
            <a:srgbClr val="FFFFFF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91272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7891272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观察电摩国标执行对小动力电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9061704" y="2980944"/>
            <a:ext cx="1243584" cy="804672"/>
          </a:xfrm>
          <a:prstGeom prst="rect">
            <a:avLst/>
          </a:prstGeom>
          <a:solidFill>
            <a:srgbClr val="F4FAF6"/>
          </a:solidFill>
          <a:ln w="3810">
            <a:solidFill>
              <a:srgbClr val="DADA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30906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4870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134856" y="33101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7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机会方面，宝马第六代电池量</a:t>
            </a:r>
            <a:endParaRPr lang="en-US" sz="670" dirty="0"/>
          </a:p>
        </p:txBody>
      </p:sp>
      <p:sp>
        <p:nvSpPr>
          <p:cNvPr id="39" name="Text 37"/>
          <p:cNvSpPr/>
          <p:nvPr/>
        </p:nvSpPr>
        <p:spPr>
          <a:xfrm>
            <a:off x="7726680" y="4187952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检测到对比/分类信号，用矩阵压缩呈现，不新增外部判断。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核心研判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若宝马第六代电池放量且储能电池开工率维持高位，则磷酸铁锂需求端可能获得双重支撑，跟踪指标为宝马新车型电池供应商公告和储能电池月度产量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宝马第六代动力电池量产，新世代的底牌藏在制造的韧性里 - 搜狐网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https://www.sohu.com/a/1089530167_126781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中国储能电池产能激增110%，全球市场也随之增长 - VOI.ID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https://news.google.com/rss/articles/CBMiQkFVX3lxTE9QeV8xZG04REVrOV93OERzNGNlNFdmUmtfYkxzSWUtay1zX2UxWXZJQ2R3TFRmQ0c3eFhtcWp5M3hQd9IBQkFVX3lxTE9QeV8xZG04REVrOV93OERzNGNlNFdmUmtfYkxzSWUtay1zX2UxWXZJQ2R3TFRmQ0c3eFhtcWp5M3hQdw?oc=5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明年7月起实施！电动摩托车锂电池强制性国标发布 - 温州新闻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https://auto.66wz.com/system/2026/10/19/105856160.shtml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[4]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专访中国工程院外籍院士张久俊：还要加大研发力度，使固态电池的优势发挥出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https://www.nbd.com.cn/articles/2026-10-18/4607644.html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“任丘样本”给行业上了一课：全国首批锂+钠示范落地河北，大电芯为何看远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https://news.google.com/rss/articles/CBMiiAFBVV95cUxNV202anJVUnowYVNVcUxvaVRqdEJUQ2tCOTEyRnE4ZW1NR3N5MWUxV2JNcFFTRGlxeGg2OUJXYUc4dEhhXzctU1Jaa2Q2eDFyTTRBTS1RZ2RySTFYVUQ2NTczMmcxMEtmSGQwc3J1UDZTM2h4MUc4bEtTVXZ2S2x5cm5kZVZRc2lJ?oc=5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[6]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中国磷酸铁锂行业官方政策与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商务部：12项光伏技术列入禁止、限制出口名单 - 国际新能源网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https://mnewenergy.in-en.com/html/newenergy-2457963.shtml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[7]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【正极材料周报】全球第三大动力电池巨头锁单碳酸锂！万华化学再扩磷酸铁锂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https://www.itdcw.com/news/dczk/101215T3H026.html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[8]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我国研发新型无钴高镍正极材料 显著提升快充效率与循环寿命_电池网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https://www.itdcw.com/news/focus/100415Rb2026.html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[9]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正力新能上半年动力电池收入45.77亿元 储能电池收入增长近8倍_电池网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https://www.itdcw.com/news/qiye/0Z115L232026.html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[10]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中国电池网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同体积容量击穿行业纪录！多氟多两款大圆柱磷酸铁锂换电方案发布_电池网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https://www.itdcw.com/news/chanpinxinwen/06251562M2026.html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[11]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鑫椤锂电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https://www.icbattery.com/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[12]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高工锂电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https://www.gg-lb.com/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43000" y="3931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INDEX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287000" y="3931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2026-10-19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786384"/>
            <a:ext cx="11201400" cy="0"/>
          </a:xfrm>
          <a:prstGeom prst="line">
            <a:avLst/>
          </a:prstGeom>
          <a:noFill/>
          <a:ln w="10160">
            <a:solidFill>
              <a:srgbClr val="DADA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6327648"/>
            <a:ext cx="11201400" cy="0"/>
          </a:xfrm>
          <a:prstGeom prst="line">
            <a:avLst/>
          </a:prstGeom>
          <a:noFill/>
          <a:ln w="8890">
            <a:solidFill>
              <a:srgbClr val="DADA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43737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磷酸铁锂行业早报｜公开来源自动生成｜仅作行业观察，不构成投资建议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120140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3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1143000" y="9326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来源索引与可追溯性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58368" y="1444752"/>
            <a:ext cx="566928" cy="310896"/>
          </a:xfrm>
          <a:prstGeom prst="rect">
            <a:avLst/>
          </a:prstGeom>
          <a:solidFill>
            <a:srgbClr val="121212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53619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1225296" y="1444752"/>
            <a:ext cx="12344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536192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2459736" y="1444752"/>
            <a:ext cx="3977640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536192"/>
            <a:ext cx="3831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437376" y="1444752"/>
            <a:ext cx="4645152" cy="310896"/>
          </a:xfrm>
          <a:prstGeom prst="rect">
            <a:avLst/>
          </a:prstGeom>
          <a:solidFill>
            <a:srgbClr val="DDEBE0"/>
          </a:solidFill>
          <a:ln w="6350">
            <a:solidFill>
              <a:srgbClr val="DADA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1536192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58368" y="175564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82880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[13]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261872" y="182880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487168" y="182880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电池中国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510528" y="182880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https://www.cbea.com/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658368" y="206654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1396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[14]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261872" y="213969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2487168" y="213969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证券时报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6510528" y="213969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https://www.stcn.com/</a:t>
            </a:r>
            <a:endParaRPr lang="en-US" sz="580" dirty="0"/>
          </a:p>
        </p:txBody>
      </p:sp>
      <p:sp>
        <p:nvSpPr>
          <p:cNvPr id="28" name="Shape 26"/>
          <p:cNvSpPr/>
          <p:nvPr/>
        </p:nvSpPr>
        <p:spPr>
          <a:xfrm>
            <a:off x="658368" y="2377440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24505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[15]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261872" y="245059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界面新闻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2487168" y="245059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锂电产业链周记 | 前三季度国内动力和储能电池出口量增超50% 赛力斯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6510528" y="245059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https://www.jiemian.com/article/15201129.html</a:t>
            </a:r>
            <a:endParaRPr lang="en-US" sz="580" dirty="0"/>
          </a:p>
        </p:txBody>
      </p:sp>
      <p:sp>
        <p:nvSpPr>
          <p:cNvPr id="33" name="Shape 31"/>
          <p:cNvSpPr/>
          <p:nvPr/>
        </p:nvSpPr>
        <p:spPr>
          <a:xfrm>
            <a:off x="658368" y="2688336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7614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[16]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1261872" y="276148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36" name="Text 34"/>
          <p:cNvSpPr/>
          <p:nvPr/>
        </p:nvSpPr>
        <p:spPr>
          <a:xfrm>
            <a:off x="2487168" y="276148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国新办举行国务院政策例行吹风会 介绍加强中小企业回款难问题治理有关工作</a:t>
            </a:r>
            <a:endParaRPr lang="en-US" sz="680" dirty="0"/>
          </a:p>
        </p:txBody>
      </p:sp>
      <p:sp>
        <p:nvSpPr>
          <p:cNvPr id="37" name="Text 35"/>
          <p:cNvSpPr/>
          <p:nvPr/>
        </p:nvSpPr>
        <p:spPr>
          <a:xfrm>
            <a:off x="6510528" y="276148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http://www.miit.gov.cn/xwfb/bldhd/art/2026/art_7285ee48244d4f20b0f127c7f013ec11.html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658368" y="2999232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307238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[17]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1261872" y="307238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2487168" y="307238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四部门关于开展2026年度享受增值税加计抵减政策的集成电路企业清单制定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6510528" y="307238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http://www.miit.gov.cn/zwgk/zcwj/wjfb/tz/art/2026/art_7d2e760b4be94217b8f55caec840b30d.html</a:t>
            </a:r>
            <a:endParaRPr lang="en-US" sz="580" dirty="0"/>
          </a:p>
        </p:txBody>
      </p:sp>
      <p:sp>
        <p:nvSpPr>
          <p:cNvPr id="43" name="Shape 41"/>
          <p:cNvSpPr/>
          <p:nvPr/>
        </p:nvSpPr>
        <p:spPr>
          <a:xfrm>
            <a:off x="658368" y="3310128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808" y="338328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[18]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1261872" y="338328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2487168" y="338328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公开征求对光伏制造行业规范条件及公告管理办法（征求意见稿）的意见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6510528" y="338328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https://www.miit.gov.cn/gzcy/yjzj/art/2026/art_fcf91636ca1c480b9382f48f6fe22f23.html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658368" y="3621024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69417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[19]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1261872" y="369417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2487168" y="369417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工业和信息化部政策文件库</a:t>
            </a:r>
            <a:endParaRPr lang="en-US" sz="680" dirty="0"/>
          </a:p>
        </p:txBody>
      </p:sp>
      <p:sp>
        <p:nvSpPr>
          <p:cNvPr id="52" name="Text 50"/>
          <p:cNvSpPr/>
          <p:nvPr/>
        </p:nvSpPr>
        <p:spPr>
          <a:xfrm>
            <a:off x="6510528" y="369417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https://www.miit.gov.cn/search/zcwjk.html?websiteid=110000000000000&amp;pg=&amp;p=&amp;tpl=14&amp;category=183&amp;q=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58368" y="3931920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9808" y="400507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[20]</a:t>
            </a:r>
            <a:endParaRPr lang="en-US" sz="680" dirty="0"/>
          </a:p>
        </p:txBody>
      </p:sp>
      <p:sp>
        <p:nvSpPr>
          <p:cNvPr id="55" name="Text 53"/>
          <p:cNvSpPr/>
          <p:nvPr/>
        </p:nvSpPr>
        <p:spPr>
          <a:xfrm>
            <a:off x="1261872" y="4005072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487168" y="400507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国家发展改革委</a:t>
            </a:r>
            <a:endParaRPr lang="en-US" sz="680" dirty="0"/>
          </a:p>
        </p:txBody>
      </p:sp>
      <p:sp>
        <p:nvSpPr>
          <p:cNvPr id="57" name="Text 55"/>
          <p:cNvSpPr/>
          <p:nvPr/>
        </p:nvSpPr>
        <p:spPr>
          <a:xfrm>
            <a:off x="6510528" y="4005072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https://www.ndrc.gov.cn/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658368" y="4242816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" y="431596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[21]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1261872" y="4315968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61" name="Text 59"/>
          <p:cNvSpPr/>
          <p:nvPr/>
        </p:nvSpPr>
        <p:spPr>
          <a:xfrm>
            <a:off x="2487168" y="4315968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中华人民共和国中央人民政府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6510528" y="4315968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https://www.gov.cn/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658368" y="4553712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462686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[22]</a:t>
            </a:r>
            <a:endParaRPr lang="en-US" sz="680" dirty="0"/>
          </a:p>
        </p:txBody>
      </p:sp>
      <p:sp>
        <p:nvSpPr>
          <p:cNvPr id="65" name="Text 63"/>
          <p:cNvSpPr/>
          <p:nvPr/>
        </p:nvSpPr>
        <p:spPr>
          <a:xfrm>
            <a:off x="1261872" y="4626864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66" name="Text 64"/>
          <p:cNvSpPr/>
          <p:nvPr/>
        </p:nvSpPr>
        <p:spPr>
          <a:xfrm>
            <a:off x="2487168" y="4626864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生态环境部</a:t>
            </a:r>
            <a:endParaRPr lang="en-US" sz="680" dirty="0"/>
          </a:p>
        </p:txBody>
      </p:sp>
      <p:sp>
        <p:nvSpPr>
          <p:cNvPr id="67" name="Text 65"/>
          <p:cNvSpPr/>
          <p:nvPr/>
        </p:nvSpPr>
        <p:spPr>
          <a:xfrm>
            <a:off x="6510528" y="4626864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https://www.mee.gov.cn/</a:t>
            </a:r>
            <a:endParaRPr lang="en-US" sz="580" dirty="0"/>
          </a:p>
        </p:txBody>
      </p:sp>
      <p:sp>
        <p:nvSpPr>
          <p:cNvPr id="68" name="Shape 66"/>
          <p:cNvSpPr/>
          <p:nvPr/>
        </p:nvSpPr>
        <p:spPr>
          <a:xfrm>
            <a:off x="658368" y="4864608"/>
            <a:ext cx="10424160" cy="274320"/>
          </a:xfrm>
          <a:prstGeom prst="rect">
            <a:avLst/>
          </a:prstGeom>
          <a:solidFill>
            <a:srgbClr val="F4FAF6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4937760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[23]</a:t>
            </a:r>
            <a:endParaRPr lang="en-US" sz="680" dirty="0"/>
          </a:p>
        </p:txBody>
      </p:sp>
      <p:sp>
        <p:nvSpPr>
          <p:cNvPr id="70" name="Text 68"/>
          <p:cNvSpPr/>
          <p:nvPr/>
        </p:nvSpPr>
        <p:spPr>
          <a:xfrm>
            <a:off x="1261872" y="4937760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万润新能源</a:t>
            </a:r>
            <a:endParaRPr lang="en-US" sz="680" dirty="0"/>
          </a:p>
        </p:txBody>
      </p:sp>
      <p:sp>
        <p:nvSpPr>
          <p:cNvPr id="71" name="Text 69"/>
          <p:cNvSpPr/>
          <p:nvPr/>
        </p:nvSpPr>
        <p:spPr>
          <a:xfrm>
            <a:off x="2487168" y="4937760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磷酸铁锂-湖北万润新能源科技股份有限公司_动力电池材料_消费电池材料_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6510528" y="4937760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https://www.hbwanrun.com/application_details/1.html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58368" y="5175504"/>
            <a:ext cx="104241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DADA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9808" y="524865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4870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[24]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1261872" y="5248656"/>
            <a:ext cx="1051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</a:t>
            </a:r>
            <a:endParaRPr lang="en-US" sz="680" dirty="0"/>
          </a:p>
        </p:txBody>
      </p:sp>
      <p:sp>
        <p:nvSpPr>
          <p:cNvPr id="76" name="Text 74"/>
          <p:cNvSpPr/>
          <p:nvPr/>
        </p:nvSpPr>
        <p:spPr>
          <a:xfrm>
            <a:off x="2487168" y="5248656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湖南裕能</a:t>
            </a:r>
            <a:endParaRPr lang="en-US" sz="680" dirty="0"/>
          </a:p>
        </p:txBody>
      </p:sp>
      <p:sp>
        <p:nvSpPr>
          <p:cNvPr id="77" name="Text 75"/>
          <p:cNvSpPr/>
          <p:nvPr/>
        </p:nvSpPr>
        <p:spPr>
          <a:xfrm>
            <a:off x="6510528" y="5248656"/>
            <a:ext cx="4343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D75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https://www.yunengchem.com/</a:t>
            </a:r>
            <a:endParaRPr lang="en-US" sz="580" dirty="0"/>
          </a:p>
        </p:txBody>
      </p:sp>
      <p:sp>
        <p:nvSpPr>
          <p:cNvPr id="78" name="Shape 76"/>
          <p:cNvSpPr/>
          <p:nvPr/>
        </p:nvSpPr>
        <p:spPr>
          <a:xfrm>
            <a:off x="658368" y="5779008"/>
            <a:ext cx="1463040" cy="292608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4672" y="58704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引用规则</a:t>
            </a:r>
            <a:endParaRPr lang="en-US" sz="780" dirty="0"/>
          </a:p>
        </p:txBody>
      </p:sp>
      <p:sp>
        <p:nvSpPr>
          <p:cNvPr id="80" name="Text 78"/>
          <p:cNvSpPr/>
          <p:nvPr/>
        </p:nvSpPr>
        <p:spPr>
          <a:xfrm>
            <a:off x="2286000" y="5843016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121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正文引用编号与本页来源一一对应，未进入正文的公开来源保留在 JSON 审计记录中。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lifepo4_brief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磷酸铁锂行业早报 2026-10-19</dc:title>
  <dc:subject>LFP daily briefing</dc:subject>
  <dc:creator>lifepo4_brief</dc:creator>
  <cp:lastModifiedBy>lifepo4_brief</cp:lastModifiedBy>
  <cp:revision>1</cp:revision>
  <dcterms:created xsi:type="dcterms:W3CDTF">2026-10-19T02:33:26Z</dcterms:created>
  <dcterms:modified xsi:type="dcterms:W3CDTF">2026-10-19T02:33:26Z</dcterms:modified>
</cp:coreProperties>
</file>