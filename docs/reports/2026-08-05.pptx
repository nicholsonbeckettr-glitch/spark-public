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LFP DAILY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01</a:t>
            </a:r>
            <a:endParaRPr lang="en-US" sz="730" dirty="0"/>
          </a:p>
        </p:txBody>
      </p:sp>
      <p:sp>
        <p:nvSpPr>
          <p:cNvPr id="9" name="Text 7"/>
          <p:cNvSpPr/>
          <p:nvPr/>
        </p:nvSpPr>
        <p:spPr>
          <a:xfrm>
            <a:off x="640080" y="1051560"/>
            <a:ext cx="1554480" cy="411480"/>
          </a:xfrm>
          <a:prstGeom prst="rect">
            <a:avLst/>
          </a:prstGeom>
          <a:noFill/>
          <a:ln/>
        </p:spPr>
        <p:txBody>
          <a:bodyPr wrap="square" lIns="0" tIns="0" rIns="0" bIns="0" rtlCol="0" anchor="ctr"/>
          <a:lstStyle/>
          <a:p>
            <a:pPr indent="0" marL="0">
              <a:buNone/>
            </a:pPr>
            <a:r>
              <a:rPr lang="en-US" sz="2400" b="1" dirty="0">
                <a:solidFill>
                  <a:srgbClr val="487052"/>
                </a:solidFill>
                <a:latin typeface="Aptos" pitchFamily="34" charset="0"/>
                <a:ea typeface="Aptos" pitchFamily="34" charset="-122"/>
                <a:cs typeface="Aptos" pitchFamily="34" charset="-120"/>
              </a:rPr>
              <a:t>LFP</a:t>
            </a:r>
            <a:endParaRPr lang="en-US" sz="2400" dirty="0"/>
          </a:p>
        </p:txBody>
      </p:sp>
      <p:sp>
        <p:nvSpPr>
          <p:cNvPr id="10" name="Text 8"/>
          <p:cNvSpPr/>
          <p:nvPr/>
        </p:nvSpPr>
        <p:spPr>
          <a:xfrm>
            <a:off x="621792" y="1481328"/>
            <a:ext cx="6035040" cy="621792"/>
          </a:xfrm>
          <a:prstGeom prst="rect">
            <a:avLst/>
          </a:prstGeom>
          <a:noFill/>
          <a:ln/>
        </p:spPr>
        <p:txBody>
          <a:bodyPr wrap="square" lIns="0" tIns="0" rIns="0" bIns="0" rtlCol="0" anchor="ctr">
            <a:normAutofit/>
          </a:bodyPr>
          <a:lstStyle/>
          <a:p>
            <a:pPr indent="0" marL="0">
              <a:buNone/>
            </a:pPr>
            <a:r>
              <a:rPr lang="en-US" sz="2600" b="1" dirty="0">
                <a:solidFill>
                  <a:srgbClr val="121212"/>
                </a:solidFill>
                <a:latin typeface="Microsoft YaHei" pitchFamily="34" charset="0"/>
                <a:ea typeface="Microsoft YaHei" pitchFamily="34" charset="-122"/>
                <a:cs typeface="Microsoft YaHei" pitchFamily="34" charset="-120"/>
              </a:rPr>
              <a:t>磷酸铁锂行业早报</a:t>
            </a:r>
            <a:endParaRPr lang="en-US" sz="2600" dirty="0"/>
          </a:p>
        </p:txBody>
      </p:sp>
      <p:sp>
        <p:nvSpPr>
          <p:cNvPr id="11" name="Text 9"/>
          <p:cNvSpPr/>
          <p:nvPr/>
        </p:nvSpPr>
        <p:spPr>
          <a:xfrm>
            <a:off x="658368" y="2176272"/>
            <a:ext cx="5852160" cy="310896"/>
          </a:xfrm>
          <a:prstGeom prst="rect">
            <a:avLst/>
          </a:prstGeom>
          <a:noFill/>
          <a:ln/>
        </p:spPr>
        <p:txBody>
          <a:bodyPr wrap="square" lIns="0" tIns="0" rIns="0" bIns="0" rtlCol="0" anchor="ctr"/>
          <a:lstStyle/>
          <a:p>
            <a:pPr indent="0" marL="0">
              <a:buNone/>
            </a:pPr>
            <a:r>
              <a:rPr lang="en-US" sz="1200" dirty="0">
                <a:solidFill>
                  <a:srgbClr val="6D756F"/>
                </a:solidFill>
                <a:latin typeface="Microsoft YaHei" pitchFamily="34" charset="0"/>
                <a:ea typeface="Microsoft YaHei" pitchFamily="34" charset="-122"/>
                <a:cs typeface="Microsoft YaHei" pitchFamily="34" charset="-120"/>
              </a:rPr>
              <a:t>从公开事件到产业判断的每日工程化筛选</a:t>
            </a:r>
            <a:endParaRPr lang="en-US" sz="1200" dirty="0"/>
          </a:p>
        </p:txBody>
      </p:sp>
      <p:sp>
        <p:nvSpPr>
          <p:cNvPr id="12" name="Text 10"/>
          <p:cNvSpPr/>
          <p:nvPr/>
        </p:nvSpPr>
        <p:spPr>
          <a:xfrm>
            <a:off x="658368" y="2761488"/>
            <a:ext cx="5715000" cy="1188720"/>
          </a:xfrm>
          <a:prstGeom prst="rect">
            <a:avLst/>
          </a:prstGeom>
          <a:noFill/>
          <a:ln/>
        </p:spPr>
        <p:txBody>
          <a:bodyPr wrap="square" lIns="0" tIns="0" rIns="0" bIns="0" rtlCol="0" anchor="ctr">
            <a:normAutofit/>
          </a:bodyPr>
          <a:lstStyle/>
          <a:p>
            <a:pPr indent="0" marL="0">
              <a:buNone/>
            </a:pPr>
            <a:r>
              <a:rPr lang="en-US" sz="1400" b="1" dirty="0">
                <a:solidFill>
                  <a:srgbClr val="121212"/>
                </a:solidFill>
                <a:latin typeface="Microsoft YaHei" pitchFamily="34" charset="0"/>
                <a:ea typeface="Microsoft YaHei" pitchFamily="34" charset="-122"/>
                <a:cs typeface="Microsoft YaHei" pitchFamily="34" charset="-120"/>
              </a:rPr>
              <a:t>今日磷酸铁锂行业核心动态集中于高压实正极材料量产推进、万华化学82万吨产能引发的供给端冲击预期，以及工信部叫停废旧动力电池梯次利用带来的回收体系重构。行业整体处于成本对冲下的价格稳态，但产能扩张与政策收紧并行，竞争格局面临重塑。</a:t>
            </a:r>
            <a:endParaRPr lang="en-US" sz="1400" dirty="0"/>
          </a:p>
        </p:txBody>
      </p:sp>
      <p:sp>
        <p:nvSpPr>
          <p:cNvPr id="13" name="Shape 11"/>
          <p:cNvSpPr/>
          <p:nvPr/>
        </p:nvSpPr>
        <p:spPr>
          <a:xfrm>
            <a:off x="7315200" y="960120"/>
            <a:ext cx="3886200" cy="4526280"/>
          </a:xfrm>
          <a:prstGeom prst="rect">
            <a:avLst/>
          </a:prstGeom>
          <a:solidFill>
            <a:srgbClr val="F4FAF6"/>
          </a:solidFill>
          <a:ln w="10160">
            <a:solidFill>
              <a:srgbClr val="DADADA"/>
            </a:solidFill>
            <a:prstDash val="solid"/>
          </a:ln>
        </p:spPr>
      </p:sp>
      <p:sp>
        <p:nvSpPr>
          <p:cNvPr id="14" name="Text 12"/>
          <p:cNvSpPr/>
          <p:nvPr/>
        </p:nvSpPr>
        <p:spPr>
          <a:xfrm>
            <a:off x="7607808" y="1188720"/>
            <a:ext cx="2011680" cy="310896"/>
          </a:xfrm>
          <a:prstGeom prst="rect">
            <a:avLst/>
          </a:prstGeom>
          <a:noFill/>
          <a:ln/>
        </p:spPr>
        <p:txBody>
          <a:bodyPr wrap="square" lIns="0" tIns="0" rIns="0" bIns="0" rtlCol="0" anchor="ctr"/>
          <a:lstStyle/>
          <a:p>
            <a:pPr indent="0" marL="0">
              <a:buNone/>
            </a:pPr>
            <a:r>
              <a:rPr lang="en-US" sz="1300" b="1" dirty="0">
                <a:solidFill>
                  <a:srgbClr val="121212"/>
                </a:solidFill>
                <a:latin typeface="Microsoft YaHei" pitchFamily="34" charset="0"/>
                <a:ea typeface="Microsoft YaHei" pitchFamily="34" charset="-122"/>
                <a:cs typeface="Microsoft YaHei" pitchFamily="34" charset="-120"/>
              </a:rPr>
              <a:t>今日逻辑主线</a:t>
            </a:r>
            <a:endParaRPr lang="en-US" sz="1300" dirty="0"/>
          </a:p>
        </p:txBody>
      </p:sp>
      <p:sp>
        <p:nvSpPr>
          <p:cNvPr id="15" name="Shape 13"/>
          <p:cNvSpPr/>
          <p:nvPr/>
        </p:nvSpPr>
        <p:spPr>
          <a:xfrm>
            <a:off x="7882128" y="1755648"/>
            <a:ext cx="0" cy="3090672"/>
          </a:xfrm>
          <a:prstGeom prst="line">
            <a:avLst/>
          </a:prstGeom>
          <a:noFill/>
          <a:ln w="15240">
            <a:solidFill>
              <a:srgbClr val="7F9D84"/>
            </a:solidFill>
            <a:prstDash val="solid"/>
          </a:ln>
        </p:spPr>
      </p:sp>
      <p:sp>
        <p:nvSpPr>
          <p:cNvPr id="16" name="Shape 14"/>
          <p:cNvSpPr/>
          <p:nvPr/>
        </p:nvSpPr>
        <p:spPr>
          <a:xfrm>
            <a:off x="7790688" y="1700784"/>
            <a:ext cx="182880" cy="182880"/>
          </a:xfrm>
          <a:prstGeom prst="ellipse">
            <a:avLst/>
          </a:prstGeom>
          <a:solidFill>
            <a:srgbClr val="487052"/>
          </a:solidFill>
          <a:ln w="12700">
            <a:solidFill>
              <a:srgbClr val="487052"/>
            </a:solidFill>
            <a:prstDash val="solid"/>
          </a:ln>
        </p:spPr>
      </p:sp>
      <p:sp>
        <p:nvSpPr>
          <p:cNvPr id="17" name="Shape 15"/>
          <p:cNvSpPr/>
          <p:nvPr/>
        </p:nvSpPr>
        <p:spPr>
          <a:xfrm>
            <a:off x="8183880" y="1627632"/>
            <a:ext cx="2514600" cy="365760"/>
          </a:xfrm>
          <a:prstGeom prst="rect">
            <a:avLst/>
          </a:prstGeom>
          <a:solidFill>
            <a:srgbClr val="DDEBE0"/>
          </a:solidFill>
          <a:ln w="7620">
            <a:solidFill>
              <a:srgbClr val="DADADA"/>
            </a:solidFill>
            <a:prstDash val="solid"/>
          </a:ln>
        </p:spPr>
      </p:sp>
      <p:sp>
        <p:nvSpPr>
          <p:cNvPr id="18" name="Text 16"/>
          <p:cNvSpPr/>
          <p:nvPr/>
        </p:nvSpPr>
        <p:spPr>
          <a:xfrm>
            <a:off x="8321040" y="1709928"/>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技术突破</a:t>
            </a:r>
            <a:endParaRPr lang="en-US" sz="880" dirty="0"/>
          </a:p>
        </p:txBody>
      </p:sp>
      <p:sp>
        <p:nvSpPr>
          <p:cNvPr id="19" name="Shape 17"/>
          <p:cNvSpPr/>
          <p:nvPr/>
        </p:nvSpPr>
        <p:spPr>
          <a:xfrm>
            <a:off x="7790688" y="2267712"/>
            <a:ext cx="182880" cy="182880"/>
          </a:xfrm>
          <a:prstGeom prst="ellipse">
            <a:avLst/>
          </a:prstGeom>
          <a:solidFill>
            <a:srgbClr val="487052"/>
          </a:solidFill>
          <a:ln w="12700">
            <a:solidFill>
              <a:srgbClr val="487052"/>
            </a:solidFill>
            <a:prstDash val="solid"/>
          </a:ln>
        </p:spPr>
      </p:sp>
      <p:sp>
        <p:nvSpPr>
          <p:cNvPr id="20" name="Shape 18"/>
          <p:cNvSpPr/>
          <p:nvPr/>
        </p:nvSpPr>
        <p:spPr>
          <a:xfrm>
            <a:off x="8183880" y="2194560"/>
            <a:ext cx="2514600" cy="365760"/>
          </a:xfrm>
          <a:prstGeom prst="rect">
            <a:avLst/>
          </a:prstGeom>
          <a:solidFill>
            <a:srgbClr val="DDEBE0"/>
          </a:solidFill>
          <a:ln w="7620">
            <a:solidFill>
              <a:srgbClr val="DADADA"/>
            </a:solidFill>
            <a:prstDash val="solid"/>
          </a:ln>
        </p:spPr>
      </p:sp>
      <p:sp>
        <p:nvSpPr>
          <p:cNvPr id="21" name="Text 19"/>
          <p:cNvSpPr/>
          <p:nvPr/>
        </p:nvSpPr>
        <p:spPr>
          <a:xfrm>
            <a:off x="8321040" y="2276856"/>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产能变化</a:t>
            </a:r>
            <a:endParaRPr lang="en-US" sz="880" dirty="0"/>
          </a:p>
        </p:txBody>
      </p:sp>
      <p:sp>
        <p:nvSpPr>
          <p:cNvPr id="22" name="Shape 20"/>
          <p:cNvSpPr/>
          <p:nvPr/>
        </p:nvSpPr>
        <p:spPr>
          <a:xfrm>
            <a:off x="7790688" y="2834640"/>
            <a:ext cx="182880" cy="182880"/>
          </a:xfrm>
          <a:prstGeom prst="ellipse">
            <a:avLst/>
          </a:prstGeom>
          <a:solidFill>
            <a:srgbClr val="487052"/>
          </a:solidFill>
          <a:ln w="12700">
            <a:solidFill>
              <a:srgbClr val="487052"/>
            </a:solidFill>
            <a:prstDash val="solid"/>
          </a:ln>
        </p:spPr>
      </p:sp>
      <p:sp>
        <p:nvSpPr>
          <p:cNvPr id="23" name="Shape 21"/>
          <p:cNvSpPr/>
          <p:nvPr/>
        </p:nvSpPr>
        <p:spPr>
          <a:xfrm>
            <a:off x="8183880" y="2761488"/>
            <a:ext cx="2514600" cy="365760"/>
          </a:xfrm>
          <a:prstGeom prst="rect">
            <a:avLst/>
          </a:prstGeom>
          <a:solidFill>
            <a:srgbClr val="DDEBE0"/>
          </a:solidFill>
          <a:ln w="7620">
            <a:solidFill>
              <a:srgbClr val="DADADA"/>
            </a:solidFill>
            <a:prstDash val="solid"/>
          </a:ln>
        </p:spPr>
      </p:sp>
      <p:sp>
        <p:nvSpPr>
          <p:cNvPr id="24" name="Text 22"/>
          <p:cNvSpPr/>
          <p:nvPr/>
        </p:nvSpPr>
        <p:spPr>
          <a:xfrm>
            <a:off x="8321040" y="2843784"/>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政策合规</a:t>
            </a:r>
            <a:endParaRPr lang="en-US" sz="880" dirty="0"/>
          </a:p>
        </p:txBody>
      </p:sp>
      <p:sp>
        <p:nvSpPr>
          <p:cNvPr id="25" name="Shape 23"/>
          <p:cNvSpPr/>
          <p:nvPr/>
        </p:nvSpPr>
        <p:spPr>
          <a:xfrm>
            <a:off x="7790688" y="3401568"/>
            <a:ext cx="182880" cy="182880"/>
          </a:xfrm>
          <a:prstGeom prst="ellipse">
            <a:avLst/>
          </a:prstGeom>
          <a:solidFill>
            <a:srgbClr val="FFFFFF"/>
          </a:solidFill>
          <a:ln w="12700">
            <a:solidFill>
              <a:srgbClr val="487052"/>
            </a:solidFill>
            <a:prstDash val="solid"/>
          </a:ln>
        </p:spPr>
      </p:sp>
      <p:sp>
        <p:nvSpPr>
          <p:cNvPr id="26" name="Shape 24"/>
          <p:cNvSpPr/>
          <p:nvPr/>
        </p:nvSpPr>
        <p:spPr>
          <a:xfrm>
            <a:off x="8183880" y="3328416"/>
            <a:ext cx="2514600" cy="365760"/>
          </a:xfrm>
          <a:prstGeom prst="rect">
            <a:avLst/>
          </a:prstGeom>
          <a:solidFill>
            <a:srgbClr val="FFFFFF"/>
          </a:solidFill>
          <a:ln w="7620">
            <a:solidFill>
              <a:srgbClr val="DADADA"/>
            </a:solidFill>
            <a:prstDash val="solid"/>
          </a:ln>
        </p:spPr>
      </p:sp>
      <p:sp>
        <p:nvSpPr>
          <p:cNvPr id="27" name="Text 25"/>
          <p:cNvSpPr/>
          <p:nvPr/>
        </p:nvSpPr>
        <p:spPr>
          <a:xfrm>
            <a:off x="8321040" y="3410712"/>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企业信号</a:t>
            </a:r>
            <a:endParaRPr lang="en-US" sz="880" dirty="0"/>
          </a:p>
        </p:txBody>
      </p:sp>
      <p:sp>
        <p:nvSpPr>
          <p:cNvPr id="28" name="Shape 26"/>
          <p:cNvSpPr/>
          <p:nvPr/>
        </p:nvSpPr>
        <p:spPr>
          <a:xfrm>
            <a:off x="7790688" y="3968496"/>
            <a:ext cx="182880" cy="182880"/>
          </a:xfrm>
          <a:prstGeom prst="ellipse">
            <a:avLst/>
          </a:prstGeom>
          <a:solidFill>
            <a:srgbClr val="487052"/>
          </a:solidFill>
          <a:ln w="12700">
            <a:solidFill>
              <a:srgbClr val="487052"/>
            </a:solidFill>
            <a:prstDash val="solid"/>
          </a:ln>
        </p:spPr>
      </p:sp>
      <p:sp>
        <p:nvSpPr>
          <p:cNvPr id="29" name="Shape 27"/>
          <p:cNvSpPr/>
          <p:nvPr/>
        </p:nvSpPr>
        <p:spPr>
          <a:xfrm>
            <a:off x="8183880" y="3895344"/>
            <a:ext cx="2514600" cy="365760"/>
          </a:xfrm>
          <a:prstGeom prst="rect">
            <a:avLst/>
          </a:prstGeom>
          <a:solidFill>
            <a:srgbClr val="DDEBE0"/>
          </a:solidFill>
          <a:ln w="7620">
            <a:solidFill>
              <a:srgbClr val="DADADA"/>
            </a:solidFill>
            <a:prstDash val="solid"/>
          </a:ln>
        </p:spPr>
      </p:sp>
      <p:sp>
        <p:nvSpPr>
          <p:cNvPr id="30" name="Text 28"/>
          <p:cNvSpPr/>
          <p:nvPr/>
        </p:nvSpPr>
        <p:spPr>
          <a:xfrm>
            <a:off x="8321040" y="3977640"/>
            <a:ext cx="2240280" cy="164592"/>
          </a:xfrm>
          <a:prstGeom prst="rect">
            <a:avLst/>
          </a:prstGeom>
          <a:noFill/>
          <a:ln/>
        </p:spPr>
        <p:txBody>
          <a:bodyPr wrap="square" lIns="0" tIns="0" rIns="0" bIns="0" rtlCol="0" anchor="ctr">
            <a:normAutofit/>
          </a:bodyPr>
          <a:lstStyle/>
          <a:p>
            <a:pPr indent="0" marL="0">
              <a:buNone/>
            </a:pPr>
            <a:r>
              <a:rPr lang="en-US" sz="880" b="1" dirty="0">
                <a:solidFill>
                  <a:srgbClr val="121212"/>
                </a:solidFill>
                <a:latin typeface="Microsoft YaHei" pitchFamily="34" charset="0"/>
                <a:ea typeface="Microsoft YaHei" pitchFamily="34" charset="-122"/>
                <a:cs typeface="Microsoft YaHei" pitchFamily="34" charset="-120"/>
              </a:rPr>
              <a:t>风险机会</a:t>
            </a:r>
            <a:endParaRPr lang="en-US" sz="880" dirty="0"/>
          </a:p>
        </p:txBody>
      </p:sp>
      <p:sp>
        <p:nvSpPr>
          <p:cNvPr id="31" name="Shape 29"/>
          <p:cNvSpPr/>
          <p:nvPr/>
        </p:nvSpPr>
        <p:spPr>
          <a:xfrm>
            <a:off x="7790688" y="4535424"/>
            <a:ext cx="182880" cy="182880"/>
          </a:xfrm>
          <a:prstGeom prst="ellipse">
            <a:avLst/>
          </a:prstGeom>
          <a:solidFill>
            <a:srgbClr val="FFFFFF"/>
          </a:solidFill>
          <a:ln w="12700">
            <a:solidFill>
              <a:srgbClr val="487052"/>
            </a:solidFill>
            <a:prstDash val="solid"/>
          </a:ln>
        </p:spPr>
      </p:sp>
      <p:sp>
        <p:nvSpPr>
          <p:cNvPr id="32" name="Shape 30"/>
          <p:cNvSpPr/>
          <p:nvPr/>
        </p:nvSpPr>
        <p:spPr>
          <a:xfrm>
            <a:off x="8183880" y="4462272"/>
            <a:ext cx="2514600" cy="365760"/>
          </a:xfrm>
          <a:prstGeom prst="rect">
            <a:avLst/>
          </a:prstGeom>
          <a:solidFill>
            <a:srgbClr val="FFFFFF"/>
          </a:solidFill>
          <a:ln w="7620">
            <a:solidFill>
              <a:srgbClr val="DADADA"/>
            </a:solidFill>
            <a:prstDash val="solid"/>
          </a:ln>
        </p:spPr>
      </p:sp>
      <p:sp>
        <p:nvSpPr>
          <p:cNvPr id="33" name="Text 31"/>
          <p:cNvSpPr/>
          <p:nvPr/>
        </p:nvSpPr>
        <p:spPr>
          <a:xfrm>
            <a:off x="8321040" y="4544568"/>
            <a:ext cx="2240280" cy="164592"/>
          </a:xfrm>
          <a:prstGeom prst="rect">
            <a:avLst/>
          </a:prstGeom>
          <a:noFill/>
          <a:ln/>
        </p:spPr>
        <p:txBody>
          <a:bodyPr wrap="square" lIns="0" tIns="0" rIns="0" bIns="0" rtlCol="0" anchor="ctr">
            <a:normAutofit/>
          </a:bodyPr>
          <a:lstStyle/>
          <a:p>
            <a:pPr indent="0" marL="0">
              <a:buNone/>
            </a:pPr>
            <a:r>
              <a:rPr lang="en-US" sz="880" dirty="0">
                <a:solidFill>
                  <a:srgbClr val="121212"/>
                </a:solidFill>
                <a:latin typeface="Microsoft YaHei" pitchFamily="34" charset="0"/>
                <a:ea typeface="Microsoft YaHei" pitchFamily="34" charset="-122"/>
                <a:cs typeface="Microsoft YaHei" pitchFamily="34" charset="-120"/>
              </a:rPr>
              <a:t>来源索引</a:t>
            </a:r>
            <a:endParaRPr lang="en-US" sz="880" dirty="0"/>
          </a:p>
        </p:txBody>
      </p:sp>
      <p:sp>
        <p:nvSpPr>
          <p:cNvPr id="34" name="Shape 32"/>
          <p:cNvSpPr/>
          <p:nvPr/>
        </p:nvSpPr>
        <p:spPr>
          <a:xfrm>
            <a:off x="658368" y="5779008"/>
            <a:ext cx="1463040" cy="292608"/>
          </a:xfrm>
          <a:prstGeom prst="rect">
            <a:avLst/>
          </a:prstGeom>
          <a:solidFill>
            <a:srgbClr val="121212"/>
          </a:solidFill>
          <a:ln w="12700">
            <a:solidFill>
              <a:srgbClr val="121212"/>
            </a:solidFill>
            <a:prstDash val="solid"/>
          </a:ln>
        </p:spPr>
      </p:sp>
      <p:sp>
        <p:nvSpPr>
          <p:cNvPr id="35" name="Text 3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核心判断</a:t>
            </a:r>
            <a:endParaRPr lang="en-US" sz="780" dirty="0"/>
          </a:p>
        </p:txBody>
      </p:sp>
      <p:sp>
        <p:nvSpPr>
          <p:cNvPr id="36" name="Text 3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今日磷酸铁锂行业核心动态集中于高压实正极材料量产推进、万华化学82万吨产能引发的供给端冲击预期，以及工信部叫停废旧动力电池梯次利用带来的回收体</a:t>
            </a:r>
            <a:endParaRPr lang="en-US" sz="10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2.</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EXECUTIVE BRIEF</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02</a:t>
            </a:r>
            <a:endParaRPr lang="en-US" sz="730" dirty="0"/>
          </a:p>
        </p:txBody>
      </p:sp>
      <p:sp>
        <p:nvSpPr>
          <p:cNvPr id="9" name="Text 7"/>
          <p:cNvSpPr/>
          <p:nvPr/>
        </p:nvSpPr>
        <p:spPr>
          <a:xfrm>
            <a:off x="658368" y="932688"/>
            <a:ext cx="237744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今日总览</a:t>
            </a:r>
            <a:endParaRPr lang="en-US" sz="2000" dirty="0"/>
          </a:p>
        </p:txBody>
      </p:sp>
      <p:sp>
        <p:nvSpPr>
          <p:cNvPr id="10" name="Text 8"/>
          <p:cNvSpPr/>
          <p:nvPr/>
        </p:nvSpPr>
        <p:spPr>
          <a:xfrm>
            <a:off x="2880360" y="996696"/>
            <a:ext cx="8138160" cy="219456"/>
          </a:xfrm>
          <a:prstGeom prst="rect">
            <a:avLst/>
          </a:prstGeom>
          <a:noFill/>
          <a:ln/>
        </p:spPr>
        <p:txBody>
          <a:bodyPr wrap="square" lIns="0" tIns="0" rIns="0" bIns="0" rtlCol="0" anchor="ctr">
            <a:normAutofit/>
          </a:bodyPr>
          <a:lstStyle/>
          <a:p>
            <a:pPr indent="0" marL="0">
              <a:buNone/>
            </a:pPr>
            <a:r>
              <a:rPr lang="en-US" sz="940" dirty="0">
                <a:solidFill>
                  <a:srgbClr val="6D756F"/>
                </a:solidFill>
                <a:latin typeface="Microsoft YaHei" pitchFamily="34" charset="0"/>
                <a:ea typeface="Microsoft YaHei" pitchFamily="34" charset="-122"/>
                <a:cs typeface="Microsoft YaHei" pitchFamily="34" charset="-120"/>
              </a:rPr>
              <a:t>今日磷酸铁锂行业核心动态集中于高压实正极材料量产推进、万华化学82万吨产能引发的供给端冲击预期，以及工信部叫停废旧动力电池梯次利用带来的回收体</a:t>
            </a:r>
            <a:endParaRPr lang="en-US" sz="940" dirty="0"/>
          </a:p>
        </p:txBody>
      </p:sp>
      <p:sp>
        <p:nvSpPr>
          <p:cNvPr id="11" name="Shape 9"/>
          <p:cNvSpPr/>
          <p:nvPr/>
        </p:nvSpPr>
        <p:spPr>
          <a:xfrm>
            <a:off x="658368" y="1444752"/>
            <a:ext cx="5074920" cy="1737360"/>
          </a:xfrm>
          <a:prstGeom prst="rect">
            <a:avLst/>
          </a:prstGeom>
          <a:solidFill>
            <a:srgbClr val="F4FAF6"/>
          </a:solidFill>
          <a:ln w="8890">
            <a:solidFill>
              <a:srgbClr val="DADADA"/>
            </a:solidFill>
            <a:prstDash val="solid"/>
          </a:ln>
        </p:spPr>
      </p:sp>
      <p:sp>
        <p:nvSpPr>
          <p:cNvPr id="12" name="Shape 10"/>
          <p:cNvSpPr/>
          <p:nvPr/>
        </p:nvSpPr>
        <p:spPr>
          <a:xfrm>
            <a:off x="658368" y="1444752"/>
            <a:ext cx="384048" cy="1737360"/>
          </a:xfrm>
          <a:prstGeom prst="rect">
            <a:avLst/>
          </a:prstGeom>
          <a:solidFill>
            <a:srgbClr val="121212"/>
          </a:solidFill>
          <a:ln w="12700">
            <a:solidFill>
              <a:srgbClr val="121212"/>
            </a:solidFill>
            <a:prstDash val="solid"/>
          </a:ln>
        </p:spPr>
      </p:sp>
      <p:sp>
        <p:nvSpPr>
          <p:cNvPr id="13" name="Text 11"/>
          <p:cNvSpPr/>
          <p:nvPr/>
        </p:nvSpPr>
        <p:spPr>
          <a:xfrm>
            <a:off x="78638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4" name="Text 12"/>
          <p:cNvSpPr/>
          <p:nvPr/>
        </p:nvSpPr>
        <p:spPr>
          <a:xfrm>
            <a:off x="118872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今日结论</a:t>
            </a:r>
            <a:endParaRPr lang="en-US" sz="920" dirty="0"/>
          </a:p>
        </p:txBody>
      </p:sp>
      <p:sp>
        <p:nvSpPr>
          <p:cNvPr id="15" name="Shape 13"/>
          <p:cNvSpPr/>
          <p:nvPr/>
        </p:nvSpPr>
        <p:spPr>
          <a:xfrm>
            <a:off x="1188720" y="1883664"/>
            <a:ext cx="2194560" cy="54864"/>
          </a:xfrm>
          <a:prstGeom prst="rect">
            <a:avLst/>
          </a:prstGeom>
          <a:solidFill>
            <a:srgbClr val="487052"/>
          </a:solidFill>
          <a:ln w="12700">
            <a:solidFill>
              <a:srgbClr val="487052"/>
            </a:solidFill>
            <a:prstDash val="solid"/>
          </a:ln>
        </p:spPr>
      </p:sp>
      <p:sp>
        <p:nvSpPr>
          <p:cNvPr id="16" name="Text 14"/>
          <p:cNvSpPr/>
          <p:nvPr/>
        </p:nvSpPr>
        <p:spPr>
          <a:xfrm>
            <a:off x="118872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高压实密度正极材料成为技术竞争焦点，量产进度受下游客户高度关注；万华化学82万吨磷酸铁锂产能规划引发行业对供给过剩的担忧；工信部叫停废旧动力电池梯次利用，强化质量安全标准，将</a:t>
            </a:r>
            <a:endParaRPr lang="en-US" sz="920" dirty="0"/>
          </a:p>
        </p:txBody>
      </p:sp>
      <p:sp>
        <p:nvSpPr>
          <p:cNvPr id="17" name="Text 15"/>
          <p:cNvSpPr/>
          <p:nvPr/>
        </p:nvSpPr>
        <p:spPr>
          <a:xfrm>
            <a:off x="118872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[1][2][3]</a:t>
            </a:r>
            <a:endParaRPr lang="en-US" sz="750" dirty="0"/>
          </a:p>
        </p:txBody>
      </p:sp>
      <p:sp>
        <p:nvSpPr>
          <p:cNvPr id="18" name="Shape 16"/>
          <p:cNvSpPr/>
          <p:nvPr/>
        </p:nvSpPr>
        <p:spPr>
          <a:xfrm>
            <a:off x="6236208" y="1444752"/>
            <a:ext cx="5074920" cy="1737360"/>
          </a:xfrm>
          <a:prstGeom prst="rect">
            <a:avLst/>
          </a:prstGeom>
          <a:solidFill>
            <a:srgbClr val="FFFFFF"/>
          </a:solidFill>
          <a:ln w="8890">
            <a:solidFill>
              <a:srgbClr val="DADADA"/>
            </a:solidFill>
            <a:prstDash val="solid"/>
          </a:ln>
        </p:spPr>
      </p:sp>
      <p:sp>
        <p:nvSpPr>
          <p:cNvPr id="19" name="Shape 17"/>
          <p:cNvSpPr/>
          <p:nvPr/>
        </p:nvSpPr>
        <p:spPr>
          <a:xfrm>
            <a:off x="6236208" y="1444752"/>
            <a:ext cx="384048" cy="1737360"/>
          </a:xfrm>
          <a:prstGeom prst="rect">
            <a:avLst/>
          </a:prstGeom>
          <a:solidFill>
            <a:srgbClr val="121212"/>
          </a:solidFill>
          <a:ln w="12700">
            <a:solidFill>
              <a:srgbClr val="121212"/>
            </a:solidFill>
            <a:prstDash val="solid"/>
          </a:ln>
        </p:spPr>
      </p:sp>
      <p:sp>
        <p:nvSpPr>
          <p:cNvPr id="20" name="Text 18"/>
          <p:cNvSpPr/>
          <p:nvPr/>
        </p:nvSpPr>
        <p:spPr>
          <a:xfrm>
            <a:off x="6364224" y="1627632"/>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21" name="Text 19"/>
          <p:cNvSpPr/>
          <p:nvPr/>
        </p:nvSpPr>
        <p:spPr>
          <a:xfrm>
            <a:off x="6766560" y="1609344"/>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技术/产品路线</a:t>
            </a:r>
            <a:endParaRPr lang="en-US" sz="920" dirty="0"/>
          </a:p>
        </p:txBody>
      </p:sp>
      <p:sp>
        <p:nvSpPr>
          <p:cNvPr id="22" name="Shape 20"/>
          <p:cNvSpPr/>
          <p:nvPr/>
        </p:nvSpPr>
        <p:spPr>
          <a:xfrm>
            <a:off x="6766560" y="1883664"/>
            <a:ext cx="877824" cy="54864"/>
          </a:xfrm>
          <a:prstGeom prst="rect">
            <a:avLst/>
          </a:prstGeom>
          <a:solidFill>
            <a:srgbClr val="487052"/>
          </a:solidFill>
          <a:ln w="12700">
            <a:solidFill>
              <a:srgbClr val="487052"/>
            </a:solidFill>
            <a:prstDash val="solid"/>
          </a:ln>
        </p:spPr>
      </p:sp>
      <p:sp>
        <p:nvSpPr>
          <p:cNvPr id="23" name="Text 21"/>
          <p:cNvSpPr/>
          <p:nvPr/>
        </p:nvSpPr>
        <p:spPr>
          <a:xfrm>
            <a:off x="6766560" y="2029968"/>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高压实密度正极材料成为行业技术竞争焦点，多家企业推进量产，下游客户关注度提升。</a:t>
            </a:r>
            <a:endParaRPr lang="en-US" sz="920" dirty="0"/>
          </a:p>
        </p:txBody>
      </p:sp>
      <p:sp>
        <p:nvSpPr>
          <p:cNvPr id="24" name="Text 22"/>
          <p:cNvSpPr/>
          <p:nvPr/>
        </p:nvSpPr>
        <p:spPr>
          <a:xfrm>
            <a:off x="6766560" y="2862072"/>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a:t>
            </a:r>
            <a:endParaRPr lang="en-US" sz="750" dirty="0"/>
          </a:p>
        </p:txBody>
      </p:sp>
      <p:sp>
        <p:nvSpPr>
          <p:cNvPr id="25" name="Shape 23"/>
          <p:cNvSpPr/>
          <p:nvPr/>
        </p:nvSpPr>
        <p:spPr>
          <a:xfrm>
            <a:off x="658368" y="3566160"/>
            <a:ext cx="5074920" cy="1737360"/>
          </a:xfrm>
          <a:prstGeom prst="rect">
            <a:avLst/>
          </a:prstGeom>
          <a:solidFill>
            <a:srgbClr val="F4FAF6"/>
          </a:solidFill>
          <a:ln w="8890">
            <a:solidFill>
              <a:srgbClr val="DADADA"/>
            </a:solidFill>
            <a:prstDash val="solid"/>
          </a:ln>
        </p:spPr>
      </p:sp>
      <p:sp>
        <p:nvSpPr>
          <p:cNvPr id="26" name="Shape 24"/>
          <p:cNvSpPr/>
          <p:nvPr/>
        </p:nvSpPr>
        <p:spPr>
          <a:xfrm>
            <a:off x="658368" y="3566160"/>
            <a:ext cx="384048" cy="1737360"/>
          </a:xfrm>
          <a:prstGeom prst="rect">
            <a:avLst/>
          </a:prstGeom>
          <a:solidFill>
            <a:srgbClr val="121212"/>
          </a:solidFill>
          <a:ln w="12700">
            <a:solidFill>
              <a:srgbClr val="121212"/>
            </a:solidFill>
            <a:prstDash val="solid"/>
          </a:ln>
        </p:spPr>
      </p:sp>
      <p:sp>
        <p:nvSpPr>
          <p:cNvPr id="27" name="Text 25"/>
          <p:cNvSpPr/>
          <p:nvPr/>
        </p:nvSpPr>
        <p:spPr>
          <a:xfrm>
            <a:off x="78638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8" name="Text 26"/>
          <p:cNvSpPr/>
          <p:nvPr/>
        </p:nvSpPr>
        <p:spPr>
          <a:xfrm>
            <a:off x="118872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产能/客户/订单</a:t>
            </a:r>
            <a:endParaRPr lang="en-US" sz="920" dirty="0"/>
          </a:p>
        </p:txBody>
      </p:sp>
      <p:sp>
        <p:nvSpPr>
          <p:cNvPr id="29" name="Shape 27"/>
          <p:cNvSpPr/>
          <p:nvPr/>
        </p:nvSpPr>
        <p:spPr>
          <a:xfrm>
            <a:off x="1188720" y="4005072"/>
            <a:ext cx="1316736" cy="54864"/>
          </a:xfrm>
          <a:prstGeom prst="rect">
            <a:avLst/>
          </a:prstGeom>
          <a:solidFill>
            <a:srgbClr val="487052"/>
          </a:solidFill>
          <a:ln w="12700">
            <a:solidFill>
              <a:srgbClr val="487052"/>
            </a:solidFill>
            <a:prstDash val="solid"/>
          </a:ln>
        </p:spPr>
      </p:sp>
      <p:sp>
        <p:nvSpPr>
          <p:cNvPr id="30" name="Text 28"/>
          <p:cNvSpPr/>
          <p:nvPr/>
        </p:nvSpPr>
        <p:spPr>
          <a:xfrm>
            <a:off x="118872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万华化学82万吨磷酸铁锂产能规划引发行业关注，被视为潜在供给端冲击；电解液行业投资分化，石大胜华逆势扩产。</a:t>
            </a:r>
            <a:endParaRPr lang="en-US" sz="920" dirty="0"/>
          </a:p>
        </p:txBody>
      </p:sp>
      <p:sp>
        <p:nvSpPr>
          <p:cNvPr id="31" name="Text 29"/>
          <p:cNvSpPr/>
          <p:nvPr/>
        </p:nvSpPr>
        <p:spPr>
          <a:xfrm>
            <a:off x="118872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[2][4]</a:t>
            </a:r>
            <a:endParaRPr lang="en-US" sz="750" dirty="0"/>
          </a:p>
        </p:txBody>
      </p:sp>
      <p:sp>
        <p:nvSpPr>
          <p:cNvPr id="32" name="Shape 30"/>
          <p:cNvSpPr/>
          <p:nvPr/>
        </p:nvSpPr>
        <p:spPr>
          <a:xfrm>
            <a:off x="6236208" y="3566160"/>
            <a:ext cx="5074920" cy="1737360"/>
          </a:xfrm>
          <a:prstGeom prst="rect">
            <a:avLst/>
          </a:prstGeom>
          <a:solidFill>
            <a:srgbClr val="FFFFFF"/>
          </a:solidFill>
          <a:ln w="8890">
            <a:solidFill>
              <a:srgbClr val="DADADA"/>
            </a:solidFill>
            <a:prstDash val="solid"/>
          </a:ln>
        </p:spPr>
      </p:sp>
      <p:sp>
        <p:nvSpPr>
          <p:cNvPr id="33" name="Shape 31"/>
          <p:cNvSpPr/>
          <p:nvPr/>
        </p:nvSpPr>
        <p:spPr>
          <a:xfrm>
            <a:off x="6236208" y="3566160"/>
            <a:ext cx="384048" cy="1737360"/>
          </a:xfrm>
          <a:prstGeom prst="rect">
            <a:avLst/>
          </a:prstGeom>
          <a:solidFill>
            <a:srgbClr val="121212"/>
          </a:solidFill>
          <a:ln w="12700">
            <a:solidFill>
              <a:srgbClr val="121212"/>
            </a:solidFill>
            <a:prstDash val="solid"/>
          </a:ln>
        </p:spPr>
      </p:sp>
      <p:sp>
        <p:nvSpPr>
          <p:cNvPr id="34" name="Text 32"/>
          <p:cNvSpPr/>
          <p:nvPr/>
        </p:nvSpPr>
        <p:spPr>
          <a:xfrm>
            <a:off x="6364224" y="3749040"/>
            <a:ext cx="128016" cy="164592"/>
          </a:xfrm>
          <a:prstGeom prst="rect">
            <a:avLst/>
          </a:prstGeom>
          <a:noFill/>
          <a:ln/>
        </p:spPr>
        <p:txBody>
          <a:bodyPr wrap="square" lIns="0" tIns="0" rIns="0" bIns="0" rtlCol="0" anchor="ctr"/>
          <a:lstStyle/>
          <a:p>
            <a:pPr indent="0" marL="0">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5" name="Text 33"/>
          <p:cNvSpPr/>
          <p:nvPr/>
        </p:nvSpPr>
        <p:spPr>
          <a:xfrm>
            <a:off x="6766560" y="3730752"/>
            <a:ext cx="4233672" cy="182880"/>
          </a:xfrm>
          <a:prstGeom prst="rect">
            <a:avLst/>
          </a:prstGeom>
          <a:noFill/>
          <a:ln/>
        </p:spPr>
        <p:txBody>
          <a:bodyPr wrap="square" lIns="0" tIns="0" rIns="0" bIns="0" rtlCol="0" anchor="ctr">
            <a:normAutofit/>
          </a:bodyPr>
          <a:lstStyle/>
          <a:p>
            <a:pPr indent="0" marL="0">
              <a:buNone/>
            </a:pPr>
            <a:r>
              <a:rPr lang="en-US" sz="920" b="1" dirty="0">
                <a:solidFill>
                  <a:srgbClr val="487052"/>
                </a:solidFill>
                <a:latin typeface="Microsoft YaHei" pitchFamily="34" charset="0"/>
                <a:ea typeface="Microsoft YaHei" pitchFamily="34" charset="-122"/>
                <a:cs typeface="Microsoft YaHei" pitchFamily="34" charset="-120"/>
              </a:rPr>
              <a:t>价格/盈利压力</a:t>
            </a:r>
            <a:endParaRPr lang="en-US" sz="920" dirty="0"/>
          </a:p>
        </p:txBody>
      </p:sp>
      <p:sp>
        <p:nvSpPr>
          <p:cNvPr id="36" name="Shape 34"/>
          <p:cNvSpPr/>
          <p:nvPr/>
        </p:nvSpPr>
        <p:spPr>
          <a:xfrm>
            <a:off x="6766560" y="4005072"/>
            <a:ext cx="1316736" cy="54864"/>
          </a:xfrm>
          <a:prstGeom prst="rect">
            <a:avLst/>
          </a:prstGeom>
          <a:solidFill>
            <a:srgbClr val="487052"/>
          </a:solidFill>
          <a:ln w="12700">
            <a:solidFill>
              <a:srgbClr val="487052"/>
            </a:solidFill>
            <a:prstDash val="solid"/>
          </a:ln>
        </p:spPr>
      </p:sp>
      <p:sp>
        <p:nvSpPr>
          <p:cNvPr id="37" name="Text 35"/>
          <p:cNvSpPr/>
          <p:nvPr/>
        </p:nvSpPr>
        <p:spPr>
          <a:xfrm>
            <a:off x="6766560" y="4151376"/>
            <a:ext cx="4233672" cy="749808"/>
          </a:xfrm>
          <a:prstGeom prst="rect">
            <a:avLst/>
          </a:prstGeom>
          <a:noFill/>
          <a:ln/>
        </p:spPr>
        <p:txBody>
          <a:bodyPr wrap="square" lIns="0" tIns="0" rIns="0" bIns="0" rtlCol="0" anchor="t">
            <a:normAutofit/>
          </a:bodyPr>
          <a:lstStyle/>
          <a:p>
            <a:pPr indent="0" marL="0">
              <a:buNone/>
            </a:pPr>
            <a:r>
              <a:rPr lang="en-US" sz="920" b="1" dirty="0">
                <a:solidFill>
                  <a:srgbClr val="121212"/>
                </a:solidFill>
                <a:latin typeface="Microsoft YaHei" pitchFamily="34" charset="0"/>
                <a:ea typeface="Microsoft YaHei" pitchFamily="34" charset="-122"/>
                <a:cs typeface="Microsoft YaHei" pitchFamily="34" charset="-120"/>
              </a:rPr>
              <a:t>磷酸铁锂正极材料价格在成本对冲下维持稳态，但行业整体利润见底，新一轮洗牌加速。</a:t>
            </a:r>
            <a:endParaRPr lang="en-US" sz="920" dirty="0"/>
          </a:p>
        </p:txBody>
      </p:sp>
      <p:sp>
        <p:nvSpPr>
          <p:cNvPr id="38" name="Text 36"/>
          <p:cNvSpPr/>
          <p:nvPr/>
        </p:nvSpPr>
        <p:spPr>
          <a:xfrm>
            <a:off x="6766560" y="4983480"/>
            <a:ext cx="4233672" cy="128016"/>
          </a:xfrm>
          <a:prstGeom prst="rect">
            <a:avLst/>
          </a:prstGeom>
          <a:noFill/>
          <a:ln/>
        </p:spPr>
        <p:txBody>
          <a:bodyPr wrap="square" lIns="0" tIns="0" rIns="0" bIns="0" rtlCol="0" anchor="ctr">
            <a:normAutofit/>
          </a:bodyPr>
          <a:lstStyle/>
          <a:p>
            <a:pPr indent="0" marL="0">
              <a:buNone/>
            </a:pPr>
            <a:r>
              <a:rPr lang="en-US" sz="750" dirty="0">
                <a:solidFill>
                  <a:srgbClr val="6D756F"/>
                </a:solidFill>
                <a:latin typeface="Aptos" pitchFamily="34" charset="0"/>
                <a:ea typeface="Aptos" pitchFamily="34" charset="-122"/>
                <a:cs typeface="Aptos" pitchFamily="34" charset="-120"/>
              </a:rPr>
              <a:t>[1][5]</a:t>
            </a:r>
            <a:endParaRPr lang="en-US" sz="750" dirty="0"/>
          </a:p>
        </p:txBody>
      </p:sp>
      <p:sp>
        <p:nvSpPr>
          <p:cNvPr id="39" name="Shape 37"/>
          <p:cNvSpPr/>
          <p:nvPr/>
        </p:nvSpPr>
        <p:spPr>
          <a:xfrm>
            <a:off x="658368" y="5779008"/>
            <a:ext cx="1463040" cy="292608"/>
          </a:xfrm>
          <a:prstGeom prst="rect">
            <a:avLst/>
          </a:prstGeom>
          <a:solidFill>
            <a:srgbClr val="121212"/>
          </a:solidFill>
          <a:ln w="12700">
            <a:solidFill>
              <a:srgbClr val="121212"/>
            </a:solidFill>
            <a:prstDash val="solid"/>
          </a:ln>
        </p:spPr>
      </p:sp>
      <p:sp>
        <p:nvSpPr>
          <p:cNvPr id="40" name="Text 38"/>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总览结论</a:t>
            </a:r>
            <a:endParaRPr lang="en-US" sz="780" dirty="0"/>
          </a:p>
        </p:txBody>
      </p:sp>
      <p:sp>
        <p:nvSpPr>
          <p:cNvPr id="41" name="Text 39"/>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今日磷酸铁锂行业核心动态集中于高压实正极材料量产推进、万华化学82万吨产能引发的供给端冲击预期，以及工信部叫停废旧动力电池梯次利用带来的回收体</a:t>
            </a:r>
            <a:endParaRPr lang="en-US" sz="10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3.</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03</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今日结论</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密度正极材料成为技术竞争焦点，量产进度受下游客户高度关注；万华化学82万吨磷酸铁锂产能规划引发行业对供给过剩的担忧；工信部叫停废旧动力电池梯次利用，强化质量安全标准，将推动回收行业向规范化、高值化方向转型。 [1][2][3]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依据：[1][2][3]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正极材料是提升电芯能量密度的关键路径，其量产进度直接影响下游电池厂的选型与采购策略。万华化学作为化工巨头跨界进入磷酸铁锂领域，其82万吨产能规划远超多数现有企业，可能重塑行业成本曲线与竞争格局。工信部叫停梯次利用，意味着退役电池将更多流向再生利用环节，利好具备湿法冶金回收能力的企业，但短期可能增加回收企业的原料处理压力。三者共同指向行业从规模扩张向技术与合规竞争转变。</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正极材料量产顺利且成本可控，则可能加速其在高端动力电池中的应用，推动行业技术迭代；若万华化学产能如期释放，则可能加剧市场竞争，压缩现有企业利润空间；若梯次利用政策严格执行，则可能促使回收企业加大再生利用技术投入，形成新的盈利增长点。后续需跟踪高压实材料实际出货量、万华产能建设进度及回收企业技术路线调整。</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高压实密度正极材料成为技术</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万华化学82万吨磷酸铁锂产</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工信部叫停废旧动力电池梯次</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高压实密度正极材料成为技术</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若高压实正极材料量产顺利且成本可控，则可能加速其在高端动力电池中的应用，推动行业技术迭代</a:t>
            </a:r>
            <a:endParaRPr lang="en-US" sz="10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4.</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04</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技术/产品路线</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1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高压实密度正极材料成为行业技术竞争焦点，多家企业推进量产，下游客户关注度提升。 [1]</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依据：[1]</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公众号文章指出，磷酸铁锂正极材料市场处于成本对冲下的稳态，但高压实密度新产品是差异化竞争的关键。技术路线向高压实方向演进，旨在提升体积能量密度，满足高端车型和储能应用需求。当前量产进度和成本控制是决定技术路线能否大规模普及的核心变量。</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若高压实产品在能量密度和成本上取得平衡，则可能成为主流技术路线，带动上游原材料和设备升级。需跟踪各企业高压实产品的实际性能参数、量产规模及下游验证结果。</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高压实密度正极材料成为行业</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[1] 公众号文章指出，磷</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技术路线向高压实方向演进，</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高压实密度正极材料成为行业</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若高压实产品在能量密度和成本上取得平衡，则可能成为主流技术路线，带动上游原材料和设备升级</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5.</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05</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产能/客户/订单</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万华化学82万吨磷酸铁锂产能规划引发行业关注，被视为潜在供给端冲击；电解液行业投资分化，石大胜华逆势扩产。 [2][4]</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依据：[2][4]</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万华化学的产能规划远超行业平均水平，其进入可能改变市场供需格局，对现有企业构成压力。电解液行业投资分化显示，头部企业仍在扩张，而部分企业选择观望，反映行业内部对市场前景判断不一。产能扩张与订单获取的匹配度成为关键。</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若万华化学产能按计划释放，则可能加剧磷酸铁锂正极材料市场竞争，导致价格战或加速落后产能出清。需跟踪万华产能建设进度、客户开拓情况以及现有企业的应对策略。</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万华化学82万吨磷酸铁锂产</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电解液行业投资分化，石大胜</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[2][4] 万华化学的产</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万华化学82万吨磷酸铁锂产</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若万华化学产能按计划释放，则可能加剧磷酸铁锂正极材料市场竞争，导致价格战或加速落后产能出清</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6.</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06</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价格/盈利压力</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事实判断：磷酸铁锂正极材料价格在成本对冲下维持稳态，但行业整体利润见底，新一轮洗牌加速。 [1][5] 影响分析：公众号周报指出，成本对冲下的价格稳态可能难以持续，行业盈利空间受到挤压。盖世汽车文章称全行业利润见底，新一轮洗牌加速开启，表明价格战或成本压力已导致部分企业亏损，行业集中度有望提升。 后续研判：若碳酸锂等原材料价格继续波动，则可能打破当前价格稳态，加剧行业盈利分化。需跟踪原材料价格走势、行业库存水平以及企业盈利报告。</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依据：[1][5]</a:t>
            </a:r>
            <a:endParaRPr lang="en-US" sz="740" dirty="0"/>
          </a:p>
        </p:txBody>
      </p:sp>
      <p:sp>
        <p:nvSpPr>
          <p:cNvPr id="14" name="Shape 12"/>
          <p:cNvSpPr/>
          <p:nvPr/>
        </p:nvSpPr>
        <p:spPr>
          <a:xfrm>
            <a:off x="658368" y="5779008"/>
            <a:ext cx="1463040" cy="292608"/>
          </a:xfrm>
          <a:prstGeom prst="rect">
            <a:avLst/>
          </a:prstGeom>
          <a:solidFill>
            <a:srgbClr val="121212"/>
          </a:solidFill>
          <a:ln w="12700">
            <a:solidFill>
              <a:srgbClr val="121212"/>
            </a:solidFill>
            <a:prstDash val="solid"/>
          </a:ln>
        </p:spPr>
      </p:sp>
      <p:sp>
        <p:nvSpPr>
          <p:cNvPr id="15" name="Text 1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页面结论</a:t>
            </a:r>
            <a:endParaRPr lang="en-US" sz="780" dirty="0"/>
          </a:p>
        </p:txBody>
      </p:sp>
      <p:sp>
        <p:nvSpPr>
          <p:cNvPr id="16" name="Text 1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价格/盈利压力是本页重点观察方向，仍需后续公告与经营数据交叉验证。</a:t>
            </a:r>
            <a:endParaRPr lang="en-US" sz="10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7.</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07</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政策/合规风险</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2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工信部叫停废旧动力电池梯次利用，强化质量安全标准；动力电池耐久性新国标实施，引入SOCE指标和5年82%寿命红线。 [3][6]</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依据：[3][6]</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工信部政策对梯次利用的收紧，旨在防范安全风险，将推动行业向再生利用倾斜。动力电池耐久性新国标对电池寿命提出量化要求，将影响电池设计、材料选择和质保策略。两项政策均指向提升电池全生命周期质量和安全水平。</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梯次利用政策严格执行，则可能减少梯次利用市场规模，增加再生利用需求，利好具备回收资质和技术能力的企业。若新国标全面实施，则可能推动高耐久性电池技术研发，增加相关材料需求。需跟踪政策实施细则、企业合规成本变化及技术响应。</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合规风险金字塔</a:t>
            </a:r>
            <a:endParaRPr lang="en-US" sz="1200" dirty="0"/>
          </a:p>
        </p:txBody>
      </p:sp>
      <p:sp>
        <p:nvSpPr>
          <p:cNvPr id="24" name="Shape 22"/>
          <p:cNvSpPr/>
          <p:nvPr/>
        </p:nvSpPr>
        <p:spPr>
          <a:xfrm>
            <a:off x="8503920" y="1975104"/>
            <a:ext cx="1097280" cy="512064"/>
          </a:xfrm>
          <a:prstGeom prst="trapezoid">
            <a:avLst/>
          </a:prstGeom>
          <a:solidFill>
            <a:srgbClr val="B85A4A"/>
          </a:solidFill>
          <a:ln w="8890">
            <a:solidFill>
              <a:srgbClr val="487052"/>
            </a:solidFill>
            <a:prstDash val="solid"/>
          </a:ln>
        </p:spPr>
      </p:sp>
      <p:sp>
        <p:nvSpPr>
          <p:cNvPr id="25" name="Text 23"/>
          <p:cNvSpPr/>
          <p:nvPr/>
        </p:nvSpPr>
        <p:spPr>
          <a:xfrm>
            <a:off x="8595360" y="2066544"/>
            <a:ext cx="914400" cy="118872"/>
          </a:xfrm>
          <a:prstGeom prst="rect">
            <a:avLst/>
          </a:prstGeom>
          <a:noFill/>
          <a:ln/>
        </p:spPr>
        <p:txBody>
          <a:bodyPr wrap="square" lIns="0" tIns="0" rIns="0" bIns="0" rtlCol="0" anchor="ctr">
            <a:normAutofit/>
          </a:bodyPr>
          <a:lstStyle/>
          <a:p>
            <a:pPr algn="ctr" indent="0" marL="0">
              <a:buNone/>
            </a:pPr>
            <a:r>
              <a:rPr lang="en-US" sz="740" b="1" dirty="0">
                <a:solidFill>
                  <a:srgbClr val="FFFFFF"/>
                </a:solidFill>
                <a:latin typeface="Microsoft YaHei" pitchFamily="34" charset="0"/>
                <a:ea typeface="Microsoft YaHei" pitchFamily="34" charset="-122"/>
                <a:cs typeface="Microsoft YaHei" pitchFamily="34" charset="-120"/>
              </a:rPr>
              <a:t>监管红线</a:t>
            </a:r>
            <a:endParaRPr lang="en-US" sz="740" dirty="0"/>
          </a:p>
        </p:txBody>
      </p:sp>
      <p:sp>
        <p:nvSpPr>
          <p:cNvPr id="26" name="Text 24"/>
          <p:cNvSpPr/>
          <p:nvPr/>
        </p:nvSpPr>
        <p:spPr>
          <a:xfrm>
            <a:off x="7808976" y="249631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工信部叫停废旧动力电池梯次利用，强</a:t>
            </a:r>
            <a:endParaRPr lang="en-US" sz="660" dirty="0"/>
          </a:p>
        </p:txBody>
      </p:sp>
      <p:sp>
        <p:nvSpPr>
          <p:cNvPr id="27" name="Shape 25"/>
          <p:cNvSpPr/>
          <p:nvPr/>
        </p:nvSpPr>
        <p:spPr>
          <a:xfrm>
            <a:off x="8183880" y="2615184"/>
            <a:ext cx="1737360" cy="512064"/>
          </a:xfrm>
          <a:prstGeom prst="trapezoid">
            <a:avLst/>
          </a:prstGeom>
          <a:solidFill>
            <a:srgbClr val="DDEBE0"/>
          </a:solidFill>
          <a:ln w="8890">
            <a:solidFill>
              <a:srgbClr val="487052"/>
            </a:solidFill>
            <a:prstDash val="solid"/>
          </a:ln>
        </p:spPr>
      </p:sp>
      <p:sp>
        <p:nvSpPr>
          <p:cNvPr id="28" name="Text 26"/>
          <p:cNvSpPr/>
          <p:nvPr/>
        </p:nvSpPr>
        <p:spPr>
          <a:xfrm>
            <a:off x="8275320" y="2706624"/>
            <a:ext cx="155448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合规动作</a:t>
            </a:r>
            <a:endParaRPr lang="en-US" sz="740" dirty="0"/>
          </a:p>
        </p:txBody>
      </p:sp>
      <p:sp>
        <p:nvSpPr>
          <p:cNvPr id="29" name="Text 27"/>
          <p:cNvSpPr/>
          <p:nvPr/>
        </p:nvSpPr>
        <p:spPr>
          <a:xfrm>
            <a:off x="7808976" y="313639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动力电池耐久性新国标实施，引入SO</a:t>
            </a:r>
            <a:endParaRPr lang="en-US" sz="660" dirty="0"/>
          </a:p>
        </p:txBody>
      </p:sp>
      <p:sp>
        <p:nvSpPr>
          <p:cNvPr id="30" name="Shape 28"/>
          <p:cNvSpPr/>
          <p:nvPr/>
        </p:nvSpPr>
        <p:spPr>
          <a:xfrm>
            <a:off x="7863840" y="3255264"/>
            <a:ext cx="2377440" cy="512064"/>
          </a:xfrm>
          <a:prstGeom prst="trapezoid">
            <a:avLst/>
          </a:prstGeom>
          <a:solidFill>
            <a:srgbClr val="F4FAF6"/>
          </a:solidFill>
          <a:ln w="8890">
            <a:solidFill>
              <a:srgbClr val="487052"/>
            </a:solidFill>
            <a:prstDash val="solid"/>
          </a:ln>
        </p:spPr>
      </p:sp>
      <p:sp>
        <p:nvSpPr>
          <p:cNvPr id="31" name="Text 29"/>
          <p:cNvSpPr/>
          <p:nvPr/>
        </p:nvSpPr>
        <p:spPr>
          <a:xfrm>
            <a:off x="7955280" y="3346704"/>
            <a:ext cx="2194560" cy="118872"/>
          </a:xfrm>
          <a:prstGeom prst="rect">
            <a:avLst/>
          </a:prstGeom>
          <a:noFill/>
          <a:ln/>
        </p:spPr>
        <p:txBody>
          <a:bodyPr wrap="square" lIns="0" tIns="0" rIns="0" bIns="0" rtlCol="0" anchor="ctr">
            <a:normAutofit/>
          </a:bodyPr>
          <a:lstStyle/>
          <a:p>
            <a:pPr algn="ctr" indent="0" marL="0">
              <a:buNone/>
            </a:pPr>
            <a:r>
              <a:rPr lang="en-US" sz="740" b="1" dirty="0">
                <a:solidFill>
                  <a:srgbClr val="487052"/>
                </a:solidFill>
                <a:latin typeface="Microsoft YaHei" pitchFamily="34" charset="0"/>
                <a:ea typeface="Microsoft YaHei" pitchFamily="34" charset="-122"/>
                <a:cs typeface="Microsoft YaHei" pitchFamily="34" charset="-120"/>
              </a:rPr>
              <a:t>经营影响/观察</a:t>
            </a:r>
            <a:endParaRPr lang="en-US" sz="740" dirty="0"/>
          </a:p>
        </p:txBody>
      </p:sp>
      <p:sp>
        <p:nvSpPr>
          <p:cNvPr id="32" name="Text 30"/>
          <p:cNvSpPr/>
          <p:nvPr/>
        </p:nvSpPr>
        <p:spPr>
          <a:xfrm>
            <a:off x="7808976" y="3776472"/>
            <a:ext cx="2514600" cy="118872"/>
          </a:xfrm>
          <a:prstGeom prst="rect">
            <a:avLst/>
          </a:prstGeom>
          <a:noFill/>
          <a:ln/>
        </p:spPr>
        <p:txBody>
          <a:bodyPr wrap="square" lIns="0" tIns="0" rIns="0" bIns="0" rtlCol="0" anchor="ctr">
            <a:normAutofit/>
          </a:bodyPr>
          <a:lstStyle/>
          <a:p>
            <a:pPr algn="ctr" indent="0" marL="0">
              <a:buNone/>
            </a:pPr>
            <a:r>
              <a:rPr lang="en-US" sz="660" dirty="0">
                <a:solidFill>
                  <a:srgbClr val="121212"/>
                </a:solidFill>
                <a:latin typeface="Microsoft YaHei" pitchFamily="34" charset="0"/>
                <a:ea typeface="Microsoft YaHei" pitchFamily="34" charset="-122"/>
                <a:cs typeface="Microsoft YaHei" pitchFamily="34" charset="-120"/>
              </a:rPr>
              <a:t>[3][6] 工信部政策对梯次利用</a:t>
            </a:r>
            <a:endParaRPr lang="en-US" sz="660" dirty="0"/>
          </a:p>
        </p:txBody>
      </p:sp>
      <p:sp>
        <p:nvSpPr>
          <p:cNvPr id="33" name="Shape 31"/>
          <p:cNvSpPr/>
          <p:nvPr/>
        </p:nvSpPr>
        <p:spPr>
          <a:xfrm>
            <a:off x="658368" y="5779008"/>
            <a:ext cx="1463040" cy="292608"/>
          </a:xfrm>
          <a:prstGeom prst="rect">
            <a:avLst/>
          </a:prstGeom>
          <a:solidFill>
            <a:srgbClr val="121212"/>
          </a:solidFill>
          <a:ln w="12700">
            <a:solidFill>
              <a:srgbClr val="121212"/>
            </a:solidFill>
            <a:prstDash val="solid"/>
          </a:ln>
        </p:spPr>
      </p:sp>
      <p:sp>
        <p:nvSpPr>
          <p:cNvPr id="34" name="Text 32"/>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35" name="Text 33"/>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若梯次利用政策严格执行，则可能减少梯次利用市场规模，增加再生利用需求，利好具备回收资质和技术能力的企业</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8.</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DYNAMIC SIGNALS</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08</a:t>
            </a:r>
            <a:endParaRPr lang="en-US" sz="730" dirty="0"/>
          </a:p>
        </p:txBody>
      </p:sp>
      <p:sp>
        <p:nvSpPr>
          <p:cNvPr id="9" name="Text 7"/>
          <p:cNvSpPr/>
          <p:nvPr/>
        </p:nvSpPr>
        <p:spPr>
          <a:xfrm>
            <a:off x="1143000" y="932688"/>
            <a:ext cx="256032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重点板块</a:t>
            </a:r>
            <a:endParaRPr lang="en-US" sz="2000" dirty="0"/>
          </a:p>
        </p:txBody>
      </p:sp>
      <p:sp>
        <p:nvSpPr>
          <p:cNvPr id="10" name="Shape 8"/>
          <p:cNvSpPr/>
          <p:nvPr/>
        </p:nvSpPr>
        <p:spPr>
          <a:xfrm>
            <a:off x="658368" y="1371600"/>
            <a:ext cx="10881360" cy="1225296"/>
          </a:xfrm>
          <a:prstGeom prst="roundRect">
            <a:avLst>
              <a:gd name="adj" fmla="val 5970"/>
            </a:avLst>
          </a:prstGeom>
          <a:solidFill>
            <a:srgbClr val="F4FAF6"/>
          </a:solidFill>
          <a:ln w="10160">
            <a:solidFill>
              <a:srgbClr val="DADADA"/>
            </a:solidFill>
            <a:prstDash val="solid"/>
          </a:ln>
        </p:spPr>
      </p:sp>
      <p:sp>
        <p:nvSpPr>
          <p:cNvPr id="11" name="Text 9"/>
          <p:cNvSpPr/>
          <p:nvPr/>
        </p:nvSpPr>
        <p:spPr>
          <a:xfrm>
            <a:off x="932688" y="1536192"/>
            <a:ext cx="1920240" cy="256032"/>
          </a:xfrm>
          <a:prstGeom prst="rect">
            <a:avLst/>
          </a:prstGeom>
          <a:noFill/>
          <a:ln/>
        </p:spPr>
        <p:txBody>
          <a:bodyPr wrap="square" lIns="0" tIns="0" rIns="0" bIns="0" rtlCol="0" anchor="ctr">
            <a:normAutofit/>
          </a:bodyPr>
          <a:lstStyle/>
          <a:p>
            <a:pPr indent="0" marL="0">
              <a:buNone/>
            </a:pPr>
            <a:r>
              <a:rPr lang="en-US" sz="1250" b="1" dirty="0">
                <a:solidFill>
                  <a:srgbClr val="487052"/>
                </a:solidFill>
                <a:latin typeface="Microsoft YaHei" pitchFamily="34" charset="0"/>
                <a:ea typeface="Microsoft YaHei" pitchFamily="34" charset="-122"/>
                <a:cs typeface="Microsoft YaHei" pitchFamily="34" charset="-120"/>
              </a:rPr>
              <a:t>竞品观察</a:t>
            </a:r>
            <a:endParaRPr lang="en-US" sz="1250" dirty="0"/>
          </a:p>
        </p:txBody>
      </p:sp>
      <p:sp>
        <p:nvSpPr>
          <p:cNvPr id="12" name="Text 10"/>
          <p:cNvSpPr/>
          <p:nvPr/>
        </p:nvSpPr>
        <p:spPr>
          <a:xfrm>
            <a:off x="2788920" y="1536192"/>
            <a:ext cx="8321040" cy="713232"/>
          </a:xfrm>
          <a:prstGeom prst="rect">
            <a:avLst/>
          </a:prstGeom>
          <a:noFill/>
          <a:ln/>
        </p:spPr>
        <p:txBody>
          <a:bodyPr wrap="square" lIns="0" tIns="0" rIns="0" bIns="0" rtlCol="0" anchor="t">
            <a:normAutofit/>
          </a:bodyPr>
          <a:lstStyle/>
          <a:p>
            <a:pPr indent="0" marL="0">
              <a:buNone/>
            </a:pPr>
            <a:r>
              <a:rPr lang="en-US" sz="910" dirty="0">
                <a:solidFill>
                  <a:srgbClr val="121212"/>
                </a:solidFill>
                <a:latin typeface="Microsoft YaHei" pitchFamily="34" charset="0"/>
                <a:ea typeface="Microsoft YaHei" pitchFamily="34" charset="-122"/>
                <a:cs typeface="Microsoft YaHei" pitchFamily="34" charset="-120"/>
              </a:rPr>
              <a:t>事实判断：万华化学跨界进入磷酸铁锂领域，其82万吨产能规划被视为行业'鲶鱼'或'鲨鱼'，对现有企业构成战略威胁。 [2] 影响分析：万华化学凭借化工领域的成本控制能力和资金优势，其大规模产能布局可能重塑行业成本曲线。现有磷酸铁锂企业需在技术、成本和客户关系上构建壁垒，以应对潜在竞争。行业整合可能加速。 后续研判：若万华化学产能顺利投产并实现成本优势，则可能引发价格战，迫使高成本产能退出。需跟踪万华化学的投产进度、成本结构及客户认证情况。</a:t>
            </a:r>
            <a:endParaRPr lang="en-US" sz="910" dirty="0"/>
          </a:p>
        </p:txBody>
      </p:sp>
      <p:sp>
        <p:nvSpPr>
          <p:cNvPr id="13" name="Text 11"/>
          <p:cNvSpPr/>
          <p:nvPr/>
        </p:nvSpPr>
        <p:spPr>
          <a:xfrm>
            <a:off x="2788920" y="2322576"/>
            <a:ext cx="3474720" cy="146304"/>
          </a:xfrm>
          <a:prstGeom prst="rect">
            <a:avLst/>
          </a:prstGeom>
          <a:noFill/>
          <a:ln/>
        </p:spPr>
        <p:txBody>
          <a:bodyPr wrap="square" lIns="0" tIns="0" rIns="0" bIns="0" rtlCol="0" anchor="ctr"/>
          <a:lstStyle/>
          <a:p>
            <a:pPr indent="0" marL="0">
              <a:buNone/>
            </a:pPr>
            <a:r>
              <a:rPr lang="en-US" sz="740" dirty="0">
                <a:solidFill>
                  <a:srgbClr val="487052"/>
                </a:solidFill>
                <a:latin typeface="Aptos" pitchFamily="34" charset="0"/>
                <a:ea typeface="Aptos" pitchFamily="34" charset="-122"/>
                <a:cs typeface="Aptos" pitchFamily="34" charset="-120"/>
              </a:rPr>
              <a:t>依据：[2]</a:t>
            </a:r>
            <a:endParaRPr lang="en-US" sz="740" dirty="0"/>
          </a:p>
        </p:txBody>
      </p:sp>
      <p:sp>
        <p:nvSpPr>
          <p:cNvPr id="14" name="Shape 12"/>
          <p:cNvSpPr/>
          <p:nvPr/>
        </p:nvSpPr>
        <p:spPr>
          <a:xfrm>
            <a:off x="658368" y="5779008"/>
            <a:ext cx="1463040" cy="292608"/>
          </a:xfrm>
          <a:prstGeom prst="rect">
            <a:avLst/>
          </a:prstGeom>
          <a:solidFill>
            <a:srgbClr val="121212"/>
          </a:solidFill>
          <a:ln w="12700">
            <a:solidFill>
              <a:srgbClr val="121212"/>
            </a:solidFill>
            <a:prstDash val="solid"/>
          </a:ln>
        </p:spPr>
      </p:sp>
      <p:sp>
        <p:nvSpPr>
          <p:cNvPr id="15" name="Text 13"/>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页面结论</a:t>
            </a:r>
            <a:endParaRPr lang="en-US" sz="780" dirty="0"/>
          </a:p>
        </p:txBody>
      </p:sp>
      <p:sp>
        <p:nvSpPr>
          <p:cNvPr id="16" name="Text 14"/>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竞品观察是本页重点观察方向，仍需后续公告与经营数据交叉验证。</a:t>
            </a:r>
            <a:endParaRPr lang="en-US" sz="10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9.</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SECTION DEEP DIVE</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09</a:t>
            </a:r>
            <a:endParaRPr lang="en-US" sz="730" dirty="0"/>
          </a:p>
        </p:txBody>
      </p:sp>
      <p:sp>
        <p:nvSpPr>
          <p:cNvPr id="9" name="Text 7"/>
          <p:cNvSpPr/>
          <p:nvPr/>
        </p:nvSpPr>
        <p:spPr>
          <a:xfrm>
            <a:off x="658368" y="914400"/>
            <a:ext cx="3200400" cy="384048"/>
          </a:xfrm>
          <a:prstGeom prst="rect">
            <a:avLst/>
          </a:prstGeom>
          <a:noFill/>
          <a:ln/>
        </p:spPr>
        <p:txBody>
          <a:bodyPr wrap="square" lIns="0" tIns="0" rIns="0" bIns="0" rtlCol="0" anchor="ctr">
            <a:normAutofit/>
          </a:bodyP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风险/机会/观察</a:t>
            </a:r>
            <a:endParaRPr lang="en-US" sz="2000" dirty="0"/>
          </a:p>
        </p:txBody>
      </p:sp>
      <p:sp>
        <p:nvSpPr>
          <p:cNvPr id="10" name="Text 8"/>
          <p:cNvSpPr/>
          <p:nvPr/>
        </p:nvSpPr>
        <p:spPr>
          <a:xfrm>
            <a:off x="3749040" y="1005840"/>
            <a:ext cx="7132320" cy="182880"/>
          </a:xfrm>
          <a:prstGeom prst="rect">
            <a:avLst/>
          </a:prstGeom>
          <a:noFill/>
          <a:ln/>
        </p:spPr>
        <p:txBody>
          <a:bodyPr wrap="square" lIns="0" tIns="0" rIns="0" bIns="0" rtlCol="0" anchor="ctr">
            <a:normAutofit/>
          </a:bodyPr>
          <a:lstStyle/>
          <a:p>
            <a:pPr indent="0" marL="0">
              <a:buNone/>
            </a:pPr>
            <a:r>
              <a:rPr lang="en-US" sz="860" dirty="0">
                <a:solidFill>
                  <a:srgbClr val="6D756F"/>
                </a:solidFill>
                <a:latin typeface="Microsoft YaHei" pitchFamily="34" charset="0"/>
                <a:ea typeface="Microsoft YaHei" pitchFamily="34" charset="-122"/>
                <a:cs typeface="Microsoft YaHei" pitchFamily="34" charset="-120"/>
              </a:rPr>
              <a:t>3 条公开来源交叉验证｜事实、影响与后续研判</a:t>
            </a:r>
            <a:endParaRPr lang="en-US" sz="860" dirty="0"/>
          </a:p>
        </p:txBody>
      </p:sp>
      <p:sp>
        <p:nvSpPr>
          <p:cNvPr id="11" name="Shape 9"/>
          <p:cNvSpPr/>
          <p:nvPr/>
        </p:nvSpPr>
        <p:spPr>
          <a:xfrm>
            <a:off x="658368" y="1444752"/>
            <a:ext cx="6510528" cy="1207008"/>
          </a:xfrm>
          <a:prstGeom prst="roundRect">
            <a:avLst>
              <a:gd name="adj" fmla="val 6061"/>
            </a:avLst>
          </a:prstGeom>
          <a:solidFill>
            <a:srgbClr val="F4FAF6"/>
          </a:solidFill>
          <a:ln w="10160">
            <a:solidFill>
              <a:srgbClr val="DADADA"/>
            </a:solidFill>
            <a:prstDash val="solid"/>
          </a:ln>
        </p:spPr>
      </p:sp>
      <p:sp>
        <p:nvSpPr>
          <p:cNvPr id="12" name="Text 10"/>
          <p:cNvSpPr/>
          <p:nvPr/>
        </p:nvSpPr>
        <p:spPr>
          <a:xfrm>
            <a:off x="932688" y="166420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事实判断</a:t>
            </a:r>
            <a:endParaRPr lang="en-US" sz="1080" dirty="0"/>
          </a:p>
        </p:txBody>
      </p:sp>
      <p:sp>
        <p:nvSpPr>
          <p:cNvPr id="13" name="Text 11"/>
          <p:cNvSpPr/>
          <p:nvPr/>
        </p:nvSpPr>
        <p:spPr>
          <a:xfrm>
            <a:off x="2487168" y="1645920"/>
            <a:ext cx="4315968" cy="676656"/>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行业面临产能过剩、利润下滑和回收政策变化等多重风险，但高压实技术、再生利用和海外市场拓展构成潜在机会。 [5][1][3]</a:t>
            </a:r>
            <a:endParaRPr lang="en-US" sz="960" dirty="0"/>
          </a:p>
        </p:txBody>
      </p:sp>
      <p:sp>
        <p:nvSpPr>
          <p:cNvPr id="14" name="Text 12"/>
          <p:cNvSpPr/>
          <p:nvPr/>
        </p:nvSpPr>
        <p:spPr>
          <a:xfrm>
            <a:off x="2487168" y="2432304"/>
            <a:ext cx="3931920" cy="128016"/>
          </a:xfrm>
          <a:prstGeom prst="rect">
            <a:avLst/>
          </a:prstGeom>
          <a:noFill/>
          <a:ln/>
        </p:spPr>
        <p:txBody>
          <a:bodyPr wrap="square" lIns="0" tIns="0" rIns="0" bIns="0" rtlCol="0" anchor="ctr">
            <a:normAutofit/>
          </a:bodyPr>
          <a:lstStyle/>
          <a:p>
            <a:pPr indent="0" marL="0">
              <a:buNone/>
            </a:pPr>
            <a:r>
              <a:rPr lang="en-US" sz="740" dirty="0">
                <a:solidFill>
                  <a:srgbClr val="487052"/>
                </a:solidFill>
                <a:latin typeface="Aptos" pitchFamily="34" charset="0"/>
                <a:ea typeface="Aptos" pitchFamily="34" charset="-122"/>
                <a:cs typeface="Aptos" pitchFamily="34" charset="-120"/>
              </a:rPr>
              <a:t>依据：[5][1][3]</a:t>
            </a:r>
            <a:endParaRPr lang="en-US" sz="740" dirty="0"/>
          </a:p>
        </p:txBody>
      </p:sp>
      <p:sp>
        <p:nvSpPr>
          <p:cNvPr id="15" name="Shape 13"/>
          <p:cNvSpPr/>
          <p:nvPr/>
        </p:nvSpPr>
        <p:spPr>
          <a:xfrm>
            <a:off x="658368" y="2907792"/>
            <a:ext cx="6510528" cy="1207008"/>
          </a:xfrm>
          <a:prstGeom prst="roundRect">
            <a:avLst>
              <a:gd name="adj" fmla="val 6061"/>
            </a:avLst>
          </a:prstGeom>
          <a:solidFill>
            <a:srgbClr val="FFFFFF"/>
          </a:solidFill>
          <a:ln w="10160">
            <a:solidFill>
              <a:srgbClr val="DADADA"/>
            </a:solidFill>
            <a:prstDash val="solid"/>
          </a:ln>
        </p:spPr>
      </p:sp>
      <p:sp>
        <p:nvSpPr>
          <p:cNvPr id="16" name="Text 14"/>
          <p:cNvSpPr/>
          <p:nvPr/>
        </p:nvSpPr>
        <p:spPr>
          <a:xfrm>
            <a:off x="932688" y="3127248"/>
            <a:ext cx="1417320" cy="256032"/>
          </a:xfrm>
          <a:prstGeom prst="rect">
            <a:avLst/>
          </a:prstGeom>
          <a:noFill/>
          <a:ln/>
        </p:spPr>
        <p:txBody>
          <a:bodyPr wrap="square" lIns="0" tIns="0" rIns="0" bIns="0" rtlCol="0" anchor="ctr">
            <a:normAutofit/>
          </a:bodyPr>
          <a:lstStyle/>
          <a:p>
            <a:pPr indent="0" marL="0">
              <a:buNone/>
            </a:pPr>
            <a:r>
              <a:rPr lang="en-US" sz="1080" b="1" dirty="0">
                <a:solidFill>
                  <a:srgbClr val="487052"/>
                </a:solidFill>
                <a:latin typeface="Microsoft YaHei" pitchFamily="34" charset="0"/>
                <a:ea typeface="Microsoft YaHei" pitchFamily="34" charset="-122"/>
                <a:cs typeface="Microsoft YaHei" pitchFamily="34" charset="-120"/>
              </a:rPr>
              <a:t>影响分析</a:t>
            </a:r>
            <a:endParaRPr lang="en-US" sz="1080" dirty="0"/>
          </a:p>
        </p:txBody>
      </p:sp>
      <p:sp>
        <p:nvSpPr>
          <p:cNvPr id="17" name="Text 15"/>
          <p:cNvSpPr/>
          <p:nvPr/>
        </p:nvSpPr>
        <p:spPr>
          <a:xfrm>
            <a:off x="2487168" y="3108960"/>
            <a:ext cx="4315968" cy="822960"/>
          </a:xfrm>
          <a:prstGeom prst="rect">
            <a:avLst/>
          </a:prstGeom>
          <a:noFill/>
          <a:ln/>
        </p:spPr>
        <p:txBody>
          <a:bodyPr wrap="square" lIns="0" tIns="0" rIns="0" bIns="0" rtlCol="0" anchor="t">
            <a:normAutofit/>
          </a:bodyPr>
          <a:lstStyle/>
          <a:p>
            <a:pPr indent="0" marL="0">
              <a:buNone/>
            </a:pPr>
            <a:r>
              <a:rPr lang="en-US" sz="960" dirty="0">
                <a:solidFill>
                  <a:srgbClr val="121212"/>
                </a:solidFill>
                <a:latin typeface="Microsoft YaHei" pitchFamily="34" charset="0"/>
                <a:ea typeface="Microsoft YaHei" pitchFamily="34" charset="-122"/>
                <a:cs typeface="Microsoft YaHei" pitchFamily="34" charset="-120"/>
              </a:rPr>
              <a:t>产能过剩风险与利润压力并存，政策变化带来合规成本。机会在于高压实技术带来的差异化竞争力、回收政策收紧后再生利用市场的规范化发展，以及海外储能和动力电池需求增长。需持续观察行业洗牌进程、技术突破和政策落地效果。</a:t>
            </a:r>
            <a:endParaRPr lang="en-US" sz="960" dirty="0"/>
          </a:p>
        </p:txBody>
      </p:sp>
      <p:sp>
        <p:nvSpPr>
          <p:cNvPr id="18" name="Shape 16"/>
          <p:cNvSpPr/>
          <p:nvPr/>
        </p:nvSpPr>
        <p:spPr>
          <a:xfrm>
            <a:off x="658368" y="4370832"/>
            <a:ext cx="6510528" cy="1207008"/>
          </a:xfrm>
          <a:prstGeom prst="roundRect">
            <a:avLst>
              <a:gd name="adj" fmla="val 6061"/>
            </a:avLst>
          </a:prstGeom>
          <a:solidFill>
            <a:srgbClr val="DDEBE0"/>
          </a:solidFill>
          <a:ln w="13970">
            <a:solidFill>
              <a:srgbClr val="121212"/>
            </a:solidFill>
            <a:prstDash val="solid"/>
          </a:ln>
        </p:spPr>
      </p:sp>
      <p:sp>
        <p:nvSpPr>
          <p:cNvPr id="19" name="Shape 17"/>
          <p:cNvSpPr/>
          <p:nvPr/>
        </p:nvSpPr>
        <p:spPr>
          <a:xfrm>
            <a:off x="658368" y="4370832"/>
            <a:ext cx="109728" cy="1207008"/>
          </a:xfrm>
          <a:prstGeom prst="rect">
            <a:avLst/>
          </a:prstGeom>
          <a:solidFill>
            <a:srgbClr val="121212"/>
          </a:solidFill>
          <a:ln w="12700">
            <a:solidFill>
              <a:srgbClr val="121212"/>
            </a:solidFill>
            <a:prstDash val="solid"/>
          </a:ln>
        </p:spPr>
      </p:sp>
      <p:sp>
        <p:nvSpPr>
          <p:cNvPr id="20" name="Text 18"/>
          <p:cNvSpPr/>
          <p:nvPr/>
        </p:nvSpPr>
        <p:spPr>
          <a:xfrm>
            <a:off x="932688" y="4590288"/>
            <a:ext cx="1417320" cy="256032"/>
          </a:xfrm>
          <a:prstGeom prst="rect">
            <a:avLst/>
          </a:prstGeom>
          <a:noFill/>
          <a:ln/>
        </p:spPr>
        <p:txBody>
          <a:bodyPr wrap="square" lIns="0" tIns="0" rIns="0" bIns="0" rtlCol="0" anchor="ctr">
            <a:normAutofit/>
          </a:bodyPr>
          <a:lstStyle/>
          <a:p>
            <a:pPr indent="0" marL="0">
              <a:buNone/>
            </a:pPr>
            <a:r>
              <a:rPr lang="en-US" sz="1080" b="1" dirty="0">
                <a:solidFill>
                  <a:srgbClr val="121212"/>
                </a:solidFill>
                <a:latin typeface="Microsoft YaHei" pitchFamily="34" charset="0"/>
                <a:ea typeface="Microsoft YaHei" pitchFamily="34" charset="-122"/>
                <a:cs typeface="Microsoft YaHei" pitchFamily="34" charset="-120"/>
              </a:rPr>
              <a:t>后续研判</a:t>
            </a:r>
            <a:endParaRPr lang="en-US" sz="1080" dirty="0"/>
          </a:p>
        </p:txBody>
      </p:sp>
      <p:sp>
        <p:nvSpPr>
          <p:cNvPr id="21" name="Text 19"/>
          <p:cNvSpPr/>
          <p:nvPr/>
        </p:nvSpPr>
        <p:spPr>
          <a:xfrm>
            <a:off x="2487168" y="4572000"/>
            <a:ext cx="4315968" cy="822960"/>
          </a:xfrm>
          <a:prstGeom prst="rect">
            <a:avLst/>
          </a:prstGeom>
          <a:noFill/>
          <a:ln/>
        </p:spPr>
        <p:txBody>
          <a:bodyPr wrap="square" lIns="0" tIns="0" rIns="0" bIns="0" rtlCol="0" anchor="t">
            <a:normAutofit/>
          </a:bodyPr>
          <a:lstStyle/>
          <a:p>
            <a:pPr indent="0" marL="0">
              <a:buNone/>
            </a:pPr>
            <a:r>
              <a:rPr lang="en-US" sz="960" b="1" dirty="0">
                <a:solidFill>
                  <a:srgbClr val="121212"/>
                </a:solidFill>
                <a:latin typeface="Microsoft YaHei" pitchFamily="34" charset="0"/>
                <a:ea typeface="Microsoft YaHei" pitchFamily="34" charset="-122"/>
                <a:cs typeface="Microsoft YaHei" pitchFamily="34" charset="-120"/>
              </a:rPr>
              <a:t>若行业洗牌加速，则具备技术和成本优势的企业可能获得更大市场份额；若回收政策落地，则再生利用环节可能成为新增长点。需跟踪行业产能利用率、企业盈利变化及回收市场动态。</a:t>
            </a:r>
            <a:endParaRPr lang="en-US" sz="960" dirty="0"/>
          </a:p>
        </p:txBody>
      </p:sp>
      <p:sp>
        <p:nvSpPr>
          <p:cNvPr id="22" name="Shape 20"/>
          <p:cNvSpPr/>
          <p:nvPr/>
        </p:nvSpPr>
        <p:spPr>
          <a:xfrm>
            <a:off x="7479792" y="1444752"/>
            <a:ext cx="3273552" cy="3730752"/>
          </a:xfrm>
          <a:prstGeom prst="roundRect">
            <a:avLst>
              <a:gd name="adj" fmla="val 2235"/>
            </a:avLst>
          </a:prstGeom>
          <a:solidFill>
            <a:srgbClr val="FFFFFF"/>
          </a:solidFill>
          <a:ln w="10160">
            <a:solidFill>
              <a:srgbClr val="DADADA"/>
            </a:solidFill>
            <a:prstDash val="solid"/>
          </a:ln>
        </p:spPr>
      </p:sp>
      <p:sp>
        <p:nvSpPr>
          <p:cNvPr id="23" name="Text 21"/>
          <p:cNvSpPr/>
          <p:nvPr/>
        </p:nvSpPr>
        <p:spPr>
          <a:xfrm>
            <a:off x="7726680" y="1700784"/>
            <a:ext cx="2286000" cy="219456"/>
          </a:xfrm>
          <a:prstGeom prst="rect">
            <a:avLst/>
          </a:prstGeom>
          <a:noFill/>
          <a:ln/>
        </p:spPr>
        <p:txBody>
          <a:bodyPr wrap="square" lIns="0" tIns="0" rIns="0" bIns="0" rtlCol="0" anchor="ctr">
            <a:normAutofit/>
          </a:bodyPr>
          <a:lstStyle/>
          <a:p>
            <a:pPr indent="0" marL="0">
              <a:buNone/>
            </a:pPr>
            <a:r>
              <a:rPr lang="en-US" sz="1200" b="1" dirty="0">
                <a:solidFill>
                  <a:srgbClr val="487052"/>
                </a:solidFill>
                <a:latin typeface="Microsoft YaHei" pitchFamily="34" charset="0"/>
                <a:ea typeface="Microsoft YaHei" pitchFamily="34" charset="-122"/>
                <a:cs typeface="Microsoft YaHei" pitchFamily="34" charset="-120"/>
              </a:rPr>
              <a:t>对比矩阵</a:t>
            </a:r>
            <a:endParaRPr lang="en-US" sz="1200" dirty="0"/>
          </a:p>
        </p:txBody>
      </p:sp>
      <p:sp>
        <p:nvSpPr>
          <p:cNvPr id="24" name="Shape 22"/>
          <p:cNvSpPr/>
          <p:nvPr/>
        </p:nvSpPr>
        <p:spPr>
          <a:xfrm>
            <a:off x="7818120" y="2176272"/>
            <a:ext cx="2487168" cy="1609344"/>
          </a:xfrm>
          <a:prstGeom prst="rect">
            <a:avLst/>
          </a:prstGeom>
          <a:solidFill>
            <a:srgbClr val="FFFFFF"/>
          </a:solidFill>
          <a:ln w="10160">
            <a:solidFill>
              <a:srgbClr val="DADADA"/>
            </a:solidFill>
            <a:prstDash val="solid"/>
          </a:ln>
        </p:spPr>
      </p:sp>
      <p:sp>
        <p:nvSpPr>
          <p:cNvPr id="25" name="Shape 23"/>
          <p:cNvSpPr/>
          <p:nvPr/>
        </p:nvSpPr>
        <p:spPr>
          <a:xfrm>
            <a:off x="9061704" y="2176272"/>
            <a:ext cx="0" cy="1609344"/>
          </a:xfrm>
          <a:prstGeom prst="line">
            <a:avLst/>
          </a:prstGeom>
          <a:noFill/>
          <a:ln w="8890">
            <a:solidFill>
              <a:srgbClr val="DADADA"/>
            </a:solidFill>
            <a:prstDash val="solid"/>
          </a:ln>
        </p:spPr>
      </p:sp>
      <p:sp>
        <p:nvSpPr>
          <p:cNvPr id="26" name="Shape 24"/>
          <p:cNvSpPr/>
          <p:nvPr/>
        </p:nvSpPr>
        <p:spPr>
          <a:xfrm>
            <a:off x="7818120" y="2980944"/>
            <a:ext cx="2487168" cy="0"/>
          </a:xfrm>
          <a:prstGeom prst="line">
            <a:avLst/>
          </a:prstGeom>
          <a:noFill/>
          <a:ln w="8890">
            <a:solidFill>
              <a:srgbClr val="DADADA"/>
            </a:solidFill>
            <a:prstDash val="solid"/>
          </a:ln>
        </p:spPr>
      </p:sp>
      <p:sp>
        <p:nvSpPr>
          <p:cNvPr id="27" name="Shape 25"/>
          <p:cNvSpPr/>
          <p:nvPr/>
        </p:nvSpPr>
        <p:spPr>
          <a:xfrm>
            <a:off x="7818120" y="2176272"/>
            <a:ext cx="1243584" cy="804672"/>
          </a:xfrm>
          <a:prstGeom prst="rect">
            <a:avLst/>
          </a:prstGeom>
          <a:solidFill>
            <a:srgbClr val="DDEBE0"/>
          </a:solidFill>
          <a:ln w="3810">
            <a:solidFill>
              <a:srgbClr val="DADADA"/>
            </a:solidFill>
            <a:prstDash val="solid"/>
          </a:ln>
        </p:spPr>
      </p:sp>
      <p:sp>
        <p:nvSpPr>
          <p:cNvPr id="28" name="Text 26"/>
          <p:cNvSpPr/>
          <p:nvPr/>
        </p:nvSpPr>
        <p:spPr>
          <a:xfrm>
            <a:off x="7891272"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路线A</a:t>
            </a:r>
            <a:endParaRPr lang="en-US" sz="710" dirty="0"/>
          </a:p>
        </p:txBody>
      </p:sp>
      <p:sp>
        <p:nvSpPr>
          <p:cNvPr id="29" name="Text 27"/>
          <p:cNvSpPr/>
          <p:nvPr/>
        </p:nvSpPr>
        <p:spPr>
          <a:xfrm>
            <a:off x="7891272"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行业面临产能过剩、利润下滑</a:t>
            </a:r>
            <a:endParaRPr lang="en-US" sz="670" dirty="0"/>
          </a:p>
        </p:txBody>
      </p:sp>
      <p:sp>
        <p:nvSpPr>
          <p:cNvPr id="30" name="Shape 28"/>
          <p:cNvSpPr/>
          <p:nvPr/>
        </p:nvSpPr>
        <p:spPr>
          <a:xfrm>
            <a:off x="9061704" y="2176272"/>
            <a:ext cx="1243584" cy="804672"/>
          </a:xfrm>
          <a:prstGeom prst="rect">
            <a:avLst/>
          </a:prstGeom>
          <a:solidFill>
            <a:srgbClr val="FFFFFF"/>
          </a:solidFill>
          <a:ln w="3810">
            <a:solidFill>
              <a:srgbClr val="DADADA"/>
            </a:solidFill>
            <a:prstDash val="solid"/>
          </a:ln>
        </p:spPr>
      </p:sp>
      <p:sp>
        <p:nvSpPr>
          <p:cNvPr id="31" name="Text 29"/>
          <p:cNvSpPr/>
          <p:nvPr/>
        </p:nvSpPr>
        <p:spPr>
          <a:xfrm>
            <a:off x="9134856" y="2286000"/>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路线B</a:t>
            </a:r>
            <a:endParaRPr lang="en-US" sz="710" dirty="0"/>
          </a:p>
        </p:txBody>
      </p:sp>
      <p:sp>
        <p:nvSpPr>
          <p:cNvPr id="32" name="Text 30"/>
          <p:cNvSpPr/>
          <p:nvPr/>
        </p:nvSpPr>
        <p:spPr>
          <a:xfrm>
            <a:off x="9134856" y="2505456"/>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[5][1][3] 产能过</a:t>
            </a:r>
            <a:endParaRPr lang="en-US" sz="670" dirty="0"/>
          </a:p>
        </p:txBody>
      </p:sp>
      <p:sp>
        <p:nvSpPr>
          <p:cNvPr id="33" name="Shape 31"/>
          <p:cNvSpPr/>
          <p:nvPr/>
        </p:nvSpPr>
        <p:spPr>
          <a:xfrm>
            <a:off x="7818120" y="2980944"/>
            <a:ext cx="1243584" cy="804672"/>
          </a:xfrm>
          <a:prstGeom prst="rect">
            <a:avLst/>
          </a:prstGeom>
          <a:solidFill>
            <a:srgbClr val="FFFFFF"/>
          </a:solidFill>
          <a:ln w="3810">
            <a:solidFill>
              <a:srgbClr val="DADADA"/>
            </a:solidFill>
            <a:prstDash val="solid"/>
          </a:ln>
        </p:spPr>
      </p:sp>
      <p:sp>
        <p:nvSpPr>
          <p:cNvPr id="34" name="Text 32"/>
          <p:cNvSpPr/>
          <p:nvPr/>
        </p:nvSpPr>
        <p:spPr>
          <a:xfrm>
            <a:off x="7891272"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机会</a:t>
            </a:r>
            <a:endParaRPr lang="en-US" sz="710" dirty="0"/>
          </a:p>
        </p:txBody>
      </p:sp>
      <p:sp>
        <p:nvSpPr>
          <p:cNvPr id="35" name="Text 33"/>
          <p:cNvSpPr/>
          <p:nvPr/>
        </p:nvSpPr>
        <p:spPr>
          <a:xfrm>
            <a:off x="7891272"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机会在于高压实技术带来的差</a:t>
            </a:r>
            <a:endParaRPr lang="en-US" sz="670" dirty="0"/>
          </a:p>
        </p:txBody>
      </p:sp>
      <p:sp>
        <p:nvSpPr>
          <p:cNvPr id="36" name="Shape 34"/>
          <p:cNvSpPr/>
          <p:nvPr/>
        </p:nvSpPr>
        <p:spPr>
          <a:xfrm>
            <a:off x="9061704" y="2980944"/>
            <a:ext cx="1243584" cy="804672"/>
          </a:xfrm>
          <a:prstGeom prst="rect">
            <a:avLst/>
          </a:prstGeom>
          <a:solidFill>
            <a:srgbClr val="F4FAF6"/>
          </a:solidFill>
          <a:ln w="3810">
            <a:solidFill>
              <a:srgbClr val="DADADA"/>
            </a:solidFill>
            <a:prstDash val="solid"/>
          </a:ln>
        </p:spPr>
      </p:sp>
      <p:sp>
        <p:nvSpPr>
          <p:cNvPr id="37" name="Text 35"/>
          <p:cNvSpPr/>
          <p:nvPr/>
        </p:nvSpPr>
        <p:spPr>
          <a:xfrm>
            <a:off x="9134856" y="3090672"/>
            <a:ext cx="438912" cy="109728"/>
          </a:xfrm>
          <a:prstGeom prst="rect">
            <a:avLst/>
          </a:prstGeom>
          <a:noFill/>
          <a:ln/>
        </p:spPr>
        <p:txBody>
          <a:bodyPr wrap="square" lIns="0" tIns="0" rIns="0" bIns="0" rtlCol="0" anchor="ctr">
            <a:normAutofit/>
          </a:bodyPr>
          <a:lstStyle/>
          <a:p>
            <a:pPr indent="0" marL="0">
              <a:buNone/>
            </a:pPr>
            <a:r>
              <a:rPr lang="en-US" sz="710" b="1" dirty="0">
                <a:solidFill>
                  <a:srgbClr val="487052"/>
                </a:solidFill>
                <a:latin typeface="Microsoft YaHei" pitchFamily="34" charset="0"/>
                <a:ea typeface="Microsoft YaHei" pitchFamily="34" charset="-122"/>
                <a:cs typeface="Microsoft YaHei" pitchFamily="34" charset="-120"/>
              </a:rPr>
              <a:t>约束</a:t>
            </a:r>
            <a:endParaRPr lang="en-US" sz="710" dirty="0"/>
          </a:p>
        </p:txBody>
      </p:sp>
      <p:sp>
        <p:nvSpPr>
          <p:cNvPr id="38" name="Text 36"/>
          <p:cNvSpPr/>
          <p:nvPr/>
        </p:nvSpPr>
        <p:spPr>
          <a:xfrm>
            <a:off x="9134856" y="3310128"/>
            <a:ext cx="1024128" cy="201168"/>
          </a:xfrm>
          <a:prstGeom prst="rect">
            <a:avLst/>
          </a:prstGeom>
          <a:noFill/>
          <a:ln/>
        </p:spPr>
        <p:txBody>
          <a:bodyPr wrap="square" lIns="0" tIns="0" rIns="0" bIns="0" rtlCol="0" anchor="t">
            <a:normAutofit/>
          </a:bodyPr>
          <a:lstStyle/>
          <a:p>
            <a:pPr indent="0" marL="0">
              <a:buNone/>
            </a:pPr>
            <a:r>
              <a:rPr lang="en-US" sz="670" dirty="0">
                <a:solidFill>
                  <a:srgbClr val="121212"/>
                </a:solidFill>
                <a:latin typeface="Microsoft YaHei" pitchFamily="34" charset="0"/>
                <a:ea typeface="Microsoft YaHei" pitchFamily="34" charset="-122"/>
                <a:cs typeface="Microsoft YaHei" pitchFamily="34" charset="-120"/>
              </a:rPr>
              <a:t>行业面临产能过剩、利润下滑</a:t>
            </a:r>
            <a:endParaRPr lang="en-US" sz="670" dirty="0"/>
          </a:p>
        </p:txBody>
      </p:sp>
      <p:sp>
        <p:nvSpPr>
          <p:cNvPr id="39" name="Text 37"/>
          <p:cNvSpPr/>
          <p:nvPr/>
        </p:nvSpPr>
        <p:spPr>
          <a:xfrm>
            <a:off x="7726680" y="4187952"/>
            <a:ext cx="2697480" cy="493776"/>
          </a:xfrm>
          <a:prstGeom prst="rect">
            <a:avLst/>
          </a:prstGeom>
          <a:noFill/>
          <a:ln/>
        </p:spPr>
        <p:txBody>
          <a:bodyPr wrap="square" lIns="0" tIns="0" rIns="0" bIns="0" rtlCol="0" anchor="t">
            <a:normAutofit/>
          </a:bodyPr>
          <a:lstStyle/>
          <a:p>
            <a:pPr indent="0" marL="0">
              <a:buNone/>
            </a:pPr>
            <a:r>
              <a:rPr lang="en-US" sz="760" dirty="0">
                <a:solidFill>
                  <a:srgbClr val="6D756F"/>
                </a:solidFill>
                <a:latin typeface="Microsoft YaHei" pitchFamily="34" charset="0"/>
                <a:ea typeface="Microsoft YaHei" pitchFamily="34" charset="-122"/>
                <a:cs typeface="Microsoft YaHei" pitchFamily="34" charset="-120"/>
              </a:rPr>
              <a:t>检测到对比/分类信号，用矩阵压缩呈现，不新增外部判断。</a:t>
            </a:r>
            <a:endParaRPr lang="en-US" sz="760" dirty="0"/>
          </a:p>
        </p:txBody>
      </p:sp>
      <p:sp>
        <p:nvSpPr>
          <p:cNvPr id="40" name="Shape 38"/>
          <p:cNvSpPr/>
          <p:nvPr/>
        </p:nvSpPr>
        <p:spPr>
          <a:xfrm>
            <a:off x="658368" y="5779008"/>
            <a:ext cx="1463040" cy="292608"/>
          </a:xfrm>
          <a:prstGeom prst="rect">
            <a:avLst/>
          </a:prstGeom>
          <a:solidFill>
            <a:srgbClr val="121212"/>
          </a:solidFill>
          <a:ln w="12700">
            <a:solidFill>
              <a:srgbClr val="121212"/>
            </a:solidFill>
            <a:prstDash val="solid"/>
          </a:ln>
        </p:spPr>
      </p:sp>
      <p:sp>
        <p:nvSpPr>
          <p:cNvPr id="41" name="Text 39"/>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核心研判</a:t>
            </a:r>
            <a:endParaRPr lang="en-US" sz="780" dirty="0"/>
          </a:p>
        </p:txBody>
      </p:sp>
      <p:sp>
        <p:nvSpPr>
          <p:cNvPr id="42" name="Text 40"/>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若行业洗牌加速，则具备技术和成本优势的企业可能获得更大市场份额</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10.</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10</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磷酸铁锂材料与电芯公众号广</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涨不动也跌不下?磷酸铁锂正极周报:成本对冲下的“稳态＂还能持续多久?</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eixin.sogou.com/link?url=dn9a_-gY295K0Rci_xozVXfdMkSQTLW6cwJThYulHEtVjXrGTiVgS_Iueh__Ak32LSamW33_Gjf8pqs6ydegaVqXa8Fplpd9V69sqRc9dZvNY3jUrUNyznZAamh5B6KfFw5mEC2EiAT51_ujSazRTdcTF3cF-7-58uXfb7wtxNmHsw-VNJvLgD_hkJgrtqnzIReV4YxX_-f-y9vokJ5JGD8s6EfSzYVITwTPW_B7u0QfR236sfLniX5Jsx2ubs00-BExCT28ZewO8fIRwtipOg..&amp;type=2&amp;query=%E9%93%81%E9%94%82 %E9%AB%98%E5%8E%8B%E5%AE%9E %E6%AD%A3%E6%9E%81%E6%9D%90%E6%96%99 %E9%87%8F%E4%BA%A7&amp;token=FA590113589071EAADA8F6EC5945B866AE5CD7D06A72963C</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鲶鱼or鲨鱼：万华化学的82万吨磷酸铁锂产能意味着什么？ - 搜狐网</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https://news.google.com/rss/articles/CBMiiAFBVV95cUxPeXFsU2U1M245TU9wSFVqUl9FaVpQWTdrdExfREFoT05vSUlHSjFTT3YzT3dfazdSejlUODBTeUhyUGtHSDdtbE5STUN5c3dwZDBzSG9lMXFoQzFRYkFPSEZTVGdXWkROZ2RSNjh1M2xjbUFZcm95RWVqZnRLdmd1cGtfQ1pFeHRB?oc=5</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[3]</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工信部叫停废旧动力电池“梯次利用” 强化质量安全标准要求</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https://m.caixin.com/m/2026-08-04/102471203.html</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[4]</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电解液行业投资分化：石大胜华28亿逆势扩产，同行却在“踩刹车”</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https://finance.sina.com.cn/jjxw/2026-08-04/doc-inimekpf5139420.shtml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[5]</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全行业利润见底， 新一轮洗牌加速开启</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https://auto.gasgoo.com/news/202608/4I70468563C110.shtml</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[6]</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中国磷酸铁锂行业官方政策与</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动力电池耐久性新国标实施，SOCE指标与5年82%寿命红线详解 - 网</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https://news.google.com/rss/articles/CBMiW0FVX3lxTFBXcHVJN0EtaFhOZlR1UHpJdVhwVF9IWVlIRjhNa05FSWZ5WTZmWmRtYkRPMG1Ua1NoLXJQZ0tTM1J1djd5OTBZc0haUnBnMENqRF9MQW42UTZpMVE?oc=5</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[7]</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同体积容量击穿行业纪录！多氟多两款大圆柱磷酸铁锂换电方案发布_电池网</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https://www.itdcw.com/news/chanpinxinwen/06251562M2026.html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[8]</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【正极材料周报】宁德时代“天价锂矿”采矿规模将达150万吨/年！今年国</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https://www.itdcw.com/news/dczk/0HG5E312026.html</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[9]</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【正极材料周报】30万吨钠电正极项目落地湖北仙桃！天力锂能及实控人被立</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https://www.itdcw.com/news/dczk/0P315FJ2026.html</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[10]</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中国电池网</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磷酸铁锂动力型电池与磷酸铁锂储能型电池的区别分析_电池网</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https://www.itdcw.com/news/dianchibaike/06301359262023.html</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[11]</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鑫椤锂电</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https://www.icbattery.com/</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[12]</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高工锂电</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https://www.gg-lb.com/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594360" cy="411480"/>
          </a:xfrm>
          <a:prstGeom prst="rect">
            <a:avLst/>
          </a:prstGeom>
          <a:noFill/>
          <a:ln/>
        </p:spPr>
        <p:txBody>
          <a:bodyPr wrap="square" lIns="0" tIns="0" rIns="0" bIns="0" rtlCol="0" anchor="ctr"/>
          <a:lstStyle/>
          <a:p>
            <a:pPr indent="0" marL="0">
              <a:buNone/>
            </a:pPr>
            <a:r>
              <a:rPr lang="en-US" sz="2200" b="1" dirty="0">
                <a:solidFill>
                  <a:srgbClr val="121212"/>
                </a:solidFill>
                <a:latin typeface="Aptos" pitchFamily="34" charset="0"/>
                <a:ea typeface="Aptos" pitchFamily="34" charset="-122"/>
                <a:cs typeface="Aptos" pitchFamily="34" charset="-120"/>
              </a:rPr>
              <a:t>11.</a:t>
            </a:r>
            <a:endParaRPr lang="en-US" sz="2200" dirty="0"/>
          </a:p>
        </p:txBody>
      </p:sp>
      <p:sp>
        <p:nvSpPr>
          <p:cNvPr id="3" name="Text 1"/>
          <p:cNvSpPr/>
          <p:nvPr/>
        </p:nvSpPr>
        <p:spPr>
          <a:xfrm>
            <a:off x="1143000" y="393192"/>
            <a:ext cx="4754880" cy="256032"/>
          </a:xfrm>
          <a:prstGeom prst="rect">
            <a:avLst/>
          </a:prstGeom>
          <a:noFill/>
          <a:ln/>
        </p:spPr>
        <p:txBody>
          <a:bodyPr wrap="square" lIns="0" tIns="0" rIns="0" bIns="0" rtlCol="0" anchor="ctr"/>
          <a:lstStyle/>
          <a:p>
            <a:pPr indent="0" marL="0">
              <a:buNone/>
            </a:pPr>
            <a:r>
              <a:rPr lang="en-US" sz="850" b="1" dirty="0">
                <a:solidFill>
                  <a:srgbClr val="487052"/>
                </a:solidFill>
                <a:latin typeface="Aptos" pitchFamily="34" charset="0"/>
                <a:ea typeface="Aptos" pitchFamily="34" charset="-122"/>
                <a:cs typeface="Aptos" pitchFamily="34" charset="-120"/>
              </a:rPr>
              <a:t>SOURCE INDEX</a:t>
            </a:r>
            <a:endParaRPr lang="en-US" sz="850" dirty="0"/>
          </a:p>
        </p:txBody>
      </p:sp>
      <p:sp>
        <p:nvSpPr>
          <p:cNvPr id="4" name="Text 2"/>
          <p:cNvSpPr/>
          <p:nvPr/>
        </p:nvSpPr>
        <p:spPr>
          <a:xfrm>
            <a:off x="10287000" y="393192"/>
            <a:ext cx="1371600" cy="219456"/>
          </a:xfrm>
          <a:prstGeom prst="rect">
            <a:avLst/>
          </a:prstGeom>
          <a:noFill/>
          <a:ln/>
        </p:spPr>
        <p:txBody>
          <a:bodyPr wrap="square" lIns="0" tIns="0" rIns="0" bIns="0" rtlCol="0" anchor="ctr"/>
          <a:lstStyle/>
          <a:p>
            <a:pPr algn="r" indent="0" marL="0">
              <a:buNone/>
            </a:pPr>
            <a:r>
              <a:rPr lang="en-US" sz="800" dirty="0">
                <a:solidFill>
                  <a:srgbClr val="6D756F"/>
                </a:solidFill>
                <a:latin typeface="Aptos" pitchFamily="34" charset="0"/>
                <a:ea typeface="Aptos" pitchFamily="34" charset="-122"/>
                <a:cs typeface="Aptos" pitchFamily="34" charset="-120"/>
              </a:rPr>
              <a:t>2026-08-05</a:t>
            </a:r>
            <a:endParaRPr lang="en-US" sz="800" dirty="0"/>
          </a:p>
        </p:txBody>
      </p:sp>
      <p:sp>
        <p:nvSpPr>
          <p:cNvPr id="5" name="Shape 3"/>
          <p:cNvSpPr/>
          <p:nvPr/>
        </p:nvSpPr>
        <p:spPr>
          <a:xfrm>
            <a:off x="502920" y="786384"/>
            <a:ext cx="11201400" cy="0"/>
          </a:xfrm>
          <a:prstGeom prst="line">
            <a:avLst/>
          </a:prstGeom>
          <a:noFill/>
          <a:ln w="10160">
            <a:solidFill>
              <a:srgbClr val="DADADA"/>
            </a:solidFill>
            <a:prstDash val="solid"/>
          </a:ln>
        </p:spPr>
      </p:sp>
      <p:sp>
        <p:nvSpPr>
          <p:cNvPr id="6" name="Shape 4"/>
          <p:cNvSpPr/>
          <p:nvPr/>
        </p:nvSpPr>
        <p:spPr>
          <a:xfrm>
            <a:off x="502920" y="6327648"/>
            <a:ext cx="11201400" cy="0"/>
          </a:xfrm>
          <a:prstGeom prst="line">
            <a:avLst/>
          </a:prstGeom>
          <a:noFill/>
          <a:ln w="8890">
            <a:solidFill>
              <a:srgbClr val="DADADA"/>
            </a:solidFill>
            <a:prstDash val="solid"/>
          </a:ln>
        </p:spPr>
      </p:sp>
      <p:sp>
        <p:nvSpPr>
          <p:cNvPr id="7" name="Text 5"/>
          <p:cNvSpPr/>
          <p:nvPr/>
        </p:nvSpPr>
        <p:spPr>
          <a:xfrm>
            <a:off x="502920" y="6437376"/>
            <a:ext cx="8046720" cy="182880"/>
          </a:xfrm>
          <a:prstGeom prst="rect">
            <a:avLst/>
          </a:prstGeom>
          <a:noFill/>
          <a:ln/>
        </p:spPr>
        <p:txBody>
          <a:bodyPr wrap="square" lIns="0" tIns="0" rIns="0" bIns="0" rtlCol="0" anchor="ctr"/>
          <a:lstStyle/>
          <a:p>
            <a:pPr indent="0" marL="0">
              <a:buNone/>
            </a:pPr>
            <a:r>
              <a:rPr lang="en-US" sz="730" dirty="0">
                <a:solidFill>
                  <a:srgbClr val="6D756F"/>
                </a:solidFill>
                <a:latin typeface="Microsoft YaHei" pitchFamily="34" charset="0"/>
                <a:ea typeface="Microsoft YaHei" pitchFamily="34" charset="-122"/>
                <a:cs typeface="Microsoft YaHei" pitchFamily="34" charset="-120"/>
              </a:rPr>
              <a:t>磷酸铁锂行业早报｜公开来源自动生成｜仅作行业观察，不构成投资建议</a:t>
            </a:r>
            <a:endParaRPr lang="en-US" sz="730" dirty="0"/>
          </a:p>
        </p:txBody>
      </p:sp>
      <p:sp>
        <p:nvSpPr>
          <p:cNvPr id="8" name="Text 6"/>
          <p:cNvSpPr/>
          <p:nvPr/>
        </p:nvSpPr>
        <p:spPr>
          <a:xfrm>
            <a:off x="11201400" y="6419088"/>
            <a:ext cx="502920" cy="201168"/>
          </a:xfrm>
          <a:prstGeom prst="rect">
            <a:avLst/>
          </a:prstGeom>
          <a:noFill/>
          <a:ln/>
        </p:spPr>
        <p:txBody>
          <a:bodyPr wrap="square" lIns="0" tIns="0" rIns="0" bIns="0" rtlCol="0" anchor="ctr"/>
          <a:lstStyle/>
          <a:p>
            <a:pPr algn="r" indent="0" marL="0">
              <a:buNone/>
            </a:pPr>
            <a:r>
              <a:rPr lang="en-US" sz="730" dirty="0">
                <a:solidFill>
                  <a:srgbClr val="6D756F"/>
                </a:solidFill>
                <a:latin typeface="Aptos" pitchFamily="34" charset="0"/>
                <a:ea typeface="Aptos" pitchFamily="34" charset="-122"/>
                <a:cs typeface="Aptos" pitchFamily="34" charset="-120"/>
              </a:rPr>
              <a:t>11</a:t>
            </a:r>
            <a:endParaRPr lang="en-US" sz="730" dirty="0"/>
          </a:p>
        </p:txBody>
      </p:sp>
      <p:sp>
        <p:nvSpPr>
          <p:cNvPr id="9" name="Text 7"/>
          <p:cNvSpPr/>
          <p:nvPr/>
        </p:nvSpPr>
        <p:spPr>
          <a:xfrm>
            <a:off x="1143000" y="932688"/>
            <a:ext cx="4114800" cy="384048"/>
          </a:xfrm>
          <a:prstGeom prst="rect">
            <a:avLst/>
          </a:prstGeom>
          <a:noFill/>
          <a:ln/>
        </p:spPr>
        <p:txBody>
          <a:bodyPr wrap="square" lIns="0" tIns="0" rIns="0" bIns="0" rtlCol="0" anchor="ctr"/>
          <a:lstStyle/>
          <a:p>
            <a:pPr indent="0" marL="0">
              <a:buNone/>
            </a:pPr>
            <a:r>
              <a:rPr lang="en-US" sz="2000" b="1" dirty="0">
                <a:solidFill>
                  <a:srgbClr val="121212"/>
                </a:solidFill>
                <a:latin typeface="Microsoft YaHei" pitchFamily="34" charset="0"/>
                <a:ea typeface="Microsoft YaHei" pitchFamily="34" charset="-122"/>
                <a:cs typeface="Microsoft YaHei" pitchFamily="34" charset="-120"/>
              </a:rPr>
              <a:t>来源索引与可追溯性</a:t>
            </a:r>
            <a:endParaRPr lang="en-US" sz="2000" dirty="0"/>
          </a:p>
        </p:txBody>
      </p:sp>
      <p:sp>
        <p:nvSpPr>
          <p:cNvPr id="10" name="Shape 8"/>
          <p:cNvSpPr/>
          <p:nvPr/>
        </p:nvSpPr>
        <p:spPr>
          <a:xfrm>
            <a:off x="658368" y="1444752"/>
            <a:ext cx="566928" cy="310896"/>
          </a:xfrm>
          <a:prstGeom prst="rect">
            <a:avLst/>
          </a:prstGeom>
          <a:solidFill>
            <a:srgbClr val="121212"/>
          </a:solidFill>
          <a:ln w="6350">
            <a:solidFill>
              <a:srgbClr val="DADADA"/>
            </a:solidFill>
            <a:prstDash val="solid"/>
          </a:ln>
        </p:spPr>
      </p:sp>
      <p:sp>
        <p:nvSpPr>
          <p:cNvPr id="11" name="Text 9"/>
          <p:cNvSpPr/>
          <p:nvPr/>
        </p:nvSpPr>
        <p:spPr>
          <a:xfrm>
            <a:off x="731520" y="1536192"/>
            <a:ext cx="420624" cy="128016"/>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编号</a:t>
            </a:r>
            <a:endParaRPr lang="en-US" sz="780" dirty="0"/>
          </a:p>
        </p:txBody>
      </p:sp>
      <p:sp>
        <p:nvSpPr>
          <p:cNvPr id="12" name="Shape 10"/>
          <p:cNvSpPr/>
          <p:nvPr/>
        </p:nvSpPr>
        <p:spPr>
          <a:xfrm>
            <a:off x="1225296" y="1444752"/>
            <a:ext cx="1234440" cy="310896"/>
          </a:xfrm>
          <a:prstGeom prst="rect">
            <a:avLst/>
          </a:prstGeom>
          <a:solidFill>
            <a:srgbClr val="DDEBE0"/>
          </a:solidFill>
          <a:ln w="6350">
            <a:solidFill>
              <a:srgbClr val="DADADA"/>
            </a:solidFill>
            <a:prstDash val="solid"/>
          </a:ln>
        </p:spPr>
      </p:sp>
      <p:sp>
        <p:nvSpPr>
          <p:cNvPr id="13" name="Text 11"/>
          <p:cNvSpPr/>
          <p:nvPr/>
        </p:nvSpPr>
        <p:spPr>
          <a:xfrm>
            <a:off x="1298448" y="1536192"/>
            <a:ext cx="10881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来源</a:t>
            </a:r>
            <a:endParaRPr lang="en-US" sz="780" dirty="0"/>
          </a:p>
        </p:txBody>
      </p:sp>
      <p:sp>
        <p:nvSpPr>
          <p:cNvPr id="14" name="Shape 12"/>
          <p:cNvSpPr/>
          <p:nvPr/>
        </p:nvSpPr>
        <p:spPr>
          <a:xfrm>
            <a:off x="2459736" y="1444752"/>
            <a:ext cx="3977640" cy="310896"/>
          </a:xfrm>
          <a:prstGeom prst="rect">
            <a:avLst/>
          </a:prstGeom>
          <a:solidFill>
            <a:srgbClr val="DDEBE0"/>
          </a:solidFill>
          <a:ln w="6350">
            <a:solidFill>
              <a:srgbClr val="DADADA"/>
            </a:solidFill>
            <a:prstDash val="solid"/>
          </a:ln>
        </p:spPr>
      </p:sp>
      <p:sp>
        <p:nvSpPr>
          <p:cNvPr id="15" name="Text 13"/>
          <p:cNvSpPr/>
          <p:nvPr/>
        </p:nvSpPr>
        <p:spPr>
          <a:xfrm>
            <a:off x="2532888" y="1536192"/>
            <a:ext cx="3831336"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标题</a:t>
            </a:r>
            <a:endParaRPr lang="en-US" sz="780" dirty="0"/>
          </a:p>
        </p:txBody>
      </p:sp>
      <p:sp>
        <p:nvSpPr>
          <p:cNvPr id="16" name="Shape 14"/>
          <p:cNvSpPr/>
          <p:nvPr/>
        </p:nvSpPr>
        <p:spPr>
          <a:xfrm>
            <a:off x="6437376" y="1444752"/>
            <a:ext cx="4645152" cy="310896"/>
          </a:xfrm>
          <a:prstGeom prst="rect">
            <a:avLst/>
          </a:prstGeom>
          <a:solidFill>
            <a:srgbClr val="DDEBE0"/>
          </a:solidFill>
          <a:ln w="6350">
            <a:solidFill>
              <a:srgbClr val="DADADA"/>
            </a:solidFill>
            <a:prstDash val="solid"/>
          </a:ln>
        </p:spPr>
      </p:sp>
      <p:sp>
        <p:nvSpPr>
          <p:cNvPr id="17" name="Text 15"/>
          <p:cNvSpPr/>
          <p:nvPr/>
        </p:nvSpPr>
        <p:spPr>
          <a:xfrm>
            <a:off x="6510528" y="1536192"/>
            <a:ext cx="4498848" cy="128016"/>
          </a:xfrm>
          <a:prstGeom prst="rect">
            <a:avLst/>
          </a:prstGeom>
          <a:noFill/>
          <a:ln/>
        </p:spPr>
        <p:txBody>
          <a:bodyPr wrap="square" lIns="0" tIns="0" rIns="0" bIns="0" rtlCol="0" anchor="ctr"/>
          <a:lstStyle/>
          <a:p>
            <a:pPr indent="0" marL="0">
              <a:buNone/>
            </a:pPr>
            <a:r>
              <a:rPr lang="en-US" sz="780" b="1" dirty="0">
                <a:solidFill>
                  <a:srgbClr val="121212"/>
                </a:solidFill>
                <a:latin typeface="Microsoft YaHei" pitchFamily="34" charset="0"/>
                <a:ea typeface="Microsoft YaHei" pitchFamily="34" charset="-122"/>
                <a:cs typeface="Microsoft YaHei" pitchFamily="34" charset="-120"/>
              </a:rPr>
              <a:t>链接</a:t>
            </a:r>
            <a:endParaRPr lang="en-US" sz="780" dirty="0"/>
          </a:p>
        </p:txBody>
      </p:sp>
      <p:sp>
        <p:nvSpPr>
          <p:cNvPr id="18" name="Shape 16"/>
          <p:cNvSpPr/>
          <p:nvPr/>
        </p:nvSpPr>
        <p:spPr>
          <a:xfrm>
            <a:off x="658368" y="1755648"/>
            <a:ext cx="10424160" cy="274320"/>
          </a:xfrm>
          <a:prstGeom prst="rect">
            <a:avLst/>
          </a:prstGeom>
          <a:solidFill>
            <a:srgbClr val="F4FAF6"/>
          </a:solidFill>
          <a:ln w="5080">
            <a:solidFill>
              <a:srgbClr val="DADADA"/>
            </a:solidFill>
            <a:prstDash val="solid"/>
          </a:ln>
        </p:spPr>
      </p:sp>
      <p:sp>
        <p:nvSpPr>
          <p:cNvPr id="19" name="Text 17"/>
          <p:cNvSpPr/>
          <p:nvPr/>
        </p:nvSpPr>
        <p:spPr>
          <a:xfrm>
            <a:off x="749808" y="182880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[13]</a:t>
            </a:r>
            <a:endParaRPr lang="en-US" sz="680" dirty="0"/>
          </a:p>
        </p:txBody>
      </p:sp>
      <p:sp>
        <p:nvSpPr>
          <p:cNvPr id="20" name="Text 18"/>
          <p:cNvSpPr/>
          <p:nvPr/>
        </p:nvSpPr>
        <p:spPr>
          <a:xfrm>
            <a:off x="1261872" y="182880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1" name="Text 19"/>
          <p:cNvSpPr/>
          <p:nvPr/>
        </p:nvSpPr>
        <p:spPr>
          <a:xfrm>
            <a:off x="2487168" y="182880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电池中国</a:t>
            </a:r>
            <a:endParaRPr lang="en-US" sz="680" dirty="0"/>
          </a:p>
        </p:txBody>
      </p:sp>
      <p:sp>
        <p:nvSpPr>
          <p:cNvPr id="22" name="Text 20"/>
          <p:cNvSpPr/>
          <p:nvPr/>
        </p:nvSpPr>
        <p:spPr>
          <a:xfrm>
            <a:off x="6510528" y="182880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https://www.cbea.com/</a:t>
            </a:r>
            <a:endParaRPr lang="en-US" sz="580" dirty="0"/>
          </a:p>
        </p:txBody>
      </p:sp>
      <p:sp>
        <p:nvSpPr>
          <p:cNvPr id="23" name="Shape 21"/>
          <p:cNvSpPr/>
          <p:nvPr/>
        </p:nvSpPr>
        <p:spPr>
          <a:xfrm>
            <a:off x="658368" y="2066544"/>
            <a:ext cx="10424160" cy="274320"/>
          </a:xfrm>
          <a:prstGeom prst="rect">
            <a:avLst/>
          </a:prstGeom>
          <a:solidFill>
            <a:srgbClr val="FFFFFF"/>
          </a:solidFill>
          <a:ln w="5080">
            <a:solidFill>
              <a:srgbClr val="DADADA"/>
            </a:solidFill>
            <a:prstDash val="solid"/>
          </a:ln>
        </p:spPr>
      </p:sp>
      <p:sp>
        <p:nvSpPr>
          <p:cNvPr id="24" name="Text 22"/>
          <p:cNvSpPr/>
          <p:nvPr/>
        </p:nvSpPr>
        <p:spPr>
          <a:xfrm>
            <a:off x="749808" y="213969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[14]</a:t>
            </a:r>
            <a:endParaRPr lang="en-US" sz="680" dirty="0"/>
          </a:p>
        </p:txBody>
      </p:sp>
      <p:sp>
        <p:nvSpPr>
          <p:cNvPr id="25" name="Text 23"/>
          <p:cNvSpPr/>
          <p:nvPr/>
        </p:nvSpPr>
        <p:spPr>
          <a:xfrm>
            <a:off x="1261872" y="213969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6" name="Text 24"/>
          <p:cNvSpPr/>
          <p:nvPr/>
        </p:nvSpPr>
        <p:spPr>
          <a:xfrm>
            <a:off x="2487168" y="213969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证券时报</a:t>
            </a:r>
            <a:endParaRPr lang="en-US" sz="680" dirty="0"/>
          </a:p>
        </p:txBody>
      </p:sp>
      <p:sp>
        <p:nvSpPr>
          <p:cNvPr id="27" name="Text 25"/>
          <p:cNvSpPr/>
          <p:nvPr/>
        </p:nvSpPr>
        <p:spPr>
          <a:xfrm>
            <a:off x="6510528" y="213969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https://www.stcn.com/</a:t>
            </a:r>
            <a:endParaRPr lang="en-US" sz="580" dirty="0"/>
          </a:p>
        </p:txBody>
      </p:sp>
      <p:sp>
        <p:nvSpPr>
          <p:cNvPr id="28" name="Shape 26"/>
          <p:cNvSpPr/>
          <p:nvPr/>
        </p:nvSpPr>
        <p:spPr>
          <a:xfrm>
            <a:off x="658368" y="2377440"/>
            <a:ext cx="10424160" cy="274320"/>
          </a:xfrm>
          <a:prstGeom prst="rect">
            <a:avLst/>
          </a:prstGeom>
          <a:solidFill>
            <a:srgbClr val="F4FAF6"/>
          </a:solidFill>
          <a:ln w="5080">
            <a:solidFill>
              <a:srgbClr val="DADADA"/>
            </a:solidFill>
            <a:prstDash val="solid"/>
          </a:ln>
        </p:spPr>
      </p:sp>
      <p:sp>
        <p:nvSpPr>
          <p:cNvPr id="29" name="Text 27"/>
          <p:cNvSpPr/>
          <p:nvPr/>
        </p:nvSpPr>
        <p:spPr>
          <a:xfrm>
            <a:off x="749808" y="245059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[15]</a:t>
            </a:r>
            <a:endParaRPr lang="en-US" sz="680" dirty="0"/>
          </a:p>
        </p:txBody>
      </p:sp>
      <p:sp>
        <p:nvSpPr>
          <p:cNvPr id="30" name="Text 28"/>
          <p:cNvSpPr/>
          <p:nvPr/>
        </p:nvSpPr>
        <p:spPr>
          <a:xfrm>
            <a:off x="1261872" y="245059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1" name="Text 29"/>
          <p:cNvSpPr/>
          <p:nvPr/>
        </p:nvSpPr>
        <p:spPr>
          <a:xfrm>
            <a:off x="2487168" y="245059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界面新闻</a:t>
            </a:r>
            <a:endParaRPr lang="en-US" sz="680" dirty="0"/>
          </a:p>
        </p:txBody>
      </p:sp>
      <p:sp>
        <p:nvSpPr>
          <p:cNvPr id="32" name="Text 30"/>
          <p:cNvSpPr/>
          <p:nvPr/>
        </p:nvSpPr>
        <p:spPr>
          <a:xfrm>
            <a:off x="6510528" y="245059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https://www.jiemian.com/</a:t>
            </a:r>
            <a:endParaRPr lang="en-US" sz="580" dirty="0"/>
          </a:p>
        </p:txBody>
      </p:sp>
      <p:sp>
        <p:nvSpPr>
          <p:cNvPr id="33" name="Shape 31"/>
          <p:cNvSpPr/>
          <p:nvPr/>
        </p:nvSpPr>
        <p:spPr>
          <a:xfrm>
            <a:off x="658368" y="2688336"/>
            <a:ext cx="10424160" cy="274320"/>
          </a:xfrm>
          <a:prstGeom prst="rect">
            <a:avLst/>
          </a:prstGeom>
          <a:solidFill>
            <a:srgbClr val="FFFFFF"/>
          </a:solidFill>
          <a:ln w="5080">
            <a:solidFill>
              <a:srgbClr val="DADADA"/>
            </a:solidFill>
            <a:prstDash val="solid"/>
          </a:ln>
        </p:spPr>
      </p:sp>
      <p:sp>
        <p:nvSpPr>
          <p:cNvPr id="34" name="Text 32"/>
          <p:cNvSpPr/>
          <p:nvPr/>
        </p:nvSpPr>
        <p:spPr>
          <a:xfrm>
            <a:off x="749808" y="276148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[16]</a:t>
            </a:r>
            <a:endParaRPr lang="en-US" sz="680" dirty="0"/>
          </a:p>
        </p:txBody>
      </p:sp>
      <p:sp>
        <p:nvSpPr>
          <p:cNvPr id="35" name="Text 33"/>
          <p:cNvSpPr/>
          <p:nvPr/>
        </p:nvSpPr>
        <p:spPr>
          <a:xfrm>
            <a:off x="1261872" y="276148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36" name="Text 34"/>
          <p:cNvSpPr/>
          <p:nvPr/>
        </p:nvSpPr>
        <p:spPr>
          <a:xfrm>
            <a:off x="2487168" y="276148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政策解读：关于废止和修订新能源汽车废旧动力电池“梯次利用”相关政策标准</a:t>
            </a:r>
            <a:endParaRPr lang="en-US" sz="680" dirty="0"/>
          </a:p>
        </p:txBody>
      </p:sp>
      <p:sp>
        <p:nvSpPr>
          <p:cNvPr id="37" name="Text 35"/>
          <p:cNvSpPr/>
          <p:nvPr/>
        </p:nvSpPr>
        <p:spPr>
          <a:xfrm>
            <a:off x="6510528" y="276148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https://www.miit.gov.cn/zwgk/zcjd/art/2026/art_e4704ad5959b42968525e3f07e3eff13.html</a:t>
            </a:r>
            <a:endParaRPr lang="en-US" sz="580" dirty="0"/>
          </a:p>
        </p:txBody>
      </p:sp>
      <p:sp>
        <p:nvSpPr>
          <p:cNvPr id="38" name="Shape 36"/>
          <p:cNvSpPr/>
          <p:nvPr/>
        </p:nvSpPr>
        <p:spPr>
          <a:xfrm>
            <a:off x="658368" y="2999232"/>
            <a:ext cx="10424160" cy="274320"/>
          </a:xfrm>
          <a:prstGeom prst="rect">
            <a:avLst/>
          </a:prstGeom>
          <a:solidFill>
            <a:srgbClr val="F4FAF6"/>
          </a:solidFill>
          <a:ln w="5080">
            <a:solidFill>
              <a:srgbClr val="DADADA"/>
            </a:solidFill>
            <a:prstDash val="solid"/>
          </a:ln>
        </p:spPr>
      </p:sp>
      <p:sp>
        <p:nvSpPr>
          <p:cNvPr id="39" name="Text 37"/>
          <p:cNvSpPr/>
          <p:nvPr/>
        </p:nvSpPr>
        <p:spPr>
          <a:xfrm>
            <a:off x="749808" y="307238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[17]</a:t>
            </a:r>
            <a:endParaRPr lang="en-US" sz="680" dirty="0"/>
          </a:p>
        </p:txBody>
      </p:sp>
      <p:sp>
        <p:nvSpPr>
          <p:cNvPr id="40" name="Text 38"/>
          <p:cNvSpPr/>
          <p:nvPr/>
        </p:nvSpPr>
        <p:spPr>
          <a:xfrm>
            <a:off x="1261872" y="307238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1" name="Text 39"/>
          <p:cNvSpPr/>
          <p:nvPr/>
        </p:nvSpPr>
        <p:spPr>
          <a:xfrm>
            <a:off x="2487168" y="307238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工业和信息化部政策文件库</a:t>
            </a:r>
            <a:endParaRPr lang="en-US" sz="680" dirty="0"/>
          </a:p>
        </p:txBody>
      </p:sp>
      <p:sp>
        <p:nvSpPr>
          <p:cNvPr id="42" name="Text 40"/>
          <p:cNvSpPr/>
          <p:nvPr/>
        </p:nvSpPr>
        <p:spPr>
          <a:xfrm>
            <a:off x="6510528" y="307238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https://www.miit.gov.cn/search/zcwjk.html?websiteid=110000000000000&amp;pg=&amp;p=&amp;tpl=14&amp;category=183&amp;q=</a:t>
            </a:r>
            <a:endParaRPr lang="en-US" sz="580" dirty="0"/>
          </a:p>
        </p:txBody>
      </p:sp>
      <p:sp>
        <p:nvSpPr>
          <p:cNvPr id="43" name="Shape 41"/>
          <p:cNvSpPr/>
          <p:nvPr/>
        </p:nvSpPr>
        <p:spPr>
          <a:xfrm>
            <a:off x="658368" y="3310128"/>
            <a:ext cx="10424160" cy="274320"/>
          </a:xfrm>
          <a:prstGeom prst="rect">
            <a:avLst/>
          </a:prstGeom>
          <a:solidFill>
            <a:srgbClr val="FFFFFF"/>
          </a:solidFill>
          <a:ln w="5080">
            <a:solidFill>
              <a:srgbClr val="DADADA"/>
            </a:solidFill>
            <a:prstDash val="solid"/>
          </a:ln>
        </p:spPr>
      </p:sp>
      <p:sp>
        <p:nvSpPr>
          <p:cNvPr id="44" name="Text 42"/>
          <p:cNvSpPr/>
          <p:nvPr/>
        </p:nvSpPr>
        <p:spPr>
          <a:xfrm>
            <a:off x="749808" y="338328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[18]</a:t>
            </a:r>
            <a:endParaRPr lang="en-US" sz="680" dirty="0"/>
          </a:p>
        </p:txBody>
      </p:sp>
      <p:sp>
        <p:nvSpPr>
          <p:cNvPr id="45" name="Text 43"/>
          <p:cNvSpPr/>
          <p:nvPr/>
        </p:nvSpPr>
        <p:spPr>
          <a:xfrm>
            <a:off x="1261872" y="338328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46" name="Text 44"/>
          <p:cNvSpPr/>
          <p:nvPr/>
        </p:nvSpPr>
        <p:spPr>
          <a:xfrm>
            <a:off x="2487168" y="338328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最新政策</a:t>
            </a:r>
            <a:endParaRPr lang="en-US" sz="680" dirty="0"/>
          </a:p>
        </p:txBody>
      </p:sp>
      <p:sp>
        <p:nvSpPr>
          <p:cNvPr id="47" name="Text 45"/>
          <p:cNvSpPr/>
          <p:nvPr/>
        </p:nvSpPr>
        <p:spPr>
          <a:xfrm>
            <a:off x="6510528" y="338328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https://www.miit.gov.cn/xwfb/zxzc/index.html</a:t>
            </a:r>
            <a:endParaRPr lang="en-US" sz="580" dirty="0"/>
          </a:p>
        </p:txBody>
      </p:sp>
      <p:sp>
        <p:nvSpPr>
          <p:cNvPr id="48" name="Shape 46"/>
          <p:cNvSpPr/>
          <p:nvPr/>
        </p:nvSpPr>
        <p:spPr>
          <a:xfrm>
            <a:off x="658368" y="3621024"/>
            <a:ext cx="10424160" cy="274320"/>
          </a:xfrm>
          <a:prstGeom prst="rect">
            <a:avLst/>
          </a:prstGeom>
          <a:solidFill>
            <a:srgbClr val="F4FAF6"/>
          </a:solidFill>
          <a:ln w="5080">
            <a:solidFill>
              <a:srgbClr val="DADADA"/>
            </a:solidFill>
            <a:prstDash val="solid"/>
          </a:ln>
        </p:spPr>
      </p:sp>
      <p:sp>
        <p:nvSpPr>
          <p:cNvPr id="49" name="Text 47"/>
          <p:cNvSpPr/>
          <p:nvPr/>
        </p:nvSpPr>
        <p:spPr>
          <a:xfrm>
            <a:off x="749808" y="369417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[19]</a:t>
            </a:r>
            <a:endParaRPr lang="en-US" sz="680" dirty="0"/>
          </a:p>
        </p:txBody>
      </p:sp>
      <p:sp>
        <p:nvSpPr>
          <p:cNvPr id="50" name="Text 48"/>
          <p:cNvSpPr/>
          <p:nvPr/>
        </p:nvSpPr>
        <p:spPr>
          <a:xfrm>
            <a:off x="1261872" y="369417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工业和信息化部</a:t>
            </a:r>
            <a:endParaRPr lang="en-US" sz="680" dirty="0"/>
          </a:p>
        </p:txBody>
      </p:sp>
      <p:sp>
        <p:nvSpPr>
          <p:cNvPr id="51" name="Text 49"/>
          <p:cNvSpPr/>
          <p:nvPr/>
        </p:nvSpPr>
        <p:spPr>
          <a:xfrm>
            <a:off x="2487168" y="369417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政策解读</a:t>
            </a:r>
            <a:endParaRPr lang="en-US" sz="680" dirty="0"/>
          </a:p>
        </p:txBody>
      </p:sp>
      <p:sp>
        <p:nvSpPr>
          <p:cNvPr id="52" name="Text 50"/>
          <p:cNvSpPr/>
          <p:nvPr/>
        </p:nvSpPr>
        <p:spPr>
          <a:xfrm>
            <a:off x="6510528" y="369417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https://www.miit.gov.cn/zwgk/zcjd/index.html</a:t>
            </a:r>
            <a:endParaRPr lang="en-US" sz="580" dirty="0"/>
          </a:p>
        </p:txBody>
      </p:sp>
      <p:sp>
        <p:nvSpPr>
          <p:cNvPr id="53" name="Shape 51"/>
          <p:cNvSpPr/>
          <p:nvPr/>
        </p:nvSpPr>
        <p:spPr>
          <a:xfrm>
            <a:off x="658368" y="3931920"/>
            <a:ext cx="10424160" cy="274320"/>
          </a:xfrm>
          <a:prstGeom prst="rect">
            <a:avLst/>
          </a:prstGeom>
          <a:solidFill>
            <a:srgbClr val="FFFFFF"/>
          </a:solidFill>
          <a:ln w="5080">
            <a:solidFill>
              <a:srgbClr val="DADADA"/>
            </a:solidFill>
            <a:prstDash val="solid"/>
          </a:ln>
        </p:spPr>
      </p:sp>
      <p:sp>
        <p:nvSpPr>
          <p:cNvPr id="54" name="Text 52"/>
          <p:cNvSpPr/>
          <p:nvPr/>
        </p:nvSpPr>
        <p:spPr>
          <a:xfrm>
            <a:off x="749808" y="4005072"/>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[20]</a:t>
            </a:r>
            <a:endParaRPr lang="en-US" sz="680" dirty="0"/>
          </a:p>
        </p:txBody>
      </p:sp>
      <p:sp>
        <p:nvSpPr>
          <p:cNvPr id="55" name="Text 53"/>
          <p:cNvSpPr/>
          <p:nvPr/>
        </p:nvSpPr>
        <p:spPr>
          <a:xfrm>
            <a:off x="1261872" y="4005072"/>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6" name="Text 54"/>
          <p:cNvSpPr/>
          <p:nvPr/>
        </p:nvSpPr>
        <p:spPr>
          <a:xfrm>
            <a:off x="2487168" y="4005072"/>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国家发展改革委</a:t>
            </a:r>
            <a:endParaRPr lang="en-US" sz="680" dirty="0"/>
          </a:p>
        </p:txBody>
      </p:sp>
      <p:sp>
        <p:nvSpPr>
          <p:cNvPr id="57" name="Text 55"/>
          <p:cNvSpPr/>
          <p:nvPr/>
        </p:nvSpPr>
        <p:spPr>
          <a:xfrm>
            <a:off x="6510528" y="4005072"/>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https://www.ndrc.gov.cn/</a:t>
            </a:r>
            <a:endParaRPr lang="en-US" sz="580" dirty="0"/>
          </a:p>
        </p:txBody>
      </p:sp>
      <p:sp>
        <p:nvSpPr>
          <p:cNvPr id="58" name="Shape 56"/>
          <p:cNvSpPr/>
          <p:nvPr/>
        </p:nvSpPr>
        <p:spPr>
          <a:xfrm>
            <a:off x="658368" y="4242816"/>
            <a:ext cx="10424160" cy="274320"/>
          </a:xfrm>
          <a:prstGeom prst="rect">
            <a:avLst/>
          </a:prstGeom>
          <a:solidFill>
            <a:srgbClr val="F4FAF6"/>
          </a:solidFill>
          <a:ln w="5080">
            <a:solidFill>
              <a:srgbClr val="DADADA"/>
            </a:solidFill>
            <a:prstDash val="solid"/>
          </a:ln>
        </p:spPr>
      </p:sp>
      <p:sp>
        <p:nvSpPr>
          <p:cNvPr id="59" name="Text 57"/>
          <p:cNvSpPr/>
          <p:nvPr/>
        </p:nvSpPr>
        <p:spPr>
          <a:xfrm>
            <a:off x="749808" y="4315968"/>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[21]</a:t>
            </a:r>
            <a:endParaRPr lang="en-US" sz="680" dirty="0"/>
          </a:p>
        </p:txBody>
      </p:sp>
      <p:sp>
        <p:nvSpPr>
          <p:cNvPr id="60" name="Text 58"/>
          <p:cNvSpPr/>
          <p:nvPr/>
        </p:nvSpPr>
        <p:spPr>
          <a:xfrm>
            <a:off x="1261872" y="4315968"/>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1" name="Text 59"/>
          <p:cNvSpPr/>
          <p:nvPr/>
        </p:nvSpPr>
        <p:spPr>
          <a:xfrm>
            <a:off x="2487168" y="4315968"/>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中华人民共和国中央人民政府</a:t>
            </a:r>
            <a:endParaRPr lang="en-US" sz="680" dirty="0"/>
          </a:p>
        </p:txBody>
      </p:sp>
      <p:sp>
        <p:nvSpPr>
          <p:cNvPr id="62" name="Text 60"/>
          <p:cNvSpPr/>
          <p:nvPr/>
        </p:nvSpPr>
        <p:spPr>
          <a:xfrm>
            <a:off x="6510528" y="4315968"/>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https://www.gov.cn/</a:t>
            </a:r>
            <a:endParaRPr lang="en-US" sz="580" dirty="0"/>
          </a:p>
        </p:txBody>
      </p:sp>
      <p:sp>
        <p:nvSpPr>
          <p:cNvPr id="63" name="Shape 61"/>
          <p:cNvSpPr/>
          <p:nvPr/>
        </p:nvSpPr>
        <p:spPr>
          <a:xfrm>
            <a:off x="658368" y="4553712"/>
            <a:ext cx="10424160" cy="274320"/>
          </a:xfrm>
          <a:prstGeom prst="rect">
            <a:avLst/>
          </a:prstGeom>
          <a:solidFill>
            <a:srgbClr val="FFFFFF"/>
          </a:solidFill>
          <a:ln w="5080">
            <a:solidFill>
              <a:srgbClr val="DADADA"/>
            </a:solidFill>
            <a:prstDash val="solid"/>
          </a:ln>
        </p:spPr>
      </p:sp>
      <p:sp>
        <p:nvSpPr>
          <p:cNvPr id="64" name="Text 62"/>
          <p:cNvSpPr/>
          <p:nvPr/>
        </p:nvSpPr>
        <p:spPr>
          <a:xfrm>
            <a:off x="749808" y="4626864"/>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[22]</a:t>
            </a:r>
            <a:endParaRPr lang="en-US" sz="680" dirty="0"/>
          </a:p>
        </p:txBody>
      </p:sp>
      <p:sp>
        <p:nvSpPr>
          <p:cNvPr id="65" name="Text 63"/>
          <p:cNvSpPr/>
          <p:nvPr/>
        </p:nvSpPr>
        <p:spPr>
          <a:xfrm>
            <a:off x="1261872" y="4626864"/>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6" name="Text 64"/>
          <p:cNvSpPr/>
          <p:nvPr/>
        </p:nvSpPr>
        <p:spPr>
          <a:xfrm>
            <a:off x="2487168" y="4626864"/>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生态环境部</a:t>
            </a:r>
            <a:endParaRPr lang="en-US" sz="680" dirty="0"/>
          </a:p>
        </p:txBody>
      </p:sp>
      <p:sp>
        <p:nvSpPr>
          <p:cNvPr id="67" name="Text 65"/>
          <p:cNvSpPr/>
          <p:nvPr/>
        </p:nvSpPr>
        <p:spPr>
          <a:xfrm>
            <a:off x="6510528" y="4626864"/>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https://www.mee.gov.cn/</a:t>
            </a:r>
            <a:endParaRPr lang="en-US" sz="580" dirty="0"/>
          </a:p>
        </p:txBody>
      </p:sp>
      <p:sp>
        <p:nvSpPr>
          <p:cNvPr id="68" name="Shape 66"/>
          <p:cNvSpPr/>
          <p:nvPr/>
        </p:nvSpPr>
        <p:spPr>
          <a:xfrm>
            <a:off x="658368" y="4864608"/>
            <a:ext cx="10424160" cy="274320"/>
          </a:xfrm>
          <a:prstGeom prst="rect">
            <a:avLst/>
          </a:prstGeom>
          <a:solidFill>
            <a:srgbClr val="F4FAF6"/>
          </a:solidFill>
          <a:ln w="5080">
            <a:solidFill>
              <a:srgbClr val="DADADA"/>
            </a:solidFill>
            <a:prstDash val="solid"/>
          </a:ln>
        </p:spPr>
      </p:sp>
      <p:sp>
        <p:nvSpPr>
          <p:cNvPr id="69" name="Text 67"/>
          <p:cNvSpPr/>
          <p:nvPr/>
        </p:nvSpPr>
        <p:spPr>
          <a:xfrm>
            <a:off x="749808" y="4937760"/>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[23]</a:t>
            </a:r>
            <a:endParaRPr lang="en-US" sz="680" dirty="0"/>
          </a:p>
        </p:txBody>
      </p:sp>
      <p:sp>
        <p:nvSpPr>
          <p:cNvPr id="70" name="Text 68"/>
          <p:cNvSpPr/>
          <p:nvPr/>
        </p:nvSpPr>
        <p:spPr>
          <a:xfrm>
            <a:off x="1261872" y="4937760"/>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万润新能源</a:t>
            </a:r>
            <a:endParaRPr lang="en-US" sz="680" dirty="0"/>
          </a:p>
        </p:txBody>
      </p:sp>
      <p:sp>
        <p:nvSpPr>
          <p:cNvPr id="71" name="Text 69"/>
          <p:cNvSpPr/>
          <p:nvPr/>
        </p:nvSpPr>
        <p:spPr>
          <a:xfrm>
            <a:off x="2487168" y="4937760"/>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磷酸铁锂-湖北万润新能源科技股份有限公司_动力电池材料_消费电池材料_</a:t>
            </a:r>
            <a:endParaRPr lang="en-US" sz="680" dirty="0"/>
          </a:p>
        </p:txBody>
      </p:sp>
      <p:sp>
        <p:nvSpPr>
          <p:cNvPr id="72" name="Text 70"/>
          <p:cNvSpPr/>
          <p:nvPr/>
        </p:nvSpPr>
        <p:spPr>
          <a:xfrm>
            <a:off x="6510528" y="4937760"/>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https://www.hbwanrun.com/application_details/1.html</a:t>
            </a:r>
            <a:endParaRPr lang="en-US" sz="580" dirty="0"/>
          </a:p>
        </p:txBody>
      </p:sp>
      <p:sp>
        <p:nvSpPr>
          <p:cNvPr id="73" name="Shape 71"/>
          <p:cNvSpPr/>
          <p:nvPr/>
        </p:nvSpPr>
        <p:spPr>
          <a:xfrm>
            <a:off x="658368" y="5175504"/>
            <a:ext cx="10424160" cy="274320"/>
          </a:xfrm>
          <a:prstGeom prst="rect">
            <a:avLst/>
          </a:prstGeom>
          <a:solidFill>
            <a:srgbClr val="FFFFFF"/>
          </a:solidFill>
          <a:ln w="5080">
            <a:solidFill>
              <a:srgbClr val="DADADA"/>
            </a:solidFill>
            <a:prstDash val="solid"/>
          </a:ln>
        </p:spPr>
      </p:sp>
      <p:sp>
        <p:nvSpPr>
          <p:cNvPr id="74" name="Text 72"/>
          <p:cNvSpPr/>
          <p:nvPr/>
        </p:nvSpPr>
        <p:spPr>
          <a:xfrm>
            <a:off x="749808" y="5248656"/>
            <a:ext cx="411480" cy="109728"/>
          </a:xfrm>
          <a:prstGeom prst="rect">
            <a:avLst/>
          </a:prstGeom>
          <a:noFill/>
          <a:ln/>
        </p:spPr>
        <p:txBody>
          <a:bodyPr wrap="square" lIns="0" tIns="0" rIns="0" bIns="0" rtlCol="0" anchor="ctr"/>
          <a:lstStyle/>
          <a:p>
            <a:pPr indent="0" marL="0">
              <a:buNone/>
            </a:pPr>
            <a:r>
              <a:rPr lang="en-US" sz="680" b="1" dirty="0">
                <a:solidFill>
                  <a:srgbClr val="487052"/>
                </a:solidFill>
                <a:latin typeface="Aptos" pitchFamily="34" charset="0"/>
                <a:ea typeface="Aptos" pitchFamily="34" charset="-122"/>
                <a:cs typeface="Aptos" pitchFamily="34" charset="-120"/>
              </a:rPr>
              <a:t>[24]</a:t>
            </a:r>
            <a:endParaRPr lang="en-US" sz="680" dirty="0"/>
          </a:p>
        </p:txBody>
      </p:sp>
      <p:sp>
        <p:nvSpPr>
          <p:cNvPr id="75" name="Text 73"/>
          <p:cNvSpPr/>
          <p:nvPr/>
        </p:nvSpPr>
        <p:spPr>
          <a:xfrm>
            <a:off x="1261872" y="5248656"/>
            <a:ext cx="1051560" cy="109728"/>
          </a:xfrm>
          <a:prstGeom prst="rect">
            <a:avLst/>
          </a:prstGeom>
          <a:noFill/>
          <a:ln/>
        </p:spPr>
        <p:txBody>
          <a:bodyPr wrap="square" lIns="0" tIns="0" rIns="0" bIns="0" rtlCol="0" anchor="ctr">
            <a:normAutofit/>
          </a:bodyPr>
          <a:lstStyle/>
          <a:p>
            <a:pPr indent="0" marL="0">
              <a:buNone/>
            </a:pPr>
            <a:r>
              <a:rPr lang="en-US" sz="680"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6" name="Text 74"/>
          <p:cNvSpPr/>
          <p:nvPr/>
        </p:nvSpPr>
        <p:spPr>
          <a:xfrm>
            <a:off x="2487168" y="5248656"/>
            <a:ext cx="3749040" cy="109728"/>
          </a:xfrm>
          <a:prstGeom prst="rect">
            <a:avLst/>
          </a:prstGeom>
          <a:noFill/>
          <a:ln/>
        </p:spPr>
        <p:txBody>
          <a:bodyPr wrap="square" lIns="0" tIns="0" rIns="0" bIns="0" rtlCol="0" anchor="ctr">
            <a:normAutofit/>
          </a:bodyPr>
          <a:lstStyle/>
          <a:p>
            <a:pPr indent="0" marL="0">
              <a:buNone/>
            </a:pPr>
            <a:r>
              <a:rPr lang="en-US" sz="680" b="1" dirty="0">
                <a:solidFill>
                  <a:srgbClr val="121212"/>
                </a:solidFill>
                <a:latin typeface="Microsoft YaHei" pitchFamily="34" charset="0"/>
                <a:ea typeface="Microsoft YaHei" pitchFamily="34" charset="-122"/>
                <a:cs typeface="Microsoft YaHei" pitchFamily="34" charset="-120"/>
              </a:rPr>
              <a:t>湖南裕能</a:t>
            </a:r>
            <a:endParaRPr lang="en-US" sz="680" dirty="0"/>
          </a:p>
        </p:txBody>
      </p:sp>
      <p:sp>
        <p:nvSpPr>
          <p:cNvPr id="77" name="Text 75"/>
          <p:cNvSpPr/>
          <p:nvPr/>
        </p:nvSpPr>
        <p:spPr>
          <a:xfrm>
            <a:off x="6510528" y="5248656"/>
            <a:ext cx="4343400" cy="109728"/>
          </a:xfrm>
          <a:prstGeom prst="rect">
            <a:avLst/>
          </a:prstGeom>
          <a:noFill/>
          <a:ln/>
        </p:spPr>
        <p:txBody>
          <a:bodyPr wrap="square" lIns="0" tIns="0" rIns="0" bIns="0" rtlCol="0" anchor="ctr">
            <a:normAutofit/>
          </a:bodyPr>
          <a:lstStyle/>
          <a:p>
            <a:pPr indent="0" marL="0">
              <a:buNone/>
            </a:pPr>
            <a:r>
              <a:rPr lang="en-US" sz="580" dirty="0">
                <a:solidFill>
                  <a:srgbClr val="6D756F"/>
                </a:solidFill>
                <a:latin typeface="Aptos" pitchFamily="34" charset="0"/>
                <a:ea typeface="Aptos" pitchFamily="34" charset="-122"/>
                <a:cs typeface="Aptos" pitchFamily="34" charset="-120"/>
              </a:rPr>
              <a:t>https://www.yunengchem.com/</a:t>
            </a:r>
            <a:endParaRPr lang="en-US" sz="580" dirty="0"/>
          </a:p>
        </p:txBody>
      </p:sp>
      <p:sp>
        <p:nvSpPr>
          <p:cNvPr id="78" name="Shape 76"/>
          <p:cNvSpPr/>
          <p:nvPr/>
        </p:nvSpPr>
        <p:spPr>
          <a:xfrm>
            <a:off x="658368" y="5779008"/>
            <a:ext cx="1463040" cy="292608"/>
          </a:xfrm>
          <a:prstGeom prst="rect">
            <a:avLst/>
          </a:prstGeom>
          <a:solidFill>
            <a:srgbClr val="121212"/>
          </a:solidFill>
          <a:ln w="12700">
            <a:solidFill>
              <a:srgbClr val="121212"/>
            </a:solidFill>
            <a:prstDash val="solid"/>
          </a:ln>
        </p:spPr>
      </p:sp>
      <p:sp>
        <p:nvSpPr>
          <p:cNvPr id="79" name="Text 77"/>
          <p:cNvSpPr/>
          <p:nvPr/>
        </p:nvSpPr>
        <p:spPr>
          <a:xfrm>
            <a:off x="804672" y="5870448"/>
            <a:ext cx="1188720" cy="109728"/>
          </a:xfrm>
          <a:prstGeom prst="rect">
            <a:avLst/>
          </a:prstGeom>
          <a:noFill/>
          <a:ln/>
        </p:spPr>
        <p:txBody>
          <a:bodyPr wrap="square" lIns="0" tIns="0" rIns="0" bIns="0" rtlCol="0" anchor="ctr"/>
          <a:lstStyle/>
          <a:p>
            <a:pPr indent="0" marL="0">
              <a:buNone/>
            </a:pPr>
            <a:r>
              <a:rPr lang="en-US" sz="780" b="1" dirty="0">
                <a:solidFill>
                  <a:srgbClr val="FFFFFF"/>
                </a:solidFill>
                <a:latin typeface="Microsoft YaHei" pitchFamily="34" charset="0"/>
                <a:ea typeface="Microsoft YaHei" pitchFamily="34" charset="-122"/>
                <a:cs typeface="Microsoft YaHei" pitchFamily="34" charset="-120"/>
              </a:rPr>
              <a:t>引用规则</a:t>
            </a:r>
            <a:endParaRPr lang="en-US" sz="780" dirty="0"/>
          </a:p>
        </p:txBody>
      </p:sp>
      <p:sp>
        <p:nvSpPr>
          <p:cNvPr id="80" name="Text 78"/>
          <p:cNvSpPr/>
          <p:nvPr/>
        </p:nvSpPr>
        <p:spPr>
          <a:xfrm>
            <a:off x="2286000" y="5843016"/>
            <a:ext cx="8778240" cy="164592"/>
          </a:xfrm>
          <a:prstGeom prst="rect">
            <a:avLst/>
          </a:prstGeom>
          <a:noFill/>
          <a:ln/>
        </p:spPr>
        <p:txBody>
          <a:bodyPr wrap="square" lIns="0" tIns="0" rIns="0" bIns="0" rtlCol="0" anchor="ctr">
            <a:normAutofit/>
          </a:bodyPr>
          <a:lstStyle/>
          <a:p>
            <a:pPr indent="0" marL="0">
              <a:buNone/>
            </a:pPr>
            <a:r>
              <a:rPr lang="en-US" sz="1020" b="1" dirty="0">
                <a:solidFill>
                  <a:srgbClr val="121212"/>
                </a:solidFill>
                <a:latin typeface="Microsoft YaHei" pitchFamily="34" charset="0"/>
                <a:ea typeface="Microsoft YaHei" pitchFamily="34" charset="-122"/>
                <a:cs typeface="Microsoft YaHei" pitchFamily="34" charset="-120"/>
              </a:rPr>
              <a:t>正文引用编号与本页来源一一对应，未进入正文的公开来源保留在 JSON 审计记录中。</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lifepo4_brief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磷酸铁锂行业早报 2026-08-05</dc:title>
  <dc:subject>LFP daily briefing</dc:subject>
  <dc:creator>lifepo4_brief</dc:creator>
  <cp:lastModifiedBy>lifepo4_brief</cp:lastModifiedBy>
  <cp:revision>1</cp:revision>
  <dcterms:created xsi:type="dcterms:W3CDTF">2026-08-05T01:48:54Z</dcterms:created>
  <dcterms:modified xsi:type="dcterms:W3CDTF">2026-08-05T01:48:54Z</dcterms:modified>
</cp:coreProperties>
</file>