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LFP DAILY BRIEF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2026-07-16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40080" y="10515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LFP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21792" y="1481328"/>
            <a:ext cx="6035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58368" y="2176272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从公开事件到产业判断的每日工程化筛选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8368" y="2761488"/>
            <a:ext cx="5715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磷酸铁锂行业核心动态：算力储能需求成为锂价新变量，有望提振上游材料需求；行业最大方壳卷绕储能电芯在湖北宜昌量产，标志着大容量储能技术取得突破；锂电池出口新规落地，外贸合规标准需重新校准；同时，燃料电池汽车销量暴跌，凸显磷酸铁锂在新能源领域的相对优势。整体看，行业在技术迭代、政策规范与需求结构变化中寻求新平衡。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0" y="960120"/>
            <a:ext cx="3886200" cy="4526280"/>
          </a:xfrm>
          <a:prstGeom prst="rect">
            <a:avLst/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07808" y="11887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今日逻辑主线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882128" y="1755648"/>
            <a:ext cx="0" cy="3090672"/>
          </a:xfrm>
          <a:prstGeom prst="line">
            <a:avLst/>
          </a:prstGeom>
          <a:noFill/>
          <a:ln w="15240">
            <a:solidFill>
              <a:srgbClr val="7F9D8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90688" y="1700784"/>
            <a:ext cx="182880" cy="182880"/>
          </a:xfrm>
          <a:prstGeom prst="ellipse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83880" y="1627632"/>
            <a:ext cx="2514600" cy="365760"/>
          </a:xfrm>
          <a:prstGeom prst="rect">
            <a:avLst/>
          </a:prstGeom>
          <a:solidFill>
            <a:srgbClr val="DDEBE0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21040" y="1709928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技术突破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7790688" y="2267712"/>
            <a:ext cx="182880" cy="182880"/>
          </a:xfrm>
          <a:prstGeom prst="ellipse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83880" y="2194560"/>
            <a:ext cx="2514600" cy="365760"/>
          </a:xfrm>
          <a:prstGeom prst="rect">
            <a:avLst/>
          </a:prstGeom>
          <a:solidFill>
            <a:srgbClr val="DDEBE0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0" y="2276856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产能变化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7790688" y="2834640"/>
            <a:ext cx="182880" cy="182880"/>
          </a:xfrm>
          <a:prstGeom prst="ellipse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83880" y="2761488"/>
            <a:ext cx="2514600" cy="365760"/>
          </a:xfrm>
          <a:prstGeom prst="rect">
            <a:avLst/>
          </a:prstGeom>
          <a:solidFill>
            <a:srgbClr val="DDEBE0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21040" y="2843784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政策合规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7790688" y="3401568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83880" y="3328416"/>
            <a:ext cx="2514600" cy="365760"/>
          </a:xfrm>
          <a:prstGeom prst="rect">
            <a:avLst/>
          </a:prstGeom>
          <a:solidFill>
            <a:srgbClr val="FFFFFF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21040" y="3410712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企业信号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7790688" y="3968496"/>
            <a:ext cx="182880" cy="182880"/>
          </a:xfrm>
          <a:prstGeom prst="ellipse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183880" y="3895344"/>
            <a:ext cx="2514600" cy="365760"/>
          </a:xfrm>
          <a:prstGeom prst="rect">
            <a:avLst/>
          </a:prstGeom>
          <a:solidFill>
            <a:srgbClr val="DDEBE0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21040" y="3977640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风险机会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7790688" y="4535424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183880" y="4462272"/>
            <a:ext cx="2514600" cy="365760"/>
          </a:xfrm>
          <a:prstGeom prst="rect">
            <a:avLst/>
          </a:prstGeom>
          <a:solidFill>
            <a:srgbClr val="FFFFFF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21040" y="4544568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来源索引</a:t>
            </a:r>
            <a:endParaRPr lang="en-US" sz="880" dirty="0"/>
          </a:p>
        </p:txBody>
      </p:sp>
      <p:sp>
        <p:nvSpPr>
          <p:cNvPr id="34" name="Shape 32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核心判断</a:t>
            </a:r>
            <a:endParaRPr lang="en-US" sz="780" dirty="0"/>
          </a:p>
        </p:txBody>
      </p:sp>
      <p:sp>
        <p:nvSpPr>
          <p:cNvPr id="36" name="Text 34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今日磷酸铁锂行业核心动态：算力储能需求成为锂价新变量，有望提振上游材料需求；行业最大方壳卷绕储能电芯在湖北宜昌量产，标志着大容量储能技术取得突</a:t>
            </a:r>
            <a:endParaRPr lang="en-US" sz="10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BRIEF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2026-07-16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3268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今日总览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880360" y="996696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今日磷酸铁锂行业核心动态：算力储能需求成为锂价新变量，有望提振上游材料需求；行业最大方壳卷绕储能电芯在湖北宜昌量产，标志着大容量储能技术取得突</a:t>
            </a:r>
            <a:endParaRPr lang="en-US" sz="94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5074920" cy="1737360"/>
          </a:xfrm>
          <a:prstGeom prst="rect">
            <a:avLst/>
          </a:prstGeom>
          <a:solidFill>
            <a:srgbClr val="F4FAF6"/>
          </a:solidFill>
          <a:ln w="8890">
            <a:solidFill>
              <a:srgbClr val="DADAD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" y="1444752"/>
            <a:ext cx="384048" cy="173736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" y="1627632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188720" y="1609344"/>
            <a:ext cx="4233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今日结论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1188720" y="1883664"/>
            <a:ext cx="2194560" cy="54864"/>
          </a:xfrm>
          <a:prstGeom prst="rect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88720" y="2029968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算力储能需求成为锂价新变量，可能改变锂资源需求结构；行业最大方壳卷绕储能电芯在宜昌量产，推动储能成本下降；锂电池出口新规落地，外贸企业需紧急调整合规流程；燃料电池汽车销量暴跌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1188720" y="2862072"/>
            <a:ext cx="42336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[1][2][3][4]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6236208" y="1444752"/>
            <a:ext cx="5074920" cy="1737360"/>
          </a:xfrm>
          <a:prstGeom prst="rect">
            <a:avLst/>
          </a:prstGeom>
          <a:solidFill>
            <a:srgbClr val="FFFFFF"/>
          </a:solidFill>
          <a:ln w="8890">
            <a:solidFill>
              <a:srgbClr val="DADAD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36208" y="1444752"/>
            <a:ext cx="384048" cy="173736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64224" y="1627632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766560" y="1609344"/>
            <a:ext cx="4233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技术/产品路线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6766560" y="1883664"/>
            <a:ext cx="1316736" cy="54864"/>
          </a:xfrm>
          <a:prstGeom prst="rect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66560" y="2029968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行业最大方壳卷绕储能电芯在湖北宜昌量产，技术路线向大容量、低成本方向演进；手机锂电池快充技术底层解析显示电芯与电荷泵技术持续进步，但磷酸铁锂在快充领域仍面临能量密度瓶颈。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6766560" y="2862072"/>
            <a:ext cx="42336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[2][5]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658368" y="3566160"/>
            <a:ext cx="5074920" cy="1737360"/>
          </a:xfrm>
          <a:prstGeom prst="rect">
            <a:avLst/>
          </a:prstGeom>
          <a:solidFill>
            <a:srgbClr val="F4FAF6"/>
          </a:solidFill>
          <a:ln w="8890">
            <a:solidFill>
              <a:srgbClr val="DADAD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8368" y="3566160"/>
            <a:ext cx="384048" cy="173736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6384" y="3749040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188720" y="3730752"/>
            <a:ext cx="4233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产能/客户/订单</a:t>
            </a:r>
            <a:endParaRPr lang="en-US" sz="920" dirty="0"/>
          </a:p>
        </p:txBody>
      </p:sp>
      <p:sp>
        <p:nvSpPr>
          <p:cNvPr id="29" name="Shape 27"/>
          <p:cNvSpPr/>
          <p:nvPr/>
        </p:nvSpPr>
        <p:spPr>
          <a:xfrm>
            <a:off x="1188720" y="4005072"/>
            <a:ext cx="2194560" cy="54864"/>
          </a:xfrm>
          <a:prstGeom prst="rect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88720" y="4151376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LG新能源获谷歌最大光储项目电池订单，价值数千亿韩元，显示海外储能市场对磷酸铁锂需求强劲；比亚迪斩获五项国奖，动力电池与电机供应链国产替代再提速；蔚来下一代动力电池研发基地落</a:t>
            </a:r>
            <a:endParaRPr lang="en-US" sz="920" dirty="0"/>
          </a:p>
        </p:txBody>
      </p:sp>
      <p:sp>
        <p:nvSpPr>
          <p:cNvPr id="31" name="Text 29"/>
          <p:cNvSpPr/>
          <p:nvPr/>
        </p:nvSpPr>
        <p:spPr>
          <a:xfrm>
            <a:off x="1188720" y="4983480"/>
            <a:ext cx="42336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[6][7][8]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6236208" y="3566160"/>
            <a:ext cx="5074920" cy="1737360"/>
          </a:xfrm>
          <a:prstGeom prst="rect">
            <a:avLst/>
          </a:prstGeom>
          <a:solidFill>
            <a:srgbClr val="FFFFFF"/>
          </a:solidFill>
          <a:ln w="8890">
            <a:solidFill>
              <a:srgbClr val="DADAD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36208" y="3566160"/>
            <a:ext cx="384048" cy="173736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64224" y="3749040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766560" y="3730752"/>
            <a:ext cx="4233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价格/盈利压力</a:t>
            </a:r>
            <a:endParaRPr lang="en-US" sz="920" dirty="0"/>
          </a:p>
        </p:txBody>
      </p:sp>
      <p:sp>
        <p:nvSpPr>
          <p:cNvPr id="36" name="Shape 34"/>
          <p:cNvSpPr/>
          <p:nvPr/>
        </p:nvSpPr>
        <p:spPr>
          <a:xfrm>
            <a:off x="6766560" y="4005072"/>
            <a:ext cx="1316736" cy="54864"/>
          </a:xfrm>
          <a:prstGeom prst="rect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66560" y="4151376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锂电池板块冲高回落，储能电池ETF、电池ETF自5月高点回调20%，机构认为当前是布局良机；燃油车零部件业务盈利承压，威孚高科4.5亿元押注电池回收，显示传统企业转型压力。</a:t>
            </a:r>
            <a:endParaRPr lang="en-US" sz="920" dirty="0"/>
          </a:p>
        </p:txBody>
      </p:sp>
      <p:sp>
        <p:nvSpPr>
          <p:cNvPr id="38" name="Text 36"/>
          <p:cNvSpPr/>
          <p:nvPr/>
        </p:nvSpPr>
        <p:spPr>
          <a:xfrm>
            <a:off x="6766560" y="4983480"/>
            <a:ext cx="42336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[9][10]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总览结论</a:t>
            </a:r>
            <a:endParaRPr lang="en-US" sz="780" dirty="0"/>
          </a:p>
        </p:txBody>
      </p:sp>
      <p:sp>
        <p:nvSpPr>
          <p:cNvPr id="41" name="Text 39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今日磷酸铁锂行业核心动态：算力储能需求成为锂价新变量，有望提振上游材料需求；行业最大方壳卷绕储能电芯在湖北宜昌量产，标志着大容量储能技术取得突</a:t>
            </a:r>
            <a:endParaRPr lang="en-US" sz="10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DEEP DIVE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2026-07-16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14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今日结论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100584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条公开来源交叉验证｜事实、影响与后续研判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664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事实判断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487168" y="1645920"/>
            <a:ext cx="4315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力储能需求成为锂价新变量，可能改变锂资源需求结构；行业最大方壳卷绕储能电芯在宜昌量产，推动储能成本下降；锂电池出口新规落地，外贸企业需紧急调整合规流程；燃料电池汽车销量暴跌78.9%，磷酸铁锂在商用车及储能领域替代优势进一步巩固。 [1][2][3][4]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2487168" y="243230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依据：[1][2][3][4]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658368" y="290779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1272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影响分析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7168" y="310896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浪财经报道指出算力储能需求正成为锂价新变量，这意味着数据中心备用电源等新兴场景将拉动磷酸铁锂电池需求，可能缓解传统动力电池需求放缓的压力。同时，湖北宜昌量产的行业最大方壳卷绕储能电芯（来源：中国科技网）标志着大容量、低成本储能技术取得实质性进展，有望加速储能项目经济性提升。出口新规（来源：新浪网）要求外贸企业重新校准合规标准，短期内可能增加出口成本，但长期有利于行业规范化。燃料电池汽车销量暴跌（来源：NE21）进一步凸显磷酸铁锂在成本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58368" y="437083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DDEBE0"/>
          </a:solidFill>
          <a:ln w="13970">
            <a:solidFill>
              <a:srgbClr val="1212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370832"/>
            <a:ext cx="109728" cy="12070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5902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后续研判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487168" y="457200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算力储能需求持续增长，则磷酸铁锂在数据中心备用电源领域的渗透率将快速提升，带动锂价企稳反弹，需跟踪数据中心储能招标规模及锂盐库存变化；若出口新规严格执行，则中小型磷酸铁锂外贸企业可能面临短期成本压力，需关注合规成本占比及客户订单转移情况。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7479792" y="1444752"/>
            <a:ext cx="3273552" cy="37307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1700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关键数据解读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772400" y="1993392"/>
            <a:ext cx="2560320" cy="1389888"/>
          </a:xfrm>
          <a:prstGeom prst="roundRect">
            <a:avLst>
              <a:gd name="adj" fmla="val 2632"/>
            </a:avLst>
          </a:prstGeom>
          <a:solidFill>
            <a:srgbClr val="F4FAF6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18704" y="210312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78.9%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8759952" y="216712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燃料电池汽车销量暴跌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7918704" y="2578608"/>
            <a:ext cx="21762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公开信息：燃料电池汽车销量暴跌78.9%，磷酸铁锂在商用车及储能领域替代优势进一步巩固</a:t>
            </a:r>
            <a:endParaRPr lang="en-US" sz="840" dirty="0"/>
          </a:p>
        </p:txBody>
      </p:sp>
      <p:sp>
        <p:nvSpPr>
          <p:cNvPr id="28" name="Text 26"/>
          <p:cNvSpPr/>
          <p:nvPr/>
        </p:nvSpPr>
        <p:spPr>
          <a:xfrm>
            <a:off x="7772400" y="449884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阅读提示：仅按公开报道原文呈现；不同企业、时间和统计范围不可直接横向比较。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核心研判</a:t>
            </a:r>
            <a:endParaRPr lang="en-US" sz="780" dirty="0"/>
          </a:p>
        </p:txBody>
      </p:sp>
      <p:sp>
        <p:nvSpPr>
          <p:cNvPr id="31" name="Text 29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若算力储能需求持续增长，则磷酸铁锂在数据中心备用电源领域的渗透率将快速提升，带动锂价企稳反弹，需跟踪数据中心储能招标规模及锂盐库存变化</a:t>
            </a:r>
            <a:endParaRPr lang="en-US" sz="10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DEEP DIVE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2026-07-16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14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技术/产品路线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100584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条公开来源交叉验证｜事实、影响与后续研判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664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事实判断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487168" y="1645920"/>
            <a:ext cx="4315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行业最大方壳卷绕储能电芯在湖北宜昌量产，技术路线向大容量、低成本方向演进；手机锂电池快充技术底层解析显示电芯与电荷泵技术持续进步，但磷酸铁锂在快充领域仍面临能量密度瓶颈。 [2][5]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2487168" y="243230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依据：[2][5]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658368" y="290779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1272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影响分析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7168" y="310896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科技网报道的行业最大方壳卷绕储能电芯量产，是磷酸铁锂储能技术的重要突破，大容量电芯可减少系统集成成本，提升储能项目IRR。手机快充技术科普文章（来源：手机网易网）虽主要针对消费电子，但其中关于电芯内阻、电荷泵效率的讨论，对磷酸铁锂动力电池快充性能提升亦有参考价值。当前磷酸铁锂在快充领域仍落后于三元，但大容量储能电芯的量产表明行业正通过差异化路线（储能优先）来规避短板。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58368" y="437083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DDEBE0"/>
          </a:solidFill>
          <a:ln w="13970">
            <a:solidFill>
              <a:srgbClr val="1212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370832"/>
            <a:ext cx="109728" cy="12070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5902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后续研判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487168" y="457200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大容量方壳电芯在储能项目中得到广泛应用，则系统成本有望下降10-15%，进一步刺激储能装机需求，需跟踪该电芯的客户导入进度及循环寿命数据；若手机快充技术向动力电池领域迁移，则磷酸铁锂需在负极材料或电解液配方上突破，否则在快充市场仍将处于劣势。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7479792" y="1444752"/>
            <a:ext cx="3273552" cy="37307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1700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关键数据解读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772400" y="1993392"/>
            <a:ext cx="2560320" cy="1389888"/>
          </a:xfrm>
          <a:prstGeom prst="roundRect">
            <a:avLst>
              <a:gd name="adj" fmla="val 2632"/>
            </a:avLst>
          </a:prstGeom>
          <a:solidFill>
            <a:srgbClr val="F4FAF6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18704" y="210312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15%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8759952" y="216712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则系统成本有望下降10-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7918704" y="2578608"/>
            <a:ext cx="21762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公开信息：若大容量方壳电芯在储能项目中得到广泛应用，则系统成本有望下降10-15%，进一步刺激储能装机需求，需跟踪该电芯</a:t>
            </a:r>
            <a:endParaRPr lang="en-US" sz="840" dirty="0"/>
          </a:p>
        </p:txBody>
      </p:sp>
      <p:sp>
        <p:nvSpPr>
          <p:cNvPr id="28" name="Text 26"/>
          <p:cNvSpPr/>
          <p:nvPr/>
        </p:nvSpPr>
        <p:spPr>
          <a:xfrm>
            <a:off x="7772400" y="449884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阅读提示：仅按公开报道原文呈现；不同企业、时间和统计范围不可直接横向比较。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核心研判</a:t>
            </a:r>
            <a:endParaRPr lang="en-US" sz="780" dirty="0"/>
          </a:p>
        </p:txBody>
      </p:sp>
      <p:sp>
        <p:nvSpPr>
          <p:cNvPr id="31" name="Text 29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若大容量方壳电芯在储能项目中得到广泛应用，则系统成本有望下降10-15%，进一步刺激储能装机需求，需跟踪该电芯的客户导入进度及循环寿命数据</a:t>
            </a:r>
            <a:endParaRPr lang="en-US" sz="10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DEEP DIVE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2026-07-16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14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产能/客户/订单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100584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条公开来源交叉验证｜事实、影响与后续研判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664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事实判断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487168" y="1645920"/>
            <a:ext cx="4315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G新能源获谷歌最大光储项目电池订单，价值数千亿韩元，显示海外储能市场对磷酸铁锂需求强劲；比亚迪斩获五项国奖，动力电池与电机供应链国产替代再提速；蔚来下一代动力电池研发基地落地上海嘉定，预计下半年施工。 [6][7][8]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2487168" y="243230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依据：[6][7][8]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658368" y="290779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1272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影响分析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7168" y="310896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G新能源获得谷歌光储项目订单（来源：观点网），表明海外科技巨头正加速布局储能，且倾向于选择磷酸铁锂路线（LG新能源已转型磷酸铁锂）。比亚迪获奖（来源：网通社）进一步巩固其在国内动力电池及电机供应链的龙头地位，国产替代进程加速。蔚来在上海嘉定建设下一代动力电池研发基地（来源：太平洋汽车），虽然蔚来主要采用三元电池，但其研发方向可能涉及磷酸铁锂版本以降低成本，需关注其技术路线选择。这些订单和投资信号表明，下游需求依然旺盛，但竞争格局正从国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58368" y="437083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DDEBE0"/>
          </a:solidFill>
          <a:ln w="13970">
            <a:solidFill>
              <a:srgbClr val="1212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370832"/>
            <a:ext cx="109728" cy="12070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5902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后续研判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487168" y="457200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LG新能源顺利交付谷歌订单，则有望打开北美大型储能市场，带动国内磷酸铁锂材料出口，需关注该订单的交付周期及后续谷歌是否追加订单；若蔚来研发基地投产，则可能推出磷酸铁锂版车型，进一步挤压二线电池厂商份额，需跟踪蔚来电池供应商选择及车型规划。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7479792" y="1444752"/>
            <a:ext cx="3273552" cy="37307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1700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对比矩阵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818120" y="2176272"/>
            <a:ext cx="2487168" cy="1609344"/>
          </a:xfrm>
          <a:prstGeom prst="rect">
            <a:avLst/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61704" y="2176272"/>
            <a:ext cx="0" cy="1609344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18120" y="2980944"/>
            <a:ext cx="2487168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818120" y="2176272"/>
            <a:ext cx="1243584" cy="804672"/>
          </a:xfrm>
          <a:prstGeom prst="rect">
            <a:avLst/>
          </a:prstGeom>
          <a:solidFill>
            <a:srgbClr val="DDEBE0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91272" y="228600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路线A</a:t>
            </a:r>
            <a:endParaRPr lang="en-US" sz="710" dirty="0"/>
          </a:p>
        </p:txBody>
      </p:sp>
      <p:sp>
        <p:nvSpPr>
          <p:cNvPr id="29" name="Text 27"/>
          <p:cNvSpPr/>
          <p:nvPr/>
        </p:nvSpPr>
        <p:spPr>
          <a:xfrm>
            <a:off x="7891272" y="250545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LG新能源获谷歌最大光储项</a:t>
            </a:r>
            <a:endParaRPr lang="en-US" sz="670" dirty="0"/>
          </a:p>
        </p:txBody>
      </p:sp>
      <p:sp>
        <p:nvSpPr>
          <p:cNvPr id="30" name="Shape 28"/>
          <p:cNvSpPr/>
          <p:nvPr/>
        </p:nvSpPr>
        <p:spPr>
          <a:xfrm>
            <a:off x="9061704" y="2176272"/>
            <a:ext cx="1243584" cy="804672"/>
          </a:xfrm>
          <a:prstGeom prst="rect">
            <a:avLst/>
          </a:prstGeom>
          <a:solidFill>
            <a:srgbClr val="FFFFFF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34856" y="228600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路线B</a:t>
            </a:r>
            <a:endParaRPr lang="en-US" sz="710" dirty="0"/>
          </a:p>
        </p:txBody>
      </p:sp>
      <p:sp>
        <p:nvSpPr>
          <p:cNvPr id="32" name="Text 30"/>
          <p:cNvSpPr/>
          <p:nvPr/>
        </p:nvSpPr>
        <p:spPr>
          <a:xfrm>
            <a:off x="9134856" y="250545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比亚迪斩获五项国奖，动力电</a:t>
            </a:r>
            <a:endParaRPr lang="en-US" sz="670" dirty="0"/>
          </a:p>
        </p:txBody>
      </p:sp>
      <p:sp>
        <p:nvSpPr>
          <p:cNvPr id="33" name="Shape 31"/>
          <p:cNvSpPr/>
          <p:nvPr/>
        </p:nvSpPr>
        <p:spPr>
          <a:xfrm>
            <a:off x="7818120" y="2980944"/>
            <a:ext cx="1243584" cy="804672"/>
          </a:xfrm>
          <a:prstGeom prst="rect">
            <a:avLst/>
          </a:prstGeom>
          <a:solidFill>
            <a:srgbClr val="FFFFFF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891272" y="309067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机会</a:t>
            </a:r>
            <a:endParaRPr lang="en-US" sz="710" dirty="0"/>
          </a:p>
        </p:txBody>
      </p:sp>
      <p:sp>
        <p:nvSpPr>
          <p:cNvPr id="35" name="Text 33"/>
          <p:cNvSpPr/>
          <p:nvPr/>
        </p:nvSpPr>
        <p:spPr>
          <a:xfrm>
            <a:off x="7891272" y="331012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蔚来下一代动力电池研发基地</a:t>
            </a:r>
            <a:endParaRPr lang="en-US" sz="670" dirty="0"/>
          </a:p>
        </p:txBody>
      </p:sp>
      <p:sp>
        <p:nvSpPr>
          <p:cNvPr id="36" name="Shape 34"/>
          <p:cNvSpPr/>
          <p:nvPr/>
        </p:nvSpPr>
        <p:spPr>
          <a:xfrm>
            <a:off x="9061704" y="2980944"/>
            <a:ext cx="1243584" cy="804672"/>
          </a:xfrm>
          <a:prstGeom prst="rect">
            <a:avLst/>
          </a:prstGeom>
          <a:solidFill>
            <a:srgbClr val="F4FAF6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34856" y="309067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</a:t>
            </a:r>
            <a:endParaRPr lang="en-US" sz="710" dirty="0"/>
          </a:p>
        </p:txBody>
      </p:sp>
      <p:sp>
        <p:nvSpPr>
          <p:cNvPr id="38" name="Text 36"/>
          <p:cNvSpPr/>
          <p:nvPr/>
        </p:nvSpPr>
        <p:spPr>
          <a:xfrm>
            <a:off x="9134856" y="331012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LG新能源获谷歌最大光储项</a:t>
            </a:r>
            <a:endParaRPr lang="en-US" sz="670" dirty="0"/>
          </a:p>
        </p:txBody>
      </p:sp>
      <p:sp>
        <p:nvSpPr>
          <p:cNvPr id="39" name="Text 37"/>
          <p:cNvSpPr/>
          <p:nvPr/>
        </p:nvSpPr>
        <p:spPr>
          <a:xfrm>
            <a:off x="7726680" y="4187952"/>
            <a:ext cx="2697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检测到对比/分类信号，用矩阵压缩呈现，不新增外部判断。</a:t>
            </a:r>
            <a:endParaRPr lang="en-US" sz="760" dirty="0"/>
          </a:p>
        </p:txBody>
      </p:sp>
      <p:sp>
        <p:nvSpPr>
          <p:cNvPr id="40" name="Shape 38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核心研判</a:t>
            </a:r>
            <a:endParaRPr lang="en-US" sz="780" dirty="0"/>
          </a:p>
        </p:txBody>
      </p:sp>
      <p:sp>
        <p:nvSpPr>
          <p:cNvPr id="42" name="Text 40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若LG新能源顺利交付谷歌订单，则有望打开北美大型储能市场，带动国内磷酸铁锂材料出口，需关注该订单的交付周期及后续谷歌是否追加订单</a:t>
            </a:r>
            <a:endParaRPr lang="en-US" sz="10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DEEP DIVE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2026-07-16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14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价格/盈利压力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100584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条公开来源交叉验证｜事实、影响与后续研判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664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事实判断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487168" y="1645920"/>
            <a:ext cx="4315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锂电池板块冲高回落，储能电池ETF、电池ETF自5月高点回调20%，机构认为当前是布局良机；燃油车零部件业务盈利承压，威孚高科4.5亿元押注电池回收，显示传统企业转型压力。 [9][10]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2487168" y="243230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依据：[9][10]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658368" y="290779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1272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影响分析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7168" y="310896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锂电池板块回调（来源：手机网易网）反映市场对行业产能过剩和价格战的担忧，但机构观点认为回调后估值合理，是布局良机。威孚高科（来源：网易）从燃油车零部件转向电池回收，侧面印证传统燃油车产业链盈利恶化，而电池回收作为磷酸铁锂产业链的延伸环节，有望受益于退役电池规模增长。但当前碳酸锂价格仍处低位，磷酸铁锂材料企业盈利空间有限，需关注成本控制能力。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58368" y="437083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DDEBE0"/>
          </a:solidFill>
          <a:ln w="13970">
            <a:solidFill>
              <a:srgbClr val="1212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370832"/>
            <a:ext cx="109728" cy="12070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5902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后续研判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487168" y="457200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碳酸锂价格持续低位，则磷酸铁锂材料企业盈利承压，但下游电池厂和储能集成商成本降低，可能刺激需求放量，需跟踪碳酸锂库存及下游采购节奏；若电池回收业务盈利模式成熟，则威孚高科等新进入者可能加剧回收市场竞争，需关注回收技术路线及渠道壁垒。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7479792" y="1444752"/>
            <a:ext cx="3273552" cy="37307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1700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关键数据解读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772400" y="1993392"/>
            <a:ext cx="2560320" cy="1389888"/>
          </a:xfrm>
          <a:prstGeom prst="roundRect">
            <a:avLst>
              <a:gd name="adj" fmla="val 2632"/>
            </a:avLst>
          </a:prstGeom>
          <a:solidFill>
            <a:srgbClr val="F4FAF6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18704" y="210312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20%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8759952" y="216712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F电池ETF自5月高点回调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7918704" y="2578608"/>
            <a:ext cx="21762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公开信息：锂电池板块冲高回落，储能电池ETF、电池ETF自5月高点回调20%，机构认为当前是布局良机</a:t>
            </a:r>
            <a:endParaRPr lang="en-US" sz="840" dirty="0"/>
          </a:p>
        </p:txBody>
      </p:sp>
      <p:sp>
        <p:nvSpPr>
          <p:cNvPr id="28" name="Text 26"/>
          <p:cNvSpPr/>
          <p:nvPr/>
        </p:nvSpPr>
        <p:spPr>
          <a:xfrm>
            <a:off x="7772400" y="449884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阅读提示：仅按公开报道原文呈现；不同企业、时间和统计范围不可直接横向比较。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核心研判</a:t>
            </a:r>
            <a:endParaRPr lang="en-US" sz="780" dirty="0"/>
          </a:p>
        </p:txBody>
      </p:sp>
      <p:sp>
        <p:nvSpPr>
          <p:cNvPr id="31" name="Text 29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若碳酸锂价格持续低位，则磷酸铁锂材料企业盈利承压，但下游电池厂和储能集成商成本降低，可能刺激需求放量，需跟踪碳酸锂库存及下游采购节奏</a:t>
            </a:r>
            <a:endParaRPr lang="en-US" sz="10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DEEP DIVE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2026-07-16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14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政策/合规风险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100584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条公开来源交叉验证｜事实、影响与后续研判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664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事实判断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487168" y="1645920"/>
            <a:ext cx="4315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锂电池出口新规落地，外贸企业需重新校准合规标准；碳税料大选后落实，可能增加电池生产碳排放成本；印尼、印度等地政策风险上升，中国磷酸铁锂企业海外布局需谨慎。 [3][11][12][13]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2487168" y="243230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依据：[3][11][12][13]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658368" y="290779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1272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影响分析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7168" y="310896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口新规（来源：新浪网）对锂电池标签、运输、安全测试等提出更高要求，短期内增加企业合规成本，但长期有利于淘汰不合规企业。碳税政策（来源：klsescreener）若落地，将增加磷酸铁锂生产过程中的碳排放成本，推动企业向绿色制造转型。印尼和印度相关新闻（来源：网易）显示地缘政治风险上升，中国企业在海外建厂或出口时需评估政策不确定性。这些政策信号共同指向：合规成本上升，但行业门槛提高有利于龙头企业。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58368" y="437083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DDEBE0"/>
          </a:solidFill>
          <a:ln w="13970">
            <a:solidFill>
              <a:srgbClr val="1212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370832"/>
            <a:ext cx="109728" cy="12070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5902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后续研判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487168" y="457200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出口新规在主要贸易伙伴国同步实施，则中小型磷酸铁锂出口企业可能面临订单流失风险，需关注企业合规认证进度及客户反馈；若碳税落地，则拥有绿电或碳捕集技术的企业将获得成本优势，需跟踪碳税税率及企业碳排放数据。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7479792" y="1444752"/>
            <a:ext cx="3273552" cy="37307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1700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合规风险金字塔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503920" y="1975104"/>
            <a:ext cx="1097280" cy="512064"/>
          </a:xfrm>
          <a:prstGeom prst="trapezoid">
            <a:avLst/>
          </a:prstGeom>
          <a:solidFill>
            <a:srgbClr val="B85A4A"/>
          </a:solidFill>
          <a:ln w="8890">
            <a:solidFill>
              <a:srgbClr val="48705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95360" y="2066544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监管红线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808976" y="2496312"/>
            <a:ext cx="2514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锂电池出口新规落地，外贸企业需重新</a:t>
            </a:r>
            <a:endParaRPr lang="en-US" sz="660" dirty="0"/>
          </a:p>
        </p:txBody>
      </p:sp>
      <p:sp>
        <p:nvSpPr>
          <p:cNvPr id="27" name="Shape 25"/>
          <p:cNvSpPr/>
          <p:nvPr/>
        </p:nvSpPr>
        <p:spPr>
          <a:xfrm>
            <a:off x="8183880" y="2615184"/>
            <a:ext cx="1737360" cy="512064"/>
          </a:xfrm>
          <a:prstGeom prst="trapezoid">
            <a:avLst/>
          </a:prstGeom>
          <a:solidFill>
            <a:srgbClr val="DDEBE0"/>
          </a:solidFill>
          <a:ln w="8890">
            <a:solidFill>
              <a:srgbClr val="48705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75320" y="2706624"/>
            <a:ext cx="1554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合规动作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7808976" y="3136392"/>
            <a:ext cx="2514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碳税料大选后落实，可能增加电池生产</a:t>
            </a:r>
            <a:endParaRPr lang="en-US" sz="660" dirty="0"/>
          </a:p>
        </p:txBody>
      </p:sp>
      <p:sp>
        <p:nvSpPr>
          <p:cNvPr id="30" name="Shape 28"/>
          <p:cNvSpPr/>
          <p:nvPr/>
        </p:nvSpPr>
        <p:spPr>
          <a:xfrm>
            <a:off x="7863840" y="3255264"/>
            <a:ext cx="2377440" cy="512064"/>
          </a:xfrm>
          <a:prstGeom prst="trapezoid">
            <a:avLst/>
          </a:prstGeom>
          <a:solidFill>
            <a:srgbClr val="F4FAF6"/>
          </a:solidFill>
          <a:ln w="8890">
            <a:solidFill>
              <a:srgbClr val="48705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955280" y="3346704"/>
            <a:ext cx="21945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经营影响/观察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7808976" y="3776472"/>
            <a:ext cx="2514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印尼、印度等地政策风险上升，中国磷</a:t>
            </a:r>
            <a:endParaRPr lang="en-US" sz="660" dirty="0"/>
          </a:p>
        </p:txBody>
      </p:sp>
      <p:sp>
        <p:nvSpPr>
          <p:cNvPr id="33" name="Shape 31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核心研判</a:t>
            </a:r>
            <a:endParaRPr lang="en-US" sz="780" dirty="0"/>
          </a:p>
        </p:txBody>
      </p:sp>
      <p:sp>
        <p:nvSpPr>
          <p:cNvPr id="35" name="Text 33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若出口新规在主要贸易伙伴国同步实施，则中小型磷酸铁锂出口企业可能面临订单流失风险，需关注企业合规认证进度及客户反馈</a:t>
            </a:r>
            <a:endParaRPr lang="en-US" sz="10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DEEP DIVE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2026-07-16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14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竞品观察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100584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条公开来源交叉验证｜事实、影响与后续研判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664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事实判断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487168" y="1645920"/>
            <a:ext cx="4315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燃料电池汽车销量暴跌78.9%，磷酸铁锂在新能源商用车及储能领域竞争优势进一步凸显；鹏辉能源参选两轮车换电及轻型动力电池鲁班奖，显示磷酸铁锂在轻型动力市场渗透加速。 [4][14]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2487168" y="243230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依据：[4][14]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658368" y="290779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1272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影响分析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7168" y="310896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燃料电池汽车销量暴跌（来源：NE21）主要受制于成本高、加氢站不足，而磷酸铁锂电池在商用车（如重卡、物流车）领域凭借低成本和长寿命优势，正加速替代。鹏辉能源（来源：新浪网）参选两轮车换电奖项，表明磷酸铁锂正从电动汽车向两轮车、换电等轻型动力市场渗透，进一步扩大应用场景。这些竞品动态显示，磷酸铁锂在多个细分市场正挤压其他技术路线。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58368" y="437083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DDEBE0"/>
          </a:solidFill>
          <a:ln w="13970">
            <a:solidFill>
              <a:srgbClr val="1212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370832"/>
            <a:ext cx="109728" cy="12070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5902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后续研判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487168" y="457200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燃料电池汽车持续低迷，则磷酸铁锂在商用车领域的渗透率有望从当前约20%提升至30%以上，需跟踪商用车电动化率及燃料电池补贴政策变化；若鹏辉能源在两轮车换电市场取得突破，则可能带动磷酸铁锂小电池需求增长，需关注换电运营商订单及电池循环寿命表现。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7479792" y="1444752"/>
            <a:ext cx="3273552" cy="37307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1700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关键数据解读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772400" y="1993392"/>
            <a:ext cx="2560320" cy="786384"/>
          </a:xfrm>
          <a:prstGeom prst="roundRect">
            <a:avLst>
              <a:gd name="adj" fmla="val 4651"/>
            </a:avLst>
          </a:prstGeom>
          <a:solidFill>
            <a:srgbClr val="F4FAF6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18704" y="210312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78.9%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759952" y="216712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燃料电池汽车销量暴跌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7918704" y="2578608"/>
            <a:ext cx="2176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公开信息：燃料电池汽车销量暴跌78.9%，磷酸铁锂在新能源商用车及储</a:t>
            </a:r>
            <a:endParaRPr lang="en-US" sz="840" dirty="0"/>
          </a:p>
        </p:txBody>
      </p:sp>
      <p:sp>
        <p:nvSpPr>
          <p:cNvPr id="28" name="Shape 26"/>
          <p:cNvSpPr/>
          <p:nvPr/>
        </p:nvSpPr>
        <p:spPr>
          <a:xfrm>
            <a:off x="7772400" y="2926080"/>
            <a:ext cx="2560320" cy="786384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918704" y="303580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20%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759952" y="309981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提升至</a:t>
            </a:r>
            <a:endParaRPr lang="en-US" sz="820" dirty="0"/>
          </a:p>
        </p:txBody>
      </p:sp>
      <p:sp>
        <p:nvSpPr>
          <p:cNvPr id="31" name="Text 29"/>
          <p:cNvSpPr/>
          <p:nvPr/>
        </p:nvSpPr>
        <p:spPr>
          <a:xfrm>
            <a:off x="7918704" y="3511296"/>
            <a:ext cx="2176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公开信息：若燃料电池汽车持续低迷，则磷酸铁锂在商用车领域的渗透率有望</a:t>
            </a:r>
            <a:endParaRPr lang="en-US" sz="840" dirty="0"/>
          </a:p>
        </p:txBody>
      </p:sp>
      <p:sp>
        <p:nvSpPr>
          <p:cNvPr id="32" name="Shape 30"/>
          <p:cNvSpPr/>
          <p:nvPr/>
        </p:nvSpPr>
        <p:spPr>
          <a:xfrm>
            <a:off x="7772400" y="3858768"/>
            <a:ext cx="2560320" cy="786384"/>
          </a:xfrm>
          <a:prstGeom prst="roundRect">
            <a:avLst>
              <a:gd name="adj" fmla="val 4651"/>
            </a:avLst>
          </a:prstGeom>
          <a:solidFill>
            <a:srgbClr val="F4FAF6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918704" y="3968496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30%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759952" y="403250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以上</a:t>
            </a:r>
            <a:endParaRPr lang="en-US" sz="820" dirty="0"/>
          </a:p>
        </p:txBody>
      </p:sp>
      <p:sp>
        <p:nvSpPr>
          <p:cNvPr id="35" name="Text 33"/>
          <p:cNvSpPr/>
          <p:nvPr/>
        </p:nvSpPr>
        <p:spPr>
          <a:xfrm>
            <a:off x="7918704" y="4443984"/>
            <a:ext cx="2176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公开信息：若燃料电池汽车持续低迷，则磷酸铁锂在商用车领域的渗透率有望</a:t>
            </a:r>
            <a:endParaRPr lang="en-US" sz="840" dirty="0"/>
          </a:p>
        </p:txBody>
      </p:sp>
      <p:sp>
        <p:nvSpPr>
          <p:cNvPr id="36" name="Text 34"/>
          <p:cNvSpPr/>
          <p:nvPr/>
        </p:nvSpPr>
        <p:spPr>
          <a:xfrm>
            <a:off x="7772400" y="449884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阅读提示：仅按公开报道原文呈现；不同企业、时间和统计范围不可直接横向比较。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核心研判</a:t>
            </a:r>
            <a:endParaRPr lang="en-US" sz="780" dirty="0"/>
          </a:p>
        </p:txBody>
      </p:sp>
      <p:sp>
        <p:nvSpPr>
          <p:cNvPr id="39" name="Text 37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若燃料电池汽车持续低迷，则磷酸铁锂在商用车领域的渗透率有望从当前约20%提升至30%以上，需跟踪商用车电动化率及燃料电池补贴政策变化</a:t>
            </a:r>
            <a:endParaRPr lang="en-US" sz="10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DEEP DIVE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2026-07-16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14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风险/机会/观察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100584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条公开来源交叉验证｜事实、影响与后续研判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664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事实判断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487168" y="1645920"/>
            <a:ext cx="4315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：锂电池板块回调20%显示市场对产能过剩担忧；出口新规和碳税增加合规成本。机会：算力储能需求成为新变量；大容量储能电芯量产推动成本下降；电池回收市场兴起。观察：弗迪电池与上咨集团合作推进电池回收；威孚高科4.5亿元押注回收；买新能源车从“等降价”转向“看技术”，显示消费者认知转变。 [9][1][15][10][16]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2487168" y="243230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依据：[9][1][15][10][16]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658368" y="290779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1272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影响分析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7168" y="310896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板块回调（来源：手机网易网）是短期风险，但机构视为布局良机，需关注后续资金流向。算力储能（来源：新浪财经）和电池回收（来源：Solarbe、网易）是中长期机会，前者开辟新需求场景，后者完善产业链闭环。消费者购车观念转变（来源：新浪网）从价格导向转向技术导向，利好技术领先的磷酸铁锂企业。弗迪电池与上咨集团合作（来源：Solarbe）表明头部企业正提前布局回收渠道，威孚高科转型（来源：网易）则显示传统企业看好回收前景。这些信号共同指向：行业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58368" y="437083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DDEBE0"/>
          </a:solidFill>
          <a:ln w="13970">
            <a:solidFill>
              <a:srgbClr val="1212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370832"/>
            <a:ext cx="109728" cy="12070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5902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后续研判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487168" y="457200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算力储能需求落地，则磷酸铁锂在数据中心备用电源市场的渗透率将快速提升，需跟踪科技巨头储能招标规模及锂盐价格联动；若电池回收政策进一步明确，则回收企业盈利模式将清晰化，吸引更多资本进入，需关注回收技术路线及渠道壁垒。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7479792" y="1444752"/>
            <a:ext cx="3273552" cy="37307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1700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关键数据解读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772400" y="1993392"/>
            <a:ext cx="2560320" cy="1389888"/>
          </a:xfrm>
          <a:prstGeom prst="roundRect">
            <a:avLst>
              <a:gd name="adj" fmla="val 2632"/>
            </a:avLst>
          </a:prstGeom>
          <a:solidFill>
            <a:srgbClr val="F4FAF6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18704" y="210312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20%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8759952" y="216712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显示市场对产能过剩担忧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7918704" y="2578608"/>
            <a:ext cx="21762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公开信息：风险：锂电池板块回调20%显示市场对产能过剩担忧</a:t>
            </a:r>
            <a:endParaRPr lang="en-US" sz="840" dirty="0"/>
          </a:p>
        </p:txBody>
      </p:sp>
      <p:sp>
        <p:nvSpPr>
          <p:cNvPr id="28" name="Text 26"/>
          <p:cNvSpPr/>
          <p:nvPr/>
        </p:nvSpPr>
        <p:spPr>
          <a:xfrm>
            <a:off x="7772400" y="449884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阅读提示：仅按公开报道原文呈现；不同企业、时间和统计范围不可直接横向比较。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核心研判</a:t>
            </a:r>
            <a:endParaRPr lang="en-US" sz="780" dirty="0"/>
          </a:p>
        </p:txBody>
      </p:sp>
      <p:sp>
        <p:nvSpPr>
          <p:cNvPr id="31" name="Text 29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若算力储能需求落地，则磷酸铁锂在数据中心备用电源市场的渗透率将快速提升，需跟踪科技巨头储能招标规模及锂盐价格联动</a:t>
            </a:r>
            <a:endParaRPr lang="en-US" sz="10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INDEX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2026-07-16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1143000" y="93268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来源索引与可追溯性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58368" y="1444752"/>
            <a:ext cx="566928" cy="310896"/>
          </a:xfrm>
          <a:prstGeom prst="rect">
            <a:avLst/>
          </a:prstGeom>
          <a:solidFill>
            <a:srgbClr val="121212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536192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编号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1225296" y="1444752"/>
            <a:ext cx="1234440" cy="310896"/>
          </a:xfrm>
          <a:prstGeom prst="rect">
            <a:avLst/>
          </a:prstGeom>
          <a:solidFill>
            <a:srgbClr val="DDEBE0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98448" y="1536192"/>
            <a:ext cx="10881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2459736" y="1444752"/>
            <a:ext cx="3977640" cy="310896"/>
          </a:xfrm>
          <a:prstGeom prst="rect">
            <a:avLst/>
          </a:prstGeom>
          <a:solidFill>
            <a:srgbClr val="DDEBE0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32888" y="1536192"/>
            <a:ext cx="38313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标题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6437376" y="1444752"/>
            <a:ext cx="4645152" cy="310896"/>
          </a:xfrm>
          <a:prstGeom prst="rect">
            <a:avLst/>
          </a:prstGeom>
          <a:solidFill>
            <a:srgbClr val="DDEBE0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10528" y="1536192"/>
            <a:ext cx="44988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链接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658368" y="1755648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182880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[1]</a:t>
            </a:r>
            <a:endParaRPr lang="en-US" sz="680" dirty="0"/>
          </a:p>
        </p:txBody>
      </p:sp>
      <p:sp>
        <p:nvSpPr>
          <p:cNvPr id="20" name="Text 18"/>
          <p:cNvSpPr/>
          <p:nvPr/>
        </p:nvSpPr>
        <p:spPr>
          <a:xfrm>
            <a:off x="1261872" y="182880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21" name="Text 19"/>
          <p:cNvSpPr/>
          <p:nvPr/>
        </p:nvSpPr>
        <p:spPr>
          <a:xfrm>
            <a:off x="2487168" y="1828800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算力储能需求成为锂价新变量</a:t>
            </a:r>
            <a:endParaRPr lang="en-US" sz="680" dirty="0"/>
          </a:p>
        </p:txBody>
      </p:sp>
      <p:sp>
        <p:nvSpPr>
          <p:cNvPr id="22" name="Text 20"/>
          <p:cNvSpPr/>
          <p:nvPr/>
        </p:nvSpPr>
        <p:spPr>
          <a:xfrm>
            <a:off x="6510528" y="1828800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https://finance.sina.cn/2026-07-16/detail-inihxxkn4472281.d.html?vt=4&amp;cid=76524&amp;node_id=76524</a:t>
            </a:r>
            <a:endParaRPr lang="en-US" sz="580" dirty="0"/>
          </a:p>
        </p:txBody>
      </p:sp>
      <p:sp>
        <p:nvSpPr>
          <p:cNvPr id="23" name="Shape 21"/>
          <p:cNvSpPr/>
          <p:nvPr/>
        </p:nvSpPr>
        <p:spPr>
          <a:xfrm>
            <a:off x="658368" y="2066544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808" y="2139696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[2]</a:t>
            </a:r>
            <a:endParaRPr lang="en-US" sz="680" dirty="0"/>
          </a:p>
        </p:txBody>
      </p:sp>
      <p:sp>
        <p:nvSpPr>
          <p:cNvPr id="25" name="Text 23"/>
          <p:cNvSpPr/>
          <p:nvPr/>
        </p:nvSpPr>
        <p:spPr>
          <a:xfrm>
            <a:off x="1261872" y="213969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26" name="Text 24"/>
          <p:cNvSpPr/>
          <p:nvPr/>
        </p:nvSpPr>
        <p:spPr>
          <a:xfrm>
            <a:off x="2487168" y="2139696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行业最大方壳卷绕储能电芯在湖北宜昌量产 - 中国科技网</a:t>
            </a:r>
            <a:endParaRPr lang="en-US" sz="680" dirty="0"/>
          </a:p>
        </p:txBody>
      </p:sp>
      <p:sp>
        <p:nvSpPr>
          <p:cNvPr id="27" name="Text 25"/>
          <p:cNvSpPr/>
          <p:nvPr/>
        </p:nvSpPr>
        <p:spPr>
          <a:xfrm>
            <a:off x="6510528" y="2139696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https://news.google.com/rss/articles/CBMicEFVX3lxTE1VNlU5dE9QbDJUY3ppLXVJaXk5aWE3RjNUQ2w1VEZUWE9Gc0hmOGw0MFdHWXFyWU9ZZHhCNm15dVpZd0pVS0ZNdUotZHRURmpHazEtVnVDbVFqR3B4OWcxTE1ua05sZUkxYUdaVmNwdmM?oc=5</a:t>
            </a:r>
            <a:endParaRPr lang="en-US" sz="580" dirty="0"/>
          </a:p>
        </p:txBody>
      </p:sp>
      <p:sp>
        <p:nvSpPr>
          <p:cNvPr id="28" name="Shape 26"/>
          <p:cNvSpPr/>
          <p:nvPr/>
        </p:nvSpPr>
        <p:spPr>
          <a:xfrm>
            <a:off x="658368" y="2377440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" y="2450592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[3]</a:t>
            </a:r>
            <a:endParaRPr lang="en-US" sz="680" dirty="0"/>
          </a:p>
        </p:txBody>
      </p:sp>
      <p:sp>
        <p:nvSpPr>
          <p:cNvPr id="30" name="Text 28"/>
          <p:cNvSpPr/>
          <p:nvPr/>
        </p:nvSpPr>
        <p:spPr>
          <a:xfrm>
            <a:off x="1261872" y="2450592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31" name="Text 29"/>
          <p:cNvSpPr/>
          <p:nvPr/>
        </p:nvSpPr>
        <p:spPr>
          <a:xfrm>
            <a:off x="2487168" y="2450592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锂电池出口必看 ！新规落地，外贸人必须重新校准合规标准</a:t>
            </a:r>
            <a:endParaRPr lang="en-US" sz="680" dirty="0"/>
          </a:p>
        </p:txBody>
      </p:sp>
      <p:sp>
        <p:nvSpPr>
          <p:cNvPr id="32" name="Text 30"/>
          <p:cNvSpPr/>
          <p:nvPr/>
        </p:nvSpPr>
        <p:spPr>
          <a:xfrm>
            <a:off x="6510528" y="2450592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https://k.sina.com.cn/article_5953466437_162dab0450670b13s8.html</a:t>
            </a:r>
            <a:endParaRPr lang="en-US" sz="580" dirty="0"/>
          </a:p>
        </p:txBody>
      </p:sp>
      <p:sp>
        <p:nvSpPr>
          <p:cNvPr id="33" name="Shape 31"/>
          <p:cNvSpPr/>
          <p:nvPr/>
        </p:nvSpPr>
        <p:spPr>
          <a:xfrm>
            <a:off x="658368" y="2688336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" y="2761488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[4]</a:t>
            </a:r>
            <a:endParaRPr lang="en-US" sz="680" dirty="0"/>
          </a:p>
        </p:txBody>
      </p:sp>
      <p:sp>
        <p:nvSpPr>
          <p:cNvPr id="35" name="Text 33"/>
          <p:cNvSpPr/>
          <p:nvPr/>
        </p:nvSpPr>
        <p:spPr>
          <a:xfrm>
            <a:off x="1261872" y="2761488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36" name="Text 34"/>
          <p:cNvSpPr/>
          <p:nvPr/>
        </p:nvSpPr>
        <p:spPr>
          <a:xfrm>
            <a:off x="2487168" y="2761488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腰斩、滞销、库存积压，燃料电池汽车销量暴跌78.9%！</a:t>
            </a:r>
            <a:endParaRPr lang="en-US" sz="680" dirty="0"/>
          </a:p>
        </p:txBody>
      </p:sp>
      <p:sp>
        <p:nvSpPr>
          <p:cNvPr id="37" name="Text 35"/>
          <p:cNvSpPr/>
          <p:nvPr/>
        </p:nvSpPr>
        <p:spPr>
          <a:xfrm>
            <a:off x="6510528" y="2761488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https://www.ne21.com/news/show-229044.html</a:t>
            </a:r>
            <a:endParaRPr lang="en-US" sz="580" dirty="0"/>
          </a:p>
        </p:txBody>
      </p:sp>
      <p:sp>
        <p:nvSpPr>
          <p:cNvPr id="38" name="Shape 36"/>
          <p:cNvSpPr/>
          <p:nvPr/>
        </p:nvSpPr>
        <p:spPr>
          <a:xfrm>
            <a:off x="658368" y="2999232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9808" y="3072384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[5]</a:t>
            </a:r>
            <a:endParaRPr lang="en-US" sz="680" dirty="0"/>
          </a:p>
        </p:txBody>
      </p:sp>
      <p:sp>
        <p:nvSpPr>
          <p:cNvPr id="40" name="Text 38"/>
          <p:cNvSpPr/>
          <p:nvPr/>
        </p:nvSpPr>
        <p:spPr>
          <a:xfrm>
            <a:off x="1261872" y="3072384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41" name="Text 39"/>
          <p:cNvSpPr/>
          <p:nvPr/>
        </p:nvSpPr>
        <p:spPr>
          <a:xfrm>
            <a:off x="2487168" y="3072384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手机锂电池快充技术底层解析：电芯、电荷泵与行业标定标准科普 - 手机网</a:t>
            </a:r>
            <a:endParaRPr lang="en-US" sz="680" dirty="0"/>
          </a:p>
        </p:txBody>
      </p:sp>
      <p:sp>
        <p:nvSpPr>
          <p:cNvPr id="42" name="Text 40"/>
          <p:cNvSpPr/>
          <p:nvPr/>
        </p:nvSpPr>
        <p:spPr>
          <a:xfrm>
            <a:off x="6510528" y="3072384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https://news.google.com/rss/articles/CBMiYkFVX3lxTE93TGtJa2JxNXpXbEtrQ193cUJjRHBGYVViSzdvSXFySmJVY18ta09tY0JQajdBWVlzOWZmRTBiNkxQbWszUEtVZXg0UFg1aklfNzU5dzdwUEJ6Zk4ybFZESUx3?oc=5</a:t>
            </a:r>
            <a:endParaRPr lang="en-US" sz="580" dirty="0"/>
          </a:p>
        </p:txBody>
      </p:sp>
      <p:sp>
        <p:nvSpPr>
          <p:cNvPr id="43" name="Shape 41"/>
          <p:cNvSpPr/>
          <p:nvPr/>
        </p:nvSpPr>
        <p:spPr>
          <a:xfrm>
            <a:off x="658368" y="3310128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9808" y="338328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[6]</a:t>
            </a:r>
            <a:endParaRPr lang="en-US" sz="680" dirty="0"/>
          </a:p>
        </p:txBody>
      </p:sp>
      <p:sp>
        <p:nvSpPr>
          <p:cNvPr id="45" name="Text 43"/>
          <p:cNvSpPr/>
          <p:nvPr/>
        </p:nvSpPr>
        <p:spPr>
          <a:xfrm>
            <a:off x="1261872" y="338328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46" name="Text 44"/>
          <p:cNvSpPr/>
          <p:nvPr/>
        </p:nvSpPr>
        <p:spPr>
          <a:xfrm>
            <a:off x="2487168" y="3383280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LG新能源获谷歌最大光储项目电池订单 价值数千亿韩元</a:t>
            </a:r>
            <a:endParaRPr lang="en-US" sz="680" dirty="0"/>
          </a:p>
        </p:txBody>
      </p:sp>
      <p:sp>
        <p:nvSpPr>
          <p:cNvPr id="47" name="Text 45"/>
          <p:cNvSpPr/>
          <p:nvPr/>
        </p:nvSpPr>
        <p:spPr>
          <a:xfrm>
            <a:off x="6510528" y="3383280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https://www.guandian.cn/article/20260715/573685.html</a:t>
            </a:r>
            <a:endParaRPr lang="en-US" sz="580" dirty="0"/>
          </a:p>
        </p:txBody>
      </p:sp>
      <p:sp>
        <p:nvSpPr>
          <p:cNvPr id="48" name="Shape 46"/>
          <p:cNvSpPr/>
          <p:nvPr/>
        </p:nvSpPr>
        <p:spPr>
          <a:xfrm>
            <a:off x="658368" y="3621024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49808" y="3694176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[7]</a:t>
            </a:r>
            <a:endParaRPr lang="en-US" sz="680" dirty="0"/>
          </a:p>
        </p:txBody>
      </p:sp>
      <p:sp>
        <p:nvSpPr>
          <p:cNvPr id="50" name="Text 48"/>
          <p:cNvSpPr/>
          <p:nvPr/>
        </p:nvSpPr>
        <p:spPr>
          <a:xfrm>
            <a:off x="1261872" y="369417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51" name="Text 49"/>
          <p:cNvSpPr/>
          <p:nvPr/>
        </p:nvSpPr>
        <p:spPr>
          <a:xfrm>
            <a:off x="2487168" y="3694176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比亚迪斩获五项国奖，动力电池与电机供应链国产替代再提速 - 网通社</a:t>
            </a:r>
            <a:endParaRPr lang="en-US" sz="680" dirty="0"/>
          </a:p>
        </p:txBody>
      </p:sp>
      <p:sp>
        <p:nvSpPr>
          <p:cNvPr id="52" name="Text 50"/>
          <p:cNvSpPr/>
          <p:nvPr/>
        </p:nvSpPr>
        <p:spPr>
          <a:xfrm>
            <a:off x="6510528" y="3694176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https://news.google.com/rss/articles/CBMiW0FVX3lxTFBQYzhreFZGN2Vlem9MSDRuODZpM21uSy1EczNTMF94Q2NGTno0elEwUDNpVjlLOUtkLVZEYW10cXRkdmxfZE4xUjhhMmZpU0Y1azRmN05DVnJ3azA?oc=5</a:t>
            </a:r>
            <a:endParaRPr lang="en-US" sz="580" dirty="0"/>
          </a:p>
        </p:txBody>
      </p:sp>
      <p:sp>
        <p:nvSpPr>
          <p:cNvPr id="53" name="Shape 51"/>
          <p:cNvSpPr/>
          <p:nvPr/>
        </p:nvSpPr>
        <p:spPr>
          <a:xfrm>
            <a:off x="658368" y="3931920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49808" y="4005072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[8]</a:t>
            </a:r>
            <a:endParaRPr lang="en-US" sz="680" dirty="0"/>
          </a:p>
        </p:txBody>
      </p:sp>
      <p:sp>
        <p:nvSpPr>
          <p:cNvPr id="55" name="Text 53"/>
          <p:cNvSpPr/>
          <p:nvPr/>
        </p:nvSpPr>
        <p:spPr>
          <a:xfrm>
            <a:off x="1261872" y="4005072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56" name="Text 54"/>
          <p:cNvSpPr/>
          <p:nvPr/>
        </p:nvSpPr>
        <p:spPr>
          <a:xfrm>
            <a:off x="2487168" y="4005072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蔚来下一代动力电池研发基地落地上海嘉定 预计下半年施工 - 太平洋汽车</a:t>
            </a:r>
            <a:endParaRPr lang="en-US" sz="680" dirty="0"/>
          </a:p>
        </p:txBody>
      </p:sp>
      <p:sp>
        <p:nvSpPr>
          <p:cNvPr id="57" name="Text 55"/>
          <p:cNvSpPr/>
          <p:nvPr/>
        </p:nvSpPr>
        <p:spPr>
          <a:xfrm>
            <a:off x="6510528" y="4005072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https://news.google.com/rss/articles/CBMiXkFVX3lxTE9jWmtPNWVKM0lDNVBKaThycVFLUm82Q3NEYXZ1Z2pvc3AxNUg4aThneWNEV1VyX3lvQnBQRkxrUGs4a2huSXdvelphWnBxNjBWX096N0R1U20xWTBXUXc?oc=5</a:t>
            </a:r>
            <a:endParaRPr lang="en-US" sz="580" dirty="0"/>
          </a:p>
        </p:txBody>
      </p:sp>
      <p:sp>
        <p:nvSpPr>
          <p:cNvPr id="58" name="Shape 56"/>
          <p:cNvSpPr/>
          <p:nvPr/>
        </p:nvSpPr>
        <p:spPr>
          <a:xfrm>
            <a:off x="658368" y="4242816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49808" y="4315968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[9]</a:t>
            </a:r>
            <a:endParaRPr lang="en-US" sz="680" dirty="0"/>
          </a:p>
        </p:txBody>
      </p:sp>
      <p:sp>
        <p:nvSpPr>
          <p:cNvPr id="60" name="Text 58"/>
          <p:cNvSpPr/>
          <p:nvPr/>
        </p:nvSpPr>
        <p:spPr>
          <a:xfrm>
            <a:off x="1261872" y="4315968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61" name="Text 59"/>
          <p:cNvSpPr/>
          <p:nvPr/>
        </p:nvSpPr>
        <p:spPr>
          <a:xfrm>
            <a:off x="2487168" y="4315968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锂电池板块冲高回落，储能电池ETF、电池ETF自5月高点回调20%，机</a:t>
            </a:r>
            <a:endParaRPr lang="en-US" sz="680" dirty="0"/>
          </a:p>
        </p:txBody>
      </p:sp>
      <p:sp>
        <p:nvSpPr>
          <p:cNvPr id="62" name="Text 60"/>
          <p:cNvSpPr/>
          <p:nvPr/>
        </p:nvSpPr>
        <p:spPr>
          <a:xfrm>
            <a:off x="6510528" y="4315968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https://news.google.com/rss/articles/CBMiYkFVX3lxTE1WQmYteUN2WXBhM29pbkNYd250SXk5MXdZc01TMjRKXzg4MVdENGFTM2o0Qjl1Ti1fM1lhTjkwUmpmaFpqOEpMRENwQkI0LVZXV3ZuSXpQcDMySDNCLXBieFZn?oc=5</a:t>
            </a:r>
            <a:endParaRPr lang="en-US" sz="580" dirty="0"/>
          </a:p>
        </p:txBody>
      </p:sp>
      <p:sp>
        <p:nvSpPr>
          <p:cNvPr id="63" name="Shape 61"/>
          <p:cNvSpPr/>
          <p:nvPr/>
        </p:nvSpPr>
        <p:spPr>
          <a:xfrm>
            <a:off x="658368" y="4553712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49808" y="4626864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[10]</a:t>
            </a:r>
            <a:endParaRPr lang="en-US" sz="680" dirty="0"/>
          </a:p>
        </p:txBody>
      </p:sp>
      <p:sp>
        <p:nvSpPr>
          <p:cNvPr id="65" name="Text 63"/>
          <p:cNvSpPr/>
          <p:nvPr/>
        </p:nvSpPr>
        <p:spPr>
          <a:xfrm>
            <a:off x="1261872" y="4626864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66" name="Text 64"/>
          <p:cNvSpPr/>
          <p:nvPr/>
        </p:nvSpPr>
        <p:spPr>
          <a:xfrm>
            <a:off x="2487168" y="4626864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燃油车零部件业务盈利承压，威孚高科4.5亿元押注电池回收</a:t>
            </a:r>
            <a:endParaRPr lang="en-US" sz="680" dirty="0"/>
          </a:p>
        </p:txBody>
      </p:sp>
      <p:sp>
        <p:nvSpPr>
          <p:cNvPr id="67" name="Text 65"/>
          <p:cNvSpPr/>
          <p:nvPr/>
        </p:nvSpPr>
        <p:spPr>
          <a:xfrm>
            <a:off x="6510528" y="4626864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https://www.163.com/dy/article/L1TPGI8Q05199DKK.html</a:t>
            </a:r>
            <a:endParaRPr lang="en-US" sz="580" dirty="0"/>
          </a:p>
        </p:txBody>
      </p:sp>
      <p:sp>
        <p:nvSpPr>
          <p:cNvPr id="68" name="Shape 66"/>
          <p:cNvSpPr/>
          <p:nvPr/>
        </p:nvSpPr>
        <p:spPr>
          <a:xfrm>
            <a:off x="658368" y="4864608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49808" y="493776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[11]</a:t>
            </a:r>
            <a:endParaRPr lang="en-US" sz="680" dirty="0"/>
          </a:p>
        </p:txBody>
      </p:sp>
      <p:sp>
        <p:nvSpPr>
          <p:cNvPr id="70" name="Text 68"/>
          <p:cNvSpPr/>
          <p:nvPr/>
        </p:nvSpPr>
        <p:spPr>
          <a:xfrm>
            <a:off x="1261872" y="493776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71" name="Text 69"/>
          <p:cNvSpPr/>
          <p:nvPr/>
        </p:nvSpPr>
        <p:spPr>
          <a:xfrm>
            <a:off x="2487168" y="4937760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减企业负担稳经济 碳税料大选后落实</a:t>
            </a:r>
            <a:endParaRPr lang="en-US" sz="680" dirty="0"/>
          </a:p>
        </p:txBody>
      </p:sp>
      <p:sp>
        <p:nvSpPr>
          <p:cNvPr id="72" name="Text 70"/>
          <p:cNvSpPr/>
          <p:nvPr/>
        </p:nvSpPr>
        <p:spPr>
          <a:xfrm>
            <a:off x="6510528" y="4937760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https://www.klsescreener.com/v2/news/view/1755937/%E5%87%8F%E4%BC%81%E4%B8%9A%E8%B4%9F%E6%8B%85%E7%A8%B3%E7%BB%8F%E6%B5%8E_%E7%A2%B3%E7%A8%8E%E6%96%99%E5%A4%A7%E9%80%89%E5%90%8E%E8%90%BD%E5%AE%9E</a:t>
            </a:r>
            <a:endParaRPr lang="en-US" sz="580" dirty="0"/>
          </a:p>
        </p:txBody>
      </p:sp>
      <p:sp>
        <p:nvSpPr>
          <p:cNvPr id="73" name="Shape 71"/>
          <p:cNvSpPr/>
          <p:nvPr/>
        </p:nvSpPr>
        <p:spPr>
          <a:xfrm>
            <a:off x="658368" y="5175504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49808" y="5248656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[12]</a:t>
            </a:r>
            <a:endParaRPr lang="en-US" sz="680" dirty="0"/>
          </a:p>
        </p:txBody>
      </p:sp>
      <p:sp>
        <p:nvSpPr>
          <p:cNvPr id="75" name="Text 73"/>
          <p:cNvSpPr/>
          <p:nvPr/>
        </p:nvSpPr>
        <p:spPr>
          <a:xfrm>
            <a:off x="1261872" y="524865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76" name="Text 74"/>
          <p:cNvSpPr/>
          <p:nvPr/>
        </p:nvSpPr>
        <p:spPr>
          <a:xfrm>
            <a:off x="2487168" y="5248656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短短三天，印尼收2噩耗，没想到，中方退场后，莫迪又承认一件事</a:t>
            </a:r>
            <a:endParaRPr lang="en-US" sz="680" dirty="0"/>
          </a:p>
        </p:txBody>
      </p:sp>
      <p:sp>
        <p:nvSpPr>
          <p:cNvPr id="77" name="Text 75"/>
          <p:cNvSpPr/>
          <p:nvPr/>
        </p:nvSpPr>
        <p:spPr>
          <a:xfrm>
            <a:off x="6510528" y="5248656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https://www.163.com/dy/article/L1U99L4P0556C68Z.html</a:t>
            </a:r>
            <a:endParaRPr lang="en-US" sz="580" dirty="0"/>
          </a:p>
        </p:txBody>
      </p:sp>
      <p:sp>
        <p:nvSpPr>
          <p:cNvPr id="78" name="Shape 76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引用规则</a:t>
            </a:r>
            <a:endParaRPr lang="en-US" sz="780" dirty="0"/>
          </a:p>
        </p:txBody>
      </p:sp>
      <p:sp>
        <p:nvSpPr>
          <p:cNvPr id="80" name="Text 78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正文引用编号与本页来源一一对应，未进入正文的公开来源保留在 JSON 审计记录中。</a:t>
            </a:r>
            <a:endParaRPr lang="en-US" sz="10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INDEX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2026-07-16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1143000" y="93268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来源索引与可追溯性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58368" y="1444752"/>
            <a:ext cx="566928" cy="310896"/>
          </a:xfrm>
          <a:prstGeom prst="rect">
            <a:avLst/>
          </a:prstGeom>
          <a:solidFill>
            <a:srgbClr val="121212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536192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编号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1225296" y="1444752"/>
            <a:ext cx="1234440" cy="310896"/>
          </a:xfrm>
          <a:prstGeom prst="rect">
            <a:avLst/>
          </a:prstGeom>
          <a:solidFill>
            <a:srgbClr val="DDEBE0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98448" y="1536192"/>
            <a:ext cx="10881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2459736" y="1444752"/>
            <a:ext cx="3977640" cy="310896"/>
          </a:xfrm>
          <a:prstGeom prst="rect">
            <a:avLst/>
          </a:prstGeom>
          <a:solidFill>
            <a:srgbClr val="DDEBE0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32888" y="1536192"/>
            <a:ext cx="38313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标题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6437376" y="1444752"/>
            <a:ext cx="4645152" cy="310896"/>
          </a:xfrm>
          <a:prstGeom prst="rect">
            <a:avLst/>
          </a:prstGeom>
          <a:solidFill>
            <a:srgbClr val="DDEBE0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10528" y="1536192"/>
            <a:ext cx="44988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链接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658368" y="1755648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182880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[13]</a:t>
            </a:r>
            <a:endParaRPr lang="en-US" sz="680" dirty="0"/>
          </a:p>
        </p:txBody>
      </p:sp>
      <p:sp>
        <p:nvSpPr>
          <p:cNvPr id="20" name="Text 18"/>
          <p:cNvSpPr/>
          <p:nvPr/>
        </p:nvSpPr>
        <p:spPr>
          <a:xfrm>
            <a:off x="1261872" y="182880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21" name="Text 19"/>
          <p:cNvSpPr/>
          <p:nvPr/>
        </p:nvSpPr>
        <p:spPr>
          <a:xfrm>
            <a:off x="2487168" y="1828800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把中国公司赶走再霸占技术，印度坑中国的招，特朗普现在全学会了</a:t>
            </a:r>
            <a:endParaRPr lang="en-US" sz="680" dirty="0"/>
          </a:p>
        </p:txBody>
      </p:sp>
      <p:sp>
        <p:nvSpPr>
          <p:cNvPr id="22" name="Text 20"/>
          <p:cNvSpPr/>
          <p:nvPr/>
        </p:nvSpPr>
        <p:spPr>
          <a:xfrm>
            <a:off x="6510528" y="1828800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https://www.163.com/dy/article/L1U1OPNB0556BPM4.html</a:t>
            </a:r>
            <a:endParaRPr lang="en-US" sz="580" dirty="0"/>
          </a:p>
        </p:txBody>
      </p:sp>
      <p:sp>
        <p:nvSpPr>
          <p:cNvPr id="23" name="Shape 21"/>
          <p:cNvSpPr/>
          <p:nvPr/>
        </p:nvSpPr>
        <p:spPr>
          <a:xfrm>
            <a:off x="658368" y="2066544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808" y="2139696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[14]</a:t>
            </a:r>
            <a:endParaRPr lang="en-US" sz="680" dirty="0"/>
          </a:p>
        </p:txBody>
      </p:sp>
      <p:sp>
        <p:nvSpPr>
          <p:cNvPr id="25" name="Text 23"/>
          <p:cNvSpPr/>
          <p:nvPr/>
        </p:nvSpPr>
        <p:spPr>
          <a:xfrm>
            <a:off x="1261872" y="213969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26" name="Text 24"/>
          <p:cNvSpPr/>
          <p:nvPr/>
        </p:nvSpPr>
        <p:spPr>
          <a:xfrm>
            <a:off x="2487168" y="2139696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鹏辉能源 参选2026中国两轮车换电及轻型动力电池鲁班奖！ - 新浪网</a:t>
            </a:r>
            <a:endParaRPr lang="en-US" sz="680" dirty="0"/>
          </a:p>
        </p:txBody>
      </p:sp>
      <p:sp>
        <p:nvSpPr>
          <p:cNvPr id="27" name="Text 25"/>
          <p:cNvSpPr/>
          <p:nvPr/>
        </p:nvSpPr>
        <p:spPr>
          <a:xfrm>
            <a:off x="6510528" y="2139696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news.google.com/rss/articles/CBMi2wFBVV95cUxQMWpiS2NId0k1TU9xRzJvR2stN2xtaUZlZXRBMnNFUVAtUmg4OWZ2QWRMejN0SmJVRHRuTDdKZW44dGNwRlJYZUIzOWs2QUt5WUpjZnlXTElOWkRWUnMyTUkxRmt3aGNkdEtOc3lrLWQ0WWNMenVXSTR0QmJycU5BX3k3Z1hlbm9qVW1Kb1NLM3B4cTZzLTJiMHNGOFdfeTJYY1JUTFJTLThfak5NZlFkUzlUMHdKQXA1bzUyc0dxVWplel9YRGhCWllONms3eURUQ29USjAzOG5NWm8?oc=5</a:t>
            </a:r>
            <a:endParaRPr lang="en-US" sz="580" dirty="0"/>
          </a:p>
        </p:txBody>
      </p:sp>
      <p:sp>
        <p:nvSpPr>
          <p:cNvPr id="28" name="Shape 26"/>
          <p:cNvSpPr/>
          <p:nvPr/>
        </p:nvSpPr>
        <p:spPr>
          <a:xfrm>
            <a:off x="658368" y="2377440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" y="2450592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[15]</a:t>
            </a:r>
            <a:endParaRPr lang="en-US" sz="680" dirty="0"/>
          </a:p>
        </p:txBody>
      </p:sp>
      <p:sp>
        <p:nvSpPr>
          <p:cNvPr id="30" name="Text 28"/>
          <p:cNvSpPr/>
          <p:nvPr/>
        </p:nvSpPr>
        <p:spPr>
          <a:xfrm>
            <a:off x="1261872" y="2450592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31" name="Text 29"/>
          <p:cNvSpPr/>
          <p:nvPr/>
        </p:nvSpPr>
        <p:spPr>
          <a:xfrm>
            <a:off x="2487168" y="2450592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弗迪电池与上咨集团上海市节能减排中心正式签署战略合作协议</a:t>
            </a:r>
            <a:endParaRPr lang="en-US" sz="680" dirty="0"/>
          </a:p>
        </p:txBody>
      </p:sp>
      <p:sp>
        <p:nvSpPr>
          <p:cNvPr id="32" name="Text 30"/>
          <p:cNvSpPr/>
          <p:nvPr/>
        </p:nvSpPr>
        <p:spPr>
          <a:xfrm>
            <a:off x="6510528" y="2450592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https://mcn.solarbe.com/news/20260716/50026014.html</a:t>
            </a:r>
            <a:endParaRPr lang="en-US" sz="580" dirty="0"/>
          </a:p>
        </p:txBody>
      </p:sp>
      <p:sp>
        <p:nvSpPr>
          <p:cNvPr id="33" name="Shape 31"/>
          <p:cNvSpPr/>
          <p:nvPr/>
        </p:nvSpPr>
        <p:spPr>
          <a:xfrm>
            <a:off x="658368" y="2688336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" y="2761488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[16]</a:t>
            </a:r>
            <a:endParaRPr lang="en-US" sz="680" dirty="0"/>
          </a:p>
        </p:txBody>
      </p:sp>
      <p:sp>
        <p:nvSpPr>
          <p:cNvPr id="35" name="Text 33"/>
          <p:cNvSpPr/>
          <p:nvPr/>
        </p:nvSpPr>
        <p:spPr>
          <a:xfrm>
            <a:off x="1261872" y="2761488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36" name="Text 34"/>
          <p:cNvSpPr/>
          <p:nvPr/>
        </p:nvSpPr>
        <p:spPr>
          <a:xfrm>
            <a:off x="2487168" y="2761488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买新能源车从“等降价”转向“看技术”</a:t>
            </a:r>
            <a:endParaRPr lang="en-US" sz="680" dirty="0"/>
          </a:p>
        </p:txBody>
      </p:sp>
      <p:sp>
        <p:nvSpPr>
          <p:cNvPr id="37" name="Text 35"/>
          <p:cNvSpPr/>
          <p:nvPr/>
        </p:nvSpPr>
        <p:spPr>
          <a:xfrm>
            <a:off x="6510528" y="2761488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https://k.sina.com.cn/article_1749990115_684ebae302001si7m.html</a:t>
            </a:r>
            <a:endParaRPr lang="en-US" sz="580" dirty="0"/>
          </a:p>
        </p:txBody>
      </p:sp>
      <p:sp>
        <p:nvSpPr>
          <p:cNvPr id="38" name="Shape 36"/>
          <p:cNvSpPr/>
          <p:nvPr/>
        </p:nvSpPr>
        <p:spPr>
          <a:xfrm>
            <a:off x="658368" y="2999232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9808" y="3072384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[17]</a:t>
            </a:r>
            <a:endParaRPr lang="en-US" sz="680" dirty="0"/>
          </a:p>
        </p:txBody>
      </p:sp>
      <p:sp>
        <p:nvSpPr>
          <p:cNvPr id="40" name="Text 38"/>
          <p:cNvSpPr/>
          <p:nvPr/>
        </p:nvSpPr>
        <p:spPr>
          <a:xfrm>
            <a:off x="1261872" y="3072384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中国电池网</a:t>
            </a:r>
            <a:endParaRPr lang="en-US" sz="680" dirty="0"/>
          </a:p>
        </p:txBody>
      </p:sp>
      <p:sp>
        <p:nvSpPr>
          <p:cNvPr id="41" name="Text 39"/>
          <p:cNvSpPr/>
          <p:nvPr/>
        </p:nvSpPr>
        <p:spPr>
          <a:xfrm>
            <a:off x="2487168" y="3072384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【正极材料周报】贵州毕节百万吨级磷酸铁锂项目刷新进展！宁德时代三元材料</a:t>
            </a:r>
            <a:endParaRPr lang="en-US" sz="680" dirty="0"/>
          </a:p>
        </p:txBody>
      </p:sp>
      <p:sp>
        <p:nvSpPr>
          <p:cNvPr id="42" name="Text 40"/>
          <p:cNvSpPr/>
          <p:nvPr/>
        </p:nvSpPr>
        <p:spPr>
          <a:xfrm>
            <a:off x="6510528" y="3072384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https://www.itdcw.com/news/dczk/0F61564b2026.html</a:t>
            </a:r>
            <a:endParaRPr lang="en-US" sz="580" dirty="0"/>
          </a:p>
        </p:txBody>
      </p:sp>
      <p:sp>
        <p:nvSpPr>
          <p:cNvPr id="43" name="Shape 41"/>
          <p:cNvSpPr/>
          <p:nvPr/>
        </p:nvSpPr>
        <p:spPr>
          <a:xfrm>
            <a:off x="658368" y="3310128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9808" y="338328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[18]</a:t>
            </a:r>
            <a:endParaRPr lang="en-US" sz="680" dirty="0"/>
          </a:p>
        </p:txBody>
      </p:sp>
      <p:sp>
        <p:nvSpPr>
          <p:cNvPr id="45" name="Text 43"/>
          <p:cNvSpPr/>
          <p:nvPr/>
        </p:nvSpPr>
        <p:spPr>
          <a:xfrm>
            <a:off x="1261872" y="338328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中国电池网</a:t>
            </a:r>
            <a:endParaRPr lang="en-US" sz="680" dirty="0"/>
          </a:p>
        </p:txBody>
      </p:sp>
      <p:sp>
        <p:nvSpPr>
          <p:cNvPr id="46" name="Text 44"/>
          <p:cNvSpPr/>
          <p:nvPr/>
        </p:nvSpPr>
        <p:spPr>
          <a:xfrm>
            <a:off x="2487168" y="3383280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【正极材料周报】贵州贵阳拟新建60万吨高压实磷酸铁锂项目！安徽六安万吨</a:t>
            </a:r>
            <a:endParaRPr lang="en-US" sz="680" dirty="0"/>
          </a:p>
        </p:txBody>
      </p:sp>
      <p:sp>
        <p:nvSpPr>
          <p:cNvPr id="47" name="Text 45"/>
          <p:cNvSpPr/>
          <p:nvPr/>
        </p:nvSpPr>
        <p:spPr>
          <a:xfrm>
            <a:off x="6510528" y="3383280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https://www.itdcw.com/news/dczk/0G315B502026.html</a:t>
            </a:r>
            <a:endParaRPr lang="en-US" sz="580" dirty="0"/>
          </a:p>
        </p:txBody>
      </p:sp>
      <p:sp>
        <p:nvSpPr>
          <p:cNvPr id="48" name="Shape 46"/>
          <p:cNvSpPr/>
          <p:nvPr/>
        </p:nvSpPr>
        <p:spPr>
          <a:xfrm>
            <a:off x="658368" y="3621024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49808" y="3694176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[19]</a:t>
            </a:r>
            <a:endParaRPr lang="en-US" sz="680" dirty="0"/>
          </a:p>
        </p:txBody>
      </p:sp>
      <p:sp>
        <p:nvSpPr>
          <p:cNvPr id="50" name="Text 48"/>
          <p:cNvSpPr/>
          <p:nvPr/>
        </p:nvSpPr>
        <p:spPr>
          <a:xfrm>
            <a:off x="1261872" y="369417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中国电池网</a:t>
            </a:r>
            <a:endParaRPr lang="en-US" sz="680" dirty="0"/>
          </a:p>
        </p:txBody>
      </p:sp>
      <p:sp>
        <p:nvSpPr>
          <p:cNvPr id="51" name="Text 49"/>
          <p:cNvSpPr/>
          <p:nvPr/>
        </p:nvSpPr>
        <p:spPr>
          <a:xfrm>
            <a:off x="2487168" y="3694176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同体积容量击穿行业纪录！多氟多两款大圆柱磷酸铁锂换电方案发布_电池网</a:t>
            </a:r>
            <a:endParaRPr lang="en-US" sz="680" dirty="0"/>
          </a:p>
        </p:txBody>
      </p:sp>
      <p:sp>
        <p:nvSpPr>
          <p:cNvPr id="52" name="Text 50"/>
          <p:cNvSpPr/>
          <p:nvPr/>
        </p:nvSpPr>
        <p:spPr>
          <a:xfrm>
            <a:off x="6510528" y="3694176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https://www.itdcw.com/news/chanpinxinwen/06251562M2026.html</a:t>
            </a:r>
            <a:endParaRPr lang="en-US" sz="580" dirty="0"/>
          </a:p>
        </p:txBody>
      </p:sp>
      <p:sp>
        <p:nvSpPr>
          <p:cNvPr id="53" name="Shape 51"/>
          <p:cNvSpPr/>
          <p:nvPr/>
        </p:nvSpPr>
        <p:spPr>
          <a:xfrm>
            <a:off x="658368" y="3931920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49808" y="4005072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[20]</a:t>
            </a:r>
            <a:endParaRPr lang="en-US" sz="680" dirty="0"/>
          </a:p>
        </p:txBody>
      </p:sp>
      <p:sp>
        <p:nvSpPr>
          <p:cNvPr id="55" name="Text 53"/>
          <p:cNvSpPr/>
          <p:nvPr/>
        </p:nvSpPr>
        <p:spPr>
          <a:xfrm>
            <a:off x="1261872" y="4005072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中国电池网</a:t>
            </a:r>
            <a:endParaRPr lang="en-US" sz="680" dirty="0"/>
          </a:p>
        </p:txBody>
      </p:sp>
      <p:sp>
        <p:nvSpPr>
          <p:cNvPr id="56" name="Text 54"/>
          <p:cNvSpPr/>
          <p:nvPr/>
        </p:nvSpPr>
        <p:spPr>
          <a:xfrm>
            <a:off x="2487168" y="4005072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磷酸铁锂动力型电池与磷酸铁锂储能型电池的区别分析_电池网</a:t>
            </a:r>
            <a:endParaRPr lang="en-US" sz="680" dirty="0"/>
          </a:p>
        </p:txBody>
      </p:sp>
      <p:sp>
        <p:nvSpPr>
          <p:cNvPr id="57" name="Text 55"/>
          <p:cNvSpPr/>
          <p:nvPr/>
        </p:nvSpPr>
        <p:spPr>
          <a:xfrm>
            <a:off x="6510528" y="4005072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https://www.itdcw.com/news/dianchibaike/06301359262023.html</a:t>
            </a:r>
            <a:endParaRPr lang="en-US" sz="580" dirty="0"/>
          </a:p>
        </p:txBody>
      </p:sp>
      <p:sp>
        <p:nvSpPr>
          <p:cNvPr id="58" name="Shape 56"/>
          <p:cNvSpPr/>
          <p:nvPr/>
        </p:nvSpPr>
        <p:spPr>
          <a:xfrm>
            <a:off x="658368" y="4242816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49808" y="4315968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[21]</a:t>
            </a:r>
            <a:endParaRPr lang="en-US" sz="680" dirty="0"/>
          </a:p>
        </p:txBody>
      </p:sp>
      <p:sp>
        <p:nvSpPr>
          <p:cNvPr id="60" name="Text 58"/>
          <p:cNvSpPr/>
          <p:nvPr/>
        </p:nvSpPr>
        <p:spPr>
          <a:xfrm>
            <a:off x="1261872" y="4315968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鑫椤锂电</a:t>
            </a:r>
            <a:endParaRPr lang="en-US" sz="680" dirty="0"/>
          </a:p>
        </p:txBody>
      </p:sp>
      <p:sp>
        <p:nvSpPr>
          <p:cNvPr id="61" name="Text 59"/>
          <p:cNvSpPr/>
          <p:nvPr/>
        </p:nvSpPr>
        <p:spPr>
          <a:xfrm>
            <a:off x="2487168" y="4315968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鑫椤锂电</a:t>
            </a:r>
            <a:endParaRPr lang="en-US" sz="680" dirty="0"/>
          </a:p>
        </p:txBody>
      </p:sp>
      <p:sp>
        <p:nvSpPr>
          <p:cNvPr id="62" name="Text 60"/>
          <p:cNvSpPr/>
          <p:nvPr/>
        </p:nvSpPr>
        <p:spPr>
          <a:xfrm>
            <a:off x="6510528" y="4315968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https://www.icbattery.com/</a:t>
            </a:r>
            <a:endParaRPr lang="en-US" sz="580" dirty="0"/>
          </a:p>
        </p:txBody>
      </p:sp>
      <p:sp>
        <p:nvSpPr>
          <p:cNvPr id="63" name="Shape 61"/>
          <p:cNvSpPr/>
          <p:nvPr/>
        </p:nvSpPr>
        <p:spPr>
          <a:xfrm>
            <a:off x="658368" y="4553712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49808" y="4626864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[22]</a:t>
            </a:r>
            <a:endParaRPr lang="en-US" sz="680" dirty="0"/>
          </a:p>
        </p:txBody>
      </p:sp>
      <p:sp>
        <p:nvSpPr>
          <p:cNvPr id="65" name="Text 63"/>
          <p:cNvSpPr/>
          <p:nvPr/>
        </p:nvSpPr>
        <p:spPr>
          <a:xfrm>
            <a:off x="1261872" y="4626864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高工锂电</a:t>
            </a:r>
            <a:endParaRPr lang="en-US" sz="680" dirty="0"/>
          </a:p>
        </p:txBody>
      </p:sp>
      <p:sp>
        <p:nvSpPr>
          <p:cNvPr id="66" name="Text 64"/>
          <p:cNvSpPr/>
          <p:nvPr/>
        </p:nvSpPr>
        <p:spPr>
          <a:xfrm>
            <a:off x="2487168" y="4626864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高工锂电</a:t>
            </a:r>
            <a:endParaRPr lang="en-US" sz="680" dirty="0"/>
          </a:p>
        </p:txBody>
      </p:sp>
      <p:sp>
        <p:nvSpPr>
          <p:cNvPr id="67" name="Text 65"/>
          <p:cNvSpPr/>
          <p:nvPr/>
        </p:nvSpPr>
        <p:spPr>
          <a:xfrm>
            <a:off x="6510528" y="4626864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https://www.gg-lb.com/</a:t>
            </a:r>
            <a:endParaRPr lang="en-US" sz="580" dirty="0"/>
          </a:p>
        </p:txBody>
      </p:sp>
      <p:sp>
        <p:nvSpPr>
          <p:cNvPr id="68" name="Shape 66"/>
          <p:cNvSpPr/>
          <p:nvPr/>
        </p:nvSpPr>
        <p:spPr>
          <a:xfrm>
            <a:off x="658368" y="4864608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49808" y="493776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[23]</a:t>
            </a:r>
            <a:endParaRPr lang="en-US" sz="680" dirty="0"/>
          </a:p>
        </p:txBody>
      </p:sp>
      <p:sp>
        <p:nvSpPr>
          <p:cNvPr id="70" name="Text 68"/>
          <p:cNvSpPr/>
          <p:nvPr/>
        </p:nvSpPr>
        <p:spPr>
          <a:xfrm>
            <a:off x="1261872" y="493776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电池中国</a:t>
            </a:r>
            <a:endParaRPr lang="en-US" sz="680" dirty="0"/>
          </a:p>
        </p:txBody>
      </p:sp>
      <p:sp>
        <p:nvSpPr>
          <p:cNvPr id="71" name="Text 69"/>
          <p:cNvSpPr/>
          <p:nvPr/>
        </p:nvSpPr>
        <p:spPr>
          <a:xfrm>
            <a:off x="2487168" y="4937760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电池中国</a:t>
            </a:r>
            <a:endParaRPr lang="en-US" sz="680" dirty="0"/>
          </a:p>
        </p:txBody>
      </p:sp>
      <p:sp>
        <p:nvSpPr>
          <p:cNvPr id="72" name="Text 70"/>
          <p:cNvSpPr/>
          <p:nvPr/>
        </p:nvSpPr>
        <p:spPr>
          <a:xfrm>
            <a:off x="6510528" y="4937760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https://www.cbea.com/</a:t>
            </a:r>
            <a:endParaRPr lang="en-US" sz="580" dirty="0"/>
          </a:p>
        </p:txBody>
      </p:sp>
      <p:sp>
        <p:nvSpPr>
          <p:cNvPr id="73" name="Shape 71"/>
          <p:cNvSpPr/>
          <p:nvPr/>
        </p:nvSpPr>
        <p:spPr>
          <a:xfrm>
            <a:off x="658368" y="5175504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49808" y="5248656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[24]</a:t>
            </a:r>
            <a:endParaRPr lang="en-US" sz="680" dirty="0"/>
          </a:p>
        </p:txBody>
      </p:sp>
      <p:sp>
        <p:nvSpPr>
          <p:cNvPr id="75" name="Text 73"/>
          <p:cNvSpPr/>
          <p:nvPr/>
        </p:nvSpPr>
        <p:spPr>
          <a:xfrm>
            <a:off x="1261872" y="524865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证券时报</a:t>
            </a:r>
            <a:endParaRPr lang="en-US" sz="680" dirty="0"/>
          </a:p>
        </p:txBody>
      </p:sp>
      <p:sp>
        <p:nvSpPr>
          <p:cNvPr id="76" name="Text 74"/>
          <p:cNvSpPr/>
          <p:nvPr/>
        </p:nvSpPr>
        <p:spPr>
          <a:xfrm>
            <a:off x="2487168" y="5248656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证券时报</a:t>
            </a:r>
            <a:endParaRPr lang="en-US" sz="680" dirty="0"/>
          </a:p>
        </p:txBody>
      </p:sp>
      <p:sp>
        <p:nvSpPr>
          <p:cNvPr id="77" name="Text 75"/>
          <p:cNvSpPr/>
          <p:nvPr/>
        </p:nvSpPr>
        <p:spPr>
          <a:xfrm>
            <a:off x="6510528" y="5248656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https://www.stcn.com/</a:t>
            </a:r>
            <a:endParaRPr lang="en-US" sz="580" dirty="0"/>
          </a:p>
        </p:txBody>
      </p:sp>
      <p:sp>
        <p:nvSpPr>
          <p:cNvPr id="78" name="Shape 76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引用规则</a:t>
            </a:r>
            <a:endParaRPr lang="en-US" sz="780" dirty="0"/>
          </a:p>
        </p:txBody>
      </p:sp>
      <p:sp>
        <p:nvSpPr>
          <p:cNvPr id="80" name="Text 78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正文引用编号与本页来源一一对应，未进入正文的公开来源保留在 JSON 审计记录中。</a:t>
            </a:r>
            <a:endParaRPr lang="en-US" sz="10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lifepo4_brief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磷酸铁锂行业早报 2026-07-16</dc:title>
  <dc:subject>LFP daily briefing</dc:subject>
  <dc:creator>lifepo4_brief</dc:creator>
  <cp:lastModifiedBy>lifepo4_brief</cp:lastModifiedBy>
  <cp:revision>1</cp:revision>
  <dcterms:created xsi:type="dcterms:W3CDTF">2026-07-16T01:51:53Z</dcterms:created>
  <dcterms:modified xsi:type="dcterms:W3CDTF">2026-07-16T01:51:53Z</dcterms:modified>
</cp:coreProperties>
</file>