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5" r:id="rId3"/>
    <p:sldId id="280" r:id="rId6"/>
    <p:sldId id="267" r:id="rId8"/>
    <p:sldId id="274" r:id="rId10"/>
    <p:sldId id="268" r:id="rId11"/>
    <p:sldId id="276" r:id="rId13"/>
    <p:sldId id="269" r:id="rId14"/>
    <p:sldId id="277" r:id="rId15"/>
    <p:sldId id="279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F6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65" autoAdjust="0"/>
    <p:restoredTop sz="94660"/>
  </p:normalViewPr>
  <p:slideViewPr>
    <p:cSldViewPr snapToGrid="0">
      <p:cViewPr>
        <p:scale>
          <a:sx n="100" d="100"/>
          <a:sy n="100" d="100"/>
        </p:scale>
        <p:origin x="984" y="19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1E1D6A00-695F-4B21-ACF3-770346C4325A}"/>
              </a:ext>
            </a:extLst>
          </p:cNvPr>
          <p:cNvSpPr/>
          <p:nvPr userDrawn="1"/>
        </p:nvSpPr>
        <p:spPr>
          <a:xfrm rot="10800000">
            <a:off x="383467" y="253836"/>
            <a:ext cx="2208927" cy="17307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89E622-2F10-41E2-9518-B180D975079A}"/>
              </a:ext>
            </a:extLst>
          </p:cNvPr>
          <p:cNvSpPr/>
          <p:nvPr userDrawn="1"/>
        </p:nvSpPr>
        <p:spPr>
          <a:xfrm>
            <a:off x="9126629" y="4535597"/>
            <a:ext cx="2658974" cy="20833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稻壳儿原创设计师【幻雨工作室】_1">
            <a:extLst>
              <a:ext uri="{FF2B5EF4-FFF2-40B4-BE49-F238E27FC236}">
                <a16:creationId xmlns:a16="http://schemas.microsoft.com/office/drawing/2014/main" id="{6B16A29B-876B-45CC-AC1C-636E3F94E0AD}"/>
              </a:ext>
            </a:extLst>
          </p:cNvPr>
          <p:cNvSpPr/>
          <p:nvPr userDrawn="1"/>
        </p:nvSpPr>
        <p:spPr>
          <a:xfrm rot="8100000">
            <a:off x="403232" y="6004525"/>
            <a:ext cx="393963" cy="817540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稻壳儿原创设计师【幻雨工作室】_1">
            <a:extLst>
              <a:ext uri="{FF2B5EF4-FFF2-40B4-BE49-F238E27FC236}">
                <a16:creationId xmlns:a16="http://schemas.microsoft.com/office/drawing/2014/main" id="{3F7F828D-12C2-4B1F-8816-ADB791A94651}"/>
              </a:ext>
            </a:extLst>
          </p:cNvPr>
          <p:cNvSpPr/>
          <p:nvPr userDrawn="1"/>
        </p:nvSpPr>
        <p:spPr>
          <a:xfrm rot="8100000" flipH="1">
            <a:off x="11387853" y="40829"/>
            <a:ext cx="393962" cy="817541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稻壳儿原创设计师【幻雨工作室】_2">
            <a:extLst>
              <a:ext uri="{FF2B5EF4-FFF2-40B4-BE49-F238E27FC236}">
                <a16:creationId xmlns:a16="http://schemas.microsoft.com/office/drawing/2014/main" id="{AC3B4412-E46C-4593-9CF7-6D67DC2CA342}"/>
              </a:ext>
            </a:extLst>
          </p:cNvPr>
          <p:cNvSpPr/>
          <p:nvPr userDrawn="1"/>
        </p:nvSpPr>
        <p:spPr>
          <a:xfrm>
            <a:off x="493144" y="335439"/>
            <a:ext cx="11206010" cy="6187361"/>
          </a:xfrm>
          <a:prstGeom prst="roundRect">
            <a:avLst>
              <a:gd name="adj" fmla="val 1411"/>
            </a:avLst>
          </a:prstGeom>
          <a:solidFill>
            <a:schemeClr val="bg1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zh-CN" altLang="en-US" sz="280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4BF51FE0-3814-4E99-8C01-35D8EBD3DE83}"/>
              </a:ext>
            </a:extLst>
          </p:cNvPr>
          <p:cNvSpPr/>
          <p:nvPr userDrawn="1"/>
        </p:nvSpPr>
        <p:spPr>
          <a:xfrm rot="16200000">
            <a:off x="3058154" y="-2122741"/>
            <a:ext cx="6187361" cy="11103243"/>
          </a:xfrm>
          <a:custGeom>
            <a:avLst/>
            <a:gdLst>
              <a:gd name="connsiteX0" fmla="*/ 6187361 w 6187361"/>
              <a:gd name="connsiteY0" fmla="*/ 10999753 h 11103243"/>
              <a:gd name="connsiteX1" fmla="*/ 6187361 w 6187361"/>
              <a:gd name="connsiteY1" fmla="*/ 11015939 h 11103243"/>
              <a:gd name="connsiteX2" fmla="*/ 6100057 w 6187361"/>
              <a:gd name="connsiteY2" fmla="*/ 11103243 h 11103243"/>
              <a:gd name="connsiteX3" fmla="*/ 87304 w 6187361"/>
              <a:gd name="connsiteY3" fmla="*/ 11103243 h 11103243"/>
              <a:gd name="connsiteX4" fmla="*/ 0 w 6187361"/>
              <a:gd name="connsiteY4" fmla="*/ 11015939 h 11103243"/>
              <a:gd name="connsiteX5" fmla="*/ 0 w 6187361"/>
              <a:gd name="connsiteY5" fmla="*/ 0 h 11103243"/>
              <a:gd name="connsiteX6" fmla="*/ 6187361 w 6187361"/>
              <a:gd name="connsiteY6" fmla="*/ 10999753 h 11103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87361" h="11103243">
                <a:moveTo>
                  <a:pt x="6187361" y="10999753"/>
                </a:moveTo>
                <a:lnTo>
                  <a:pt x="6187361" y="11015939"/>
                </a:lnTo>
                <a:cubicBezTo>
                  <a:pt x="6187361" y="11064156"/>
                  <a:pt x="6148274" y="11103243"/>
                  <a:pt x="6100057" y="11103243"/>
                </a:cubicBezTo>
                <a:lnTo>
                  <a:pt x="87304" y="11103243"/>
                </a:lnTo>
                <a:cubicBezTo>
                  <a:pt x="39087" y="11103243"/>
                  <a:pt x="0" y="11064156"/>
                  <a:pt x="0" y="11015939"/>
                </a:cubicBezTo>
                <a:lnTo>
                  <a:pt x="0" y="0"/>
                </a:lnTo>
                <a:lnTo>
                  <a:pt x="6187361" y="10999753"/>
                </a:lnTo>
                <a:close/>
              </a:path>
            </a:pathLst>
          </a:custGeom>
          <a:solidFill>
            <a:schemeClr val="bg1">
              <a:lumMod val="95000"/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5805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1E1D6A00-695F-4B21-ACF3-770346C4325A}"/>
              </a:ext>
            </a:extLst>
          </p:cNvPr>
          <p:cNvSpPr/>
          <p:nvPr userDrawn="1"/>
        </p:nvSpPr>
        <p:spPr>
          <a:xfrm rot="10800000">
            <a:off x="383467" y="253836"/>
            <a:ext cx="2208927" cy="17307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89E622-2F10-41E2-9518-B180D975079A}"/>
              </a:ext>
            </a:extLst>
          </p:cNvPr>
          <p:cNvSpPr/>
          <p:nvPr userDrawn="1"/>
        </p:nvSpPr>
        <p:spPr>
          <a:xfrm>
            <a:off x="9126629" y="4535597"/>
            <a:ext cx="2658974" cy="20833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稻壳儿原创设计师【幻雨工作室】_1">
            <a:extLst>
              <a:ext uri="{FF2B5EF4-FFF2-40B4-BE49-F238E27FC236}">
                <a16:creationId xmlns:a16="http://schemas.microsoft.com/office/drawing/2014/main" id="{6B16A29B-876B-45CC-AC1C-636E3F94E0AD}"/>
              </a:ext>
            </a:extLst>
          </p:cNvPr>
          <p:cNvSpPr/>
          <p:nvPr userDrawn="1"/>
        </p:nvSpPr>
        <p:spPr>
          <a:xfrm rot="8100000">
            <a:off x="403232" y="6004525"/>
            <a:ext cx="393963" cy="817540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稻壳儿原创设计师【幻雨工作室】_1">
            <a:extLst>
              <a:ext uri="{FF2B5EF4-FFF2-40B4-BE49-F238E27FC236}">
                <a16:creationId xmlns:a16="http://schemas.microsoft.com/office/drawing/2014/main" id="{3F7F828D-12C2-4B1F-8816-ADB791A94651}"/>
              </a:ext>
            </a:extLst>
          </p:cNvPr>
          <p:cNvSpPr/>
          <p:nvPr userDrawn="1"/>
        </p:nvSpPr>
        <p:spPr>
          <a:xfrm rot="8100000" flipH="1">
            <a:off x="11387853" y="40829"/>
            <a:ext cx="393962" cy="817541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稻壳儿原创设计师【幻雨工作室】_2">
            <a:extLst>
              <a:ext uri="{FF2B5EF4-FFF2-40B4-BE49-F238E27FC236}">
                <a16:creationId xmlns:a16="http://schemas.microsoft.com/office/drawing/2014/main" id="{AC3B4412-E46C-4593-9CF7-6D67DC2CA342}"/>
              </a:ext>
            </a:extLst>
          </p:cNvPr>
          <p:cNvSpPr/>
          <p:nvPr userDrawn="1"/>
        </p:nvSpPr>
        <p:spPr>
          <a:xfrm>
            <a:off x="493144" y="335439"/>
            <a:ext cx="11206010" cy="6187361"/>
          </a:xfrm>
          <a:prstGeom prst="roundRect">
            <a:avLst>
              <a:gd name="adj" fmla="val 1411"/>
            </a:avLst>
          </a:prstGeom>
          <a:solidFill>
            <a:schemeClr val="bg1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zh-CN" altLang="en-US" sz="280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A74FB4A5-EA33-4BE9-9817-1D681B729F0D}"/>
              </a:ext>
            </a:extLst>
          </p:cNvPr>
          <p:cNvSpPr/>
          <p:nvPr userDrawn="1"/>
        </p:nvSpPr>
        <p:spPr>
          <a:xfrm rot="16200000">
            <a:off x="3058154" y="-2122741"/>
            <a:ext cx="6187361" cy="11103243"/>
          </a:xfrm>
          <a:custGeom>
            <a:avLst/>
            <a:gdLst>
              <a:gd name="connsiteX0" fmla="*/ 6187361 w 6187361"/>
              <a:gd name="connsiteY0" fmla="*/ 10999753 h 11103243"/>
              <a:gd name="connsiteX1" fmla="*/ 6187361 w 6187361"/>
              <a:gd name="connsiteY1" fmla="*/ 11015939 h 11103243"/>
              <a:gd name="connsiteX2" fmla="*/ 6100057 w 6187361"/>
              <a:gd name="connsiteY2" fmla="*/ 11103243 h 11103243"/>
              <a:gd name="connsiteX3" fmla="*/ 87304 w 6187361"/>
              <a:gd name="connsiteY3" fmla="*/ 11103243 h 11103243"/>
              <a:gd name="connsiteX4" fmla="*/ 0 w 6187361"/>
              <a:gd name="connsiteY4" fmla="*/ 11015939 h 11103243"/>
              <a:gd name="connsiteX5" fmla="*/ 0 w 6187361"/>
              <a:gd name="connsiteY5" fmla="*/ 0 h 11103243"/>
              <a:gd name="connsiteX6" fmla="*/ 6187361 w 6187361"/>
              <a:gd name="connsiteY6" fmla="*/ 10999753 h 11103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87361" h="11103243">
                <a:moveTo>
                  <a:pt x="6187361" y="10999753"/>
                </a:moveTo>
                <a:lnTo>
                  <a:pt x="6187361" y="11015939"/>
                </a:lnTo>
                <a:cubicBezTo>
                  <a:pt x="6187361" y="11064156"/>
                  <a:pt x="6148274" y="11103243"/>
                  <a:pt x="6100057" y="11103243"/>
                </a:cubicBezTo>
                <a:lnTo>
                  <a:pt x="87304" y="11103243"/>
                </a:lnTo>
                <a:cubicBezTo>
                  <a:pt x="39087" y="11103243"/>
                  <a:pt x="0" y="11064156"/>
                  <a:pt x="0" y="11015939"/>
                </a:cubicBezTo>
                <a:lnTo>
                  <a:pt x="0" y="0"/>
                </a:lnTo>
                <a:lnTo>
                  <a:pt x="6187361" y="10999753"/>
                </a:lnTo>
                <a:close/>
              </a:path>
            </a:pathLst>
          </a:custGeom>
          <a:solidFill>
            <a:schemeClr val="bg1">
              <a:lumMod val="95000"/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87285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A40EAF9-A1BE-4144-9C97-C2A0F1DB9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9830FD-AEE6-4DA4-B54F-801DC4CC8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A617D9-72E3-48F3-9019-530FDF6A7F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73AC26-D034-433E-B799-9BFE0A279EB2}" type="datetimeFigureOut">
              <a:rPr lang="zh-CN" altLang="en-US" smtClean="0"/>
              <a:t>2020/5/18 Monday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F64745-C670-4D72-ADAD-41A69A6269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A6107D-3704-486E-BB85-BEA49FCA6C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0299B7-DD08-4556-865F-380101F10C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8584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稻壳儿原创设计师【幻雨工作室】_1">
            <a:extLst>
              <a:ext uri="{FF2B5EF4-FFF2-40B4-BE49-F238E27FC236}">
                <a16:creationId xmlns:a16="http://schemas.microsoft.com/office/drawing/2014/main" id="{3615CF7E-4A66-4911-8651-4957BEC8C224}"/>
              </a:ext>
            </a:extLst>
          </p:cNvPr>
          <p:cNvSpPr>
            <a:spLocks noEditPoints="1"/>
          </p:cNvSpPr>
          <p:nvPr/>
        </p:nvSpPr>
        <p:spPr bwMode="auto">
          <a:xfrm>
            <a:off x="1583202" y="2278743"/>
            <a:ext cx="2361260" cy="2803160"/>
          </a:xfrm>
          <a:custGeom>
            <a:avLst/>
            <a:gdLst>
              <a:gd name="T0" fmla="*/ 313 w 756"/>
              <a:gd name="T1" fmla="*/ 0 h 888"/>
              <a:gd name="T2" fmla="*/ 296 w 756"/>
              <a:gd name="T3" fmla="*/ 1 h 888"/>
              <a:gd name="T4" fmla="*/ 296 w 756"/>
              <a:gd name="T5" fmla="*/ 0 h 888"/>
              <a:gd name="T6" fmla="*/ 0 w 756"/>
              <a:gd name="T7" fmla="*/ 0 h 888"/>
              <a:gd name="T8" fmla="*/ 0 w 756"/>
              <a:gd name="T9" fmla="*/ 888 h 888"/>
              <a:gd name="T10" fmla="*/ 296 w 756"/>
              <a:gd name="T11" fmla="*/ 888 h 888"/>
              <a:gd name="T12" fmla="*/ 296 w 756"/>
              <a:gd name="T13" fmla="*/ 888 h 888"/>
              <a:gd name="T14" fmla="*/ 311 w 756"/>
              <a:gd name="T15" fmla="*/ 888 h 888"/>
              <a:gd name="T16" fmla="*/ 756 w 756"/>
              <a:gd name="T17" fmla="*/ 442 h 888"/>
              <a:gd name="T18" fmla="*/ 313 w 756"/>
              <a:gd name="T19" fmla="*/ 0 h 888"/>
              <a:gd name="T20" fmla="*/ 257 w 756"/>
              <a:gd name="T21" fmla="*/ 326 h 888"/>
              <a:gd name="T22" fmla="*/ 349 w 756"/>
              <a:gd name="T23" fmla="*/ 92 h 888"/>
              <a:gd name="T24" fmla="*/ 411 w 756"/>
              <a:gd name="T25" fmla="*/ 341 h 888"/>
              <a:gd name="T26" fmla="*/ 317 w 756"/>
              <a:gd name="T27" fmla="*/ 578 h 888"/>
              <a:gd name="T28" fmla="*/ 257 w 756"/>
              <a:gd name="T29" fmla="*/ 326 h 888"/>
              <a:gd name="T30" fmla="*/ 234 w 756"/>
              <a:gd name="T31" fmla="*/ 790 h 888"/>
              <a:gd name="T32" fmla="*/ 118 w 756"/>
              <a:gd name="T33" fmla="*/ 558 h 888"/>
              <a:gd name="T34" fmla="*/ 212 w 756"/>
              <a:gd name="T35" fmla="*/ 279 h 888"/>
              <a:gd name="T36" fmla="*/ 273 w 756"/>
              <a:gd name="T37" fmla="*/ 573 h 888"/>
              <a:gd name="T38" fmla="*/ 278 w 756"/>
              <a:gd name="T39" fmla="*/ 667 h 888"/>
              <a:gd name="T40" fmla="*/ 234 w 756"/>
              <a:gd name="T41" fmla="*/ 790 h 888"/>
              <a:gd name="T42" fmla="*/ 505 w 756"/>
              <a:gd name="T43" fmla="*/ 664 h 888"/>
              <a:gd name="T44" fmla="*/ 278 w 756"/>
              <a:gd name="T45" fmla="*/ 789 h 888"/>
              <a:gd name="T46" fmla="*/ 395 w 756"/>
              <a:gd name="T47" fmla="*/ 559 h 888"/>
              <a:gd name="T48" fmla="*/ 616 w 756"/>
              <a:gd name="T49" fmla="*/ 426 h 888"/>
              <a:gd name="T50" fmla="*/ 505 w 756"/>
              <a:gd name="T51" fmla="*/ 664 h 8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756" h="888">
                <a:moveTo>
                  <a:pt x="313" y="0"/>
                </a:moveTo>
                <a:cubicBezTo>
                  <a:pt x="307" y="0"/>
                  <a:pt x="302" y="0"/>
                  <a:pt x="296" y="1"/>
                </a:cubicBezTo>
                <a:cubicBezTo>
                  <a:pt x="296" y="0"/>
                  <a:pt x="296" y="0"/>
                  <a:pt x="29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888"/>
                  <a:pt x="0" y="888"/>
                  <a:pt x="0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301" y="888"/>
                  <a:pt x="306" y="888"/>
                  <a:pt x="311" y="888"/>
                </a:cubicBezTo>
                <a:cubicBezTo>
                  <a:pt x="556" y="888"/>
                  <a:pt x="756" y="686"/>
                  <a:pt x="756" y="442"/>
                </a:cubicBezTo>
                <a:cubicBezTo>
                  <a:pt x="756" y="197"/>
                  <a:pt x="557" y="1"/>
                  <a:pt x="313" y="0"/>
                </a:cubicBezTo>
                <a:close/>
                <a:moveTo>
                  <a:pt x="257" y="326"/>
                </a:moveTo>
                <a:cubicBezTo>
                  <a:pt x="268" y="192"/>
                  <a:pt x="349" y="92"/>
                  <a:pt x="349" y="92"/>
                </a:cubicBezTo>
                <a:cubicBezTo>
                  <a:pt x="349" y="92"/>
                  <a:pt x="427" y="188"/>
                  <a:pt x="411" y="341"/>
                </a:cubicBezTo>
                <a:cubicBezTo>
                  <a:pt x="396" y="491"/>
                  <a:pt x="317" y="578"/>
                  <a:pt x="317" y="578"/>
                </a:cubicBezTo>
                <a:cubicBezTo>
                  <a:pt x="317" y="578"/>
                  <a:pt x="245" y="459"/>
                  <a:pt x="257" y="326"/>
                </a:cubicBezTo>
                <a:close/>
                <a:moveTo>
                  <a:pt x="234" y="790"/>
                </a:moveTo>
                <a:cubicBezTo>
                  <a:pt x="234" y="790"/>
                  <a:pt x="127" y="667"/>
                  <a:pt x="118" y="558"/>
                </a:cubicBezTo>
                <a:cubicBezTo>
                  <a:pt x="105" y="410"/>
                  <a:pt x="212" y="279"/>
                  <a:pt x="212" y="279"/>
                </a:cubicBezTo>
                <a:cubicBezTo>
                  <a:pt x="205" y="483"/>
                  <a:pt x="273" y="573"/>
                  <a:pt x="273" y="573"/>
                </a:cubicBezTo>
                <a:cubicBezTo>
                  <a:pt x="273" y="573"/>
                  <a:pt x="289" y="597"/>
                  <a:pt x="278" y="667"/>
                </a:cubicBezTo>
                <a:cubicBezTo>
                  <a:pt x="267" y="736"/>
                  <a:pt x="234" y="790"/>
                  <a:pt x="234" y="790"/>
                </a:cubicBezTo>
                <a:close/>
                <a:moveTo>
                  <a:pt x="505" y="664"/>
                </a:moveTo>
                <a:cubicBezTo>
                  <a:pt x="408" y="771"/>
                  <a:pt x="278" y="789"/>
                  <a:pt x="278" y="789"/>
                </a:cubicBezTo>
                <a:cubicBezTo>
                  <a:pt x="278" y="789"/>
                  <a:pt x="282" y="666"/>
                  <a:pt x="395" y="559"/>
                </a:cubicBezTo>
                <a:cubicBezTo>
                  <a:pt x="508" y="453"/>
                  <a:pt x="616" y="426"/>
                  <a:pt x="616" y="426"/>
                </a:cubicBezTo>
                <a:cubicBezTo>
                  <a:pt x="616" y="426"/>
                  <a:pt x="601" y="557"/>
                  <a:pt x="505" y="664"/>
                </a:cubicBezTo>
                <a:close/>
              </a:path>
            </a:pathLst>
          </a:custGeom>
          <a:solidFill>
            <a:schemeClr val="bg1">
              <a:lumMod val="95000"/>
              <a:alpha val="38000"/>
            </a:schemeClr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896857"/>
              </a:solidFill>
              <a:effectLst/>
              <a:uLnTx/>
              <a:uFillTx/>
              <a:latin typeface="Arial" pitchFamily="34" charset="0"/>
              <a:ea typeface="微软雅黑" pitchFamily="34" charset="-122"/>
              <a:cs typeface="+mn-ea"/>
              <a:sym typeface="Arial" pitchFamily="34" charset="0"/>
            </a:endParaRPr>
          </a:p>
        </p:txBody>
      </p:sp>
      <p:sp>
        <p:nvSpPr>
          <p:cNvPr id="46" name="稻壳儿原创设计师【幻雨工作室】_6">
            <a:extLst>
              <a:ext uri="{FF2B5EF4-FFF2-40B4-BE49-F238E27FC236}">
                <a16:creationId xmlns:a16="http://schemas.microsoft.com/office/drawing/2014/main" id="{6D296337-6626-4C48-8AD9-27A8094C9650}"/>
              </a:ext>
            </a:extLst>
          </p:cNvPr>
          <p:cNvSpPr txBox="1"/>
          <p:nvPr/>
        </p:nvSpPr>
        <p:spPr>
          <a:xfrm>
            <a:off x="4090433" y="2803160"/>
            <a:ext cx="47221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LFP Brief</a:t>
            </a:r>
          </a:p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磷酸铁锂行业早报</a:t>
            </a:r>
          </a:p>
        </p:txBody>
      </p:sp>
      <p:cxnSp>
        <p:nvCxnSpPr>
          <p:cNvPr id="33" name="稻壳儿原创设计师【幻雨工作室】_4">
            <a:extLst>
              <a:ext uri="{FF2B5EF4-FFF2-40B4-BE49-F238E27FC236}">
                <a16:creationId xmlns:a16="http://schemas.microsoft.com/office/drawing/2014/main" id="{E09059F6-14B4-4384-A7E7-116A5A5EDD9A}"/>
              </a:ext>
            </a:extLst>
          </p:cNvPr>
          <p:cNvCxnSpPr/>
          <p:nvPr/>
        </p:nvCxnSpPr>
        <p:spPr>
          <a:xfrm>
            <a:off x="10580618" y="5759053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稻壳儿原创设计师【幻雨工作室】_5">
            <a:extLst>
              <a:ext uri="{FF2B5EF4-FFF2-40B4-BE49-F238E27FC236}">
                <a16:creationId xmlns:a16="http://schemas.microsoft.com/office/drawing/2014/main" id="{FDFBF106-EB5A-4FF7-8F72-D06519B335C9}"/>
              </a:ext>
            </a:extLst>
          </p:cNvPr>
          <p:cNvCxnSpPr/>
          <p:nvPr/>
        </p:nvCxnSpPr>
        <p:spPr>
          <a:xfrm>
            <a:off x="10580618" y="5984964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7199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稻壳儿原创设计师【幻雨工作室】_1">
            <a:extLst>
              <a:ext uri="{FF2B5EF4-FFF2-40B4-BE49-F238E27FC236}">
                <a16:creationId xmlns:a16="http://schemas.microsoft.com/office/drawing/2014/main" id="{C2C1999D-DDF7-4C16-A09B-BD10225F7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2200" y="2830286"/>
            <a:ext cx="927628" cy="9246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2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稻壳儿原创设计师【幻雨工作室】_2">
            <a:extLst>
              <a:ext uri="{FF2B5EF4-FFF2-40B4-BE49-F238E27FC236}">
                <a16:creationId xmlns:a16="http://schemas.microsoft.com/office/drawing/2014/main" id="{330BA243-6B7F-4CBD-86DD-82AD59A86D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773" y="2969450"/>
            <a:ext cx="7264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稻壳儿原创设计师【幻雨工作室】_3">
            <a:extLst>
              <a:ext uri="{FF2B5EF4-FFF2-40B4-BE49-F238E27FC236}">
                <a16:creationId xmlns:a16="http://schemas.microsoft.com/office/drawing/2014/main" id="{8BCACB80-9148-432A-AD01-E226516F8C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3655" y="4643908"/>
            <a:ext cx="927626" cy="9246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28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稻壳儿原创设计师【幻雨工作室】_4">
            <a:extLst>
              <a:ext uri="{FF2B5EF4-FFF2-40B4-BE49-F238E27FC236}">
                <a16:creationId xmlns:a16="http://schemas.microsoft.com/office/drawing/2014/main" id="{CD77EECD-F3A7-4EC3-A67A-4462BB3469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4227" y="4783072"/>
            <a:ext cx="7264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稻壳儿原创设计师【幻雨工作室】_5">
            <a:extLst>
              <a:ext uri="{FF2B5EF4-FFF2-40B4-BE49-F238E27FC236}">
                <a16:creationId xmlns:a16="http://schemas.microsoft.com/office/drawing/2014/main" id="{722C821D-3BEE-4828-A243-76A6D010A8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6427" y="2830286"/>
            <a:ext cx="927626" cy="9246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28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稻壳儿原创设计师【幻雨工作室】_6">
            <a:extLst>
              <a:ext uri="{FF2B5EF4-FFF2-40B4-BE49-F238E27FC236}">
                <a16:creationId xmlns:a16="http://schemas.microsoft.com/office/drawing/2014/main" id="{55BA4F61-96CC-4E0C-9790-9CC4C7275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6999" y="2969450"/>
            <a:ext cx="7264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稻壳儿原创设计师【幻雨工作室】_7">
            <a:extLst>
              <a:ext uri="{FF2B5EF4-FFF2-40B4-BE49-F238E27FC236}">
                <a16:creationId xmlns:a16="http://schemas.microsoft.com/office/drawing/2014/main" id="{E2F719B7-0445-421C-A3D1-EF607AA5B5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4361" y="4643908"/>
            <a:ext cx="927626" cy="9246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28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稻壳儿原创设计师【幻雨工作室】_8">
            <a:extLst>
              <a:ext uri="{FF2B5EF4-FFF2-40B4-BE49-F238E27FC236}">
                <a16:creationId xmlns:a16="http://schemas.microsoft.com/office/drawing/2014/main" id="{31BE8721-0168-4B61-82C9-A66671194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4933" y="4783072"/>
            <a:ext cx="7264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稻壳儿原创设计师【幻雨工作室】_9">
            <a:extLst>
              <a:ext uri="{FF2B5EF4-FFF2-40B4-BE49-F238E27FC236}">
                <a16:creationId xmlns:a16="http://schemas.microsoft.com/office/drawing/2014/main" id="{79DE295B-148D-425E-BAE0-1C900F0E4116}"/>
              </a:ext>
            </a:extLst>
          </p:cNvPr>
          <p:cNvSpPr txBox="1"/>
          <p:nvPr/>
        </p:nvSpPr>
        <p:spPr>
          <a:xfrm>
            <a:off x="2628011" y="2815562"/>
            <a:ext cx="264687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行业动态</a:t>
            </a:r>
          </a:p>
          <a:p>
            <a:r>
              <a:rPr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Market</a:t>
            </a:r>
          </a:p>
        </p:txBody>
      </p:sp>
      <p:sp>
        <p:nvSpPr>
          <p:cNvPr id="24" name="稻壳儿原创设计师【幻雨工作室】_10">
            <a:extLst>
              <a:ext uri="{FF2B5EF4-FFF2-40B4-BE49-F238E27FC236}">
                <a16:creationId xmlns:a16="http://schemas.microsoft.com/office/drawing/2014/main" id="{6F9E76E5-DEC8-40CC-9C42-0A66DF04E729}"/>
              </a:ext>
            </a:extLst>
          </p:cNvPr>
          <p:cNvSpPr txBox="1"/>
          <p:nvPr/>
        </p:nvSpPr>
        <p:spPr>
          <a:xfrm>
            <a:off x="2628011" y="4675350"/>
            <a:ext cx="314143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竞争格局</a:t>
            </a:r>
          </a:p>
          <a:p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Peers</a:t>
            </a:r>
          </a:p>
        </p:txBody>
      </p:sp>
      <p:sp>
        <p:nvSpPr>
          <p:cNvPr id="25" name="稻壳儿原创设计师【幻雨工作室】_11">
            <a:extLst>
              <a:ext uri="{FF2B5EF4-FFF2-40B4-BE49-F238E27FC236}">
                <a16:creationId xmlns:a16="http://schemas.microsoft.com/office/drawing/2014/main" id="{C1BE08C7-AD3C-42BD-B2D7-25B6EC1EDAE8}"/>
              </a:ext>
            </a:extLst>
          </p:cNvPr>
          <p:cNvSpPr txBox="1"/>
          <p:nvPr/>
        </p:nvSpPr>
        <p:spPr>
          <a:xfrm>
            <a:off x="7614625" y="2815562"/>
            <a:ext cx="295946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风险机会</a:t>
            </a:r>
          </a:p>
          <a:p>
            <a:r>
              <a:rPr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Signals</a:t>
            </a:r>
          </a:p>
        </p:txBody>
      </p:sp>
      <p:sp>
        <p:nvSpPr>
          <p:cNvPr id="26" name="稻壳儿原创设计师【幻雨工作室】_12">
            <a:extLst>
              <a:ext uri="{FF2B5EF4-FFF2-40B4-BE49-F238E27FC236}">
                <a16:creationId xmlns:a16="http://schemas.microsoft.com/office/drawing/2014/main" id="{CE99C9C9-5A91-412A-A039-67EB1D7B7E6F}"/>
              </a:ext>
            </a:extLst>
          </p:cNvPr>
          <p:cNvSpPr txBox="1"/>
          <p:nvPr/>
        </p:nvSpPr>
        <p:spPr>
          <a:xfrm>
            <a:off x="7614625" y="4629184"/>
            <a:ext cx="264687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来源追踪</a:t>
            </a:r>
          </a:p>
          <a:p>
            <a:r>
              <a:rPr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Sources</a:t>
            </a:r>
          </a:p>
        </p:txBody>
      </p:sp>
      <p:sp>
        <p:nvSpPr>
          <p:cNvPr id="27" name="稻壳儿原创设计师【幻雨工作室】_13">
            <a:extLst>
              <a:ext uri="{FF2B5EF4-FFF2-40B4-BE49-F238E27FC236}">
                <a16:creationId xmlns:a16="http://schemas.microsoft.com/office/drawing/2014/main" id="{F67ABBCC-6108-4F7F-B7E7-F212AA86875B}"/>
              </a:ext>
            </a:extLst>
          </p:cNvPr>
          <p:cNvSpPr/>
          <p:nvPr/>
        </p:nvSpPr>
        <p:spPr>
          <a:xfrm>
            <a:off x="967481" y="771826"/>
            <a:ext cx="411886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defRPr/>
            </a:pPr>
            <a:r>
              <a:rPr lang="zh-CN" altLang="en-US" sz="6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r>
              <a:rPr lang="en-US" altLang="zh-CN" sz="3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36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08979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稻壳儿原创设计师【幻雨工作室】_4">
            <a:extLst>
              <a:ext uri="{FF2B5EF4-FFF2-40B4-BE49-F238E27FC236}">
                <a16:creationId xmlns:a16="http://schemas.microsoft.com/office/drawing/2014/main" id="{2F099B6D-DE74-4240-998B-DD64039E96B0}"/>
              </a:ext>
            </a:extLst>
          </p:cNvPr>
          <p:cNvSpPr txBox="1"/>
          <p:nvPr/>
        </p:nvSpPr>
        <p:spPr>
          <a:xfrm>
            <a:off x="3926175" y="3498250"/>
            <a:ext cx="433965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工作完成情况</a:t>
            </a:r>
          </a:p>
          <a:p>
            <a:pPr algn="ctr"/>
            <a:r>
              <a:rPr lang="zh-CN" altLang="en-US" sz="3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completion</a:t>
            </a:r>
          </a:p>
        </p:txBody>
      </p:sp>
      <p:sp>
        <p:nvSpPr>
          <p:cNvPr id="29" name="稻壳儿原创设计师【幻雨工作室】_5">
            <a:extLst>
              <a:ext uri="{FF2B5EF4-FFF2-40B4-BE49-F238E27FC236}">
                <a16:creationId xmlns:a16="http://schemas.microsoft.com/office/drawing/2014/main" id="{C4DAB99A-B8DA-4990-8416-26B04F9AF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789" y="2051700"/>
            <a:ext cx="2912419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8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8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54143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稻壳儿原创设计师【幻雨工作室】_4">
            <a:extLst>
              <a:ext uri="{FF2B5EF4-FFF2-40B4-BE49-F238E27FC236}">
                <a16:creationId xmlns:a16="http://schemas.microsoft.com/office/drawing/2014/main" id="{C06DB9E7-8D33-4EB2-8060-B7192908EC23}"/>
              </a:ext>
            </a:extLst>
          </p:cNvPr>
          <p:cNvSpPr txBox="1"/>
          <p:nvPr/>
        </p:nvSpPr>
        <p:spPr>
          <a:xfrm>
            <a:off x="820118" y="696993"/>
            <a:ext cx="5253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工作完成情况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completion</a:t>
            </a:r>
          </a:p>
        </p:txBody>
      </p:sp>
      <p:sp>
        <p:nvSpPr>
          <p:cNvPr id="32" name="稻壳儿原创设计师【幻雨工作室】_4">
            <a:extLst>
              <a:ext uri="{FF2B5EF4-FFF2-40B4-BE49-F238E27FC236}">
                <a16:creationId xmlns:a16="http://schemas.microsoft.com/office/drawing/2014/main" id="{89C585AA-E656-4AFF-AF53-1500E2E76D60}"/>
              </a:ext>
            </a:extLst>
          </p:cNvPr>
          <p:cNvSpPr/>
          <p:nvPr/>
        </p:nvSpPr>
        <p:spPr>
          <a:xfrm>
            <a:off x="2708269" y="2232833"/>
            <a:ext cx="2323117" cy="2323117"/>
          </a:xfrm>
          <a:custGeom>
            <a:avLst/>
            <a:gdLst>
              <a:gd name="connsiteX0" fmla="*/ 1161559 w 2323117"/>
              <a:gd name="connsiteY0" fmla="*/ 0 h 2323117"/>
              <a:gd name="connsiteX1" fmla="*/ 2323117 w 2323117"/>
              <a:gd name="connsiteY1" fmla="*/ 1161559 h 2323117"/>
              <a:gd name="connsiteX2" fmla="*/ 1161559 w 2323117"/>
              <a:gd name="connsiteY2" fmla="*/ 2323117 h 2323117"/>
              <a:gd name="connsiteX3" fmla="*/ 0 w 2323117"/>
              <a:gd name="connsiteY3" fmla="*/ 1161559 h 2323117"/>
              <a:gd name="connsiteX4" fmla="*/ 1161559 w 2323117"/>
              <a:gd name="connsiteY4" fmla="*/ 0 h 2323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23117" h="2323117">
                <a:moveTo>
                  <a:pt x="1161559" y="0"/>
                </a:moveTo>
                <a:lnTo>
                  <a:pt x="2323117" y="1161559"/>
                </a:lnTo>
                <a:lnTo>
                  <a:pt x="1161559" y="2323117"/>
                </a:lnTo>
                <a:lnTo>
                  <a:pt x="0" y="1161559"/>
                </a:lnTo>
                <a:lnTo>
                  <a:pt x="1161559" y="0"/>
                </a:lnTo>
                <a:close/>
              </a:path>
            </a:pathLst>
          </a:cu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33" name="稻壳儿原创设计师【幻雨工作室】_5">
            <a:extLst>
              <a:ext uri="{FF2B5EF4-FFF2-40B4-BE49-F238E27FC236}">
                <a16:creationId xmlns:a16="http://schemas.microsoft.com/office/drawing/2014/main" id="{6867D541-8D74-472F-93F6-ACD1D369199D}"/>
              </a:ext>
            </a:extLst>
          </p:cNvPr>
          <p:cNvSpPr/>
          <p:nvPr/>
        </p:nvSpPr>
        <p:spPr>
          <a:xfrm>
            <a:off x="2093870" y="4537620"/>
            <a:ext cx="1425981" cy="1425981"/>
          </a:xfrm>
          <a:custGeom>
            <a:avLst/>
            <a:gdLst>
              <a:gd name="connsiteX0" fmla="*/ 712991 w 1425981"/>
              <a:gd name="connsiteY0" fmla="*/ 0 h 1425981"/>
              <a:gd name="connsiteX1" fmla="*/ 1425981 w 1425981"/>
              <a:gd name="connsiteY1" fmla="*/ 712991 h 1425981"/>
              <a:gd name="connsiteX2" fmla="*/ 712991 w 1425981"/>
              <a:gd name="connsiteY2" fmla="*/ 1425981 h 1425981"/>
              <a:gd name="connsiteX3" fmla="*/ 0 w 1425981"/>
              <a:gd name="connsiteY3" fmla="*/ 712991 h 1425981"/>
              <a:gd name="connsiteX4" fmla="*/ 712991 w 1425981"/>
              <a:gd name="connsiteY4" fmla="*/ 0 h 1425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5981" h="1425981">
                <a:moveTo>
                  <a:pt x="712991" y="0"/>
                </a:moveTo>
                <a:lnTo>
                  <a:pt x="1425981" y="712991"/>
                </a:lnTo>
                <a:lnTo>
                  <a:pt x="712991" y="1425981"/>
                </a:lnTo>
                <a:lnTo>
                  <a:pt x="0" y="712991"/>
                </a:lnTo>
                <a:lnTo>
                  <a:pt x="712991" y="0"/>
                </a:lnTo>
                <a:close/>
              </a:path>
            </a:pathLst>
          </a:cu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34" name="稻壳儿原创设计师【幻雨工作室】_6">
            <a:extLst>
              <a:ext uri="{FF2B5EF4-FFF2-40B4-BE49-F238E27FC236}">
                <a16:creationId xmlns:a16="http://schemas.microsoft.com/office/drawing/2014/main" id="{6E680FED-5EAB-4280-B793-A22694C027FB}"/>
              </a:ext>
            </a:extLst>
          </p:cNvPr>
          <p:cNvSpPr/>
          <p:nvPr/>
        </p:nvSpPr>
        <p:spPr>
          <a:xfrm>
            <a:off x="4139321" y="4537620"/>
            <a:ext cx="1425981" cy="1425981"/>
          </a:xfrm>
          <a:custGeom>
            <a:avLst/>
            <a:gdLst>
              <a:gd name="connsiteX0" fmla="*/ 712991 w 1425981"/>
              <a:gd name="connsiteY0" fmla="*/ 0 h 1425981"/>
              <a:gd name="connsiteX1" fmla="*/ 1425981 w 1425981"/>
              <a:gd name="connsiteY1" fmla="*/ 712991 h 1425981"/>
              <a:gd name="connsiteX2" fmla="*/ 712991 w 1425981"/>
              <a:gd name="connsiteY2" fmla="*/ 1425981 h 1425981"/>
              <a:gd name="connsiteX3" fmla="*/ 0 w 1425981"/>
              <a:gd name="connsiteY3" fmla="*/ 712991 h 1425981"/>
              <a:gd name="connsiteX4" fmla="*/ 712991 w 1425981"/>
              <a:gd name="connsiteY4" fmla="*/ 0 h 1425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5981" h="1425981">
                <a:moveTo>
                  <a:pt x="712991" y="0"/>
                </a:moveTo>
                <a:lnTo>
                  <a:pt x="1425981" y="712991"/>
                </a:lnTo>
                <a:lnTo>
                  <a:pt x="712991" y="1425981"/>
                </a:lnTo>
                <a:lnTo>
                  <a:pt x="0" y="712991"/>
                </a:lnTo>
                <a:lnTo>
                  <a:pt x="712991" y="0"/>
                </a:lnTo>
                <a:close/>
              </a:path>
            </a:pathLst>
          </a:custGeom>
          <a:blipFill dpi="0" rotWithShape="1">
            <a:blip r:embed="rId4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35" name="稻壳儿原创设计师【幻雨工作室】_7">
            <a:extLst>
              <a:ext uri="{FF2B5EF4-FFF2-40B4-BE49-F238E27FC236}">
                <a16:creationId xmlns:a16="http://schemas.microsoft.com/office/drawing/2014/main" id="{6D607A51-3461-4A37-B2B6-B80224299AEF}"/>
              </a:ext>
            </a:extLst>
          </p:cNvPr>
          <p:cNvSpPr/>
          <p:nvPr/>
        </p:nvSpPr>
        <p:spPr>
          <a:xfrm>
            <a:off x="2362266" y="1891236"/>
            <a:ext cx="2986315" cy="2986315"/>
          </a:xfrm>
          <a:prstGeom prst="diamond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 Rounded MT Bold" panose="020F0704030504030204" pitchFamily="34" charset="0"/>
            </a:endParaRPr>
          </a:p>
        </p:txBody>
      </p:sp>
      <p:sp>
        <p:nvSpPr>
          <p:cNvPr id="36" name="稻壳儿原创设计师【幻雨工作室】_8">
            <a:extLst>
              <a:ext uri="{FF2B5EF4-FFF2-40B4-BE49-F238E27FC236}">
                <a16:creationId xmlns:a16="http://schemas.microsoft.com/office/drawing/2014/main" id="{2C023325-6DEB-4319-BCC3-C753EE7DA230}"/>
              </a:ext>
            </a:extLst>
          </p:cNvPr>
          <p:cNvSpPr/>
          <p:nvPr/>
        </p:nvSpPr>
        <p:spPr>
          <a:xfrm>
            <a:off x="1881485" y="4327940"/>
            <a:ext cx="1833067" cy="1833067"/>
          </a:xfrm>
          <a:prstGeom prst="diamond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 Rounded MT Bold" panose="020F0704030504030204" pitchFamily="34" charset="0"/>
            </a:endParaRPr>
          </a:p>
        </p:txBody>
      </p:sp>
      <p:sp>
        <p:nvSpPr>
          <p:cNvPr id="37" name="稻壳儿原创设计师【幻雨工作室】_9">
            <a:extLst>
              <a:ext uri="{FF2B5EF4-FFF2-40B4-BE49-F238E27FC236}">
                <a16:creationId xmlns:a16="http://schemas.microsoft.com/office/drawing/2014/main" id="{F6E83442-B808-4398-98F6-FC66C39A0C03}"/>
              </a:ext>
            </a:extLst>
          </p:cNvPr>
          <p:cNvSpPr/>
          <p:nvPr/>
        </p:nvSpPr>
        <p:spPr>
          <a:xfrm>
            <a:off x="3926936" y="4327940"/>
            <a:ext cx="1833067" cy="1833067"/>
          </a:xfrm>
          <a:prstGeom prst="diamond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 Rounded MT Bold" panose="020F0704030504030204" pitchFamily="34" charset="0"/>
            </a:endParaRPr>
          </a:p>
        </p:txBody>
      </p:sp>
      <p:sp>
        <p:nvSpPr>
          <p:cNvPr id="38" name="稻壳儿原创设计师【幻雨工作室】_10">
            <a:extLst>
              <a:ext uri="{FF2B5EF4-FFF2-40B4-BE49-F238E27FC236}">
                <a16:creationId xmlns:a16="http://schemas.microsoft.com/office/drawing/2014/main" id="{8C9F0CDA-2491-40EA-A618-8BCCF5FAEF89}"/>
              </a:ext>
            </a:extLst>
          </p:cNvPr>
          <p:cNvSpPr/>
          <p:nvPr/>
        </p:nvSpPr>
        <p:spPr>
          <a:xfrm>
            <a:off x="6472789" y="1884062"/>
            <a:ext cx="1038294" cy="1038294"/>
          </a:xfrm>
          <a:prstGeom prst="diamond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Calibri" panose="020F0502020204030204" pitchFamily="34" charset="0"/>
              </a:rPr>
              <a:t>01</a:t>
            </a:r>
          </a:p>
        </p:txBody>
      </p:sp>
      <p:sp>
        <p:nvSpPr>
          <p:cNvPr id="39" name="稻壳儿原创设计师【幻雨工作室】_11">
            <a:extLst>
              <a:ext uri="{FF2B5EF4-FFF2-40B4-BE49-F238E27FC236}">
                <a16:creationId xmlns:a16="http://schemas.microsoft.com/office/drawing/2014/main" id="{4DDA596D-26B8-45D4-B8C0-B8E86A2812F7}"/>
              </a:ext>
            </a:extLst>
          </p:cNvPr>
          <p:cNvSpPr/>
          <p:nvPr/>
        </p:nvSpPr>
        <p:spPr>
          <a:xfrm>
            <a:off x="6480045" y="3446425"/>
            <a:ext cx="1038294" cy="1038294"/>
          </a:xfrm>
          <a:prstGeom prst="diamond">
            <a:avLst/>
          </a:prstGeom>
          <a:solidFill>
            <a:schemeClr val="accent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02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0" name="稻壳儿原创设计师【幻雨工作室】_12">
            <a:extLst>
              <a:ext uri="{FF2B5EF4-FFF2-40B4-BE49-F238E27FC236}">
                <a16:creationId xmlns:a16="http://schemas.microsoft.com/office/drawing/2014/main" id="{B1C77998-74F0-475C-B38C-301C6CE2E9BF}"/>
              </a:ext>
            </a:extLst>
          </p:cNvPr>
          <p:cNvSpPr/>
          <p:nvPr/>
        </p:nvSpPr>
        <p:spPr>
          <a:xfrm>
            <a:off x="6480045" y="5008788"/>
            <a:ext cx="1038294" cy="1038294"/>
          </a:xfrm>
          <a:prstGeom prst="diamond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03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1" name="稻壳儿原创设计师【幻雨工作室】_2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FD02E4EE-4A32-4E16-89F2-6E92ED7A4BB3}"/>
              </a:ext>
            </a:extLst>
          </p:cNvPr>
          <p:cNvSpPr/>
          <p:nvPr/>
        </p:nvSpPr>
        <p:spPr>
          <a:xfrm>
            <a:off x="7655188" y="3330557"/>
            <a:ext cx="2655328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>
              <a:lnSpc>
                <a:spcPct val="150000"/>
              </a:lnSpc>
            </a:pP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稻壳儿原创设计师【幻雨工作室】_2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CB7402DA-7580-47A0-90DC-439CBE276C9D}"/>
              </a:ext>
            </a:extLst>
          </p:cNvPr>
          <p:cNvSpPr/>
          <p:nvPr/>
        </p:nvSpPr>
        <p:spPr>
          <a:xfrm>
            <a:off x="7655188" y="1773682"/>
            <a:ext cx="2655328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>
              <a:lnSpc>
                <a:spcPct val="150000"/>
              </a:lnSpc>
            </a:pP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稻壳儿原创设计师【幻雨工作室】_2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9624EA11-FCA3-4083-AF81-662704D7E75F}"/>
              </a:ext>
            </a:extLst>
          </p:cNvPr>
          <p:cNvSpPr/>
          <p:nvPr/>
        </p:nvSpPr>
        <p:spPr>
          <a:xfrm>
            <a:off x="7655188" y="4892920"/>
            <a:ext cx="2655328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>
              <a:lnSpc>
                <a:spcPct val="150000"/>
              </a:lnSpc>
            </a:pP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8829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稻壳儿原创设计师【幻雨工作室】_4">
            <a:extLst>
              <a:ext uri="{FF2B5EF4-FFF2-40B4-BE49-F238E27FC236}">
                <a16:creationId xmlns:a16="http://schemas.microsoft.com/office/drawing/2014/main" id="{AF26B2FA-0AE6-47A2-8BAF-FED4997606FE}"/>
              </a:ext>
            </a:extLst>
          </p:cNvPr>
          <p:cNvSpPr txBox="1"/>
          <p:nvPr/>
        </p:nvSpPr>
        <p:spPr>
          <a:xfrm>
            <a:off x="820118" y="696993"/>
            <a:ext cx="5253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行业动态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Market</a:t>
            </a:r>
          </a:p>
        </p:txBody>
      </p:sp>
      <p:sp>
        <p:nvSpPr>
          <p:cNvPr id="25" name="稻壳儿搜索【幻雨工作室】_6">
            <a:extLst>
              <a:ext uri="{FF2B5EF4-FFF2-40B4-BE49-F238E27FC236}">
                <a16:creationId xmlns:a16="http://schemas.microsoft.com/office/drawing/2014/main" id="{89537238-E4EA-4E62-8C33-871A8FF05B17}"/>
              </a:ext>
            </a:extLst>
          </p:cNvPr>
          <p:cNvSpPr/>
          <p:nvPr/>
        </p:nvSpPr>
        <p:spPr>
          <a:xfrm>
            <a:off x="3492120" y="2132588"/>
            <a:ext cx="2495550" cy="347465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稻壳儿搜索【幻雨工作室】_7">
            <a:extLst>
              <a:ext uri="{FF2B5EF4-FFF2-40B4-BE49-F238E27FC236}">
                <a16:creationId xmlns:a16="http://schemas.microsoft.com/office/drawing/2014/main" id="{BF5BBFEC-187C-4095-88E2-6DDBEB449C5E}"/>
              </a:ext>
            </a:extLst>
          </p:cNvPr>
          <p:cNvSpPr/>
          <p:nvPr/>
        </p:nvSpPr>
        <p:spPr>
          <a:xfrm>
            <a:off x="3773076" y="4414426"/>
            <a:ext cx="1933638" cy="1033874"/>
          </a:xfrm>
          <a:prstGeom prst="rect">
            <a:avLst/>
          </a:prstGeom>
          <a:solidFill>
            <a:schemeClr val="accent2"/>
          </a:solidFill>
          <a:ln w="127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31800" dist="38100" dir="2700000" algn="tl" rotWithShape="0">
                    <a:schemeClr val="accent1">
                      <a:alpha val="25000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3" name="稻壳儿搜索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3EE9B6E5-82E2-4BC6-9A7D-642428D9B208}"/>
              </a:ext>
            </a:extLst>
          </p:cNvPr>
          <p:cNvSpPr/>
          <p:nvPr/>
        </p:nvSpPr>
        <p:spPr>
          <a:xfrm>
            <a:off x="3675913" y="2498456"/>
            <a:ext cx="21279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技术/产品路线</a:t>
            </a:r>
          </a:p>
          <a:p>
            <a:pPr algn="ctr">
              <a:lnSpc>
                <a:spcPct val="150000"/>
              </a:lnSpc>
            </a:pP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多氟多发布大圆柱换电模组，同体积容量击穿行业纪录；万润新能源推出高容量、高压实LFP材料，能量密度和循环性能优异。 推测说明：未使用推测 来源：https://www.itdcw.com/news/chanpinxinwen/06251562M2026.html；https://www.hbwanrun.com/application_details/1.h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</a:p>
        </p:txBody>
      </p:sp>
      <p:sp>
        <p:nvSpPr>
          <p:cNvPr id="56" name="稻壳儿原创设计师【幻雨工作室】_4">
            <a:extLst>
              <a:ext uri="{FF2B5EF4-FFF2-40B4-BE49-F238E27FC236}">
                <a16:creationId xmlns:a16="http://schemas.microsoft.com/office/drawing/2014/main" id="{7A161212-B303-4C50-AF98-9D9BE095F586}"/>
              </a:ext>
            </a:extLst>
          </p:cNvPr>
          <p:cNvSpPr>
            <a:spLocks noEditPoints="1"/>
          </p:cNvSpPr>
          <p:nvPr/>
        </p:nvSpPr>
        <p:spPr bwMode="auto">
          <a:xfrm>
            <a:off x="4526291" y="4711701"/>
            <a:ext cx="427208" cy="439326"/>
          </a:xfrm>
          <a:custGeom>
            <a:avLst/>
            <a:gdLst>
              <a:gd name="T0" fmla="*/ 119 w 141"/>
              <a:gd name="T1" fmla="*/ 92 h 145"/>
              <a:gd name="T2" fmla="*/ 120 w 141"/>
              <a:gd name="T3" fmla="*/ 92 h 145"/>
              <a:gd name="T4" fmla="*/ 119 w 141"/>
              <a:gd name="T5" fmla="*/ 91 h 145"/>
              <a:gd name="T6" fmla="*/ 99 w 141"/>
              <a:gd name="T7" fmla="*/ 78 h 145"/>
              <a:gd name="T8" fmla="*/ 83 w 141"/>
              <a:gd name="T9" fmla="*/ 69 h 145"/>
              <a:gd name="T10" fmla="*/ 78 w 141"/>
              <a:gd name="T11" fmla="*/ 65 h 145"/>
              <a:gd name="T12" fmla="*/ 76 w 141"/>
              <a:gd name="T13" fmla="*/ 59 h 145"/>
              <a:gd name="T14" fmla="*/ 81 w 141"/>
              <a:gd name="T15" fmla="*/ 47 h 145"/>
              <a:gd name="T16" fmla="*/ 86 w 141"/>
              <a:gd name="T17" fmla="*/ 37 h 145"/>
              <a:gd name="T18" fmla="*/ 84 w 141"/>
              <a:gd name="T19" fmla="*/ 34 h 145"/>
              <a:gd name="T20" fmla="*/ 81 w 141"/>
              <a:gd name="T21" fmla="*/ 12 h 145"/>
              <a:gd name="T22" fmla="*/ 67 w 141"/>
              <a:gd name="T23" fmla="*/ 2 h 145"/>
              <a:gd name="T24" fmla="*/ 62 w 141"/>
              <a:gd name="T25" fmla="*/ 1 h 145"/>
              <a:gd name="T26" fmla="*/ 55 w 141"/>
              <a:gd name="T27" fmla="*/ 0 h 145"/>
              <a:gd name="T28" fmla="*/ 56 w 141"/>
              <a:gd name="T29" fmla="*/ 2 h 145"/>
              <a:gd name="T30" fmla="*/ 42 w 141"/>
              <a:gd name="T31" fmla="*/ 12 h 145"/>
              <a:gd name="T32" fmla="*/ 39 w 141"/>
              <a:gd name="T33" fmla="*/ 34 h 145"/>
              <a:gd name="T34" fmla="*/ 37 w 141"/>
              <a:gd name="T35" fmla="*/ 37 h 145"/>
              <a:gd name="T36" fmla="*/ 42 w 141"/>
              <a:gd name="T37" fmla="*/ 47 h 145"/>
              <a:gd name="T38" fmla="*/ 47 w 141"/>
              <a:gd name="T39" fmla="*/ 59 h 145"/>
              <a:gd name="T40" fmla="*/ 45 w 141"/>
              <a:gd name="T41" fmla="*/ 65 h 145"/>
              <a:gd name="T42" fmla="*/ 40 w 141"/>
              <a:gd name="T43" fmla="*/ 69 h 145"/>
              <a:gd name="T44" fmla="*/ 25 w 141"/>
              <a:gd name="T45" fmla="*/ 78 h 145"/>
              <a:gd name="T46" fmla="*/ 4 w 141"/>
              <a:gd name="T47" fmla="*/ 91 h 145"/>
              <a:gd name="T48" fmla="*/ 0 w 141"/>
              <a:gd name="T49" fmla="*/ 124 h 145"/>
              <a:gd name="T50" fmla="*/ 0 w 141"/>
              <a:gd name="T51" fmla="*/ 126 h 145"/>
              <a:gd name="T52" fmla="*/ 0 w 141"/>
              <a:gd name="T53" fmla="*/ 126 h 145"/>
              <a:gd name="T54" fmla="*/ 62 w 141"/>
              <a:gd name="T55" fmla="*/ 142 h 145"/>
              <a:gd name="T56" fmla="*/ 92 w 141"/>
              <a:gd name="T57" fmla="*/ 139 h 145"/>
              <a:gd name="T58" fmla="*/ 88 w 141"/>
              <a:gd name="T59" fmla="*/ 123 h 145"/>
              <a:gd name="T60" fmla="*/ 119 w 141"/>
              <a:gd name="T61" fmla="*/ 92 h 145"/>
              <a:gd name="T62" fmla="*/ 122 w 141"/>
              <a:gd name="T63" fmla="*/ 100 h 145"/>
              <a:gd name="T64" fmla="*/ 119 w 141"/>
              <a:gd name="T65" fmla="*/ 100 h 145"/>
              <a:gd name="T66" fmla="*/ 96 w 141"/>
              <a:gd name="T67" fmla="*/ 123 h 145"/>
              <a:gd name="T68" fmla="*/ 101 w 141"/>
              <a:gd name="T69" fmla="*/ 136 h 145"/>
              <a:gd name="T70" fmla="*/ 119 w 141"/>
              <a:gd name="T71" fmla="*/ 145 h 145"/>
              <a:gd name="T72" fmla="*/ 141 w 141"/>
              <a:gd name="T73" fmla="*/ 123 h 145"/>
              <a:gd name="T74" fmla="*/ 122 w 141"/>
              <a:gd name="T75" fmla="*/ 100 h 145"/>
              <a:gd name="T76" fmla="*/ 133 w 141"/>
              <a:gd name="T77" fmla="*/ 125 h 145"/>
              <a:gd name="T78" fmla="*/ 122 w 141"/>
              <a:gd name="T79" fmla="*/ 125 h 145"/>
              <a:gd name="T80" fmla="*/ 122 w 141"/>
              <a:gd name="T81" fmla="*/ 137 h 145"/>
              <a:gd name="T82" fmla="*/ 116 w 141"/>
              <a:gd name="T83" fmla="*/ 137 h 145"/>
              <a:gd name="T84" fmla="*/ 116 w 141"/>
              <a:gd name="T85" fmla="*/ 125 h 145"/>
              <a:gd name="T86" fmla="*/ 104 w 141"/>
              <a:gd name="T87" fmla="*/ 125 h 145"/>
              <a:gd name="T88" fmla="*/ 104 w 141"/>
              <a:gd name="T89" fmla="*/ 120 h 145"/>
              <a:gd name="T90" fmla="*/ 116 w 141"/>
              <a:gd name="T91" fmla="*/ 120 h 145"/>
              <a:gd name="T92" fmla="*/ 116 w 141"/>
              <a:gd name="T93" fmla="*/ 108 h 145"/>
              <a:gd name="T94" fmla="*/ 122 w 141"/>
              <a:gd name="T95" fmla="*/ 108 h 145"/>
              <a:gd name="T96" fmla="*/ 122 w 141"/>
              <a:gd name="T97" fmla="*/ 120 h 145"/>
              <a:gd name="T98" fmla="*/ 133 w 141"/>
              <a:gd name="T99" fmla="*/ 120 h 145"/>
              <a:gd name="T100" fmla="*/ 133 w 141"/>
              <a:gd name="T101" fmla="*/ 125 h 1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41" h="145">
                <a:moveTo>
                  <a:pt x="119" y="92"/>
                </a:moveTo>
                <a:cubicBezTo>
                  <a:pt x="119" y="92"/>
                  <a:pt x="119" y="92"/>
                  <a:pt x="120" y="92"/>
                </a:cubicBezTo>
                <a:cubicBezTo>
                  <a:pt x="120" y="92"/>
                  <a:pt x="120" y="91"/>
                  <a:pt x="119" y="91"/>
                </a:cubicBezTo>
                <a:cubicBezTo>
                  <a:pt x="115" y="79"/>
                  <a:pt x="102" y="79"/>
                  <a:pt x="99" y="78"/>
                </a:cubicBezTo>
                <a:cubicBezTo>
                  <a:pt x="89" y="75"/>
                  <a:pt x="85" y="74"/>
                  <a:pt x="83" y="69"/>
                </a:cubicBezTo>
                <a:cubicBezTo>
                  <a:pt x="81" y="65"/>
                  <a:pt x="78" y="65"/>
                  <a:pt x="78" y="65"/>
                </a:cubicBezTo>
                <a:cubicBezTo>
                  <a:pt x="77" y="63"/>
                  <a:pt x="77" y="61"/>
                  <a:pt x="76" y="59"/>
                </a:cubicBezTo>
                <a:cubicBezTo>
                  <a:pt x="80" y="54"/>
                  <a:pt x="81" y="47"/>
                  <a:pt x="81" y="47"/>
                </a:cubicBezTo>
                <a:cubicBezTo>
                  <a:pt x="85" y="46"/>
                  <a:pt x="86" y="40"/>
                  <a:pt x="86" y="37"/>
                </a:cubicBezTo>
                <a:cubicBezTo>
                  <a:pt x="86" y="35"/>
                  <a:pt x="84" y="34"/>
                  <a:pt x="84" y="34"/>
                </a:cubicBezTo>
                <a:cubicBezTo>
                  <a:pt x="84" y="34"/>
                  <a:pt x="87" y="20"/>
                  <a:pt x="81" y="12"/>
                </a:cubicBezTo>
                <a:cubicBezTo>
                  <a:pt x="76" y="3"/>
                  <a:pt x="67" y="2"/>
                  <a:pt x="67" y="2"/>
                </a:cubicBezTo>
                <a:cubicBezTo>
                  <a:pt x="62" y="1"/>
                  <a:pt x="62" y="1"/>
                  <a:pt x="62" y="1"/>
                </a:cubicBezTo>
                <a:cubicBezTo>
                  <a:pt x="62" y="1"/>
                  <a:pt x="56" y="1"/>
                  <a:pt x="55" y="0"/>
                </a:cubicBezTo>
                <a:cubicBezTo>
                  <a:pt x="55" y="0"/>
                  <a:pt x="55" y="2"/>
                  <a:pt x="56" y="2"/>
                </a:cubicBezTo>
                <a:cubicBezTo>
                  <a:pt x="56" y="2"/>
                  <a:pt x="47" y="3"/>
                  <a:pt x="42" y="12"/>
                </a:cubicBezTo>
                <a:cubicBezTo>
                  <a:pt x="36" y="20"/>
                  <a:pt x="39" y="34"/>
                  <a:pt x="39" y="34"/>
                </a:cubicBezTo>
                <a:cubicBezTo>
                  <a:pt x="39" y="34"/>
                  <a:pt x="37" y="35"/>
                  <a:pt x="37" y="37"/>
                </a:cubicBezTo>
                <a:cubicBezTo>
                  <a:pt x="37" y="40"/>
                  <a:pt x="38" y="46"/>
                  <a:pt x="42" y="47"/>
                </a:cubicBezTo>
                <a:cubicBezTo>
                  <a:pt x="42" y="47"/>
                  <a:pt x="43" y="54"/>
                  <a:pt x="47" y="59"/>
                </a:cubicBezTo>
                <a:cubicBezTo>
                  <a:pt x="46" y="61"/>
                  <a:pt x="46" y="63"/>
                  <a:pt x="45" y="65"/>
                </a:cubicBezTo>
                <a:cubicBezTo>
                  <a:pt x="45" y="65"/>
                  <a:pt x="43" y="65"/>
                  <a:pt x="40" y="69"/>
                </a:cubicBezTo>
                <a:cubicBezTo>
                  <a:pt x="38" y="74"/>
                  <a:pt x="35" y="75"/>
                  <a:pt x="25" y="78"/>
                </a:cubicBezTo>
                <a:cubicBezTo>
                  <a:pt x="21" y="79"/>
                  <a:pt x="9" y="79"/>
                  <a:pt x="4" y="91"/>
                </a:cubicBezTo>
                <a:cubicBezTo>
                  <a:pt x="1" y="97"/>
                  <a:pt x="0" y="111"/>
                  <a:pt x="0" y="124"/>
                </a:cubicBezTo>
                <a:cubicBezTo>
                  <a:pt x="0" y="124"/>
                  <a:pt x="0" y="125"/>
                  <a:pt x="0" y="126"/>
                </a:cubicBezTo>
                <a:cubicBezTo>
                  <a:pt x="0" y="126"/>
                  <a:pt x="0" y="126"/>
                  <a:pt x="0" y="126"/>
                </a:cubicBezTo>
                <a:cubicBezTo>
                  <a:pt x="12" y="134"/>
                  <a:pt x="31" y="142"/>
                  <a:pt x="62" y="142"/>
                </a:cubicBezTo>
                <a:cubicBezTo>
                  <a:pt x="73" y="142"/>
                  <a:pt x="84" y="141"/>
                  <a:pt x="92" y="139"/>
                </a:cubicBezTo>
                <a:cubicBezTo>
                  <a:pt x="90" y="134"/>
                  <a:pt x="88" y="129"/>
                  <a:pt x="88" y="123"/>
                </a:cubicBezTo>
                <a:cubicBezTo>
                  <a:pt x="88" y="106"/>
                  <a:pt x="102" y="92"/>
                  <a:pt x="119" y="92"/>
                </a:cubicBezTo>
                <a:close/>
                <a:moveTo>
                  <a:pt x="122" y="100"/>
                </a:moveTo>
                <a:cubicBezTo>
                  <a:pt x="121" y="100"/>
                  <a:pt x="120" y="100"/>
                  <a:pt x="119" y="100"/>
                </a:cubicBezTo>
                <a:cubicBezTo>
                  <a:pt x="106" y="100"/>
                  <a:pt x="96" y="110"/>
                  <a:pt x="96" y="123"/>
                </a:cubicBezTo>
                <a:cubicBezTo>
                  <a:pt x="96" y="128"/>
                  <a:pt x="98" y="133"/>
                  <a:pt x="101" y="136"/>
                </a:cubicBezTo>
                <a:cubicBezTo>
                  <a:pt x="105" y="142"/>
                  <a:pt x="112" y="145"/>
                  <a:pt x="119" y="145"/>
                </a:cubicBezTo>
                <a:cubicBezTo>
                  <a:pt x="131" y="145"/>
                  <a:pt x="141" y="135"/>
                  <a:pt x="141" y="123"/>
                </a:cubicBezTo>
                <a:cubicBezTo>
                  <a:pt x="141" y="111"/>
                  <a:pt x="133" y="102"/>
                  <a:pt x="122" y="100"/>
                </a:cubicBezTo>
                <a:close/>
                <a:moveTo>
                  <a:pt x="133" y="125"/>
                </a:moveTo>
                <a:cubicBezTo>
                  <a:pt x="122" y="125"/>
                  <a:pt x="122" y="125"/>
                  <a:pt x="122" y="125"/>
                </a:cubicBezTo>
                <a:cubicBezTo>
                  <a:pt x="122" y="137"/>
                  <a:pt x="122" y="137"/>
                  <a:pt x="122" y="137"/>
                </a:cubicBezTo>
                <a:cubicBezTo>
                  <a:pt x="116" y="137"/>
                  <a:pt x="116" y="137"/>
                  <a:pt x="116" y="137"/>
                </a:cubicBezTo>
                <a:cubicBezTo>
                  <a:pt x="116" y="125"/>
                  <a:pt x="116" y="125"/>
                  <a:pt x="116" y="125"/>
                </a:cubicBezTo>
                <a:cubicBezTo>
                  <a:pt x="104" y="125"/>
                  <a:pt x="104" y="125"/>
                  <a:pt x="104" y="125"/>
                </a:cubicBezTo>
                <a:cubicBezTo>
                  <a:pt x="104" y="120"/>
                  <a:pt x="104" y="120"/>
                  <a:pt x="104" y="120"/>
                </a:cubicBezTo>
                <a:cubicBezTo>
                  <a:pt x="116" y="120"/>
                  <a:pt x="116" y="120"/>
                  <a:pt x="116" y="120"/>
                </a:cubicBezTo>
                <a:cubicBezTo>
                  <a:pt x="116" y="108"/>
                  <a:pt x="116" y="108"/>
                  <a:pt x="116" y="108"/>
                </a:cubicBezTo>
                <a:cubicBezTo>
                  <a:pt x="122" y="108"/>
                  <a:pt x="122" y="108"/>
                  <a:pt x="122" y="108"/>
                </a:cubicBezTo>
                <a:cubicBezTo>
                  <a:pt x="122" y="120"/>
                  <a:pt x="122" y="120"/>
                  <a:pt x="122" y="120"/>
                </a:cubicBezTo>
                <a:cubicBezTo>
                  <a:pt x="133" y="120"/>
                  <a:pt x="133" y="120"/>
                  <a:pt x="133" y="120"/>
                </a:cubicBezTo>
                <a:lnTo>
                  <a:pt x="133" y="12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/>
          </a:p>
        </p:txBody>
      </p:sp>
      <p:sp>
        <p:nvSpPr>
          <p:cNvPr id="30" name="稻壳儿搜索【幻雨工作室】_10">
            <a:extLst>
              <a:ext uri="{FF2B5EF4-FFF2-40B4-BE49-F238E27FC236}">
                <a16:creationId xmlns:a16="http://schemas.microsoft.com/office/drawing/2014/main" id="{7B0EA33D-2D78-42AB-81FC-CAD664088BB4}"/>
              </a:ext>
            </a:extLst>
          </p:cNvPr>
          <p:cNvSpPr/>
          <p:nvPr/>
        </p:nvSpPr>
        <p:spPr>
          <a:xfrm>
            <a:off x="8916542" y="2132588"/>
            <a:ext cx="2495550" cy="347465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稻壳儿搜索【幻雨工作室】_11">
            <a:extLst>
              <a:ext uri="{FF2B5EF4-FFF2-40B4-BE49-F238E27FC236}">
                <a16:creationId xmlns:a16="http://schemas.microsoft.com/office/drawing/2014/main" id="{E757B571-8AD8-400D-87A0-9297BB203D06}"/>
              </a:ext>
            </a:extLst>
          </p:cNvPr>
          <p:cNvSpPr/>
          <p:nvPr/>
        </p:nvSpPr>
        <p:spPr>
          <a:xfrm>
            <a:off x="9197498" y="4414426"/>
            <a:ext cx="1933638" cy="1033874"/>
          </a:xfrm>
          <a:prstGeom prst="rect">
            <a:avLst/>
          </a:prstGeom>
          <a:solidFill>
            <a:schemeClr val="accent4"/>
          </a:solidFill>
          <a:ln w="127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31800" dist="38100" dir="2700000" algn="tl" rotWithShape="0">
                    <a:schemeClr val="accent1">
                      <a:alpha val="25000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5" name="稻壳儿搜索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68D5672E-0ED3-4AA9-BC97-24391AD1A59C}"/>
              </a:ext>
            </a:extLst>
          </p:cNvPr>
          <p:cNvSpPr/>
          <p:nvPr/>
        </p:nvSpPr>
        <p:spPr>
          <a:xfrm>
            <a:off x="9100335" y="2498456"/>
            <a:ext cx="21279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价格/盈利压力</a:t>
            </a:r>
          </a:p>
          <a:p>
            <a:pPr algn="ctr">
              <a:lnSpc>
                <a:spcPct val="150000"/>
              </a:lnSpc>
            </a:pP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未直接提及价格或盈利数据，但项目扩产叫停暗示行业盈利承压，企业投资趋于谨慎。 推测说明：推测理由：项目扩产叫停通常反映企业对未来盈利预期悲观或资金压力。证据不足点：无具体价格或毛利率数据支撑。 来源：https://www.itdcw.com/news/dczk/06291563622026.html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</a:p>
        </p:txBody>
      </p:sp>
      <p:sp>
        <p:nvSpPr>
          <p:cNvPr id="57" name="稻壳儿原创设计师【幻雨工作室】_5">
            <a:extLst>
              <a:ext uri="{FF2B5EF4-FFF2-40B4-BE49-F238E27FC236}">
                <a16:creationId xmlns:a16="http://schemas.microsoft.com/office/drawing/2014/main" id="{03B5180C-9711-41B5-9708-9AC0EA60272A}"/>
              </a:ext>
            </a:extLst>
          </p:cNvPr>
          <p:cNvSpPr>
            <a:spLocks noEditPoints="1"/>
          </p:cNvSpPr>
          <p:nvPr/>
        </p:nvSpPr>
        <p:spPr bwMode="auto">
          <a:xfrm>
            <a:off x="9939968" y="4682086"/>
            <a:ext cx="448700" cy="498554"/>
          </a:xfrm>
          <a:custGeom>
            <a:avLst/>
            <a:gdLst>
              <a:gd name="T0" fmla="*/ 74 w 135"/>
              <a:gd name="T1" fmla="*/ 84 h 150"/>
              <a:gd name="T2" fmla="*/ 74 w 135"/>
              <a:gd name="T3" fmla="*/ 83 h 150"/>
              <a:gd name="T4" fmla="*/ 74 w 135"/>
              <a:gd name="T5" fmla="*/ 53 h 150"/>
              <a:gd name="T6" fmla="*/ 68 w 135"/>
              <a:gd name="T7" fmla="*/ 47 h 150"/>
              <a:gd name="T8" fmla="*/ 62 w 135"/>
              <a:gd name="T9" fmla="*/ 53 h 150"/>
              <a:gd name="T10" fmla="*/ 62 w 135"/>
              <a:gd name="T11" fmla="*/ 83 h 150"/>
              <a:gd name="T12" fmla="*/ 68 w 135"/>
              <a:gd name="T13" fmla="*/ 89 h 150"/>
              <a:gd name="T14" fmla="*/ 69 w 135"/>
              <a:gd name="T15" fmla="*/ 89 h 150"/>
              <a:gd name="T16" fmla="*/ 96 w 135"/>
              <a:gd name="T17" fmla="*/ 116 h 150"/>
              <a:gd name="T18" fmla="*/ 98 w 135"/>
              <a:gd name="T19" fmla="*/ 117 h 150"/>
              <a:gd name="T20" fmla="*/ 101 w 135"/>
              <a:gd name="T21" fmla="*/ 116 h 150"/>
              <a:gd name="T22" fmla="*/ 101 w 135"/>
              <a:gd name="T23" fmla="*/ 111 h 150"/>
              <a:gd name="T24" fmla="*/ 74 w 135"/>
              <a:gd name="T25" fmla="*/ 84 h 150"/>
              <a:gd name="T26" fmla="*/ 110 w 135"/>
              <a:gd name="T27" fmla="*/ 30 h 150"/>
              <a:gd name="T28" fmla="*/ 113 w 135"/>
              <a:gd name="T29" fmla="*/ 24 h 150"/>
              <a:gd name="T30" fmla="*/ 115 w 135"/>
              <a:gd name="T31" fmla="*/ 25 h 150"/>
              <a:gd name="T32" fmla="*/ 118 w 135"/>
              <a:gd name="T33" fmla="*/ 25 h 150"/>
              <a:gd name="T34" fmla="*/ 121 w 135"/>
              <a:gd name="T35" fmla="*/ 23 h 150"/>
              <a:gd name="T36" fmla="*/ 123 w 135"/>
              <a:gd name="T37" fmla="*/ 18 h 150"/>
              <a:gd name="T38" fmla="*/ 122 w 135"/>
              <a:gd name="T39" fmla="*/ 13 h 150"/>
              <a:gd name="T40" fmla="*/ 103 w 135"/>
              <a:gd name="T41" fmla="*/ 1 h 150"/>
              <a:gd name="T42" fmla="*/ 97 w 135"/>
              <a:gd name="T43" fmla="*/ 3 h 150"/>
              <a:gd name="T44" fmla="*/ 95 w 135"/>
              <a:gd name="T45" fmla="*/ 8 h 150"/>
              <a:gd name="T46" fmla="*/ 94 w 135"/>
              <a:gd name="T47" fmla="*/ 11 h 150"/>
              <a:gd name="T48" fmla="*/ 96 w 135"/>
              <a:gd name="T49" fmla="*/ 14 h 150"/>
              <a:gd name="T50" fmla="*/ 97 w 135"/>
              <a:gd name="T51" fmla="*/ 14 h 150"/>
              <a:gd name="T52" fmla="*/ 94 w 135"/>
              <a:gd name="T53" fmla="*/ 21 h 150"/>
              <a:gd name="T54" fmla="*/ 68 w 135"/>
              <a:gd name="T55" fmla="*/ 16 h 150"/>
              <a:gd name="T56" fmla="*/ 42 w 135"/>
              <a:gd name="T57" fmla="*/ 21 h 150"/>
              <a:gd name="T58" fmla="*/ 38 w 135"/>
              <a:gd name="T59" fmla="*/ 14 h 150"/>
              <a:gd name="T60" fmla="*/ 40 w 135"/>
              <a:gd name="T61" fmla="*/ 14 h 150"/>
              <a:gd name="T62" fmla="*/ 41 w 135"/>
              <a:gd name="T63" fmla="*/ 11 h 150"/>
              <a:gd name="T64" fmla="*/ 41 w 135"/>
              <a:gd name="T65" fmla="*/ 8 h 150"/>
              <a:gd name="T66" fmla="*/ 38 w 135"/>
              <a:gd name="T67" fmla="*/ 3 h 150"/>
              <a:gd name="T68" fmla="*/ 32 w 135"/>
              <a:gd name="T69" fmla="*/ 1 h 150"/>
              <a:gd name="T70" fmla="*/ 14 w 135"/>
              <a:gd name="T71" fmla="*/ 13 h 150"/>
              <a:gd name="T72" fmla="*/ 12 w 135"/>
              <a:gd name="T73" fmla="*/ 18 h 150"/>
              <a:gd name="T74" fmla="*/ 15 w 135"/>
              <a:gd name="T75" fmla="*/ 23 h 150"/>
              <a:gd name="T76" fmla="*/ 18 w 135"/>
              <a:gd name="T77" fmla="*/ 25 h 150"/>
              <a:gd name="T78" fmla="*/ 21 w 135"/>
              <a:gd name="T79" fmla="*/ 25 h 150"/>
              <a:gd name="T80" fmla="*/ 22 w 135"/>
              <a:gd name="T81" fmla="*/ 24 h 150"/>
              <a:gd name="T82" fmla="*/ 26 w 135"/>
              <a:gd name="T83" fmla="*/ 30 h 150"/>
              <a:gd name="T84" fmla="*/ 0 w 135"/>
              <a:gd name="T85" fmla="*/ 83 h 150"/>
              <a:gd name="T86" fmla="*/ 68 w 135"/>
              <a:gd name="T87" fmla="*/ 150 h 150"/>
              <a:gd name="T88" fmla="*/ 135 w 135"/>
              <a:gd name="T89" fmla="*/ 83 h 150"/>
              <a:gd name="T90" fmla="*/ 110 w 135"/>
              <a:gd name="T91" fmla="*/ 30 h 150"/>
              <a:gd name="T92" fmla="*/ 68 w 135"/>
              <a:gd name="T93" fmla="*/ 138 h 150"/>
              <a:gd name="T94" fmla="*/ 13 w 135"/>
              <a:gd name="T95" fmla="*/ 83 h 150"/>
              <a:gd name="T96" fmla="*/ 68 w 135"/>
              <a:gd name="T97" fmla="*/ 29 h 150"/>
              <a:gd name="T98" fmla="*/ 122 w 135"/>
              <a:gd name="T99" fmla="*/ 83 h 150"/>
              <a:gd name="T100" fmla="*/ 68 w 135"/>
              <a:gd name="T101" fmla="*/ 138 h 1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35" h="150">
                <a:moveTo>
                  <a:pt x="74" y="84"/>
                </a:moveTo>
                <a:cubicBezTo>
                  <a:pt x="74" y="84"/>
                  <a:pt x="74" y="83"/>
                  <a:pt x="74" y="83"/>
                </a:cubicBezTo>
                <a:cubicBezTo>
                  <a:pt x="74" y="53"/>
                  <a:pt x="74" y="53"/>
                  <a:pt x="74" y="53"/>
                </a:cubicBezTo>
                <a:cubicBezTo>
                  <a:pt x="74" y="50"/>
                  <a:pt x="71" y="47"/>
                  <a:pt x="68" y="47"/>
                </a:cubicBezTo>
                <a:cubicBezTo>
                  <a:pt x="65" y="47"/>
                  <a:pt x="62" y="50"/>
                  <a:pt x="62" y="53"/>
                </a:cubicBezTo>
                <a:cubicBezTo>
                  <a:pt x="62" y="83"/>
                  <a:pt x="62" y="83"/>
                  <a:pt x="62" y="83"/>
                </a:cubicBezTo>
                <a:cubicBezTo>
                  <a:pt x="62" y="86"/>
                  <a:pt x="65" y="89"/>
                  <a:pt x="68" y="89"/>
                </a:cubicBezTo>
                <a:cubicBezTo>
                  <a:pt x="68" y="89"/>
                  <a:pt x="68" y="89"/>
                  <a:pt x="69" y="89"/>
                </a:cubicBezTo>
                <a:cubicBezTo>
                  <a:pt x="96" y="116"/>
                  <a:pt x="96" y="116"/>
                  <a:pt x="96" y="116"/>
                </a:cubicBezTo>
                <a:cubicBezTo>
                  <a:pt x="96" y="117"/>
                  <a:pt x="97" y="117"/>
                  <a:pt x="98" y="117"/>
                </a:cubicBezTo>
                <a:cubicBezTo>
                  <a:pt x="99" y="117"/>
                  <a:pt x="100" y="117"/>
                  <a:pt x="101" y="116"/>
                </a:cubicBezTo>
                <a:cubicBezTo>
                  <a:pt x="102" y="114"/>
                  <a:pt x="102" y="112"/>
                  <a:pt x="101" y="111"/>
                </a:cubicBezTo>
                <a:lnTo>
                  <a:pt x="74" y="84"/>
                </a:lnTo>
                <a:close/>
                <a:moveTo>
                  <a:pt x="110" y="30"/>
                </a:moveTo>
                <a:cubicBezTo>
                  <a:pt x="113" y="24"/>
                  <a:pt x="113" y="24"/>
                  <a:pt x="113" y="24"/>
                </a:cubicBezTo>
                <a:cubicBezTo>
                  <a:pt x="115" y="25"/>
                  <a:pt x="115" y="25"/>
                  <a:pt x="115" y="25"/>
                </a:cubicBezTo>
                <a:cubicBezTo>
                  <a:pt x="116" y="25"/>
                  <a:pt x="117" y="25"/>
                  <a:pt x="118" y="25"/>
                </a:cubicBezTo>
                <a:cubicBezTo>
                  <a:pt x="119" y="25"/>
                  <a:pt x="120" y="24"/>
                  <a:pt x="121" y="23"/>
                </a:cubicBezTo>
                <a:cubicBezTo>
                  <a:pt x="123" y="18"/>
                  <a:pt x="123" y="18"/>
                  <a:pt x="123" y="18"/>
                </a:cubicBezTo>
                <a:cubicBezTo>
                  <a:pt x="125" y="16"/>
                  <a:pt x="124" y="14"/>
                  <a:pt x="122" y="13"/>
                </a:cubicBezTo>
                <a:cubicBezTo>
                  <a:pt x="103" y="1"/>
                  <a:pt x="103" y="1"/>
                  <a:pt x="103" y="1"/>
                </a:cubicBezTo>
                <a:cubicBezTo>
                  <a:pt x="101" y="0"/>
                  <a:pt x="99" y="1"/>
                  <a:pt x="97" y="3"/>
                </a:cubicBezTo>
                <a:cubicBezTo>
                  <a:pt x="95" y="8"/>
                  <a:pt x="95" y="8"/>
                  <a:pt x="95" y="8"/>
                </a:cubicBezTo>
                <a:cubicBezTo>
                  <a:pt x="94" y="9"/>
                  <a:pt x="94" y="10"/>
                  <a:pt x="94" y="11"/>
                </a:cubicBezTo>
                <a:cubicBezTo>
                  <a:pt x="94" y="12"/>
                  <a:pt x="95" y="13"/>
                  <a:pt x="96" y="14"/>
                </a:cubicBezTo>
                <a:cubicBezTo>
                  <a:pt x="97" y="14"/>
                  <a:pt x="97" y="14"/>
                  <a:pt x="97" y="14"/>
                </a:cubicBezTo>
                <a:cubicBezTo>
                  <a:pt x="94" y="21"/>
                  <a:pt x="94" y="21"/>
                  <a:pt x="94" y="21"/>
                </a:cubicBezTo>
                <a:cubicBezTo>
                  <a:pt x="86" y="18"/>
                  <a:pt x="77" y="16"/>
                  <a:pt x="68" y="16"/>
                </a:cubicBezTo>
                <a:cubicBezTo>
                  <a:pt x="59" y="16"/>
                  <a:pt x="50" y="18"/>
                  <a:pt x="42" y="21"/>
                </a:cubicBezTo>
                <a:cubicBezTo>
                  <a:pt x="38" y="14"/>
                  <a:pt x="38" y="14"/>
                  <a:pt x="38" y="14"/>
                </a:cubicBezTo>
                <a:cubicBezTo>
                  <a:pt x="40" y="14"/>
                  <a:pt x="40" y="14"/>
                  <a:pt x="40" y="14"/>
                </a:cubicBezTo>
                <a:cubicBezTo>
                  <a:pt x="40" y="13"/>
                  <a:pt x="41" y="12"/>
                  <a:pt x="41" y="11"/>
                </a:cubicBezTo>
                <a:cubicBezTo>
                  <a:pt x="42" y="10"/>
                  <a:pt x="42" y="9"/>
                  <a:pt x="41" y="8"/>
                </a:cubicBezTo>
                <a:cubicBezTo>
                  <a:pt x="38" y="3"/>
                  <a:pt x="38" y="3"/>
                  <a:pt x="38" y="3"/>
                </a:cubicBezTo>
                <a:cubicBezTo>
                  <a:pt x="37" y="1"/>
                  <a:pt x="34" y="0"/>
                  <a:pt x="32" y="1"/>
                </a:cubicBezTo>
                <a:cubicBezTo>
                  <a:pt x="14" y="13"/>
                  <a:pt x="14" y="13"/>
                  <a:pt x="14" y="13"/>
                </a:cubicBezTo>
                <a:cubicBezTo>
                  <a:pt x="12" y="14"/>
                  <a:pt x="11" y="16"/>
                  <a:pt x="12" y="18"/>
                </a:cubicBezTo>
                <a:cubicBezTo>
                  <a:pt x="15" y="23"/>
                  <a:pt x="15" y="23"/>
                  <a:pt x="15" y="23"/>
                </a:cubicBezTo>
                <a:cubicBezTo>
                  <a:pt x="16" y="24"/>
                  <a:pt x="16" y="25"/>
                  <a:pt x="18" y="25"/>
                </a:cubicBezTo>
                <a:cubicBezTo>
                  <a:pt x="19" y="25"/>
                  <a:pt x="20" y="25"/>
                  <a:pt x="21" y="25"/>
                </a:cubicBezTo>
                <a:cubicBezTo>
                  <a:pt x="22" y="24"/>
                  <a:pt x="22" y="24"/>
                  <a:pt x="22" y="24"/>
                </a:cubicBezTo>
                <a:cubicBezTo>
                  <a:pt x="26" y="30"/>
                  <a:pt x="26" y="30"/>
                  <a:pt x="26" y="30"/>
                </a:cubicBezTo>
                <a:cubicBezTo>
                  <a:pt x="10" y="43"/>
                  <a:pt x="0" y="62"/>
                  <a:pt x="0" y="83"/>
                </a:cubicBezTo>
                <a:cubicBezTo>
                  <a:pt x="0" y="120"/>
                  <a:pt x="31" y="150"/>
                  <a:pt x="68" y="150"/>
                </a:cubicBezTo>
                <a:cubicBezTo>
                  <a:pt x="105" y="150"/>
                  <a:pt x="135" y="120"/>
                  <a:pt x="135" y="83"/>
                </a:cubicBezTo>
                <a:cubicBezTo>
                  <a:pt x="135" y="62"/>
                  <a:pt x="125" y="43"/>
                  <a:pt x="110" y="30"/>
                </a:cubicBezTo>
                <a:close/>
                <a:moveTo>
                  <a:pt x="68" y="138"/>
                </a:moveTo>
                <a:cubicBezTo>
                  <a:pt x="38" y="138"/>
                  <a:pt x="13" y="113"/>
                  <a:pt x="13" y="83"/>
                </a:cubicBezTo>
                <a:cubicBezTo>
                  <a:pt x="13" y="53"/>
                  <a:pt x="38" y="29"/>
                  <a:pt x="68" y="29"/>
                </a:cubicBezTo>
                <a:cubicBezTo>
                  <a:pt x="98" y="29"/>
                  <a:pt x="122" y="53"/>
                  <a:pt x="122" y="83"/>
                </a:cubicBezTo>
                <a:cubicBezTo>
                  <a:pt x="122" y="113"/>
                  <a:pt x="98" y="138"/>
                  <a:pt x="68" y="13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/>
          </a:p>
        </p:txBody>
      </p:sp>
      <p:sp>
        <p:nvSpPr>
          <p:cNvPr id="27" name="稻壳儿搜索【幻雨工作室】_8">
            <a:extLst>
              <a:ext uri="{FF2B5EF4-FFF2-40B4-BE49-F238E27FC236}">
                <a16:creationId xmlns:a16="http://schemas.microsoft.com/office/drawing/2014/main" id="{E421D192-A0D5-40DA-B8BD-14D1B1EC7AC0}"/>
              </a:ext>
            </a:extLst>
          </p:cNvPr>
          <p:cNvSpPr/>
          <p:nvPr/>
        </p:nvSpPr>
        <p:spPr>
          <a:xfrm>
            <a:off x="6204331" y="2132588"/>
            <a:ext cx="2495550" cy="347465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稻壳儿搜索【幻雨工作室】_9">
            <a:extLst>
              <a:ext uri="{FF2B5EF4-FFF2-40B4-BE49-F238E27FC236}">
                <a16:creationId xmlns:a16="http://schemas.microsoft.com/office/drawing/2014/main" id="{732FFC15-83F8-4230-97EA-A5EFB1E33095}"/>
              </a:ext>
            </a:extLst>
          </p:cNvPr>
          <p:cNvSpPr/>
          <p:nvPr/>
        </p:nvSpPr>
        <p:spPr>
          <a:xfrm>
            <a:off x="6485287" y="4414426"/>
            <a:ext cx="1933638" cy="1033874"/>
          </a:xfrm>
          <a:prstGeom prst="rect">
            <a:avLst/>
          </a:prstGeom>
          <a:solidFill>
            <a:schemeClr val="accent3"/>
          </a:solidFill>
          <a:ln w="127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31800" dist="38100" dir="2700000" algn="tl" rotWithShape="0">
                    <a:schemeClr val="accent1">
                      <a:alpha val="25000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4" name="稻壳儿搜索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819BC6F1-EAF5-4947-AAC7-DF12807632D4}"/>
              </a:ext>
            </a:extLst>
          </p:cNvPr>
          <p:cNvSpPr/>
          <p:nvPr/>
        </p:nvSpPr>
        <p:spPr>
          <a:xfrm>
            <a:off x="6388124" y="2498456"/>
            <a:ext cx="21279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产能/客户/订单</a:t>
            </a:r>
          </a:p>
          <a:p>
            <a:pPr algn="ctr">
              <a:lnSpc>
                <a:spcPct val="150000"/>
              </a:lnSpc>
            </a:pP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磷酸铁锂项目一边扩产一边叫停，钠电正极市场规模化出货企业少，下半年需求集中释放或致正极供应紧张，局部环节可能出现供需缺口。 推测说明：推测理由：基于供应格局分析，钠电正极产能利用率未达预期，而需求释放预期明确，可能导致供需缺口。证据不足点：缺乏具体产能数据和下游订单确认信息。 来源：https://www.itdcw.com/news/dczk/062915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</a:p>
        </p:txBody>
      </p:sp>
      <p:sp>
        <p:nvSpPr>
          <p:cNvPr id="58" name="稻壳儿原创设计师【幻雨工作室】_6">
            <a:extLst>
              <a:ext uri="{FF2B5EF4-FFF2-40B4-BE49-F238E27FC236}">
                <a16:creationId xmlns:a16="http://schemas.microsoft.com/office/drawing/2014/main" id="{3134D99C-649F-4702-9726-E54D0F7DF014}"/>
              </a:ext>
            </a:extLst>
          </p:cNvPr>
          <p:cNvSpPr>
            <a:spLocks noEditPoints="1"/>
          </p:cNvSpPr>
          <p:nvPr/>
        </p:nvSpPr>
        <p:spPr bwMode="auto">
          <a:xfrm>
            <a:off x="7265979" y="4662144"/>
            <a:ext cx="372256" cy="538438"/>
          </a:xfrm>
          <a:custGeom>
            <a:avLst/>
            <a:gdLst>
              <a:gd name="T0" fmla="*/ 32 w 112"/>
              <a:gd name="T1" fmla="*/ 141 h 162"/>
              <a:gd name="T2" fmla="*/ 33 w 112"/>
              <a:gd name="T3" fmla="*/ 149 h 162"/>
              <a:gd name="T4" fmla="*/ 41 w 112"/>
              <a:gd name="T5" fmla="*/ 153 h 162"/>
              <a:gd name="T6" fmla="*/ 42 w 112"/>
              <a:gd name="T7" fmla="*/ 158 h 162"/>
              <a:gd name="T8" fmla="*/ 56 w 112"/>
              <a:gd name="T9" fmla="*/ 162 h 162"/>
              <a:gd name="T10" fmla="*/ 70 w 112"/>
              <a:gd name="T11" fmla="*/ 158 h 162"/>
              <a:gd name="T12" fmla="*/ 70 w 112"/>
              <a:gd name="T13" fmla="*/ 153 h 162"/>
              <a:gd name="T14" fmla="*/ 78 w 112"/>
              <a:gd name="T15" fmla="*/ 149 h 162"/>
              <a:gd name="T16" fmla="*/ 79 w 112"/>
              <a:gd name="T17" fmla="*/ 141 h 162"/>
              <a:gd name="T18" fmla="*/ 56 w 112"/>
              <a:gd name="T19" fmla="*/ 144 h 162"/>
              <a:gd name="T20" fmla="*/ 32 w 112"/>
              <a:gd name="T21" fmla="*/ 141 h 162"/>
              <a:gd name="T22" fmla="*/ 56 w 112"/>
              <a:gd name="T23" fmla="*/ 0 h 162"/>
              <a:gd name="T24" fmla="*/ 0 w 112"/>
              <a:gd name="T25" fmla="*/ 56 h 162"/>
              <a:gd name="T26" fmla="*/ 27 w 112"/>
              <a:gd name="T27" fmla="*/ 104 h 162"/>
              <a:gd name="T28" fmla="*/ 29 w 112"/>
              <a:gd name="T29" fmla="*/ 118 h 162"/>
              <a:gd name="T30" fmla="*/ 56 w 112"/>
              <a:gd name="T31" fmla="*/ 123 h 162"/>
              <a:gd name="T32" fmla="*/ 83 w 112"/>
              <a:gd name="T33" fmla="*/ 118 h 162"/>
              <a:gd name="T34" fmla="*/ 85 w 112"/>
              <a:gd name="T35" fmla="*/ 104 h 162"/>
              <a:gd name="T36" fmla="*/ 112 w 112"/>
              <a:gd name="T37" fmla="*/ 56 h 162"/>
              <a:gd name="T38" fmla="*/ 56 w 112"/>
              <a:gd name="T39" fmla="*/ 0 h 162"/>
              <a:gd name="T40" fmla="*/ 76 w 112"/>
              <a:gd name="T41" fmla="*/ 97 h 162"/>
              <a:gd name="T42" fmla="*/ 75 w 112"/>
              <a:gd name="T43" fmla="*/ 110 h 162"/>
              <a:gd name="T44" fmla="*/ 56 w 112"/>
              <a:gd name="T45" fmla="*/ 113 h 162"/>
              <a:gd name="T46" fmla="*/ 37 w 112"/>
              <a:gd name="T47" fmla="*/ 110 h 162"/>
              <a:gd name="T48" fmla="*/ 35 w 112"/>
              <a:gd name="T49" fmla="*/ 97 h 162"/>
              <a:gd name="T50" fmla="*/ 10 w 112"/>
              <a:gd name="T51" fmla="*/ 56 h 162"/>
              <a:gd name="T52" fmla="*/ 56 w 112"/>
              <a:gd name="T53" fmla="*/ 10 h 162"/>
              <a:gd name="T54" fmla="*/ 102 w 112"/>
              <a:gd name="T55" fmla="*/ 56 h 162"/>
              <a:gd name="T56" fmla="*/ 76 w 112"/>
              <a:gd name="T57" fmla="*/ 97 h 162"/>
              <a:gd name="T58" fmla="*/ 30 w 112"/>
              <a:gd name="T59" fmla="*/ 125 h 162"/>
              <a:gd name="T60" fmla="*/ 31 w 112"/>
              <a:gd name="T61" fmla="*/ 133 h 162"/>
              <a:gd name="T62" fmla="*/ 56 w 112"/>
              <a:gd name="T63" fmla="*/ 138 h 162"/>
              <a:gd name="T64" fmla="*/ 80 w 112"/>
              <a:gd name="T65" fmla="*/ 133 h 162"/>
              <a:gd name="T66" fmla="*/ 82 w 112"/>
              <a:gd name="T67" fmla="*/ 125 h 162"/>
              <a:gd name="T68" fmla="*/ 56 w 112"/>
              <a:gd name="T69" fmla="*/ 130 h 162"/>
              <a:gd name="T70" fmla="*/ 30 w 112"/>
              <a:gd name="T71" fmla="*/ 125 h 162"/>
              <a:gd name="T72" fmla="*/ 56 w 112"/>
              <a:gd name="T73" fmla="*/ 23 h 162"/>
              <a:gd name="T74" fmla="*/ 59 w 112"/>
              <a:gd name="T75" fmla="*/ 20 h 162"/>
              <a:gd name="T76" fmla="*/ 56 w 112"/>
              <a:gd name="T77" fmla="*/ 17 h 162"/>
              <a:gd name="T78" fmla="*/ 17 w 112"/>
              <a:gd name="T79" fmla="*/ 56 h 162"/>
              <a:gd name="T80" fmla="*/ 20 w 112"/>
              <a:gd name="T81" fmla="*/ 59 h 162"/>
              <a:gd name="T82" fmla="*/ 23 w 112"/>
              <a:gd name="T83" fmla="*/ 56 h 162"/>
              <a:gd name="T84" fmla="*/ 56 w 112"/>
              <a:gd name="T85" fmla="*/ 23 h 162"/>
              <a:gd name="T86" fmla="*/ 68 w 112"/>
              <a:gd name="T87" fmla="*/ 77 h 162"/>
              <a:gd name="T88" fmla="*/ 56 w 112"/>
              <a:gd name="T89" fmla="*/ 54 h 162"/>
              <a:gd name="T90" fmla="*/ 43 w 112"/>
              <a:gd name="T91" fmla="*/ 77 h 162"/>
              <a:gd name="T92" fmla="*/ 38 w 112"/>
              <a:gd name="T93" fmla="*/ 66 h 162"/>
              <a:gd name="T94" fmla="*/ 30 w 112"/>
              <a:gd name="T95" fmla="*/ 69 h 162"/>
              <a:gd name="T96" fmla="*/ 43 w 112"/>
              <a:gd name="T97" fmla="*/ 96 h 162"/>
              <a:gd name="T98" fmla="*/ 56 w 112"/>
              <a:gd name="T99" fmla="*/ 72 h 162"/>
              <a:gd name="T100" fmla="*/ 69 w 112"/>
              <a:gd name="T101" fmla="*/ 96 h 162"/>
              <a:gd name="T102" fmla="*/ 81 w 112"/>
              <a:gd name="T103" fmla="*/ 69 h 162"/>
              <a:gd name="T104" fmla="*/ 73 w 112"/>
              <a:gd name="T105" fmla="*/ 66 h 162"/>
              <a:gd name="T106" fmla="*/ 68 w 112"/>
              <a:gd name="T107" fmla="*/ 77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12" h="162">
                <a:moveTo>
                  <a:pt x="32" y="141"/>
                </a:moveTo>
                <a:cubicBezTo>
                  <a:pt x="33" y="149"/>
                  <a:pt x="33" y="149"/>
                  <a:pt x="33" y="149"/>
                </a:cubicBezTo>
                <a:cubicBezTo>
                  <a:pt x="33" y="149"/>
                  <a:pt x="35" y="152"/>
                  <a:pt x="41" y="153"/>
                </a:cubicBezTo>
                <a:cubicBezTo>
                  <a:pt x="42" y="158"/>
                  <a:pt x="42" y="158"/>
                  <a:pt x="42" y="158"/>
                </a:cubicBezTo>
                <a:cubicBezTo>
                  <a:pt x="42" y="158"/>
                  <a:pt x="45" y="162"/>
                  <a:pt x="56" y="162"/>
                </a:cubicBezTo>
                <a:cubicBezTo>
                  <a:pt x="67" y="162"/>
                  <a:pt x="70" y="158"/>
                  <a:pt x="70" y="158"/>
                </a:cubicBezTo>
                <a:cubicBezTo>
                  <a:pt x="70" y="153"/>
                  <a:pt x="70" y="153"/>
                  <a:pt x="70" y="153"/>
                </a:cubicBezTo>
                <a:cubicBezTo>
                  <a:pt x="76" y="152"/>
                  <a:pt x="78" y="149"/>
                  <a:pt x="78" y="149"/>
                </a:cubicBezTo>
                <a:cubicBezTo>
                  <a:pt x="79" y="141"/>
                  <a:pt x="79" y="141"/>
                  <a:pt x="79" y="141"/>
                </a:cubicBezTo>
                <a:cubicBezTo>
                  <a:pt x="72" y="143"/>
                  <a:pt x="64" y="144"/>
                  <a:pt x="56" y="144"/>
                </a:cubicBezTo>
                <a:cubicBezTo>
                  <a:pt x="47" y="144"/>
                  <a:pt x="39" y="143"/>
                  <a:pt x="32" y="141"/>
                </a:cubicBezTo>
                <a:close/>
                <a:moveTo>
                  <a:pt x="56" y="0"/>
                </a:moveTo>
                <a:cubicBezTo>
                  <a:pt x="25" y="0"/>
                  <a:pt x="0" y="25"/>
                  <a:pt x="0" y="56"/>
                </a:cubicBezTo>
                <a:cubicBezTo>
                  <a:pt x="0" y="76"/>
                  <a:pt x="11" y="94"/>
                  <a:pt x="27" y="104"/>
                </a:cubicBezTo>
                <a:cubicBezTo>
                  <a:pt x="29" y="118"/>
                  <a:pt x="29" y="118"/>
                  <a:pt x="29" y="118"/>
                </a:cubicBezTo>
                <a:cubicBezTo>
                  <a:pt x="37" y="121"/>
                  <a:pt x="46" y="123"/>
                  <a:pt x="56" y="123"/>
                </a:cubicBezTo>
                <a:cubicBezTo>
                  <a:pt x="66" y="123"/>
                  <a:pt x="75" y="121"/>
                  <a:pt x="83" y="118"/>
                </a:cubicBezTo>
                <a:cubicBezTo>
                  <a:pt x="85" y="104"/>
                  <a:pt x="85" y="104"/>
                  <a:pt x="85" y="104"/>
                </a:cubicBezTo>
                <a:cubicBezTo>
                  <a:pt x="101" y="94"/>
                  <a:pt x="112" y="76"/>
                  <a:pt x="112" y="56"/>
                </a:cubicBezTo>
                <a:cubicBezTo>
                  <a:pt x="112" y="25"/>
                  <a:pt x="87" y="0"/>
                  <a:pt x="56" y="0"/>
                </a:cubicBezTo>
                <a:close/>
                <a:moveTo>
                  <a:pt x="76" y="97"/>
                </a:moveTo>
                <a:cubicBezTo>
                  <a:pt x="75" y="110"/>
                  <a:pt x="75" y="110"/>
                  <a:pt x="75" y="110"/>
                </a:cubicBezTo>
                <a:cubicBezTo>
                  <a:pt x="75" y="110"/>
                  <a:pt x="70" y="113"/>
                  <a:pt x="56" y="113"/>
                </a:cubicBezTo>
                <a:cubicBezTo>
                  <a:pt x="42" y="113"/>
                  <a:pt x="37" y="110"/>
                  <a:pt x="37" y="110"/>
                </a:cubicBezTo>
                <a:cubicBezTo>
                  <a:pt x="35" y="97"/>
                  <a:pt x="35" y="97"/>
                  <a:pt x="35" y="97"/>
                </a:cubicBezTo>
                <a:cubicBezTo>
                  <a:pt x="20" y="89"/>
                  <a:pt x="10" y="74"/>
                  <a:pt x="10" y="56"/>
                </a:cubicBezTo>
                <a:cubicBezTo>
                  <a:pt x="10" y="31"/>
                  <a:pt x="30" y="10"/>
                  <a:pt x="56" y="10"/>
                </a:cubicBezTo>
                <a:cubicBezTo>
                  <a:pt x="81" y="10"/>
                  <a:pt x="102" y="31"/>
                  <a:pt x="102" y="56"/>
                </a:cubicBezTo>
                <a:cubicBezTo>
                  <a:pt x="102" y="74"/>
                  <a:pt x="91" y="89"/>
                  <a:pt x="76" y="97"/>
                </a:cubicBezTo>
                <a:close/>
                <a:moveTo>
                  <a:pt x="30" y="125"/>
                </a:moveTo>
                <a:cubicBezTo>
                  <a:pt x="31" y="133"/>
                  <a:pt x="31" y="133"/>
                  <a:pt x="31" y="133"/>
                </a:cubicBezTo>
                <a:cubicBezTo>
                  <a:pt x="38" y="136"/>
                  <a:pt x="47" y="138"/>
                  <a:pt x="56" y="138"/>
                </a:cubicBezTo>
                <a:cubicBezTo>
                  <a:pt x="65" y="138"/>
                  <a:pt x="73" y="136"/>
                  <a:pt x="80" y="133"/>
                </a:cubicBezTo>
                <a:cubicBezTo>
                  <a:pt x="82" y="125"/>
                  <a:pt x="82" y="125"/>
                  <a:pt x="82" y="125"/>
                </a:cubicBezTo>
                <a:cubicBezTo>
                  <a:pt x="74" y="128"/>
                  <a:pt x="65" y="130"/>
                  <a:pt x="56" y="130"/>
                </a:cubicBezTo>
                <a:cubicBezTo>
                  <a:pt x="46" y="130"/>
                  <a:pt x="38" y="128"/>
                  <a:pt x="30" y="125"/>
                </a:cubicBezTo>
                <a:close/>
                <a:moveTo>
                  <a:pt x="56" y="23"/>
                </a:moveTo>
                <a:cubicBezTo>
                  <a:pt x="57" y="23"/>
                  <a:pt x="59" y="22"/>
                  <a:pt x="59" y="20"/>
                </a:cubicBezTo>
                <a:cubicBezTo>
                  <a:pt x="59" y="18"/>
                  <a:pt x="57" y="17"/>
                  <a:pt x="56" y="17"/>
                </a:cubicBezTo>
                <a:cubicBezTo>
                  <a:pt x="34" y="17"/>
                  <a:pt x="17" y="35"/>
                  <a:pt x="17" y="56"/>
                </a:cubicBezTo>
                <a:cubicBezTo>
                  <a:pt x="17" y="58"/>
                  <a:pt x="18" y="59"/>
                  <a:pt x="20" y="59"/>
                </a:cubicBezTo>
                <a:cubicBezTo>
                  <a:pt x="22" y="59"/>
                  <a:pt x="23" y="58"/>
                  <a:pt x="23" y="56"/>
                </a:cubicBezTo>
                <a:cubicBezTo>
                  <a:pt x="23" y="38"/>
                  <a:pt x="38" y="23"/>
                  <a:pt x="56" y="23"/>
                </a:cubicBezTo>
                <a:close/>
                <a:moveTo>
                  <a:pt x="68" y="77"/>
                </a:moveTo>
                <a:cubicBezTo>
                  <a:pt x="56" y="54"/>
                  <a:pt x="56" y="54"/>
                  <a:pt x="56" y="54"/>
                </a:cubicBezTo>
                <a:cubicBezTo>
                  <a:pt x="43" y="77"/>
                  <a:pt x="43" y="77"/>
                  <a:pt x="43" y="77"/>
                </a:cubicBezTo>
                <a:cubicBezTo>
                  <a:pt x="38" y="66"/>
                  <a:pt x="38" y="66"/>
                  <a:pt x="38" y="66"/>
                </a:cubicBezTo>
                <a:cubicBezTo>
                  <a:pt x="30" y="69"/>
                  <a:pt x="30" y="69"/>
                  <a:pt x="30" y="69"/>
                </a:cubicBezTo>
                <a:cubicBezTo>
                  <a:pt x="43" y="96"/>
                  <a:pt x="43" y="96"/>
                  <a:pt x="43" y="96"/>
                </a:cubicBezTo>
                <a:cubicBezTo>
                  <a:pt x="56" y="72"/>
                  <a:pt x="56" y="72"/>
                  <a:pt x="56" y="72"/>
                </a:cubicBezTo>
                <a:cubicBezTo>
                  <a:pt x="69" y="96"/>
                  <a:pt x="69" y="96"/>
                  <a:pt x="69" y="96"/>
                </a:cubicBezTo>
                <a:cubicBezTo>
                  <a:pt x="81" y="69"/>
                  <a:pt x="81" y="69"/>
                  <a:pt x="81" y="69"/>
                </a:cubicBezTo>
                <a:cubicBezTo>
                  <a:pt x="73" y="66"/>
                  <a:pt x="73" y="66"/>
                  <a:pt x="73" y="66"/>
                </a:cubicBezTo>
                <a:lnTo>
                  <a:pt x="68" y="7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/>
          </a:p>
        </p:txBody>
      </p:sp>
      <p:sp>
        <p:nvSpPr>
          <p:cNvPr id="23" name="稻壳儿搜索【幻雨工作室】_4">
            <a:extLst>
              <a:ext uri="{FF2B5EF4-FFF2-40B4-BE49-F238E27FC236}">
                <a16:creationId xmlns:a16="http://schemas.microsoft.com/office/drawing/2014/main" id="{6CECAE69-A15D-4139-86E1-AF6489C20AE8}"/>
              </a:ext>
            </a:extLst>
          </p:cNvPr>
          <p:cNvSpPr/>
          <p:nvPr/>
        </p:nvSpPr>
        <p:spPr>
          <a:xfrm>
            <a:off x="779909" y="2132588"/>
            <a:ext cx="2495550" cy="347465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稻壳儿搜索【幻雨工作室】_5">
            <a:extLst>
              <a:ext uri="{FF2B5EF4-FFF2-40B4-BE49-F238E27FC236}">
                <a16:creationId xmlns:a16="http://schemas.microsoft.com/office/drawing/2014/main" id="{A6AD32B4-C7E2-43F0-9CC9-752BF7D272CE}"/>
              </a:ext>
            </a:extLst>
          </p:cNvPr>
          <p:cNvSpPr/>
          <p:nvPr/>
        </p:nvSpPr>
        <p:spPr>
          <a:xfrm>
            <a:off x="1060865" y="4414426"/>
            <a:ext cx="1933638" cy="1033874"/>
          </a:xfrm>
          <a:prstGeom prst="rect">
            <a:avLst/>
          </a:prstGeom>
          <a:solidFill>
            <a:schemeClr val="accent1"/>
          </a:solidFill>
          <a:ln w="127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31800" dist="38100" dir="2700000" algn="tl" rotWithShape="0">
                    <a:schemeClr val="accent1">
                      <a:alpha val="25000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1" name="稻壳儿搜索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2385919A-9E11-4AED-A40B-3E265312284E}"/>
              </a:ext>
            </a:extLst>
          </p:cNvPr>
          <p:cNvSpPr/>
          <p:nvPr/>
        </p:nvSpPr>
        <p:spPr>
          <a:xfrm>
            <a:off x="963702" y="2498456"/>
            <a:ext cx="21279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今日结论</a:t>
            </a:r>
          </a:p>
          <a:p>
            <a:pPr algn="ctr">
              <a:lnSpc>
                <a:spcPct val="150000"/>
              </a:lnSpc>
            </a:pP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多氟多发布大圆柱换电方案，技术突破提升体积能量密度；万润新能源等产品向高压实、高容量演进；项目扩产出现叫停，供应端局部趋紧；工信部发布动力电池拆解安全国标征求意见。 推测说明：未使用推测 来源：https://www.itdcw.com/news/chanpinxinwen/06251562M2026.html；https://www.hbwanrun.co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</a:p>
        </p:txBody>
      </p:sp>
      <p:sp>
        <p:nvSpPr>
          <p:cNvPr id="59" name="稻壳儿原创设计师【幻雨工作室】_7">
            <a:extLst>
              <a:ext uri="{FF2B5EF4-FFF2-40B4-BE49-F238E27FC236}">
                <a16:creationId xmlns:a16="http://schemas.microsoft.com/office/drawing/2014/main" id="{2562D75C-01C8-428D-B98E-92F139883E75}"/>
              </a:ext>
            </a:extLst>
          </p:cNvPr>
          <p:cNvSpPr>
            <a:spLocks noEditPoints="1"/>
          </p:cNvSpPr>
          <p:nvPr/>
        </p:nvSpPr>
        <p:spPr bwMode="auto">
          <a:xfrm>
            <a:off x="1773804" y="4715478"/>
            <a:ext cx="507762" cy="431770"/>
          </a:xfrm>
          <a:custGeom>
            <a:avLst/>
            <a:gdLst>
              <a:gd name="T0" fmla="*/ 6 w 147"/>
              <a:gd name="T1" fmla="*/ 120 h 125"/>
              <a:gd name="T2" fmla="*/ 12 w 147"/>
              <a:gd name="T3" fmla="*/ 125 h 125"/>
              <a:gd name="T4" fmla="*/ 39 w 147"/>
              <a:gd name="T5" fmla="*/ 125 h 125"/>
              <a:gd name="T6" fmla="*/ 39 w 147"/>
              <a:gd name="T7" fmla="*/ 68 h 125"/>
              <a:gd name="T8" fmla="*/ 6 w 147"/>
              <a:gd name="T9" fmla="*/ 101 h 125"/>
              <a:gd name="T10" fmla="*/ 6 w 147"/>
              <a:gd name="T11" fmla="*/ 120 h 125"/>
              <a:gd name="T12" fmla="*/ 52 w 147"/>
              <a:gd name="T13" fmla="*/ 81 h 125"/>
              <a:gd name="T14" fmla="*/ 52 w 147"/>
              <a:gd name="T15" fmla="*/ 125 h 125"/>
              <a:gd name="T16" fmla="*/ 85 w 147"/>
              <a:gd name="T17" fmla="*/ 125 h 125"/>
              <a:gd name="T18" fmla="*/ 85 w 147"/>
              <a:gd name="T19" fmla="*/ 86 h 125"/>
              <a:gd name="T20" fmla="*/ 71 w 147"/>
              <a:gd name="T21" fmla="*/ 100 h 125"/>
              <a:gd name="T22" fmla="*/ 52 w 147"/>
              <a:gd name="T23" fmla="*/ 81 h 125"/>
              <a:gd name="T24" fmla="*/ 118 w 147"/>
              <a:gd name="T25" fmla="*/ 2 h 125"/>
              <a:gd name="T26" fmla="*/ 113 w 147"/>
              <a:gd name="T27" fmla="*/ 9 h 125"/>
              <a:gd name="T28" fmla="*/ 119 w 147"/>
              <a:gd name="T29" fmla="*/ 14 h 125"/>
              <a:gd name="T30" fmla="*/ 125 w 147"/>
              <a:gd name="T31" fmla="*/ 13 h 125"/>
              <a:gd name="T32" fmla="*/ 71 w 147"/>
              <a:gd name="T33" fmla="*/ 68 h 125"/>
              <a:gd name="T34" fmla="*/ 39 w 147"/>
              <a:gd name="T35" fmla="*/ 36 h 125"/>
              <a:gd name="T36" fmla="*/ 2 w 147"/>
              <a:gd name="T37" fmla="*/ 73 h 125"/>
              <a:gd name="T38" fmla="*/ 2 w 147"/>
              <a:gd name="T39" fmla="*/ 81 h 125"/>
              <a:gd name="T40" fmla="*/ 10 w 147"/>
              <a:gd name="T41" fmla="*/ 81 h 125"/>
              <a:gd name="T42" fmla="*/ 39 w 147"/>
              <a:gd name="T43" fmla="*/ 53 h 125"/>
              <a:gd name="T44" fmla="*/ 71 w 147"/>
              <a:gd name="T45" fmla="*/ 85 h 125"/>
              <a:gd name="T46" fmla="*/ 134 w 147"/>
              <a:gd name="T47" fmla="*/ 22 h 125"/>
              <a:gd name="T48" fmla="*/ 133 w 147"/>
              <a:gd name="T49" fmla="*/ 28 h 125"/>
              <a:gd name="T50" fmla="*/ 138 w 147"/>
              <a:gd name="T51" fmla="*/ 35 h 125"/>
              <a:gd name="T52" fmla="*/ 139 w 147"/>
              <a:gd name="T53" fmla="*/ 35 h 125"/>
              <a:gd name="T54" fmla="*/ 145 w 147"/>
              <a:gd name="T55" fmla="*/ 29 h 125"/>
              <a:gd name="T56" fmla="*/ 147 w 147"/>
              <a:gd name="T57" fmla="*/ 0 h 125"/>
              <a:gd name="T58" fmla="*/ 118 w 147"/>
              <a:gd name="T59" fmla="*/ 2 h 125"/>
              <a:gd name="T60" fmla="*/ 98 w 147"/>
              <a:gd name="T61" fmla="*/ 73 h 125"/>
              <a:gd name="T62" fmla="*/ 98 w 147"/>
              <a:gd name="T63" fmla="*/ 125 h 125"/>
              <a:gd name="T64" fmla="*/ 126 w 147"/>
              <a:gd name="T65" fmla="*/ 125 h 125"/>
              <a:gd name="T66" fmla="*/ 131 w 147"/>
              <a:gd name="T67" fmla="*/ 120 h 125"/>
              <a:gd name="T68" fmla="*/ 131 w 147"/>
              <a:gd name="T69" fmla="*/ 40 h 125"/>
              <a:gd name="T70" fmla="*/ 103 w 147"/>
              <a:gd name="T71" fmla="*/ 68 h 125"/>
              <a:gd name="T72" fmla="*/ 98 w 147"/>
              <a:gd name="T73" fmla="*/ 7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47" h="125">
                <a:moveTo>
                  <a:pt x="6" y="120"/>
                </a:moveTo>
                <a:cubicBezTo>
                  <a:pt x="6" y="123"/>
                  <a:pt x="9" y="125"/>
                  <a:pt x="12" y="125"/>
                </a:cubicBezTo>
                <a:cubicBezTo>
                  <a:pt x="39" y="125"/>
                  <a:pt x="39" y="125"/>
                  <a:pt x="39" y="125"/>
                </a:cubicBezTo>
                <a:cubicBezTo>
                  <a:pt x="39" y="68"/>
                  <a:pt x="39" y="68"/>
                  <a:pt x="39" y="68"/>
                </a:cubicBezTo>
                <a:cubicBezTo>
                  <a:pt x="6" y="101"/>
                  <a:pt x="6" y="101"/>
                  <a:pt x="6" y="101"/>
                </a:cubicBezTo>
                <a:lnTo>
                  <a:pt x="6" y="120"/>
                </a:lnTo>
                <a:close/>
                <a:moveTo>
                  <a:pt x="52" y="81"/>
                </a:moveTo>
                <a:cubicBezTo>
                  <a:pt x="52" y="125"/>
                  <a:pt x="52" y="125"/>
                  <a:pt x="52" y="125"/>
                </a:cubicBezTo>
                <a:cubicBezTo>
                  <a:pt x="85" y="125"/>
                  <a:pt x="85" y="125"/>
                  <a:pt x="85" y="125"/>
                </a:cubicBezTo>
                <a:cubicBezTo>
                  <a:pt x="85" y="86"/>
                  <a:pt x="85" y="86"/>
                  <a:pt x="85" y="86"/>
                </a:cubicBezTo>
                <a:cubicBezTo>
                  <a:pt x="71" y="100"/>
                  <a:pt x="71" y="100"/>
                  <a:pt x="71" y="100"/>
                </a:cubicBezTo>
                <a:lnTo>
                  <a:pt x="52" y="81"/>
                </a:lnTo>
                <a:close/>
                <a:moveTo>
                  <a:pt x="118" y="2"/>
                </a:moveTo>
                <a:cubicBezTo>
                  <a:pt x="115" y="3"/>
                  <a:pt x="112" y="5"/>
                  <a:pt x="113" y="9"/>
                </a:cubicBezTo>
                <a:cubicBezTo>
                  <a:pt x="113" y="12"/>
                  <a:pt x="116" y="14"/>
                  <a:pt x="119" y="14"/>
                </a:cubicBezTo>
                <a:cubicBezTo>
                  <a:pt x="125" y="13"/>
                  <a:pt x="125" y="13"/>
                  <a:pt x="125" y="13"/>
                </a:cubicBezTo>
                <a:cubicBezTo>
                  <a:pt x="71" y="68"/>
                  <a:pt x="71" y="68"/>
                  <a:pt x="71" y="68"/>
                </a:cubicBezTo>
                <a:cubicBezTo>
                  <a:pt x="39" y="36"/>
                  <a:pt x="39" y="36"/>
                  <a:pt x="39" y="36"/>
                </a:cubicBezTo>
                <a:cubicBezTo>
                  <a:pt x="2" y="73"/>
                  <a:pt x="2" y="73"/>
                  <a:pt x="2" y="73"/>
                </a:cubicBezTo>
                <a:cubicBezTo>
                  <a:pt x="0" y="75"/>
                  <a:pt x="0" y="79"/>
                  <a:pt x="2" y="81"/>
                </a:cubicBezTo>
                <a:cubicBezTo>
                  <a:pt x="4" y="84"/>
                  <a:pt x="8" y="84"/>
                  <a:pt x="10" y="81"/>
                </a:cubicBezTo>
                <a:cubicBezTo>
                  <a:pt x="39" y="53"/>
                  <a:pt x="39" y="53"/>
                  <a:pt x="39" y="53"/>
                </a:cubicBezTo>
                <a:cubicBezTo>
                  <a:pt x="71" y="85"/>
                  <a:pt x="71" y="85"/>
                  <a:pt x="71" y="85"/>
                </a:cubicBezTo>
                <a:cubicBezTo>
                  <a:pt x="134" y="22"/>
                  <a:pt x="134" y="22"/>
                  <a:pt x="134" y="22"/>
                </a:cubicBezTo>
                <a:cubicBezTo>
                  <a:pt x="133" y="28"/>
                  <a:pt x="133" y="28"/>
                  <a:pt x="133" y="28"/>
                </a:cubicBezTo>
                <a:cubicBezTo>
                  <a:pt x="133" y="31"/>
                  <a:pt x="135" y="34"/>
                  <a:pt x="138" y="35"/>
                </a:cubicBezTo>
                <a:cubicBezTo>
                  <a:pt x="139" y="35"/>
                  <a:pt x="139" y="35"/>
                  <a:pt x="139" y="35"/>
                </a:cubicBezTo>
                <a:cubicBezTo>
                  <a:pt x="142" y="35"/>
                  <a:pt x="145" y="32"/>
                  <a:pt x="145" y="29"/>
                </a:cubicBezTo>
                <a:cubicBezTo>
                  <a:pt x="147" y="0"/>
                  <a:pt x="147" y="0"/>
                  <a:pt x="147" y="0"/>
                </a:cubicBezTo>
                <a:lnTo>
                  <a:pt x="118" y="2"/>
                </a:lnTo>
                <a:close/>
                <a:moveTo>
                  <a:pt x="98" y="73"/>
                </a:moveTo>
                <a:cubicBezTo>
                  <a:pt x="98" y="125"/>
                  <a:pt x="98" y="125"/>
                  <a:pt x="98" y="125"/>
                </a:cubicBezTo>
                <a:cubicBezTo>
                  <a:pt x="126" y="125"/>
                  <a:pt x="126" y="125"/>
                  <a:pt x="126" y="125"/>
                </a:cubicBezTo>
                <a:cubicBezTo>
                  <a:pt x="129" y="125"/>
                  <a:pt x="131" y="123"/>
                  <a:pt x="131" y="120"/>
                </a:cubicBezTo>
                <a:cubicBezTo>
                  <a:pt x="131" y="40"/>
                  <a:pt x="131" y="40"/>
                  <a:pt x="131" y="40"/>
                </a:cubicBezTo>
                <a:cubicBezTo>
                  <a:pt x="103" y="68"/>
                  <a:pt x="103" y="68"/>
                  <a:pt x="103" y="68"/>
                </a:cubicBezTo>
                <a:lnTo>
                  <a:pt x="98" y="7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752347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稻壳儿原创设计师【幻雨工作室】_4">
            <a:extLst>
              <a:ext uri="{FF2B5EF4-FFF2-40B4-BE49-F238E27FC236}">
                <a16:creationId xmlns:a16="http://schemas.microsoft.com/office/drawing/2014/main" id="{2F099B6D-DE74-4240-998B-DD64039E96B0}"/>
              </a:ext>
            </a:extLst>
          </p:cNvPr>
          <p:cNvSpPr txBox="1"/>
          <p:nvPr/>
        </p:nvSpPr>
        <p:spPr>
          <a:xfrm>
            <a:off x="820118" y="696993"/>
            <a:ext cx="5253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工作完成情况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completion</a:t>
            </a:r>
          </a:p>
        </p:txBody>
      </p:sp>
      <p:sp>
        <p:nvSpPr>
          <p:cNvPr id="29" name="稻壳儿原创设计师【幻雨工作室】_1">
            <a:extLst>
              <a:ext uri="{FF2B5EF4-FFF2-40B4-BE49-F238E27FC236}">
                <a16:creationId xmlns:a16="http://schemas.microsoft.com/office/drawing/2014/main" id="{688000BC-B6A4-43BB-AD64-5CFDB9A1E0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8709" y="2156305"/>
            <a:ext cx="1860762" cy="1873878"/>
          </a:xfrm>
          <a:prstGeom prst="ellipse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31" name="稻壳儿原创设计师【幻雨工作室】_2">
            <a:extLst>
              <a:ext uri="{FF2B5EF4-FFF2-40B4-BE49-F238E27FC236}">
                <a16:creationId xmlns:a16="http://schemas.microsoft.com/office/drawing/2014/main" id="{9E0201D7-910E-45F5-8060-AF68A64EB7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6071" y="3092450"/>
            <a:ext cx="30163" cy="3063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2" name="稻壳儿原创设计师【幻雨工作室】_3">
            <a:extLst>
              <a:ext uri="{FF2B5EF4-FFF2-40B4-BE49-F238E27FC236}">
                <a16:creationId xmlns:a16="http://schemas.microsoft.com/office/drawing/2014/main" id="{2DFCB289-7F11-43A4-ACD7-F6C619546B7F}"/>
              </a:ext>
            </a:extLst>
          </p:cNvPr>
          <p:cNvSpPr>
            <a:spLocks noEditPoints="1"/>
          </p:cNvSpPr>
          <p:nvPr/>
        </p:nvSpPr>
        <p:spPr bwMode="auto">
          <a:xfrm>
            <a:off x="1921783" y="3078163"/>
            <a:ext cx="63500" cy="63500"/>
          </a:xfrm>
          <a:custGeom>
            <a:avLst/>
            <a:gdLst>
              <a:gd name="T0" fmla="*/ 2147483646 w 17"/>
              <a:gd name="T1" fmla="*/ 2147483646 h 17"/>
              <a:gd name="T2" fmla="*/ 2147483646 w 17"/>
              <a:gd name="T3" fmla="*/ 2147483646 h 17"/>
              <a:gd name="T4" fmla="*/ 2147483646 w 17"/>
              <a:gd name="T5" fmla="*/ 2147483646 h 17"/>
              <a:gd name="T6" fmla="*/ 2147483646 w 17"/>
              <a:gd name="T7" fmla="*/ 2147483646 h 17"/>
              <a:gd name="T8" fmla="*/ 2147483646 w 17"/>
              <a:gd name="T9" fmla="*/ 2147483646 h 17"/>
              <a:gd name="T10" fmla="*/ 2147483646 w 17"/>
              <a:gd name="T11" fmla="*/ 0 h 17"/>
              <a:gd name="T12" fmla="*/ 0 w 17"/>
              <a:gd name="T13" fmla="*/ 2147483646 h 17"/>
              <a:gd name="T14" fmla="*/ 2147483646 w 17"/>
              <a:gd name="T15" fmla="*/ 2147483646 h 17"/>
              <a:gd name="T16" fmla="*/ 2147483646 w 17"/>
              <a:gd name="T17" fmla="*/ 2147483646 h 17"/>
              <a:gd name="T18" fmla="*/ 2147483646 w 17"/>
              <a:gd name="T19" fmla="*/ 0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7" h="17">
                <a:moveTo>
                  <a:pt x="8" y="8"/>
                </a:moveTo>
                <a:cubicBezTo>
                  <a:pt x="9" y="8"/>
                  <a:pt x="9" y="8"/>
                  <a:pt x="9" y="8"/>
                </a:cubicBezTo>
                <a:cubicBezTo>
                  <a:pt x="9" y="9"/>
                  <a:pt x="9" y="9"/>
                  <a:pt x="8" y="9"/>
                </a:cubicBezTo>
                <a:cubicBezTo>
                  <a:pt x="8" y="9"/>
                  <a:pt x="8" y="9"/>
                  <a:pt x="8" y="8"/>
                </a:cubicBezTo>
                <a:cubicBezTo>
                  <a:pt x="8" y="8"/>
                  <a:pt x="8" y="8"/>
                  <a:pt x="8" y="8"/>
                </a:cubicBezTo>
                <a:moveTo>
                  <a:pt x="8" y="0"/>
                </a:moveTo>
                <a:cubicBezTo>
                  <a:pt x="4" y="0"/>
                  <a:pt x="0" y="3"/>
                  <a:pt x="0" y="8"/>
                </a:cubicBezTo>
                <a:cubicBezTo>
                  <a:pt x="0" y="13"/>
                  <a:pt x="4" y="17"/>
                  <a:pt x="8" y="17"/>
                </a:cubicBezTo>
                <a:cubicBezTo>
                  <a:pt x="13" y="17"/>
                  <a:pt x="17" y="13"/>
                  <a:pt x="17" y="8"/>
                </a:cubicBezTo>
                <a:cubicBezTo>
                  <a:pt x="17" y="3"/>
                  <a:pt x="13" y="0"/>
                  <a:pt x="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稻壳儿原创设计师【幻雨工作室】_4">
            <a:extLst>
              <a:ext uri="{FF2B5EF4-FFF2-40B4-BE49-F238E27FC236}">
                <a16:creationId xmlns:a16="http://schemas.microsoft.com/office/drawing/2014/main" id="{AC4D2591-C05E-481D-9773-1F0B67A33F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9858" y="2752725"/>
            <a:ext cx="385763" cy="301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4" name="稻壳儿原创设计师【幻雨工作室】_5">
            <a:extLst>
              <a:ext uri="{FF2B5EF4-FFF2-40B4-BE49-F238E27FC236}">
                <a16:creationId xmlns:a16="http://schemas.microsoft.com/office/drawing/2014/main" id="{DF771512-3F1F-43E6-89B3-CE478932803F}"/>
              </a:ext>
            </a:extLst>
          </p:cNvPr>
          <p:cNvSpPr>
            <a:spLocks noEditPoints="1"/>
          </p:cNvSpPr>
          <p:nvPr/>
        </p:nvSpPr>
        <p:spPr bwMode="auto">
          <a:xfrm>
            <a:off x="1707471" y="2832100"/>
            <a:ext cx="492125" cy="600075"/>
          </a:xfrm>
          <a:custGeom>
            <a:avLst/>
            <a:gdLst>
              <a:gd name="T0" fmla="*/ 2147483646 w 310"/>
              <a:gd name="T1" fmla="*/ 2147483646 h 378"/>
              <a:gd name="T2" fmla="*/ 2147483646 w 310"/>
              <a:gd name="T3" fmla="*/ 2147483646 h 378"/>
              <a:gd name="T4" fmla="*/ 0 w 310"/>
              <a:gd name="T5" fmla="*/ 2147483646 h 378"/>
              <a:gd name="T6" fmla="*/ 2147483646 w 310"/>
              <a:gd name="T7" fmla="*/ 2147483646 h 378"/>
              <a:gd name="T8" fmla="*/ 2147483646 w 310"/>
              <a:gd name="T9" fmla="*/ 0 h 378"/>
              <a:gd name="T10" fmla="*/ 2147483646 w 310"/>
              <a:gd name="T11" fmla="*/ 0 h 378"/>
              <a:gd name="T12" fmla="*/ 2147483646 w 310"/>
              <a:gd name="T13" fmla="*/ 2147483646 h 378"/>
              <a:gd name="T14" fmla="*/ 2147483646 w 310"/>
              <a:gd name="T15" fmla="*/ 2147483646 h 378"/>
              <a:gd name="T16" fmla="*/ 2147483646 w 310"/>
              <a:gd name="T17" fmla="*/ 2147483646 h 378"/>
              <a:gd name="T18" fmla="*/ 2147483646 w 310"/>
              <a:gd name="T19" fmla="*/ 2147483646 h 378"/>
              <a:gd name="T20" fmla="*/ 2147483646 w 310"/>
              <a:gd name="T21" fmla="*/ 2147483646 h 378"/>
              <a:gd name="T22" fmla="*/ 2147483646 w 310"/>
              <a:gd name="T23" fmla="*/ 2147483646 h 378"/>
              <a:gd name="T24" fmla="*/ 2147483646 w 310"/>
              <a:gd name="T25" fmla="*/ 2147483646 h 378"/>
              <a:gd name="T26" fmla="*/ 2147483646 w 310"/>
              <a:gd name="T27" fmla="*/ 2147483646 h 378"/>
              <a:gd name="T28" fmla="*/ 2147483646 w 310"/>
              <a:gd name="T29" fmla="*/ 2147483646 h 378"/>
              <a:gd name="T30" fmla="*/ 2147483646 w 310"/>
              <a:gd name="T31" fmla="*/ 2147483646 h 378"/>
              <a:gd name="T32" fmla="*/ 2147483646 w 310"/>
              <a:gd name="T33" fmla="*/ 2147483646 h 378"/>
              <a:gd name="T34" fmla="*/ 2147483646 w 310"/>
              <a:gd name="T35" fmla="*/ 2147483646 h 378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310" h="378">
                <a:moveTo>
                  <a:pt x="165" y="378"/>
                </a:moveTo>
                <a:lnTo>
                  <a:pt x="144" y="378"/>
                </a:lnTo>
                <a:lnTo>
                  <a:pt x="0" y="193"/>
                </a:lnTo>
                <a:lnTo>
                  <a:pt x="64" y="62"/>
                </a:lnTo>
                <a:lnTo>
                  <a:pt x="64" y="0"/>
                </a:lnTo>
                <a:lnTo>
                  <a:pt x="246" y="0"/>
                </a:lnTo>
                <a:lnTo>
                  <a:pt x="246" y="62"/>
                </a:lnTo>
                <a:lnTo>
                  <a:pt x="310" y="193"/>
                </a:lnTo>
                <a:lnTo>
                  <a:pt x="165" y="378"/>
                </a:lnTo>
                <a:close/>
                <a:moveTo>
                  <a:pt x="154" y="359"/>
                </a:moveTo>
                <a:lnTo>
                  <a:pt x="156" y="359"/>
                </a:lnTo>
                <a:lnTo>
                  <a:pt x="286" y="190"/>
                </a:lnTo>
                <a:lnTo>
                  <a:pt x="227" y="66"/>
                </a:lnTo>
                <a:lnTo>
                  <a:pt x="227" y="19"/>
                </a:lnTo>
                <a:lnTo>
                  <a:pt x="83" y="19"/>
                </a:lnTo>
                <a:lnTo>
                  <a:pt x="83" y="66"/>
                </a:lnTo>
                <a:lnTo>
                  <a:pt x="21" y="190"/>
                </a:lnTo>
                <a:lnTo>
                  <a:pt x="154" y="35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稻壳儿原创设计师【幻雨工作室】_6">
            <a:extLst>
              <a:ext uri="{FF2B5EF4-FFF2-40B4-BE49-F238E27FC236}">
                <a16:creationId xmlns:a16="http://schemas.microsoft.com/office/drawing/2014/main" id="{6E9966CB-983E-4939-B86C-A16FBAF2B3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5281" y="2158402"/>
            <a:ext cx="1845454" cy="1858572"/>
          </a:xfrm>
          <a:prstGeom prst="ellipse">
            <a:avLst/>
          </a:prstGeom>
          <a:solidFill>
            <a:srgbClr val="F9F9F9"/>
          </a:solidFill>
          <a:ln w="22225">
            <a:noFill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en-US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36" name="稻壳儿原创设计师【幻雨工作室】_7">
            <a:extLst>
              <a:ext uri="{FF2B5EF4-FFF2-40B4-BE49-F238E27FC236}">
                <a16:creationId xmlns:a16="http://schemas.microsoft.com/office/drawing/2014/main" id="{D8FE674D-1551-4AF3-96B4-E39B1D78C6DF}"/>
              </a:ext>
            </a:extLst>
          </p:cNvPr>
          <p:cNvSpPr>
            <a:spLocks noEditPoints="1"/>
          </p:cNvSpPr>
          <p:nvPr/>
        </p:nvSpPr>
        <p:spPr bwMode="auto">
          <a:xfrm>
            <a:off x="4368121" y="2809875"/>
            <a:ext cx="709613" cy="465137"/>
          </a:xfrm>
          <a:custGeom>
            <a:avLst/>
            <a:gdLst>
              <a:gd name="T0" fmla="*/ 2147483646 w 189"/>
              <a:gd name="T1" fmla="*/ 2147483646 h 123"/>
              <a:gd name="T2" fmla="*/ 2147483646 w 189"/>
              <a:gd name="T3" fmla="*/ 2147483646 h 123"/>
              <a:gd name="T4" fmla="*/ 0 w 189"/>
              <a:gd name="T5" fmla="*/ 2147483646 h 123"/>
              <a:gd name="T6" fmla="*/ 0 w 189"/>
              <a:gd name="T7" fmla="*/ 2147483646 h 123"/>
              <a:gd name="T8" fmla="*/ 2147483646 w 189"/>
              <a:gd name="T9" fmla="*/ 0 h 123"/>
              <a:gd name="T10" fmla="*/ 2147483646 w 189"/>
              <a:gd name="T11" fmla="*/ 0 h 123"/>
              <a:gd name="T12" fmla="*/ 2147483646 w 189"/>
              <a:gd name="T13" fmla="*/ 2147483646 h 123"/>
              <a:gd name="T14" fmla="*/ 2147483646 w 189"/>
              <a:gd name="T15" fmla="*/ 2147483646 h 123"/>
              <a:gd name="T16" fmla="*/ 2147483646 w 189"/>
              <a:gd name="T17" fmla="*/ 2147483646 h 123"/>
              <a:gd name="T18" fmla="*/ 2147483646 w 189"/>
              <a:gd name="T19" fmla="*/ 2147483646 h 123"/>
              <a:gd name="T20" fmla="*/ 2147483646 w 189"/>
              <a:gd name="T21" fmla="*/ 2147483646 h 123"/>
              <a:gd name="T22" fmla="*/ 2147483646 w 189"/>
              <a:gd name="T23" fmla="*/ 2147483646 h 123"/>
              <a:gd name="T24" fmla="*/ 2147483646 w 189"/>
              <a:gd name="T25" fmla="*/ 2147483646 h 123"/>
              <a:gd name="T26" fmla="*/ 2147483646 w 189"/>
              <a:gd name="T27" fmla="*/ 2147483646 h 123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189" h="123">
                <a:moveTo>
                  <a:pt x="185" y="123"/>
                </a:moveTo>
                <a:cubicBezTo>
                  <a:pt x="4" y="123"/>
                  <a:pt x="4" y="123"/>
                  <a:pt x="4" y="123"/>
                </a:cubicBezTo>
                <a:cubicBezTo>
                  <a:pt x="2" y="123"/>
                  <a:pt x="0" y="121"/>
                  <a:pt x="0" y="119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185" y="0"/>
                  <a:pt x="185" y="0"/>
                  <a:pt x="185" y="0"/>
                </a:cubicBezTo>
                <a:cubicBezTo>
                  <a:pt x="187" y="0"/>
                  <a:pt x="189" y="2"/>
                  <a:pt x="189" y="4"/>
                </a:cubicBezTo>
                <a:cubicBezTo>
                  <a:pt x="189" y="119"/>
                  <a:pt x="189" y="119"/>
                  <a:pt x="189" y="119"/>
                </a:cubicBezTo>
                <a:cubicBezTo>
                  <a:pt x="189" y="121"/>
                  <a:pt x="187" y="123"/>
                  <a:pt x="185" y="123"/>
                </a:cubicBezTo>
                <a:close/>
                <a:moveTo>
                  <a:pt x="8" y="115"/>
                </a:moveTo>
                <a:cubicBezTo>
                  <a:pt x="181" y="115"/>
                  <a:pt x="181" y="115"/>
                  <a:pt x="181" y="115"/>
                </a:cubicBezTo>
                <a:cubicBezTo>
                  <a:pt x="181" y="8"/>
                  <a:pt x="181" y="8"/>
                  <a:pt x="181" y="8"/>
                </a:cubicBezTo>
                <a:cubicBezTo>
                  <a:pt x="8" y="8"/>
                  <a:pt x="8" y="8"/>
                  <a:pt x="8" y="8"/>
                </a:cubicBezTo>
                <a:lnTo>
                  <a:pt x="8" y="11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37" name="稻壳儿原创设计师【幻雨工作室】_8">
            <a:extLst>
              <a:ext uri="{FF2B5EF4-FFF2-40B4-BE49-F238E27FC236}">
                <a16:creationId xmlns:a16="http://schemas.microsoft.com/office/drawing/2014/main" id="{D8888557-C4B5-4D4F-BBC4-D5E08F3AD863}"/>
              </a:ext>
            </a:extLst>
          </p:cNvPr>
          <p:cNvSpPr>
            <a:spLocks noEditPoints="1"/>
          </p:cNvSpPr>
          <p:nvPr/>
        </p:nvSpPr>
        <p:spPr bwMode="auto">
          <a:xfrm>
            <a:off x="4428446" y="2870200"/>
            <a:ext cx="585788" cy="341312"/>
          </a:xfrm>
          <a:custGeom>
            <a:avLst/>
            <a:gdLst>
              <a:gd name="T0" fmla="*/ 2147483646 w 156"/>
              <a:gd name="T1" fmla="*/ 2147483646 h 90"/>
              <a:gd name="T2" fmla="*/ 2147483646 w 156"/>
              <a:gd name="T3" fmla="*/ 2147483646 h 90"/>
              <a:gd name="T4" fmla="*/ 0 w 156"/>
              <a:gd name="T5" fmla="*/ 2147483646 h 90"/>
              <a:gd name="T6" fmla="*/ 0 w 156"/>
              <a:gd name="T7" fmla="*/ 2147483646 h 90"/>
              <a:gd name="T8" fmla="*/ 2147483646 w 156"/>
              <a:gd name="T9" fmla="*/ 0 h 90"/>
              <a:gd name="T10" fmla="*/ 2147483646 w 156"/>
              <a:gd name="T11" fmla="*/ 0 h 90"/>
              <a:gd name="T12" fmla="*/ 2147483646 w 156"/>
              <a:gd name="T13" fmla="*/ 2147483646 h 90"/>
              <a:gd name="T14" fmla="*/ 2147483646 w 156"/>
              <a:gd name="T15" fmla="*/ 2147483646 h 90"/>
              <a:gd name="T16" fmla="*/ 2147483646 w 156"/>
              <a:gd name="T17" fmla="*/ 2147483646 h 90"/>
              <a:gd name="T18" fmla="*/ 2147483646 w 156"/>
              <a:gd name="T19" fmla="*/ 2147483646 h 90"/>
              <a:gd name="T20" fmla="*/ 2147483646 w 156"/>
              <a:gd name="T21" fmla="*/ 2147483646 h 90"/>
              <a:gd name="T22" fmla="*/ 2147483646 w 156"/>
              <a:gd name="T23" fmla="*/ 2147483646 h 90"/>
              <a:gd name="T24" fmla="*/ 2147483646 w 156"/>
              <a:gd name="T25" fmla="*/ 2147483646 h 90"/>
              <a:gd name="T26" fmla="*/ 2147483646 w 156"/>
              <a:gd name="T27" fmla="*/ 2147483646 h 90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156" h="90">
                <a:moveTo>
                  <a:pt x="152" y="90"/>
                </a:moveTo>
                <a:cubicBezTo>
                  <a:pt x="4" y="90"/>
                  <a:pt x="4" y="90"/>
                  <a:pt x="4" y="90"/>
                </a:cubicBezTo>
                <a:cubicBezTo>
                  <a:pt x="2" y="90"/>
                  <a:pt x="0" y="89"/>
                  <a:pt x="0" y="86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4" y="0"/>
                  <a:pt x="156" y="2"/>
                  <a:pt x="156" y="4"/>
                </a:cubicBezTo>
                <a:cubicBezTo>
                  <a:pt x="156" y="86"/>
                  <a:pt x="156" y="86"/>
                  <a:pt x="156" y="86"/>
                </a:cubicBezTo>
                <a:cubicBezTo>
                  <a:pt x="156" y="89"/>
                  <a:pt x="154" y="90"/>
                  <a:pt x="152" y="90"/>
                </a:cubicBezTo>
                <a:close/>
                <a:moveTo>
                  <a:pt x="8" y="82"/>
                </a:moveTo>
                <a:cubicBezTo>
                  <a:pt x="148" y="82"/>
                  <a:pt x="148" y="82"/>
                  <a:pt x="148" y="82"/>
                </a:cubicBezTo>
                <a:cubicBezTo>
                  <a:pt x="148" y="8"/>
                  <a:pt x="148" y="8"/>
                  <a:pt x="148" y="8"/>
                </a:cubicBezTo>
                <a:cubicBezTo>
                  <a:pt x="8" y="8"/>
                  <a:pt x="8" y="8"/>
                  <a:pt x="8" y="8"/>
                </a:cubicBezTo>
                <a:lnTo>
                  <a:pt x="8" y="8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38" name="稻壳儿原创设计师【幻雨工作室】_9">
            <a:extLst>
              <a:ext uri="{FF2B5EF4-FFF2-40B4-BE49-F238E27FC236}">
                <a16:creationId xmlns:a16="http://schemas.microsoft.com/office/drawing/2014/main" id="{CB036AD9-D0A3-492B-9F41-95E022D810FB}"/>
              </a:ext>
            </a:extLst>
          </p:cNvPr>
          <p:cNvSpPr>
            <a:spLocks/>
          </p:cNvSpPr>
          <p:nvPr/>
        </p:nvSpPr>
        <p:spPr bwMode="auto">
          <a:xfrm>
            <a:off x="4282396" y="3335338"/>
            <a:ext cx="889000" cy="30162"/>
          </a:xfrm>
          <a:custGeom>
            <a:avLst/>
            <a:gdLst>
              <a:gd name="T0" fmla="*/ 2147483646 w 237"/>
              <a:gd name="T1" fmla="*/ 2147483646 h 8"/>
              <a:gd name="T2" fmla="*/ 2147483646 w 237"/>
              <a:gd name="T3" fmla="*/ 2147483646 h 8"/>
              <a:gd name="T4" fmla="*/ 0 w 237"/>
              <a:gd name="T5" fmla="*/ 2147483646 h 8"/>
              <a:gd name="T6" fmla="*/ 2147483646 w 237"/>
              <a:gd name="T7" fmla="*/ 0 h 8"/>
              <a:gd name="T8" fmla="*/ 2147483646 w 237"/>
              <a:gd name="T9" fmla="*/ 0 h 8"/>
              <a:gd name="T10" fmla="*/ 2147483646 w 237"/>
              <a:gd name="T11" fmla="*/ 2147483646 h 8"/>
              <a:gd name="T12" fmla="*/ 2147483646 w 237"/>
              <a:gd name="T13" fmla="*/ 2147483646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37" h="8">
                <a:moveTo>
                  <a:pt x="233" y="8"/>
                </a:moveTo>
                <a:cubicBezTo>
                  <a:pt x="4" y="8"/>
                  <a:pt x="4" y="8"/>
                  <a:pt x="4" y="8"/>
                </a:cubicBezTo>
                <a:cubicBezTo>
                  <a:pt x="2" y="8"/>
                  <a:pt x="0" y="6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233" y="0"/>
                  <a:pt x="233" y="0"/>
                  <a:pt x="233" y="0"/>
                </a:cubicBezTo>
                <a:cubicBezTo>
                  <a:pt x="235" y="0"/>
                  <a:pt x="237" y="2"/>
                  <a:pt x="237" y="4"/>
                </a:cubicBezTo>
                <a:cubicBezTo>
                  <a:pt x="237" y="6"/>
                  <a:pt x="235" y="8"/>
                  <a:pt x="233" y="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39" name="稻壳儿原创设计师【幻雨工作室】_10">
            <a:extLst>
              <a:ext uri="{FF2B5EF4-FFF2-40B4-BE49-F238E27FC236}">
                <a16:creationId xmlns:a16="http://schemas.microsoft.com/office/drawing/2014/main" id="{457A5634-1115-4998-BCE7-35B032A330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9243" y="2159000"/>
            <a:ext cx="1841082" cy="1854200"/>
          </a:xfrm>
          <a:prstGeom prst="ellipse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40" name="稻壳儿原创设计师【幻雨工作室】_11">
            <a:extLst>
              <a:ext uri="{FF2B5EF4-FFF2-40B4-BE49-F238E27FC236}">
                <a16:creationId xmlns:a16="http://schemas.microsoft.com/office/drawing/2014/main" id="{F7BF19DB-DE02-4F7E-B440-EE9ED77CD533}"/>
              </a:ext>
            </a:extLst>
          </p:cNvPr>
          <p:cNvSpPr>
            <a:spLocks noEditPoints="1"/>
          </p:cNvSpPr>
          <p:nvPr/>
        </p:nvSpPr>
        <p:spPr bwMode="auto">
          <a:xfrm>
            <a:off x="7168471" y="2719388"/>
            <a:ext cx="682625" cy="687387"/>
          </a:xfrm>
          <a:custGeom>
            <a:avLst/>
            <a:gdLst>
              <a:gd name="T0" fmla="*/ 2147483646 w 182"/>
              <a:gd name="T1" fmla="*/ 2147483646 h 182"/>
              <a:gd name="T2" fmla="*/ 2147483646 w 182"/>
              <a:gd name="T3" fmla="*/ 2147483646 h 182"/>
              <a:gd name="T4" fmla="*/ 2147483646 w 182"/>
              <a:gd name="T5" fmla="*/ 2147483646 h 182"/>
              <a:gd name="T6" fmla="*/ 2147483646 w 182"/>
              <a:gd name="T7" fmla="*/ 2147483646 h 182"/>
              <a:gd name="T8" fmla="*/ 2147483646 w 182"/>
              <a:gd name="T9" fmla="*/ 2147483646 h 182"/>
              <a:gd name="T10" fmla="*/ 0 w 182"/>
              <a:gd name="T11" fmla="*/ 2147483646 h 182"/>
              <a:gd name="T12" fmla="*/ 2147483646 w 182"/>
              <a:gd name="T13" fmla="*/ 2147483646 h 182"/>
              <a:gd name="T14" fmla="*/ 2147483646 w 182"/>
              <a:gd name="T15" fmla="*/ 2147483646 h 182"/>
              <a:gd name="T16" fmla="*/ 2147483646 w 182"/>
              <a:gd name="T17" fmla="*/ 2147483646 h 182"/>
              <a:gd name="T18" fmla="*/ 2147483646 w 182"/>
              <a:gd name="T19" fmla="*/ 2147483646 h 182"/>
              <a:gd name="T20" fmla="*/ 2147483646 w 182"/>
              <a:gd name="T21" fmla="*/ 2147483646 h 182"/>
              <a:gd name="T22" fmla="*/ 2147483646 w 182"/>
              <a:gd name="T23" fmla="*/ 0 h 182"/>
              <a:gd name="T24" fmla="*/ 2147483646 w 182"/>
              <a:gd name="T25" fmla="*/ 2147483646 h 182"/>
              <a:gd name="T26" fmla="*/ 2147483646 w 182"/>
              <a:gd name="T27" fmla="*/ 2147483646 h 182"/>
              <a:gd name="T28" fmla="*/ 2147483646 w 182"/>
              <a:gd name="T29" fmla="*/ 2147483646 h 182"/>
              <a:gd name="T30" fmla="*/ 2147483646 w 182"/>
              <a:gd name="T31" fmla="*/ 2147483646 h 182"/>
              <a:gd name="T32" fmla="*/ 2147483646 w 182"/>
              <a:gd name="T33" fmla="*/ 2147483646 h 182"/>
              <a:gd name="T34" fmla="*/ 2147483646 w 182"/>
              <a:gd name="T35" fmla="*/ 2147483646 h 182"/>
              <a:gd name="T36" fmla="*/ 2147483646 w 182"/>
              <a:gd name="T37" fmla="*/ 2147483646 h 182"/>
              <a:gd name="T38" fmla="*/ 2147483646 w 182"/>
              <a:gd name="T39" fmla="*/ 2147483646 h 182"/>
              <a:gd name="T40" fmla="*/ 2147483646 w 182"/>
              <a:gd name="T41" fmla="*/ 2147483646 h 182"/>
              <a:gd name="T42" fmla="*/ 2147483646 w 182"/>
              <a:gd name="T43" fmla="*/ 2147483646 h 182"/>
              <a:gd name="T44" fmla="*/ 2147483646 w 182"/>
              <a:gd name="T45" fmla="*/ 2147483646 h 182"/>
              <a:gd name="T46" fmla="*/ 2147483646 w 182"/>
              <a:gd name="T47" fmla="*/ 2147483646 h 182"/>
              <a:gd name="T48" fmla="*/ 2147483646 w 182"/>
              <a:gd name="T49" fmla="*/ 2147483646 h 182"/>
              <a:gd name="T50" fmla="*/ 2147483646 w 182"/>
              <a:gd name="T51" fmla="*/ 2147483646 h 182"/>
              <a:gd name="T52" fmla="*/ 2147483646 w 182"/>
              <a:gd name="T53" fmla="*/ 2147483646 h 182"/>
              <a:gd name="T54" fmla="*/ 2147483646 w 182"/>
              <a:gd name="T55" fmla="*/ 2147483646 h 182"/>
              <a:gd name="T56" fmla="*/ 2147483646 w 182"/>
              <a:gd name="T57" fmla="*/ 2147483646 h 182"/>
              <a:gd name="T58" fmla="*/ 2147483646 w 182"/>
              <a:gd name="T59" fmla="*/ 2147483646 h 182"/>
              <a:gd name="T60" fmla="*/ 2147483646 w 182"/>
              <a:gd name="T61" fmla="*/ 2147483646 h 182"/>
              <a:gd name="T62" fmla="*/ 2147483646 w 182"/>
              <a:gd name="T63" fmla="*/ 2147483646 h 182"/>
              <a:gd name="T64" fmla="*/ 2147483646 w 182"/>
              <a:gd name="T65" fmla="*/ 2147483646 h 182"/>
              <a:gd name="T66" fmla="*/ 2147483646 w 182"/>
              <a:gd name="T67" fmla="*/ 2147483646 h 182"/>
              <a:gd name="T68" fmla="*/ 2147483646 w 182"/>
              <a:gd name="T69" fmla="*/ 2147483646 h 182"/>
              <a:gd name="T70" fmla="*/ 2147483646 w 182"/>
              <a:gd name="T71" fmla="*/ 2147483646 h 182"/>
              <a:gd name="T72" fmla="*/ 2147483646 w 182"/>
              <a:gd name="T73" fmla="*/ 2147483646 h 182"/>
              <a:gd name="T74" fmla="*/ 2147483646 w 182"/>
              <a:gd name="T75" fmla="*/ 2147483646 h 182"/>
              <a:gd name="T76" fmla="*/ 2147483646 w 182"/>
              <a:gd name="T77" fmla="*/ 2147483646 h 182"/>
              <a:gd name="T78" fmla="*/ 2147483646 w 182"/>
              <a:gd name="T79" fmla="*/ 2147483646 h 182"/>
              <a:gd name="T80" fmla="*/ 2147483646 w 182"/>
              <a:gd name="T81" fmla="*/ 2147483646 h 182"/>
              <a:gd name="T82" fmla="*/ 2147483646 w 182"/>
              <a:gd name="T83" fmla="*/ 2147483646 h 182"/>
              <a:gd name="T84" fmla="*/ 2147483646 w 182"/>
              <a:gd name="T85" fmla="*/ 2147483646 h 182"/>
              <a:gd name="T86" fmla="*/ 2147483646 w 182"/>
              <a:gd name="T87" fmla="*/ 2147483646 h 182"/>
              <a:gd name="T88" fmla="*/ 2147483646 w 182"/>
              <a:gd name="T89" fmla="*/ 2147483646 h 182"/>
              <a:gd name="T90" fmla="*/ 2147483646 w 182"/>
              <a:gd name="T91" fmla="*/ 2147483646 h 182"/>
              <a:gd name="T92" fmla="*/ 2147483646 w 182"/>
              <a:gd name="T93" fmla="*/ 2147483646 h 182"/>
              <a:gd name="T94" fmla="*/ 2147483646 w 182"/>
              <a:gd name="T95" fmla="*/ 2147483646 h 182"/>
              <a:gd name="T96" fmla="*/ 2147483646 w 182"/>
              <a:gd name="T97" fmla="*/ 2147483646 h 182"/>
              <a:gd name="T98" fmla="*/ 2147483646 w 182"/>
              <a:gd name="T99" fmla="*/ 2147483646 h 182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</a:gdLst>
            <a:ahLst/>
            <a:cxnLst>
              <a:cxn ang="T100">
                <a:pos x="T0" y="T1"/>
              </a:cxn>
              <a:cxn ang="T101">
                <a:pos x="T2" y="T3"/>
              </a:cxn>
              <a:cxn ang="T102">
                <a:pos x="T4" y="T5"/>
              </a:cxn>
              <a:cxn ang="T103">
                <a:pos x="T6" y="T7"/>
              </a:cxn>
              <a:cxn ang="T104">
                <a:pos x="T8" y="T9"/>
              </a:cxn>
              <a:cxn ang="T105">
                <a:pos x="T10" y="T11"/>
              </a:cxn>
              <a:cxn ang="T106">
                <a:pos x="T12" y="T13"/>
              </a:cxn>
              <a:cxn ang="T107">
                <a:pos x="T14" y="T15"/>
              </a:cxn>
              <a:cxn ang="T108">
                <a:pos x="T16" y="T17"/>
              </a:cxn>
              <a:cxn ang="T109">
                <a:pos x="T18" y="T19"/>
              </a:cxn>
              <a:cxn ang="T110">
                <a:pos x="T20" y="T21"/>
              </a:cxn>
              <a:cxn ang="T111">
                <a:pos x="T22" y="T23"/>
              </a:cxn>
              <a:cxn ang="T112">
                <a:pos x="T24" y="T25"/>
              </a:cxn>
              <a:cxn ang="T113">
                <a:pos x="T26" y="T27"/>
              </a:cxn>
              <a:cxn ang="T114">
                <a:pos x="T28" y="T29"/>
              </a:cxn>
              <a:cxn ang="T115">
                <a:pos x="T30" y="T31"/>
              </a:cxn>
              <a:cxn ang="T116">
                <a:pos x="T32" y="T33"/>
              </a:cxn>
              <a:cxn ang="T117">
                <a:pos x="T34" y="T35"/>
              </a:cxn>
              <a:cxn ang="T118">
                <a:pos x="T36" y="T37"/>
              </a:cxn>
              <a:cxn ang="T119">
                <a:pos x="T38" y="T39"/>
              </a:cxn>
              <a:cxn ang="T120">
                <a:pos x="T40" y="T41"/>
              </a:cxn>
              <a:cxn ang="T121">
                <a:pos x="T42" y="T43"/>
              </a:cxn>
              <a:cxn ang="T122">
                <a:pos x="T44" y="T45"/>
              </a:cxn>
              <a:cxn ang="T123">
                <a:pos x="T46" y="T47"/>
              </a:cxn>
              <a:cxn ang="T124">
                <a:pos x="T48" y="T49"/>
              </a:cxn>
              <a:cxn ang="T125">
                <a:pos x="T50" y="T51"/>
              </a:cxn>
              <a:cxn ang="T126">
                <a:pos x="T52" y="T53"/>
              </a:cxn>
              <a:cxn ang="T127">
                <a:pos x="T54" y="T55"/>
              </a:cxn>
              <a:cxn ang="T128">
                <a:pos x="T56" y="T57"/>
              </a:cxn>
              <a:cxn ang="T129">
                <a:pos x="T58" y="T59"/>
              </a:cxn>
              <a:cxn ang="T130">
                <a:pos x="T60" y="T61"/>
              </a:cxn>
              <a:cxn ang="T131">
                <a:pos x="T62" y="T63"/>
              </a:cxn>
              <a:cxn ang="T132">
                <a:pos x="T64" y="T65"/>
              </a:cxn>
              <a:cxn ang="T133">
                <a:pos x="T66" y="T67"/>
              </a:cxn>
              <a:cxn ang="T134">
                <a:pos x="T68" y="T69"/>
              </a:cxn>
              <a:cxn ang="T135">
                <a:pos x="T70" y="T71"/>
              </a:cxn>
              <a:cxn ang="T136">
                <a:pos x="T72" y="T73"/>
              </a:cxn>
              <a:cxn ang="T137">
                <a:pos x="T74" y="T75"/>
              </a:cxn>
              <a:cxn ang="T138">
                <a:pos x="T76" y="T77"/>
              </a:cxn>
              <a:cxn ang="T139">
                <a:pos x="T78" y="T79"/>
              </a:cxn>
              <a:cxn ang="T140">
                <a:pos x="T80" y="T81"/>
              </a:cxn>
              <a:cxn ang="T141">
                <a:pos x="T82" y="T83"/>
              </a:cxn>
              <a:cxn ang="T142">
                <a:pos x="T84" y="T85"/>
              </a:cxn>
              <a:cxn ang="T143">
                <a:pos x="T86" y="T87"/>
              </a:cxn>
              <a:cxn ang="T144">
                <a:pos x="T88" y="T89"/>
              </a:cxn>
              <a:cxn ang="T145">
                <a:pos x="T90" y="T91"/>
              </a:cxn>
              <a:cxn ang="T146">
                <a:pos x="T92" y="T93"/>
              </a:cxn>
              <a:cxn ang="T147">
                <a:pos x="T94" y="T95"/>
              </a:cxn>
              <a:cxn ang="T148">
                <a:pos x="T96" y="T97"/>
              </a:cxn>
              <a:cxn ang="T149">
                <a:pos x="T98" y="T99"/>
              </a:cxn>
            </a:cxnLst>
            <a:rect l="0" t="0" r="r" b="b"/>
            <a:pathLst>
              <a:path w="182" h="182">
                <a:moveTo>
                  <a:pt x="102" y="182"/>
                </a:moveTo>
                <a:cubicBezTo>
                  <a:pt x="81" y="182"/>
                  <a:pt x="81" y="182"/>
                  <a:pt x="81" y="182"/>
                </a:cubicBezTo>
                <a:cubicBezTo>
                  <a:pt x="76" y="182"/>
                  <a:pt x="71" y="178"/>
                  <a:pt x="71" y="172"/>
                </a:cubicBezTo>
                <a:cubicBezTo>
                  <a:pt x="71" y="159"/>
                  <a:pt x="71" y="159"/>
                  <a:pt x="71" y="159"/>
                </a:cubicBezTo>
                <a:cubicBezTo>
                  <a:pt x="71" y="158"/>
                  <a:pt x="70" y="156"/>
                  <a:pt x="69" y="155"/>
                </a:cubicBezTo>
                <a:cubicBezTo>
                  <a:pt x="62" y="153"/>
                  <a:pt x="62" y="153"/>
                  <a:pt x="62" y="153"/>
                </a:cubicBezTo>
                <a:cubicBezTo>
                  <a:pt x="60" y="152"/>
                  <a:pt x="59" y="152"/>
                  <a:pt x="58" y="153"/>
                </a:cubicBezTo>
                <a:cubicBezTo>
                  <a:pt x="48" y="163"/>
                  <a:pt x="48" y="163"/>
                  <a:pt x="48" y="163"/>
                </a:cubicBezTo>
                <a:cubicBezTo>
                  <a:pt x="44" y="166"/>
                  <a:pt x="38" y="166"/>
                  <a:pt x="34" y="163"/>
                </a:cubicBezTo>
                <a:cubicBezTo>
                  <a:pt x="20" y="148"/>
                  <a:pt x="20" y="148"/>
                  <a:pt x="20" y="148"/>
                </a:cubicBezTo>
                <a:cubicBezTo>
                  <a:pt x="18" y="146"/>
                  <a:pt x="17" y="144"/>
                  <a:pt x="17" y="141"/>
                </a:cubicBezTo>
                <a:cubicBezTo>
                  <a:pt x="17" y="139"/>
                  <a:pt x="18" y="136"/>
                  <a:pt x="20" y="134"/>
                </a:cubicBezTo>
                <a:cubicBezTo>
                  <a:pt x="29" y="125"/>
                  <a:pt x="29" y="125"/>
                  <a:pt x="29" y="125"/>
                </a:cubicBezTo>
                <a:cubicBezTo>
                  <a:pt x="30" y="124"/>
                  <a:pt x="31" y="122"/>
                  <a:pt x="30" y="120"/>
                </a:cubicBezTo>
                <a:cubicBezTo>
                  <a:pt x="27" y="114"/>
                  <a:pt x="27" y="114"/>
                  <a:pt x="27" y="114"/>
                </a:cubicBezTo>
                <a:cubicBezTo>
                  <a:pt x="27" y="113"/>
                  <a:pt x="25" y="111"/>
                  <a:pt x="24" y="111"/>
                </a:cubicBezTo>
                <a:cubicBezTo>
                  <a:pt x="10" y="111"/>
                  <a:pt x="10" y="111"/>
                  <a:pt x="10" y="111"/>
                </a:cubicBezTo>
                <a:cubicBezTo>
                  <a:pt x="5" y="111"/>
                  <a:pt x="0" y="107"/>
                  <a:pt x="0" y="101"/>
                </a:cubicBezTo>
                <a:cubicBezTo>
                  <a:pt x="0" y="81"/>
                  <a:pt x="0" y="81"/>
                  <a:pt x="0" y="81"/>
                </a:cubicBezTo>
                <a:cubicBezTo>
                  <a:pt x="0" y="75"/>
                  <a:pt x="5" y="71"/>
                  <a:pt x="10" y="71"/>
                </a:cubicBezTo>
                <a:cubicBezTo>
                  <a:pt x="24" y="71"/>
                  <a:pt x="24" y="71"/>
                  <a:pt x="24" y="71"/>
                </a:cubicBezTo>
                <a:cubicBezTo>
                  <a:pt x="25" y="71"/>
                  <a:pt x="27" y="70"/>
                  <a:pt x="27" y="68"/>
                </a:cubicBezTo>
                <a:cubicBezTo>
                  <a:pt x="30" y="62"/>
                  <a:pt x="30" y="62"/>
                  <a:pt x="30" y="62"/>
                </a:cubicBezTo>
                <a:cubicBezTo>
                  <a:pt x="31" y="60"/>
                  <a:pt x="30" y="58"/>
                  <a:pt x="29" y="57"/>
                </a:cubicBezTo>
                <a:cubicBezTo>
                  <a:pt x="20" y="48"/>
                  <a:pt x="20" y="48"/>
                  <a:pt x="20" y="48"/>
                </a:cubicBezTo>
                <a:cubicBezTo>
                  <a:pt x="18" y="46"/>
                  <a:pt x="17" y="44"/>
                  <a:pt x="17" y="41"/>
                </a:cubicBezTo>
                <a:cubicBezTo>
                  <a:pt x="17" y="38"/>
                  <a:pt x="18" y="36"/>
                  <a:pt x="20" y="34"/>
                </a:cubicBezTo>
                <a:cubicBezTo>
                  <a:pt x="34" y="19"/>
                  <a:pt x="34" y="19"/>
                  <a:pt x="34" y="19"/>
                </a:cubicBezTo>
                <a:cubicBezTo>
                  <a:pt x="38" y="16"/>
                  <a:pt x="44" y="16"/>
                  <a:pt x="48" y="19"/>
                </a:cubicBezTo>
                <a:cubicBezTo>
                  <a:pt x="58" y="29"/>
                  <a:pt x="58" y="29"/>
                  <a:pt x="58" y="29"/>
                </a:cubicBezTo>
                <a:cubicBezTo>
                  <a:pt x="59" y="30"/>
                  <a:pt x="61" y="30"/>
                  <a:pt x="62" y="30"/>
                </a:cubicBezTo>
                <a:cubicBezTo>
                  <a:pt x="68" y="27"/>
                  <a:pt x="68" y="27"/>
                  <a:pt x="68" y="27"/>
                </a:cubicBezTo>
                <a:cubicBezTo>
                  <a:pt x="70" y="26"/>
                  <a:pt x="71" y="25"/>
                  <a:pt x="71" y="23"/>
                </a:cubicBezTo>
                <a:cubicBezTo>
                  <a:pt x="71" y="10"/>
                  <a:pt x="71" y="10"/>
                  <a:pt x="71" y="10"/>
                </a:cubicBezTo>
                <a:cubicBezTo>
                  <a:pt x="71" y="4"/>
                  <a:pt x="76" y="0"/>
                  <a:pt x="81" y="0"/>
                </a:cubicBezTo>
                <a:cubicBezTo>
                  <a:pt x="102" y="0"/>
                  <a:pt x="102" y="0"/>
                  <a:pt x="102" y="0"/>
                </a:cubicBezTo>
                <a:cubicBezTo>
                  <a:pt x="107" y="0"/>
                  <a:pt x="112" y="4"/>
                  <a:pt x="112" y="10"/>
                </a:cubicBezTo>
                <a:cubicBezTo>
                  <a:pt x="112" y="23"/>
                  <a:pt x="112" y="23"/>
                  <a:pt x="112" y="23"/>
                </a:cubicBezTo>
                <a:cubicBezTo>
                  <a:pt x="112" y="25"/>
                  <a:pt x="113" y="26"/>
                  <a:pt x="114" y="27"/>
                </a:cubicBezTo>
                <a:cubicBezTo>
                  <a:pt x="120" y="29"/>
                  <a:pt x="120" y="29"/>
                  <a:pt x="120" y="29"/>
                </a:cubicBezTo>
                <a:cubicBezTo>
                  <a:pt x="122" y="30"/>
                  <a:pt x="124" y="30"/>
                  <a:pt x="125" y="29"/>
                </a:cubicBezTo>
                <a:cubicBezTo>
                  <a:pt x="135" y="19"/>
                  <a:pt x="135" y="19"/>
                  <a:pt x="135" y="19"/>
                </a:cubicBezTo>
                <a:cubicBezTo>
                  <a:pt x="138" y="16"/>
                  <a:pt x="145" y="16"/>
                  <a:pt x="148" y="19"/>
                </a:cubicBezTo>
                <a:cubicBezTo>
                  <a:pt x="163" y="34"/>
                  <a:pt x="163" y="34"/>
                  <a:pt x="163" y="34"/>
                </a:cubicBezTo>
                <a:cubicBezTo>
                  <a:pt x="165" y="36"/>
                  <a:pt x="166" y="38"/>
                  <a:pt x="166" y="41"/>
                </a:cubicBezTo>
                <a:cubicBezTo>
                  <a:pt x="166" y="44"/>
                  <a:pt x="165" y="46"/>
                  <a:pt x="163" y="48"/>
                </a:cubicBezTo>
                <a:cubicBezTo>
                  <a:pt x="154" y="57"/>
                  <a:pt x="154" y="57"/>
                  <a:pt x="154" y="57"/>
                </a:cubicBezTo>
                <a:cubicBezTo>
                  <a:pt x="153" y="58"/>
                  <a:pt x="152" y="60"/>
                  <a:pt x="153" y="62"/>
                </a:cubicBezTo>
                <a:cubicBezTo>
                  <a:pt x="156" y="68"/>
                  <a:pt x="156" y="68"/>
                  <a:pt x="156" y="68"/>
                </a:cubicBezTo>
                <a:cubicBezTo>
                  <a:pt x="156" y="70"/>
                  <a:pt x="158" y="71"/>
                  <a:pt x="159" y="71"/>
                </a:cubicBezTo>
                <a:cubicBezTo>
                  <a:pt x="173" y="71"/>
                  <a:pt x="173" y="71"/>
                  <a:pt x="173" y="71"/>
                </a:cubicBezTo>
                <a:cubicBezTo>
                  <a:pt x="178" y="71"/>
                  <a:pt x="182" y="75"/>
                  <a:pt x="182" y="81"/>
                </a:cubicBezTo>
                <a:cubicBezTo>
                  <a:pt x="182" y="101"/>
                  <a:pt x="182" y="101"/>
                  <a:pt x="182" y="101"/>
                </a:cubicBezTo>
                <a:cubicBezTo>
                  <a:pt x="182" y="107"/>
                  <a:pt x="178" y="111"/>
                  <a:pt x="173" y="111"/>
                </a:cubicBezTo>
                <a:cubicBezTo>
                  <a:pt x="159" y="111"/>
                  <a:pt x="159" y="111"/>
                  <a:pt x="159" y="111"/>
                </a:cubicBezTo>
                <a:cubicBezTo>
                  <a:pt x="158" y="111"/>
                  <a:pt x="156" y="112"/>
                  <a:pt x="156" y="114"/>
                </a:cubicBezTo>
                <a:cubicBezTo>
                  <a:pt x="153" y="120"/>
                  <a:pt x="153" y="120"/>
                  <a:pt x="153" y="120"/>
                </a:cubicBezTo>
                <a:cubicBezTo>
                  <a:pt x="152" y="122"/>
                  <a:pt x="153" y="124"/>
                  <a:pt x="154" y="125"/>
                </a:cubicBezTo>
                <a:cubicBezTo>
                  <a:pt x="163" y="134"/>
                  <a:pt x="163" y="134"/>
                  <a:pt x="163" y="134"/>
                </a:cubicBezTo>
                <a:cubicBezTo>
                  <a:pt x="165" y="136"/>
                  <a:pt x="166" y="139"/>
                  <a:pt x="166" y="141"/>
                </a:cubicBezTo>
                <a:cubicBezTo>
                  <a:pt x="166" y="144"/>
                  <a:pt x="165" y="146"/>
                  <a:pt x="163" y="148"/>
                </a:cubicBezTo>
                <a:cubicBezTo>
                  <a:pt x="148" y="163"/>
                  <a:pt x="148" y="163"/>
                  <a:pt x="148" y="163"/>
                </a:cubicBezTo>
                <a:cubicBezTo>
                  <a:pt x="145" y="166"/>
                  <a:pt x="138" y="166"/>
                  <a:pt x="135" y="163"/>
                </a:cubicBezTo>
                <a:cubicBezTo>
                  <a:pt x="125" y="153"/>
                  <a:pt x="125" y="153"/>
                  <a:pt x="125" y="153"/>
                </a:cubicBezTo>
                <a:cubicBezTo>
                  <a:pt x="124" y="152"/>
                  <a:pt x="122" y="152"/>
                  <a:pt x="121" y="153"/>
                </a:cubicBezTo>
                <a:cubicBezTo>
                  <a:pt x="114" y="155"/>
                  <a:pt x="114" y="155"/>
                  <a:pt x="114" y="155"/>
                </a:cubicBezTo>
                <a:cubicBezTo>
                  <a:pt x="113" y="156"/>
                  <a:pt x="112" y="158"/>
                  <a:pt x="112" y="159"/>
                </a:cubicBezTo>
                <a:cubicBezTo>
                  <a:pt x="112" y="172"/>
                  <a:pt x="112" y="172"/>
                  <a:pt x="112" y="172"/>
                </a:cubicBezTo>
                <a:cubicBezTo>
                  <a:pt x="112" y="178"/>
                  <a:pt x="107" y="182"/>
                  <a:pt x="102" y="182"/>
                </a:cubicBezTo>
                <a:close/>
                <a:moveTo>
                  <a:pt x="61" y="144"/>
                </a:moveTo>
                <a:cubicBezTo>
                  <a:pt x="62" y="144"/>
                  <a:pt x="64" y="145"/>
                  <a:pt x="66" y="145"/>
                </a:cubicBezTo>
                <a:cubicBezTo>
                  <a:pt x="71" y="148"/>
                  <a:pt x="71" y="148"/>
                  <a:pt x="71" y="148"/>
                </a:cubicBezTo>
                <a:cubicBezTo>
                  <a:pt x="76" y="149"/>
                  <a:pt x="79" y="154"/>
                  <a:pt x="79" y="159"/>
                </a:cubicBezTo>
                <a:cubicBezTo>
                  <a:pt x="79" y="172"/>
                  <a:pt x="79" y="172"/>
                  <a:pt x="79" y="172"/>
                </a:cubicBezTo>
                <a:cubicBezTo>
                  <a:pt x="79" y="173"/>
                  <a:pt x="80" y="174"/>
                  <a:pt x="81" y="174"/>
                </a:cubicBezTo>
                <a:cubicBezTo>
                  <a:pt x="102" y="174"/>
                  <a:pt x="102" y="174"/>
                  <a:pt x="102" y="174"/>
                </a:cubicBezTo>
                <a:cubicBezTo>
                  <a:pt x="103" y="174"/>
                  <a:pt x="103" y="173"/>
                  <a:pt x="103" y="172"/>
                </a:cubicBezTo>
                <a:cubicBezTo>
                  <a:pt x="103" y="159"/>
                  <a:pt x="103" y="159"/>
                  <a:pt x="103" y="159"/>
                </a:cubicBezTo>
                <a:cubicBezTo>
                  <a:pt x="103" y="154"/>
                  <a:pt x="107" y="149"/>
                  <a:pt x="112" y="148"/>
                </a:cubicBezTo>
                <a:cubicBezTo>
                  <a:pt x="117" y="145"/>
                  <a:pt x="117" y="145"/>
                  <a:pt x="117" y="145"/>
                </a:cubicBezTo>
                <a:cubicBezTo>
                  <a:pt x="119" y="145"/>
                  <a:pt x="120" y="144"/>
                  <a:pt x="122" y="144"/>
                </a:cubicBezTo>
                <a:cubicBezTo>
                  <a:pt x="126" y="144"/>
                  <a:pt x="129" y="145"/>
                  <a:pt x="131" y="148"/>
                </a:cubicBezTo>
                <a:cubicBezTo>
                  <a:pt x="140" y="157"/>
                  <a:pt x="140" y="157"/>
                  <a:pt x="140" y="157"/>
                </a:cubicBezTo>
                <a:cubicBezTo>
                  <a:pt x="141" y="158"/>
                  <a:pt x="142" y="158"/>
                  <a:pt x="143" y="157"/>
                </a:cubicBezTo>
                <a:cubicBezTo>
                  <a:pt x="157" y="142"/>
                  <a:pt x="157" y="142"/>
                  <a:pt x="157" y="142"/>
                </a:cubicBezTo>
                <a:cubicBezTo>
                  <a:pt x="158" y="142"/>
                  <a:pt x="158" y="141"/>
                  <a:pt x="158" y="141"/>
                </a:cubicBezTo>
                <a:cubicBezTo>
                  <a:pt x="158" y="141"/>
                  <a:pt x="158" y="140"/>
                  <a:pt x="157" y="140"/>
                </a:cubicBezTo>
                <a:cubicBezTo>
                  <a:pt x="148" y="131"/>
                  <a:pt x="148" y="131"/>
                  <a:pt x="148" y="131"/>
                </a:cubicBezTo>
                <a:cubicBezTo>
                  <a:pt x="144" y="127"/>
                  <a:pt x="143" y="121"/>
                  <a:pt x="146" y="117"/>
                </a:cubicBezTo>
                <a:cubicBezTo>
                  <a:pt x="148" y="111"/>
                  <a:pt x="148" y="111"/>
                  <a:pt x="148" y="111"/>
                </a:cubicBezTo>
                <a:cubicBezTo>
                  <a:pt x="149" y="107"/>
                  <a:pt x="154" y="103"/>
                  <a:pt x="159" y="103"/>
                </a:cubicBezTo>
                <a:cubicBezTo>
                  <a:pt x="173" y="103"/>
                  <a:pt x="173" y="103"/>
                  <a:pt x="173" y="103"/>
                </a:cubicBezTo>
                <a:cubicBezTo>
                  <a:pt x="174" y="103"/>
                  <a:pt x="174" y="102"/>
                  <a:pt x="174" y="101"/>
                </a:cubicBezTo>
                <a:cubicBezTo>
                  <a:pt x="174" y="81"/>
                  <a:pt x="174" y="81"/>
                  <a:pt x="174" y="81"/>
                </a:cubicBezTo>
                <a:cubicBezTo>
                  <a:pt x="174" y="80"/>
                  <a:pt x="174" y="79"/>
                  <a:pt x="173" y="79"/>
                </a:cubicBezTo>
                <a:cubicBezTo>
                  <a:pt x="159" y="79"/>
                  <a:pt x="159" y="79"/>
                  <a:pt x="159" y="79"/>
                </a:cubicBezTo>
                <a:cubicBezTo>
                  <a:pt x="154" y="79"/>
                  <a:pt x="149" y="76"/>
                  <a:pt x="148" y="71"/>
                </a:cubicBezTo>
                <a:cubicBezTo>
                  <a:pt x="146" y="65"/>
                  <a:pt x="146" y="65"/>
                  <a:pt x="146" y="65"/>
                </a:cubicBezTo>
                <a:cubicBezTo>
                  <a:pt x="143" y="61"/>
                  <a:pt x="144" y="55"/>
                  <a:pt x="148" y="52"/>
                </a:cubicBezTo>
                <a:cubicBezTo>
                  <a:pt x="157" y="42"/>
                  <a:pt x="157" y="42"/>
                  <a:pt x="157" y="42"/>
                </a:cubicBezTo>
                <a:cubicBezTo>
                  <a:pt x="158" y="42"/>
                  <a:pt x="158" y="41"/>
                  <a:pt x="158" y="41"/>
                </a:cubicBezTo>
                <a:cubicBezTo>
                  <a:pt x="158" y="41"/>
                  <a:pt x="158" y="40"/>
                  <a:pt x="157" y="40"/>
                </a:cubicBezTo>
                <a:cubicBezTo>
                  <a:pt x="143" y="25"/>
                  <a:pt x="143" y="25"/>
                  <a:pt x="143" y="25"/>
                </a:cubicBezTo>
                <a:cubicBezTo>
                  <a:pt x="142" y="24"/>
                  <a:pt x="141" y="24"/>
                  <a:pt x="140" y="25"/>
                </a:cubicBezTo>
                <a:cubicBezTo>
                  <a:pt x="131" y="35"/>
                  <a:pt x="131" y="35"/>
                  <a:pt x="131" y="35"/>
                </a:cubicBezTo>
                <a:cubicBezTo>
                  <a:pt x="128" y="38"/>
                  <a:pt x="121" y="39"/>
                  <a:pt x="117" y="37"/>
                </a:cubicBezTo>
                <a:cubicBezTo>
                  <a:pt x="111" y="34"/>
                  <a:pt x="111" y="34"/>
                  <a:pt x="111" y="34"/>
                </a:cubicBezTo>
                <a:cubicBezTo>
                  <a:pt x="107" y="33"/>
                  <a:pt x="103" y="28"/>
                  <a:pt x="103" y="23"/>
                </a:cubicBezTo>
                <a:cubicBezTo>
                  <a:pt x="103" y="10"/>
                  <a:pt x="103" y="10"/>
                  <a:pt x="103" y="10"/>
                </a:cubicBezTo>
                <a:cubicBezTo>
                  <a:pt x="103" y="9"/>
                  <a:pt x="103" y="8"/>
                  <a:pt x="102" y="8"/>
                </a:cubicBezTo>
                <a:cubicBezTo>
                  <a:pt x="81" y="8"/>
                  <a:pt x="81" y="8"/>
                  <a:pt x="81" y="8"/>
                </a:cubicBezTo>
                <a:cubicBezTo>
                  <a:pt x="80" y="8"/>
                  <a:pt x="79" y="9"/>
                  <a:pt x="79" y="10"/>
                </a:cubicBezTo>
                <a:cubicBezTo>
                  <a:pt x="79" y="23"/>
                  <a:pt x="79" y="23"/>
                  <a:pt x="79" y="23"/>
                </a:cubicBezTo>
                <a:cubicBezTo>
                  <a:pt x="79" y="28"/>
                  <a:pt x="76" y="33"/>
                  <a:pt x="71" y="35"/>
                </a:cubicBezTo>
                <a:cubicBezTo>
                  <a:pt x="65" y="37"/>
                  <a:pt x="65" y="37"/>
                  <a:pt x="65" y="37"/>
                </a:cubicBezTo>
                <a:cubicBezTo>
                  <a:pt x="64" y="38"/>
                  <a:pt x="62" y="38"/>
                  <a:pt x="61" y="38"/>
                </a:cubicBezTo>
                <a:cubicBezTo>
                  <a:pt x="57" y="38"/>
                  <a:pt x="54" y="37"/>
                  <a:pt x="52" y="35"/>
                </a:cubicBezTo>
                <a:cubicBezTo>
                  <a:pt x="42" y="25"/>
                  <a:pt x="42" y="25"/>
                  <a:pt x="42" y="25"/>
                </a:cubicBezTo>
                <a:cubicBezTo>
                  <a:pt x="42" y="24"/>
                  <a:pt x="41" y="24"/>
                  <a:pt x="40" y="25"/>
                </a:cubicBezTo>
                <a:cubicBezTo>
                  <a:pt x="25" y="40"/>
                  <a:pt x="25" y="40"/>
                  <a:pt x="25" y="40"/>
                </a:cubicBezTo>
                <a:cubicBezTo>
                  <a:pt x="25" y="40"/>
                  <a:pt x="25" y="41"/>
                  <a:pt x="25" y="41"/>
                </a:cubicBezTo>
                <a:cubicBezTo>
                  <a:pt x="25" y="41"/>
                  <a:pt x="25" y="42"/>
                  <a:pt x="25" y="42"/>
                </a:cubicBezTo>
                <a:cubicBezTo>
                  <a:pt x="35" y="52"/>
                  <a:pt x="35" y="52"/>
                  <a:pt x="35" y="52"/>
                </a:cubicBezTo>
                <a:cubicBezTo>
                  <a:pt x="38" y="55"/>
                  <a:pt x="39" y="61"/>
                  <a:pt x="37" y="65"/>
                </a:cubicBezTo>
                <a:cubicBezTo>
                  <a:pt x="35" y="71"/>
                  <a:pt x="35" y="71"/>
                  <a:pt x="35" y="71"/>
                </a:cubicBezTo>
                <a:cubicBezTo>
                  <a:pt x="33" y="76"/>
                  <a:pt x="28" y="79"/>
                  <a:pt x="24" y="79"/>
                </a:cubicBezTo>
                <a:cubicBezTo>
                  <a:pt x="10" y="79"/>
                  <a:pt x="10" y="79"/>
                  <a:pt x="10" y="79"/>
                </a:cubicBezTo>
                <a:cubicBezTo>
                  <a:pt x="9" y="79"/>
                  <a:pt x="8" y="80"/>
                  <a:pt x="8" y="81"/>
                </a:cubicBezTo>
                <a:cubicBezTo>
                  <a:pt x="8" y="101"/>
                  <a:pt x="8" y="101"/>
                  <a:pt x="8" y="101"/>
                </a:cubicBezTo>
                <a:cubicBezTo>
                  <a:pt x="8" y="102"/>
                  <a:pt x="9" y="103"/>
                  <a:pt x="10" y="103"/>
                </a:cubicBezTo>
                <a:cubicBezTo>
                  <a:pt x="24" y="103"/>
                  <a:pt x="24" y="103"/>
                  <a:pt x="24" y="103"/>
                </a:cubicBezTo>
                <a:cubicBezTo>
                  <a:pt x="28" y="103"/>
                  <a:pt x="33" y="107"/>
                  <a:pt x="35" y="111"/>
                </a:cubicBezTo>
                <a:cubicBezTo>
                  <a:pt x="37" y="117"/>
                  <a:pt x="37" y="117"/>
                  <a:pt x="37" y="117"/>
                </a:cubicBezTo>
                <a:cubicBezTo>
                  <a:pt x="39" y="121"/>
                  <a:pt x="38" y="127"/>
                  <a:pt x="35" y="131"/>
                </a:cubicBezTo>
                <a:cubicBezTo>
                  <a:pt x="25" y="140"/>
                  <a:pt x="25" y="140"/>
                  <a:pt x="25" y="140"/>
                </a:cubicBezTo>
                <a:cubicBezTo>
                  <a:pt x="25" y="140"/>
                  <a:pt x="25" y="141"/>
                  <a:pt x="25" y="141"/>
                </a:cubicBezTo>
                <a:cubicBezTo>
                  <a:pt x="25" y="141"/>
                  <a:pt x="25" y="142"/>
                  <a:pt x="25" y="142"/>
                </a:cubicBezTo>
                <a:cubicBezTo>
                  <a:pt x="40" y="157"/>
                  <a:pt x="40" y="157"/>
                  <a:pt x="40" y="157"/>
                </a:cubicBezTo>
                <a:cubicBezTo>
                  <a:pt x="41" y="158"/>
                  <a:pt x="42" y="158"/>
                  <a:pt x="42" y="157"/>
                </a:cubicBezTo>
                <a:cubicBezTo>
                  <a:pt x="52" y="148"/>
                  <a:pt x="52" y="148"/>
                  <a:pt x="52" y="148"/>
                </a:cubicBezTo>
                <a:cubicBezTo>
                  <a:pt x="54" y="145"/>
                  <a:pt x="57" y="144"/>
                  <a:pt x="61" y="144"/>
                </a:cubicBezTo>
                <a:close/>
                <a:moveTo>
                  <a:pt x="91" y="123"/>
                </a:moveTo>
                <a:cubicBezTo>
                  <a:pt x="74" y="123"/>
                  <a:pt x="60" y="108"/>
                  <a:pt x="60" y="91"/>
                </a:cubicBezTo>
                <a:cubicBezTo>
                  <a:pt x="60" y="74"/>
                  <a:pt x="74" y="60"/>
                  <a:pt x="91" y="60"/>
                </a:cubicBezTo>
                <a:cubicBezTo>
                  <a:pt x="109" y="60"/>
                  <a:pt x="123" y="74"/>
                  <a:pt x="123" y="91"/>
                </a:cubicBezTo>
                <a:cubicBezTo>
                  <a:pt x="123" y="108"/>
                  <a:pt x="109" y="123"/>
                  <a:pt x="91" y="123"/>
                </a:cubicBezTo>
                <a:close/>
                <a:moveTo>
                  <a:pt x="91" y="68"/>
                </a:moveTo>
                <a:cubicBezTo>
                  <a:pt x="79" y="68"/>
                  <a:pt x="68" y="78"/>
                  <a:pt x="68" y="91"/>
                </a:cubicBezTo>
                <a:cubicBezTo>
                  <a:pt x="68" y="104"/>
                  <a:pt x="79" y="114"/>
                  <a:pt x="91" y="114"/>
                </a:cubicBezTo>
                <a:cubicBezTo>
                  <a:pt x="104" y="114"/>
                  <a:pt x="115" y="104"/>
                  <a:pt x="115" y="91"/>
                </a:cubicBezTo>
                <a:cubicBezTo>
                  <a:pt x="115" y="78"/>
                  <a:pt x="104" y="68"/>
                  <a:pt x="91" y="6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" name="稻壳儿原创设计师【幻雨工作室】_12">
            <a:extLst>
              <a:ext uri="{FF2B5EF4-FFF2-40B4-BE49-F238E27FC236}">
                <a16:creationId xmlns:a16="http://schemas.microsoft.com/office/drawing/2014/main" id="{F650264B-5337-44EF-BC39-A2CCE53114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59730" y="2159000"/>
            <a:ext cx="1838894" cy="1854200"/>
          </a:xfrm>
          <a:prstGeom prst="ellipse">
            <a:avLst/>
          </a:prstGeom>
          <a:solidFill>
            <a:srgbClr val="F9F9F9"/>
          </a:solidFill>
          <a:ln w="22225">
            <a:noFill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en-US" dirty="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42" name="稻壳儿原创设计师【幻雨工作室】_13">
            <a:extLst>
              <a:ext uri="{FF2B5EF4-FFF2-40B4-BE49-F238E27FC236}">
                <a16:creationId xmlns:a16="http://schemas.microsoft.com/office/drawing/2014/main" id="{07A535EA-B02F-446D-AA36-D964D456DA03}"/>
              </a:ext>
            </a:extLst>
          </p:cNvPr>
          <p:cNvSpPr>
            <a:spLocks noEditPoints="1"/>
          </p:cNvSpPr>
          <p:nvPr/>
        </p:nvSpPr>
        <p:spPr bwMode="auto">
          <a:xfrm>
            <a:off x="9925958" y="2746375"/>
            <a:ext cx="593725" cy="539750"/>
          </a:xfrm>
          <a:custGeom>
            <a:avLst/>
            <a:gdLst>
              <a:gd name="T0" fmla="*/ 2147483646 w 158"/>
              <a:gd name="T1" fmla="*/ 2147483646 h 143"/>
              <a:gd name="T2" fmla="*/ 2147483646 w 158"/>
              <a:gd name="T3" fmla="*/ 2147483646 h 143"/>
              <a:gd name="T4" fmla="*/ 2147483646 w 158"/>
              <a:gd name="T5" fmla="*/ 2147483646 h 143"/>
              <a:gd name="T6" fmla="*/ 2147483646 w 158"/>
              <a:gd name="T7" fmla="*/ 2147483646 h 143"/>
              <a:gd name="T8" fmla="*/ 2147483646 w 158"/>
              <a:gd name="T9" fmla="*/ 2147483646 h 143"/>
              <a:gd name="T10" fmla="*/ 0 w 158"/>
              <a:gd name="T11" fmla="*/ 2147483646 h 143"/>
              <a:gd name="T12" fmla="*/ 2147483646 w 158"/>
              <a:gd name="T13" fmla="*/ 0 h 143"/>
              <a:gd name="T14" fmla="*/ 2147483646 w 158"/>
              <a:gd name="T15" fmla="*/ 2147483646 h 143"/>
              <a:gd name="T16" fmla="*/ 2147483646 w 158"/>
              <a:gd name="T17" fmla="*/ 2147483646 h 143"/>
              <a:gd name="T18" fmla="*/ 2147483646 w 158"/>
              <a:gd name="T19" fmla="*/ 2147483646 h 143"/>
              <a:gd name="T20" fmla="*/ 2147483646 w 158"/>
              <a:gd name="T21" fmla="*/ 2147483646 h 143"/>
              <a:gd name="T22" fmla="*/ 2147483646 w 158"/>
              <a:gd name="T23" fmla="*/ 2147483646 h 143"/>
              <a:gd name="T24" fmla="*/ 2147483646 w 158"/>
              <a:gd name="T25" fmla="*/ 2147483646 h 143"/>
              <a:gd name="T26" fmla="*/ 2147483646 w 158"/>
              <a:gd name="T27" fmla="*/ 2147483646 h 143"/>
              <a:gd name="T28" fmla="*/ 2147483646 w 158"/>
              <a:gd name="T29" fmla="*/ 2147483646 h 143"/>
              <a:gd name="T30" fmla="*/ 2147483646 w 158"/>
              <a:gd name="T31" fmla="*/ 2147483646 h 143"/>
              <a:gd name="T32" fmla="*/ 2147483646 w 158"/>
              <a:gd name="T33" fmla="*/ 2147483646 h 143"/>
              <a:gd name="T34" fmla="*/ 2147483646 w 158"/>
              <a:gd name="T35" fmla="*/ 2147483646 h 143"/>
              <a:gd name="T36" fmla="*/ 2147483646 w 158"/>
              <a:gd name="T37" fmla="*/ 2147483646 h 143"/>
              <a:gd name="T38" fmla="*/ 2147483646 w 158"/>
              <a:gd name="T39" fmla="*/ 2147483646 h 143"/>
              <a:gd name="T40" fmla="*/ 2147483646 w 158"/>
              <a:gd name="T41" fmla="*/ 2147483646 h 143"/>
              <a:gd name="T42" fmla="*/ 2147483646 w 158"/>
              <a:gd name="T43" fmla="*/ 2147483646 h 143"/>
              <a:gd name="T44" fmla="*/ 2147483646 w 158"/>
              <a:gd name="T45" fmla="*/ 2147483646 h 143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158" h="143">
                <a:moveTo>
                  <a:pt x="30" y="143"/>
                </a:moveTo>
                <a:cubicBezTo>
                  <a:pt x="28" y="143"/>
                  <a:pt x="26" y="143"/>
                  <a:pt x="24" y="143"/>
                </a:cubicBezTo>
                <a:cubicBezTo>
                  <a:pt x="23" y="143"/>
                  <a:pt x="21" y="142"/>
                  <a:pt x="21" y="140"/>
                </a:cubicBezTo>
                <a:cubicBezTo>
                  <a:pt x="20" y="138"/>
                  <a:pt x="21" y="136"/>
                  <a:pt x="23" y="135"/>
                </a:cubicBezTo>
                <a:cubicBezTo>
                  <a:pt x="31" y="132"/>
                  <a:pt x="37" y="126"/>
                  <a:pt x="41" y="119"/>
                </a:cubicBezTo>
                <a:cubicBezTo>
                  <a:pt x="16" y="108"/>
                  <a:pt x="0" y="87"/>
                  <a:pt x="0" y="64"/>
                </a:cubicBezTo>
                <a:cubicBezTo>
                  <a:pt x="0" y="29"/>
                  <a:pt x="36" y="0"/>
                  <a:pt x="79" y="0"/>
                </a:cubicBezTo>
                <a:cubicBezTo>
                  <a:pt x="123" y="0"/>
                  <a:pt x="158" y="29"/>
                  <a:pt x="158" y="64"/>
                </a:cubicBezTo>
                <a:cubicBezTo>
                  <a:pt x="158" y="98"/>
                  <a:pt x="123" y="127"/>
                  <a:pt x="79" y="127"/>
                </a:cubicBezTo>
                <a:cubicBezTo>
                  <a:pt x="78" y="127"/>
                  <a:pt x="76" y="127"/>
                  <a:pt x="75" y="127"/>
                </a:cubicBezTo>
                <a:cubicBezTo>
                  <a:pt x="64" y="137"/>
                  <a:pt x="48" y="143"/>
                  <a:pt x="30" y="143"/>
                </a:cubicBezTo>
                <a:close/>
                <a:moveTo>
                  <a:pt x="79" y="8"/>
                </a:moveTo>
                <a:cubicBezTo>
                  <a:pt x="40" y="8"/>
                  <a:pt x="8" y="33"/>
                  <a:pt x="8" y="64"/>
                </a:cubicBezTo>
                <a:cubicBezTo>
                  <a:pt x="8" y="85"/>
                  <a:pt x="24" y="104"/>
                  <a:pt x="49" y="113"/>
                </a:cubicBezTo>
                <a:cubicBezTo>
                  <a:pt x="50" y="114"/>
                  <a:pt x="50" y="115"/>
                  <a:pt x="51" y="116"/>
                </a:cubicBezTo>
                <a:cubicBezTo>
                  <a:pt x="51" y="117"/>
                  <a:pt x="51" y="118"/>
                  <a:pt x="51" y="119"/>
                </a:cubicBezTo>
                <a:cubicBezTo>
                  <a:pt x="50" y="120"/>
                  <a:pt x="50" y="120"/>
                  <a:pt x="50" y="120"/>
                </a:cubicBezTo>
                <a:cubicBezTo>
                  <a:pt x="50" y="121"/>
                  <a:pt x="50" y="121"/>
                  <a:pt x="49" y="122"/>
                </a:cubicBezTo>
                <a:cubicBezTo>
                  <a:pt x="46" y="127"/>
                  <a:pt x="43" y="131"/>
                  <a:pt x="39" y="135"/>
                </a:cubicBezTo>
                <a:cubicBezTo>
                  <a:pt x="51" y="133"/>
                  <a:pt x="62" y="128"/>
                  <a:pt x="70" y="120"/>
                </a:cubicBezTo>
                <a:cubicBezTo>
                  <a:pt x="71" y="119"/>
                  <a:pt x="72" y="119"/>
                  <a:pt x="74" y="119"/>
                </a:cubicBezTo>
                <a:cubicBezTo>
                  <a:pt x="115" y="121"/>
                  <a:pt x="150" y="95"/>
                  <a:pt x="150" y="64"/>
                </a:cubicBezTo>
                <a:cubicBezTo>
                  <a:pt x="150" y="33"/>
                  <a:pt x="118" y="8"/>
                  <a:pt x="79" y="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3" name="稻壳儿原创设计师【幻雨工作室】_14">
            <a:extLst>
              <a:ext uri="{FF2B5EF4-FFF2-40B4-BE49-F238E27FC236}">
                <a16:creationId xmlns:a16="http://schemas.microsoft.com/office/drawing/2014/main" id="{1728BBF4-A3F2-4603-95CF-B75B4A2C843A}"/>
              </a:ext>
            </a:extLst>
          </p:cNvPr>
          <p:cNvSpPr>
            <a:spLocks/>
          </p:cNvSpPr>
          <p:nvPr/>
        </p:nvSpPr>
        <p:spPr bwMode="auto">
          <a:xfrm>
            <a:off x="10195833" y="2949575"/>
            <a:ext cx="481013" cy="431800"/>
          </a:xfrm>
          <a:custGeom>
            <a:avLst/>
            <a:gdLst>
              <a:gd name="T0" fmla="*/ 2147483646 w 128"/>
              <a:gd name="T1" fmla="*/ 2147483646 h 114"/>
              <a:gd name="T2" fmla="*/ 2147483646 w 128"/>
              <a:gd name="T3" fmla="*/ 2147483646 h 114"/>
              <a:gd name="T4" fmla="*/ 2147483646 w 128"/>
              <a:gd name="T5" fmla="*/ 2147483646 h 114"/>
              <a:gd name="T6" fmla="*/ 2147483646 w 128"/>
              <a:gd name="T7" fmla="*/ 2147483646 h 114"/>
              <a:gd name="T8" fmla="*/ 2147483646 w 128"/>
              <a:gd name="T9" fmla="*/ 2147483646 h 114"/>
              <a:gd name="T10" fmla="*/ 2147483646 w 128"/>
              <a:gd name="T11" fmla="*/ 2147483646 h 114"/>
              <a:gd name="T12" fmla="*/ 2147483646 w 128"/>
              <a:gd name="T13" fmla="*/ 2147483646 h 114"/>
              <a:gd name="T14" fmla="*/ 2147483646 w 128"/>
              <a:gd name="T15" fmla="*/ 2147483646 h 114"/>
              <a:gd name="T16" fmla="*/ 2147483646 w 128"/>
              <a:gd name="T17" fmla="*/ 2147483646 h 114"/>
              <a:gd name="T18" fmla="*/ 2147483646 w 128"/>
              <a:gd name="T19" fmla="*/ 2147483646 h 114"/>
              <a:gd name="T20" fmla="*/ 2147483646 w 128"/>
              <a:gd name="T21" fmla="*/ 2147483646 h 114"/>
              <a:gd name="T22" fmla="*/ 2147483646 w 128"/>
              <a:gd name="T23" fmla="*/ 2147483646 h 114"/>
              <a:gd name="T24" fmla="*/ 2147483646 w 128"/>
              <a:gd name="T25" fmla="*/ 2147483646 h 114"/>
              <a:gd name="T26" fmla="*/ 2147483646 w 128"/>
              <a:gd name="T27" fmla="*/ 2147483646 h 114"/>
              <a:gd name="T28" fmla="*/ 2147483646 w 128"/>
              <a:gd name="T29" fmla="*/ 2147483646 h 114"/>
              <a:gd name="T30" fmla="*/ 2147483646 w 128"/>
              <a:gd name="T31" fmla="*/ 2147483646 h 114"/>
              <a:gd name="T32" fmla="*/ 2147483646 w 128"/>
              <a:gd name="T33" fmla="*/ 2147483646 h 114"/>
              <a:gd name="T34" fmla="*/ 2147483646 w 128"/>
              <a:gd name="T35" fmla="*/ 2147483646 h 114"/>
              <a:gd name="T36" fmla="*/ 2147483646 w 128"/>
              <a:gd name="T37" fmla="*/ 2147483646 h 114"/>
              <a:gd name="T38" fmla="*/ 2147483646 w 128"/>
              <a:gd name="T39" fmla="*/ 2147483646 h 114"/>
              <a:gd name="T40" fmla="*/ 2147483646 w 128"/>
              <a:gd name="T41" fmla="*/ 2147483646 h 114"/>
              <a:gd name="T42" fmla="*/ 2147483646 w 128"/>
              <a:gd name="T43" fmla="*/ 2147483646 h 114"/>
              <a:gd name="T44" fmla="*/ 2147483646 w 128"/>
              <a:gd name="T45" fmla="*/ 2147483646 h 114"/>
              <a:gd name="T46" fmla="*/ 2147483646 w 128"/>
              <a:gd name="T47" fmla="*/ 2147483646 h 114"/>
              <a:gd name="T48" fmla="*/ 2147483646 w 128"/>
              <a:gd name="T49" fmla="*/ 2147483646 h 114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0" t="0" r="r" b="b"/>
            <a:pathLst>
              <a:path w="128" h="114">
                <a:moveTo>
                  <a:pt x="101" y="114"/>
                </a:moveTo>
                <a:cubicBezTo>
                  <a:pt x="90" y="114"/>
                  <a:pt x="81" y="111"/>
                  <a:pt x="73" y="105"/>
                </a:cubicBezTo>
                <a:cubicBezTo>
                  <a:pt x="72" y="105"/>
                  <a:pt x="71" y="106"/>
                  <a:pt x="70" y="106"/>
                </a:cubicBezTo>
                <a:cubicBezTo>
                  <a:pt x="40" y="111"/>
                  <a:pt x="11" y="98"/>
                  <a:pt x="1" y="74"/>
                </a:cubicBezTo>
                <a:cubicBezTo>
                  <a:pt x="0" y="72"/>
                  <a:pt x="1" y="70"/>
                  <a:pt x="3" y="69"/>
                </a:cubicBezTo>
                <a:cubicBezTo>
                  <a:pt x="5" y="68"/>
                  <a:pt x="8" y="69"/>
                  <a:pt x="9" y="71"/>
                </a:cubicBezTo>
                <a:cubicBezTo>
                  <a:pt x="17" y="91"/>
                  <a:pt x="42" y="103"/>
                  <a:pt x="69" y="98"/>
                </a:cubicBezTo>
                <a:cubicBezTo>
                  <a:pt x="70" y="98"/>
                  <a:pt x="71" y="97"/>
                  <a:pt x="73" y="97"/>
                </a:cubicBezTo>
                <a:cubicBezTo>
                  <a:pt x="74" y="97"/>
                  <a:pt x="75" y="97"/>
                  <a:pt x="76" y="98"/>
                </a:cubicBezTo>
                <a:cubicBezTo>
                  <a:pt x="83" y="103"/>
                  <a:pt x="92" y="106"/>
                  <a:pt x="101" y="106"/>
                </a:cubicBezTo>
                <a:cubicBezTo>
                  <a:pt x="98" y="103"/>
                  <a:pt x="95" y="101"/>
                  <a:pt x="92" y="97"/>
                </a:cubicBezTo>
                <a:cubicBezTo>
                  <a:pt x="92" y="97"/>
                  <a:pt x="91" y="96"/>
                  <a:pt x="91" y="95"/>
                </a:cubicBezTo>
                <a:cubicBezTo>
                  <a:pt x="91" y="95"/>
                  <a:pt x="91" y="95"/>
                  <a:pt x="91" y="95"/>
                </a:cubicBezTo>
                <a:cubicBezTo>
                  <a:pt x="90" y="94"/>
                  <a:pt x="90" y="93"/>
                  <a:pt x="90" y="92"/>
                </a:cubicBezTo>
                <a:cubicBezTo>
                  <a:pt x="90" y="91"/>
                  <a:pt x="91" y="90"/>
                  <a:pt x="92" y="89"/>
                </a:cubicBezTo>
                <a:cubicBezTo>
                  <a:pt x="110" y="78"/>
                  <a:pt x="120" y="59"/>
                  <a:pt x="117" y="41"/>
                </a:cubicBezTo>
                <a:cubicBezTo>
                  <a:pt x="115" y="27"/>
                  <a:pt x="104" y="15"/>
                  <a:pt x="89" y="9"/>
                </a:cubicBezTo>
                <a:cubicBezTo>
                  <a:pt x="87" y="8"/>
                  <a:pt x="86" y="5"/>
                  <a:pt x="87" y="3"/>
                </a:cubicBezTo>
                <a:cubicBezTo>
                  <a:pt x="88" y="1"/>
                  <a:pt x="90" y="0"/>
                  <a:pt x="92" y="1"/>
                </a:cubicBezTo>
                <a:cubicBezTo>
                  <a:pt x="110" y="8"/>
                  <a:pt x="122" y="23"/>
                  <a:pt x="125" y="40"/>
                </a:cubicBezTo>
                <a:cubicBezTo>
                  <a:pt x="128" y="60"/>
                  <a:pt x="118" y="80"/>
                  <a:pt x="100" y="93"/>
                </a:cubicBezTo>
                <a:cubicBezTo>
                  <a:pt x="104" y="98"/>
                  <a:pt x="109" y="102"/>
                  <a:pt x="116" y="104"/>
                </a:cubicBezTo>
                <a:cubicBezTo>
                  <a:pt x="118" y="105"/>
                  <a:pt x="119" y="106"/>
                  <a:pt x="119" y="108"/>
                </a:cubicBezTo>
                <a:cubicBezTo>
                  <a:pt x="119" y="110"/>
                  <a:pt x="117" y="111"/>
                  <a:pt x="116" y="112"/>
                </a:cubicBezTo>
                <a:cubicBezTo>
                  <a:pt x="111" y="113"/>
                  <a:pt x="106" y="114"/>
                  <a:pt x="101" y="1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4" name="稻壳儿原创设计师【幻雨工作室】_15">
            <a:extLst>
              <a:ext uri="{FF2B5EF4-FFF2-40B4-BE49-F238E27FC236}">
                <a16:creationId xmlns:a16="http://schemas.microsoft.com/office/drawing/2014/main" id="{C10B36B0-1CAD-4455-84F5-4B1B5A278BC6}"/>
              </a:ext>
            </a:extLst>
          </p:cNvPr>
          <p:cNvSpPr>
            <a:spLocks noEditPoints="1"/>
          </p:cNvSpPr>
          <p:nvPr/>
        </p:nvSpPr>
        <p:spPr bwMode="auto">
          <a:xfrm>
            <a:off x="10065658" y="2949575"/>
            <a:ext cx="77788" cy="79375"/>
          </a:xfrm>
          <a:custGeom>
            <a:avLst/>
            <a:gdLst>
              <a:gd name="T0" fmla="*/ 2147483646 w 21"/>
              <a:gd name="T1" fmla="*/ 2147483646 h 21"/>
              <a:gd name="T2" fmla="*/ 2147483646 w 21"/>
              <a:gd name="T3" fmla="*/ 2147483646 h 21"/>
              <a:gd name="T4" fmla="*/ 2147483646 w 21"/>
              <a:gd name="T5" fmla="*/ 2147483646 h 21"/>
              <a:gd name="T6" fmla="*/ 2147483646 w 21"/>
              <a:gd name="T7" fmla="*/ 2147483646 h 21"/>
              <a:gd name="T8" fmla="*/ 2147483646 w 21"/>
              <a:gd name="T9" fmla="*/ 2147483646 h 21"/>
              <a:gd name="T10" fmla="*/ 2147483646 w 21"/>
              <a:gd name="T11" fmla="*/ 0 h 21"/>
              <a:gd name="T12" fmla="*/ 0 w 21"/>
              <a:gd name="T13" fmla="*/ 2147483646 h 21"/>
              <a:gd name="T14" fmla="*/ 2147483646 w 21"/>
              <a:gd name="T15" fmla="*/ 2147483646 h 21"/>
              <a:gd name="T16" fmla="*/ 2147483646 w 21"/>
              <a:gd name="T17" fmla="*/ 2147483646 h 21"/>
              <a:gd name="T18" fmla="*/ 2147483646 w 21"/>
              <a:gd name="T19" fmla="*/ 0 h 2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" h="21">
                <a:moveTo>
                  <a:pt x="10" y="8"/>
                </a:moveTo>
                <a:cubicBezTo>
                  <a:pt x="11" y="8"/>
                  <a:pt x="13" y="9"/>
                  <a:pt x="13" y="11"/>
                </a:cubicBezTo>
                <a:cubicBezTo>
                  <a:pt x="13" y="12"/>
                  <a:pt x="11" y="13"/>
                  <a:pt x="10" y="13"/>
                </a:cubicBezTo>
                <a:cubicBezTo>
                  <a:pt x="9" y="13"/>
                  <a:pt x="8" y="12"/>
                  <a:pt x="8" y="11"/>
                </a:cubicBezTo>
                <a:cubicBezTo>
                  <a:pt x="8" y="9"/>
                  <a:pt x="9" y="8"/>
                  <a:pt x="10" y="8"/>
                </a:cubicBezTo>
                <a:moveTo>
                  <a:pt x="10" y="0"/>
                </a:moveTo>
                <a:cubicBezTo>
                  <a:pt x="4" y="0"/>
                  <a:pt x="0" y="5"/>
                  <a:pt x="0" y="11"/>
                </a:cubicBezTo>
                <a:cubicBezTo>
                  <a:pt x="0" y="16"/>
                  <a:pt x="4" y="21"/>
                  <a:pt x="10" y="21"/>
                </a:cubicBezTo>
                <a:cubicBezTo>
                  <a:pt x="16" y="21"/>
                  <a:pt x="21" y="16"/>
                  <a:pt x="21" y="11"/>
                </a:cubicBezTo>
                <a:cubicBezTo>
                  <a:pt x="21" y="5"/>
                  <a:pt x="16" y="0"/>
                  <a:pt x="1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5" name="稻壳儿原创设计师【幻雨工作室】_16">
            <a:extLst>
              <a:ext uri="{FF2B5EF4-FFF2-40B4-BE49-F238E27FC236}">
                <a16:creationId xmlns:a16="http://schemas.microsoft.com/office/drawing/2014/main" id="{B5826852-5CFB-426F-A560-8BEFC99572F4}"/>
              </a:ext>
            </a:extLst>
          </p:cNvPr>
          <p:cNvSpPr>
            <a:spLocks noEditPoints="1"/>
          </p:cNvSpPr>
          <p:nvPr/>
        </p:nvSpPr>
        <p:spPr bwMode="auto">
          <a:xfrm>
            <a:off x="10184721" y="2949575"/>
            <a:ext cx="79375" cy="79375"/>
          </a:xfrm>
          <a:custGeom>
            <a:avLst/>
            <a:gdLst>
              <a:gd name="T0" fmla="*/ 2147483646 w 21"/>
              <a:gd name="T1" fmla="*/ 2147483646 h 21"/>
              <a:gd name="T2" fmla="*/ 2147483646 w 21"/>
              <a:gd name="T3" fmla="*/ 2147483646 h 21"/>
              <a:gd name="T4" fmla="*/ 2147483646 w 21"/>
              <a:gd name="T5" fmla="*/ 2147483646 h 21"/>
              <a:gd name="T6" fmla="*/ 2147483646 w 21"/>
              <a:gd name="T7" fmla="*/ 2147483646 h 21"/>
              <a:gd name="T8" fmla="*/ 2147483646 w 21"/>
              <a:gd name="T9" fmla="*/ 2147483646 h 21"/>
              <a:gd name="T10" fmla="*/ 2147483646 w 21"/>
              <a:gd name="T11" fmla="*/ 0 h 21"/>
              <a:gd name="T12" fmla="*/ 0 w 21"/>
              <a:gd name="T13" fmla="*/ 2147483646 h 21"/>
              <a:gd name="T14" fmla="*/ 2147483646 w 21"/>
              <a:gd name="T15" fmla="*/ 2147483646 h 21"/>
              <a:gd name="T16" fmla="*/ 2147483646 w 21"/>
              <a:gd name="T17" fmla="*/ 2147483646 h 21"/>
              <a:gd name="T18" fmla="*/ 2147483646 w 21"/>
              <a:gd name="T19" fmla="*/ 0 h 2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" h="21">
                <a:moveTo>
                  <a:pt x="10" y="8"/>
                </a:moveTo>
                <a:cubicBezTo>
                  <a:pt x="12" y="8"/>
                  <a:pt x="13" y="9"/>
                  <a:pt x="13" y="11"/>
                </a:cubicBezTo>
                <a:cubicBezTo>
                  <a:pt x="13" y="12"/>
                  <a:pt x="12" y="13"/>
                  <a:pt x="10" y="13"/>
                </a:cubicBezTo>
                <a:cubicBezTo>
                  <a:pt x="9" y="13"/>
                  <a:pt x="8" y="12"/>
                  <a:pt x="8" y="11"/>
                </a:cubicBezTo>
                <a:cubicBezTo>
                  <a:pt x="8" y="9"/>
                  <a:pt x="9" y="8"/>
                  <a:pt x="10" y="8"/>
                </a:cubicBezTo>
                <a:moveTo>
                  <a:pt x="10" y="0"/>
                </a:moveTo>
                <a:cubicBezTo>
                  <a:pt x="5" y="0"/>
                  <a:pt x="0" y="5"/>
                  <a:pt x="0" y="11"/>
                </a:cubicBezTo>
                <a:cubicBezTo>
                  <a:pt x="0" y="16"/>
                  <a:pt x="5" y="21"/>
                  <a:pt x="10" y="21"/>
                </a:cubicBezTo>
                <a:cubicBezTo>
                  <a:pt x="16" y="21"/>
                  <a:pt x="21" y="16"/>
                  <a:pt x="21" y="11"/>
                </a:cubicBezTo>
                <a:cubicBezTo>
                  <a:pt x="21" y="5"/>
                  <a:pt x="16" y="0"/>
                  <a:pt x="1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6" name="稻壳儿原创设计师【幻雨工作室】_17">
            <a:extLst>
              <a:ext uri="{FF2B5EF4-FFF2-40B4-BE49-F238E27FC236}">
                <a16:creationId xmlns:a16="http://schemas.microsoft.com/office/drawing/2014/main" id="{6DC3C6DD-955E-4999-8CF1-16A6B8648EBB}"/>
              </a:ext>
            </a:extLst>
          </p:cNvPr>
          <p:cNvSpPr>
            <a:spLocks noEditPoints="1"/>
          </p:cNvSpPr>
          <p:nvPr/>
        </p:nvSpPr>
        <p:spPr bwMode="auto">
          <a:xfrm>
            <a:off x="10305371" y="2949575"/>
            <a:ext cx="79375" cy="79375"/>
          </a:xfrm>
          <a:custGeom>
            <a:avLst/>
            <a:gdLst>
              <a:gd name="T0" fmla="*/ 2147483646 w 21"/>
              <a:gd name="T1" fmla="*/ 2147483646 h 21"/>
              <a:gd name="T2" fmla="*/ 2147483646 w 21"/>
              <a:gd name="T3" fmla="*/ 2147483646 h 21"/>
              <a:gd name="T4" fmla="*/ 2147483646 w 21"/>
              <a:gd name="T5" fmla="*/ 2147483646 h 21"/>
              <a:gd name="T6" fmla="*/ 2147483646 w 21"/>
              <a:gd name="T7" fmla="*/ 2147483646 h 21"/>
              <a:gd name="T8" fmla="*/ 2147483646 w 21"/>
              <a:gd name="T9" fmla="*/ 2147483646 h 21"/>
              <a:gd name="T10" fmla="*/ 2147483646 w 21"/>
              <a:gd name="T11" fmla="*/ 0 h 21"/>
              <a:gd name="T12" fmla="*/ 0 w 21"/>
              <a:gd name="T13" fmla="*/ 2147483646 h 21"/>
              <a:gd name="T14" fmla="*/ 2147483646 w 21"/>
              <a:gd name="T15" fmla="*/ 2147483646 h 21"/>
              <a:gd name="T16" fmla="*/ 2147483646 w 21"/>
              <a:gd name="T17" fmla="*/ 2147483646 h 21"/>
              <a:gd name="T18" fmla="*/ 2147483646 w 21"/>
              <a:gd name="T19" fmla="*/ 0 h 2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" h="21">
                <a:moveTo>
                  <a:pt x="11" y="8"/>
                </a:moveTo>
                <a:cubicBezTo>
                  <a:pt x="12" y="8"/>
                  <a:pt x="13" y="9"/>
                  <a:pt x="13" y="11"/>
                </a:cubicBezTo>
                <a:cubicBezTo>
                  <a:pt x="13" y="12"/>
                  <a:pt x="12" y="13"/>
                  <a:pt x="11" y="13"/>
                </a:cubicBezTo>
                <a:cubicBezTo>
                  <a:pt x="9" y="13"/>
                  <a:pt x="8" y="12"/>
                  <a:pt x="8" y="11"/>
                </a:cubicBezTo>
                <a:cubicBezTo>
                  <a:pt x="8" y="9"/>
                  <a:pt x="9" y="8"/>
                  <a:pt x="11" y="8"/>
                </a:cubicBezTo>
                <a:moveTo>
                  <a:pt x="11" y="0"/>
                </a:moveTo>
                <a:cubicBezTo>
                  <a:pt x="5" y="0"/>
                  <a:pt x="0" y="5"/>
                  <a:pt x="0" y="11"/>
                </a:cubicBezTo>
                <a:cubicBezTo>
                  <a:pt x="0" y="16"/>
                  <a:pt x="5" y="21"/>
                  <a:pt x="11" y="21"/>
                </a:cubicBezTo>
                <a:cubicBezTo>
                  <a:pt x="17" y="21"/>
                  <a:pt x="21" y="16"/>
                  <a:pt x="21" y="11"/>
                </a:cubicBezTo>
                <a:cubicBezTo>
                  <a:pt x="21" y="5"/>
                  <a:pt x="17" y="0"/>
                  <a:pt x="1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7" name="稻壳儿原创设计师【幻雨工作室】_18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CB0AB846-F854-4F5F-B670-3B9A0B62A54D}"/>
              </a:ext>
            </a:extLst>
          </p:cNvPr>
          <p:cNvSpPr/>
          <p:nvPr/>
        </p:nvSpPr>
        <p:spPr>
          <a:xfrm>
            <a:off x="867087" y="4184500"/>
            <a:ext cx="21982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48" name="稻壳儿原创设计师【幻雨工作室】_19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471E4E05-01F1-4612-88E5-F21DD28D27D5}"/>
              </a:ext>
            </a:extLst>
          </p:cNvPr>
          <p:cNvSpPr/>
          <p:nvPr/>
        </p:nvSpPr>
        <p:spPr>
          <a:xfrm>
            <a:off x="3638861" y="4184500"/>
            <a:ext cx="21982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49" name="稻壳儿原创设计师【幻雨工作室】_2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FA3BCADE-C619-4968-ACC9-69E63EED36BD}"/>
              </a:ext>
            </a:extLst>
          </p:cNvPr>
          <p:cNvSpPr/>
          <p:nvPr/>
        </p:nvSpPr>
        <p:spPr>
          <a:xfrm>
            <a:off x="6410636" y="4184500"/>
            <a:ext cx="21982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50" name="稻壳儿原创设计师【幻雨工作室】_2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4DF02438-F7E8-4870-AC27-D3AA7B773CE9}"/>
              </a:ext>
            </a:extLst>
          </p:cNvPr>
          <p:cNvSpPr/>
          <p:nvPr/>
        </p:nvSpPr>
        <p:spPr>
          <a:xfrm>
            <a:off x="9164949" y="4184500"/>
            <a:ext cx="21982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4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</p:spTree>
    <p:extLst>
      <p:ext uri="{BB962C8B-B14F-4D97-AF65-F5344CB8AC3E}">
        <p14:creationId xmlns:p14="http://schemas.microsoft.com/office/powerpoint/2010/main" val="4168615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稻壳儿原创设计师【幻雨工作室】_4">
            <a:extLst>
              <a:ext uri="{FF2B5EF4-FFF2-40B4-BE49-F238E27FC236}">
                <a16:creationId xmlns:a16="http://schemas.microsoft.com/office/drawing/2014/main" id="{48FD5486-2CD4-4682-8825-C4761089B4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789" y="2051700"/>
            <a:ext cx="2912419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8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8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稻壳儿原创设计师【幻雨工作室】_5">
            <a:extLst>
              <a:ext uri="{FF2B5EF4-FFF2-40B4-BE49-F238E27FC236}">
                <a16:creationId xmlns:a16="http://schemas.microsoft.com/office/drawing/2014/main" id="{57A127B6-B618-4133-8EC8-75C63DBD5D5A}"/>
              </a:ext>
            </a:extLst>
          </p:cNvPr>
          <p:cNvSpPr txBox="1"/>
          <p:nvPr/>
        </p:nvSpPr>
        <p:spPr>
          <a:xfrm>
            <a:off x="3570820" y="3465513"/>
            <a:ext cx="5050357" cy="14157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竞争格局</a:t>
            </a:r>
          </a:p>
          <a:p>
            <a:pPr algn="ctr"/>
            <a:r>
              <a:rPr lang="zh-CN" altLang="en-US" sz="32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Peers</a:t>
            </a:r>
          </a:p>
        </p:txBody>
      </p:sp>
    </p:spTree>
    <p:extLst>
      <p:ext uri="{BB962C8B-B14F-4D97-AF65-F5344CB8AC3E}">
        <p14:creationId xmlns:p14="http://schemas.microsoft.com/office/powerpoint/2010/main" val="4027365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稻壳儿原创设计师【幻雨工作室】_5">
            <a:extLst>
              <a:ext uri="{FF2B5EF4-FFF2-40B4-BE49-F238E27FC236}">
                <a16:creationId xmlns:a16="http://schemas.microsoft.com/office/drawing/2014/main" id="{5957F2E4-2EAF-43AD-AFF6-A421CF9E8828}"/>
              </a:ext>
            </a:extLst>
          </p:cNvPr>
          <p:cNvSpPr txBox="1"/>
          <p:nvPr/>
        </p:nvSpPr>
        <p:spPr>
          <a:xfrm>
            <a:off x="809608" y="716508"/>
            <a:ext cx="57866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工作经验总结 </a:t>
            </a:r>
            <a:r>
              <a:rPr lang="zh-CN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experience summary</a:t>
            </a:r>
          </a:p>
        </p:txBody>
      </p:sp>
      <p:sp>
        <p:nvSpPr>
          <p:cNvPr id="25" name="稻壳儿搜索【幻雨工作室】_6">
            <a:extLst>
              <a:ext uri="{FF2B5EF4-FFF2-40B4-BE49-F238E27FC236}">
                <a16:creationId xmlns:a16="http://schemas.microsoft.com/office/drawing/2014/main" id="{0570A5AC-9D0A-43FD-BE1F-66834878845E}"/>
              </a:ext>
            </a:extLst>
          </p:cNvPr>
          <p:cNvSpPr/>
          <p:nvPr/>
        </p:nvSpPr>
        <p:spPr>
          <a:xfrm>
            <a:off x="7901993" y="1776945"/>
            <a:ext cx="2678806" cy="1635617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稻壳儿搜索【幻雨工作室】_7">
            <a:extLst>
              <a:ext uri="{FF2B5EF4-FFF2-40B4-BE49-F238E27FC236}">
                <a16:creationId xmlns:a16="http://schemas.microsoft.com/office/drawing/2014/main" id="{4E87AFDF-7F80-49E8-9158-532FC776D0F6}"/>
              </a:ext>
            </a:extLst>
          </p:cNvPr>
          <p:cNvSpPr/>
          <p:nvPr/>
        </p:nvSpPr>
        <p:spPr>
          <a:xfrm>
            <a:off x="7901993" y="3412563"/>
            <a:ext cx="2678806" cy="4765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  <a:endParaRPr lang="en-US" altLang="zh-CN" sz="1050" dirty="0">
              <a:solidFill>
                <a:schemeClr val="bg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稻壳儿搜索【幻雨工作室】_7">
            <a:extLst>
              <a:ext uri="{FF2B5EF4-FFF2-40B4-BE49-F238E27FC236}">
                <a16:creationId xmlns:a16="http://schemas.microsoft.com/office/drawing/2014/main" id="{6622E2A0-B8A3-4BFA-9879-C899726ACE2C}"/>
              </a:ext>
            </a:extLst>
          </p:cNvPr>
          <p:cNvSpPr/>
          <p:nvPr/>
        </p:nvSpPr>
        <p:spPr>
          <a:xfrm>
            <a:off x="1611201" y="1776945"/>
            <a:ext cx="5989730" cy="21121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altLang="zh-CN" sz="1050" dirty="0">
              <a:solidFill>
                <a:schemeClr val="bg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稻壳儿搜索【幻雨工作室】_5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1E5811B4-3B7F-4AB8-9251-80B156F3B91D}"/>
              </a:ext>
            </a:extLst>
          </p:cNvPr>
          <p:cNvSpPr/>
          <p:nvPr/>
        </p:nvSpPr>
        <p:spPr>
          <a:xfrm>
            <a:off x="2060292" y="2085491"/>
            <a:ext cx="5091547" cy="13734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</a:t>
            </a:r>
            <a:r>
              <a:rPr lang="en-US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Quam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Dolor,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Tempor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Ac Gravida Sit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Porta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Fermentum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Magna.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altLang="zh-CN" sz="1050" dirty="0">
              <a:solidFill>
                <a:schemeClr val="bg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稻壳儿搜索【幻雨工作室】_10">
            <a:extLst>
              <a:ext uri="{FF2B5EF4-FFF2-40B4-BE49-F238E27FC236}">
                <a16:creationId xmlns:a16="http://schemas.microsoft.com/office/drawing/2014/main" id="{6C15D546-61D4-4623-A330-796A236166DB}"/>
              </a:ext>
            </a:extLst>
          </p:cNvPr>
          <p:cNvSpPr/>
          <p:nvPr/>
        </p:nvSpPr>
        <p:spPr>
          <a:xfrm flipH="1">
            <a:off x="1611201" y="4106057"/>
            <a:ext cx="2678806" cy="1635617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稻壳儿搜索【幻雨工作室】_11">
            <a:extLst>
              <a:ext uri="{FF2B5EF4-FFF2-40B4-BE49-F238E27FC236}">
                <a16:creationId xmlns:a16="http://schemas.microsoft.com/office/drawing/2014/main" id="{98C90AC5-0301-4589-9703-47FBF6D91A2D}"/>
              </a:ext>
            </a:extLst>
          </p:cNvPr>
          <p:cNvSpPr/>
          <p:nvPr/>
        </p:nvSpPr>
        <p:spPr>
          <a:xfrm flipH="1">
            <a:off x="1611201" y="5741675"/>
            <a:ext cx="2678806" cy="4765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稻壳儿搜索【幻雨工作室】_7">
            <a:extLst>
              <a:ext uri="{FF2B5EF4-FFF2-40B4-BE49-F238E27FC236}">
                <a16:creationId xmlns:a16="http://schemas.microsoft.com/office/drawing/2014/main" id="{9AA00493-47FB-44B8-802E-869B831598D6}"/>
              </a:ext>
            </a:extLst>
          </p:cNvPr>
          <p:cNvSpPr/>
          <p:nvPr/>
        </p:nvSpPr>
        <p:spPr>
          <a:xfrm flipH="1">
            <a:off x="4591069" y="4106057"/>
            <a:ext cx="5989730" cy="21121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altLang="zh-CN" sz="1050" dirty="0">
              <a:solidFill>
                <a:schemeClr val="bg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稻壳儿搜索【幻雨工作室】_5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6D0C383D-5FC0-4834-8152-BFA43E48379A}"/>
              </a:ext>
            </a:extLst>
          </p:cNvPr>
          <p:cNvSpPr/>
          <p:nvPr/>
        </p:nvSpPr>
        <p:spPr>
          <a:xfrm flipH="1">
            <a:off x="5040161" y="4490370"/>
            <a:ext cx="5091547" cy="13734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Dolor,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Tempor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Ac Gravida Sit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Porta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Fermentum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Magna.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6572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稻壳儿原创设计师【幻雨工作室】_5">
            <a:extLst>
              <a:ext uri="{FF2B5EF4-FFF2-40B4-BE49-F238E27FC236}">
                <a16:creationId xmlns:a16="http://schemas.microsoft.com/office/drawing/2014/main" id="{5957F2E4-2EAF-43AD-AFF6-A421CF9E8828}"/>
              </a:ext>
            </a:extLst>
          </p:cNvPr>
          <p:cNvSpPr txBox="1"/>
          <p:nvPr/>
        </p:nvSpPr>
        <p:spPr>
          <a:xfrm>
            <a:off x="809608" y="716508"/>
            <a:ext cx="57866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竞争格局</a:t>
            </a:r>
            <a:r>
              <a:rPr lang="zh-CN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Peers</a:t>
            </a:r>
          </a:p>
        </p:txBody>
      </p:sp>
      <p:sp>
        <p:nvSpPr>
          <p:cNvPr id="3" name="稻壳儿原创设计师【幻雨工作室】_3">
            <a:extLst>
              <a:ext uri="{FF2B5EF4-FFF2-40B4-BE49-F238E27FC236}">
                <a16:creationId xmlns:a16="http://schemas.microsoft.com/office/drawing/2014/main" id="{2069059F-E215-46BA-84BD-1AC6FB369BD1}"/>
              </a:ext>
            </a:extLst>
          </p:cNvPr>
          <p:cNvSpPr>
            <a:spLocks noEditPoints="1"/>
          </p:cNvSpPr>
          <p:nvPr/>
        </p:nvSpPr>
        <p:spPr bwMode="auto">
          <a:xfrm>
            <a:off x="4269491" y="2238564"/>
            <a:ext cx="3653019" cy="3649229"/>
          </a:xfrm>
          <a:custGeom>
            <a:avLst/>
            <a:gdLst>
              <a:gd name="T0" fmla="*/ 870 w 935"/>
              <a:gd name="T1" fmla="*/ 608 h 935"/>
              <a:gd name="T2" fmla="*/ 870 w 935"/>
              <a:gd name="T3" fmla="*/ 608 h 935"/>
              <a:gd name="T4" fmla="*/ 806 w 935"/>
              <a:gd name="T5" fmla="*/ 468 h 935"/>
              <a:gd name="T6" fmla="*/ 870 w 935"/>
              <a:gd name="T7" fmla="*/ 327 h 935"/>
              <a:gd name="T8" fmla="*/ 870 w 935"/>
              <a:gd name="T9" fmla="*/ 327 h 935"/>
              <a:gd name="T10" fmla="*/ 935 w 935"/>
              <a:gd name="T11" fmla="*/ 186 h 935"/>
              <a:gd name="T12" fmla="*/ 750 w 935"/>
              <a:gd name="T13" fmla="*/ 0 h 935"/>
              <a:gd name="T14" fmla="*/ 608 w 935"/>
              <a:gd name="T15" fmla="*/ 65 h 935"/>
              <a:gd name="T16" fmla="*/ 608 w 935"/>
              <a:gd name="T17" fmla="*/ 65 h 935"/>
              <a:gd name="T18" fmla="*/ 468 w 935"/>
              <a:gd name="T19" fmla="*/ 129 h 935"/>
              <a:gd name="T20" fmla="*/ 328 w 935"/>
              <a:gd name="T21" fmla="*/ 65 h 935"/>
              <a:gd name="T22" fmla="*/ 328 w 935"/>
              <a:gd name="T23" fmla="*/ 65 h 935"/>
              <a:gd name="T24" fmla="*/ 186 w 935"/>
              <a:gd name="T25" fmla="*/ 0 h 935"/>
              <a:gd name="T26" fmla="*/ 0 w 935"/>
              <a:gd name="T27" fmla="*/ 186 h 935"/>
              <a:gd name="T28" fmla="*/ 66 w 935"/>
              <a:gd name="T29" fmla="*/ 327 h 935"/>
              <a:gd name="T30" fmla="*/ 66 w 935"/>
              <a:gd name="T31" fmla="*/ 327 h 935"/>
              <a:gd name="T32" fmla="*/ 130 w 935"/>
              <a:gd name="T33" fmla="*/ 468 h 935"/>
              <a:gd name="T34" fmla="*/ 66 w 935"/>
              <a:gd name="T35" fmla="*/ 608 h 935"/>
              <a:gd name="T36" fmla="*/ 66 w 935"/>
              <a:gd name="T37" fmla="*/ 608 h 935"/>
              <a:gd name="T38" fmla="*/ 0 w 935"/>
              <a:gd name="T39" fmla="*/ 749 h 935"/>
              <a:gd name="T40" fmla="*/ 186 w 935"/>
              <a:gd name="T41" fmla="*/ 935 h 935"/>
              <a:gd name="T42" fmla="*/ 328 w 935"/>
              <a:gd name="T43" fmla="*/ 870 h 935"/>
              <a:gd name="T44" fmla="*/ 328 w 935"/>
              <a:gd name="T45" fmla="*/ 870 h 935"/>
              <a:gd name="T46" fmla="*/ 468 w 935"/>
              <a:gd name="T47" fmla="*/ 806 h 935"/>
              <a:gd name="T48" fmla="*/ 608 w 935"/>
              <a:gd name="T49" fmla="*/ 870 h 935"/>
              <a:gd name="T50" fmla="*/ 608 w 935"/>
              <a:gd name="T51" fmla="*/ 870 h 935"/>
              <a:gd name="T52" fmla="*/ 750 w 935"/>
              <a:gd name="T53" fmla="*/ 935 h 935"/>
              <a:gd name="T54" fmla="*/ 935 w 935"/>
              <a:gd name="T55" fmla="*/ 749 h 935"/>
              <a:gd name="T56" fmla="*/ 870 w 935"/>
              <a:gd name="T57" fmla="*/ 608 h 935"/>
              <a:gd name="T58" fmla="*/ 468 w 935"/>
              <a:gd name="T59" fmla="*/ 681 h 935"/>
              <a:gd name="T60" fmla="*/ 255 w 935"/>
              <a:gd name="T61" fmla="*/ 468 h 935"/>
              <a:gd name="T62" fmla="*/ 468 w 935"/>
              <a:gd name="T63" fmla="*/ 255 h 935"/>
              <a:gd name="T64" fmla="*/ 681 w 935"/>
              <a:gd name="T65" fmla="*/ 468 h 935"/>
              <a:gd name="T66" fmla="*/ 468 w 935"/>
              <a:gd name="T67" fmla="*/ 681 h 9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935" h="935">
                <a:moveTo>
                  <a:pt x="870" y="608"/>
                </a:moveTo>
                <a:cubicBezTo>
                  <a:pt x="870" y="608"/>
                  <a:pt x="870" y="608"/>
                  <a:pt x="870" y="608"/>
                </a:cubicBezTo>
                <a:cubicBezTo>
                  <a:pt x="831" y="574"/>
                  <a:pt x="806" y="524"/>
                  <a:pt x="806" y="468"/>
                </a:cubicBezTo>
                <a:cubicBezTo>
                  <a:pt x="806" y="412"/>
                  <a:pt x="831" y="362"/>
                  <a:pt x="870" y="327"/>
                </a:cubicBezTo>
                <a:cubicBezTo>
                  <a:pt x="870" y="327"/>
                  <a:pt x="870" y="327"/>
                  <a:pt x="870" y="327"/>
                </a:cubicBezTo>
                <a:cubicBezTo>
                  <a:pt x="910" y="293"/>
                  <a:pt x="935" y="243"/>
                  <a:pt x="935" y="186"/>
                </a:cubicBezTo>
                <a:cubicBezTo>
                  <a:pt x="935" y="83"/>
                  <a:pt x="852" y="0"/>
                  <a:pt x="750" y="0"/>
                </a:cubicBezTo>
                <a:cubicBezTo>
                  <a:pt x="693" y="0"/>
                  <a:pt x="642" y="25"/>
                  <a:pt x="608" y="65"/>
                </a:cubicBezTo>
                <a:cubicBezTo>
                  <a:pt x="608" y="65"/>
                  <a:pt x="608" y="65"/>
                  <a:pt x="608" y="65"/>
                </a:cubicBezTo>
                <a:cubicBezTo>
                  <a:pt x="574" y="105"/>
                  <a:pt x="524" y="129"/>
                  <a:pt x="468" y="129"/>
                </a:cubicBezTo>
                <a:cubicBezTo>
                  <a:pt x="412" y="129"/>
                  <a:pt x="362" y="105"/>
                  <a:pt x="328" y="65"/>
                </a:cubicBezTo>
                <a:cubicBezTo>
                  <a:pt x="328" y="65"/>
                  <a:pt x="328" y="65"/>
                  <a:pt x="328" y="65"/>
                </a:cubicBezTo>
                <a:cubicBezTo>
                  <a:pt x="294" y="25"/>
                  <a:pt x="243" y="0"/>
                  <a:pt x="186" y="0"/>
                </a:cubicBezTo>
                <a:cubicBezTo>
                  <a:pt x="83" y="0"/>
                  <a:pt x="0" y="83"/>
                  <a:pt x="0" y="186"/>
                </a:cubicBezTo>
                <a:cubicBezTo>
                  <a:pt x="0" y="243"/>
                  <a:pt x="26" y="293"/>
                  <a:pt x="66" y="327"/>
                </a:cubicBezTo>
                <a:cubicBezTo>
                  <a:pt x="66" y="327"/>
                  <a:pt x="66" y="327"/>
                  <a:pt x="66" y="327"/>
                </a:cubicBezTo>
                <a:cubicBezTo>
                  <a:pt x="105" y="362"/>
                  <a:pt x="130" y="412"/>
                  <a:pt x="130" y="468"/>
                </a:cubicBezTo>
                <a:cubicBezTo>
                  <a:pt x="130" y="524"/>
                  <a:pt x="105" y="574"/>
                  <a:pt x="66" y="608"/>
                </a:cubicBezTo>
                <a:cubicBezTo>
                  <a:pt x="66" y="608"/>
                  <a:pt x="66" y="608"/>
                  <a:pt x="66" y="608"/>
                </a:cubicBezTo>
                <a:cubicBezTo>
                  <a:pt x="26" y="642"/>
                  <a:pt x="0" y="693"/>
                  <a:pt x="0" y="749"/>
                </a:cubicBezTo>
                <a:cubicBezTo>
                  <a:pt x="0" y="852"/>
                  <a:pt x="83" y="935"/>
                  <a:pt x="186" y="935"/>
                </a:cubicBezTo>
                <a:cubicBezTo>
                  <a:pt x="243" y="935"/>
                  <a:pt x="294" y="910"/>
                  <a:pt x="328" y="870"/>
                </a:cubicBezTo>
                <a:cubicBezTo>
                  <a:pt x="328" y="870"/>
                  <a:pt x="328" y="870"/>
                  <a:pt x="328" y="870"/>
                </a:cubicBezTo>
                <a:cubicBezTo>
                  <a:pt x="362" y="831"/>
                  <a:pt x="412" y="806"/>
                  <a:pt x="468" y="806"/>
                </a:cubicBezTo>
                <a:cubicBezTo>
                  <a:pt x="524" y="806"/>
                  <a:pt x="574" y="831"/>
                  <a:pt x="608" y="870"/>
                </a:cubicBezTo>
                <a:cubicBezTo>
                  <a:pt x="608" y="870"/>
                  <a:pt x="608" y="870"/>
                  <a:pt x="608" y="870"/>
                </a:cubicBezTo>
                <a:cubicBezTo>
                  <a:pt x="642" y="910"/>
                  <a:pt x="693" y="935"/>
                  <a:pt x="750" y="935"/>
                </a:cubicBezTo>
                <a:cubicBezTo>
                  <a:pt x="852" y="935"/>
                  <a:pt x="935" y="852"/>
                  <a:pt x="935" y="749"/>
                </a:cubicBezTo>
                <a:cubicBezTo>
                  <a:pt x="935" y="693"/>
                  <a:pt x="910" y="642"/>
                  <a:pt x="870" y="608"/>
                </a:cubicBezTo>
                <a:close/>
                <a:moveTo>
                  <a:pt x="468" y="681"/>
                </a:moveTo>
                <a:cubicBezTo>
                  <a:pt x="350" y="681"/>
                  <a:pt x="255" y="585"/>
                  <a:pt x="255" y="468"/>
                </a:cubicBezTo>
                <a:cubicBezTo>
                  <a:pt x="255" y="350"/>
                  <a:pt x="350" y="255"/>
                  <a:pt x="468" y="255"/>
                </a:cubicBezTo>
                <a:cubicBezTo>
                  <a:pt x="585" y="255"/>
                  <a:pt x="681" y="350"/>
                  <a:pt x="681" y="468"/>
                </a:cubicBezTo>
                <a:cubicBezTo>
                  <a:pt x="681" y="585"/>
                  <a:pt x="585" y="681"/>
                  <a:pt x="468" y="681"/>
                </a:cubicBezTo>
                <a:close/>
              </a:path>
            </a:pathLst>
          </a:custGeom>
          <a:noFill/>
          <a:ln w="12700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4" name="稻壳儿原创设计师【幻雨工作室】_4">
            <a:extLst>
              <a:ext uri="{FF2B5EF4-FFF2-40B4-BE49-F238E27FC236}">
                <a16:creationId xmlns:a16="http://schemas.microsoft.com/office/drawing/2014/main" id="{C92A690F-FB1A-4633-9418-DA7F53B1E4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3249" y="2411041"/>
            <a:ext cx="1059149" cy="105346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02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稻壳儿原创设计师【幻雨工作室】_5">
            <a:extLst>
              <a:ext uri="{FF2B5EF4-FFF2-40B4-BE49-F238E27FC236}">
                <a16:creationId xmlns:a16="http://schemas.microsoft.com/office/drawing/2014/main" id="{155BB3A3-1CFA-4A44-8B52-2406D97C7C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3249" y="4608916"/>
            <a:ext cx="1059149" cy="1057253"/>
          </a:xfrm>
          <a:prstGeom prst="ellipse">
            <a:avLst/>
          </a:prstGeom>
          <a:solidFill>
            <a:srgbClr val="F9F9F9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04</a:t>
            </a:r>
            <a:endParaRPr lang="zh-CN" altLang="en-US" sz="2800" dirty="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" name="稻壳儿原创设计师【幻雨工作室】_6">
            <a:extLst>
              <a:ext uri="{FF2B5EF4-FFF2-40B4-BE49-F238E27FC236}">
                <a16:creationId xmlns:a16="http://schemas.microsoft.com/office/drawing/2014/main" id="{AB159313-E6EA-4DE0-AE4C-36D8046AC0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3481" y="4608916"/>
            <a:ext cx="1055359" cy="105725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03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稻壳儿原创设计师【幻雨工作室】_7">
            <a:extLst>
              <a:ext uri="{FF2B5EF4-FFF2-40B4-BE49-F238E27FC236}">
                <a16:creationId xmlns:a16="http://schemas.microsoft.com/office/drawing/2014/main" id="{EFEB2894-40F5-4942-97B5-4BC8FBF930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3481" y="2411041"/>
            <a:ext cx="1055359" cy="1053464"/>
          </a:xfrm>
          <a:prstGeom prst="ellipse">
            <a:avLst/>
          </a:prstGeom>
          <a:solidFill>
            <a:srgbClr val="F9F9F9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01</a:t>
            </a:r>
            <a:endParaRPr lang="zh-CN" altLang="en-US" sz="2800" dirty="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8" name="稻壳儿原创设计师【幻雨工作室】_8">
            <a:extLst>
              <a:ext uri="{FF2B5EF4-FFF2-40B4-BE49-F238E27FC236}">
                <a16:creationId xmlns:a16="http://schemas.microsoft.com/office/drawing/2014/main" id="{88BA1C1A-56B6-4125-B384-BAD713138AA8}"/>
              </a:ext>
            </a:extLst>
          </p:cNvPr>
          <p:cNvSpPr/>
          <p:nvPr/>
        </p:nvSpPr>
        <p:spPr>
          <a:xfrm>
            <a:off x="5478839" y="3389533"/>
            <a:ext cx="1294356" cy="1294356"/>
          </a:xfrm>
          <a:prstGeom prst="ellipse">
            <a:avLst/>
          </a:prstGeom>
          <a:solidFill>
            <a:schemeClr val="accent1"/>
          </a:solidFill>
          <a:ln w="12700" cap="flat" cmpd="sng" algn="ctr">
            <a:gradFill>
              <a:gsLst>
                <a:gs pos="89000">
                  <a:sysClr val="window" lastClr="FFFFFF">
                    <a:lumMod val="85000"/>
                  </a:sysClr>
                </a:gs>
                <a:gs pos="0">
                  <a:sysClr val="window" lastClr="FFFFFF"/>
                </a:gs>
              </a:gsLst>
              <a:lin ang="7200000" scaled="0"/>
            </a:gradFill>
            <a:prstDash val="solid"/>
          </a:ln>
          <a:effectLst/>
        </p:spPr>
        <p:txBody>
          <a:bodyPr anchor="ctr"/>
          <a:lstStyle/>
          <a:p>
            <a:pPr algn="ctr" defTabSz="914400">
              <a:defRPr/>
            </a:pPr>
            <a:endParaRPr lang="zh-CN" altLang="en-US" sz="2400" kern="0">
              <a:solidFill>
                <a:srgbClr val="002060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9" name="稻壳儿原创设计师【幻雨工作室】_9">
            <a:extLst>
              <a:ext uri="{FF2B5EF4-FFF2-40B4-BE49-F238E27FC236}">
                <a16:creationId xmlns:a16="http://schemas.microsoft.com/office/drawing/2014/main" id="{0D73EBAA-5BED-42D6-BED0-DA504500BC5B}"/>
              </a:ext>
            </a:extLst>
          </p:cNvPr>
          <p:cNvSpPr txBox="1"/>
          <p:nvPr/>
        </p:nvSpPr>
        <p:spPr>
          <a:xfrm>
            <a:off x="5482875" y="3847481"/>
            <a:ext cx="1290320" cy="378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86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LFP</a:t>
            </a:r>
          </a:p>
        </p:txBody>
      </p:sp>
      <p:sp>
        <p:nvSpPr>
          <p:cNvPr id="10" name="稻壳儿原创设计师【幻雨工作室】_1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66B82795-4100-42C5-98AB-36C06ED933E6}"/>
              </a:ext>
            </a:extLst>
          </p:cNvPr>
          <p:cNvSpPr/>
          <p:nvPr/>
        </p:nvSpPr>
        <p:spPr>
          <a:xfrm>
            <a:off x="8219260" y="2249084"/>
            <a:ext cx="2863692" cy="131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产能/客户/订单</a:t>
            </a:r>
          </a:p>
          <a:p>
            <a:pPr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磷酸铁锂项目一边扩产一边叫停，钠电正极市场规模化出货企业少，下半年需求集中释放或致正极供应紧张，局部环节可能出现供需缺口。 推测说明：推测理由：基于供应格局分析，钠电正极产能利用率未达预期，而需求释放预期明确，可能导致供需缺口。证据不足点：缺乏具体产能数据和下游订单确认信息。 来源：https://www.itdcw.com/news/dczk/062915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</a:p>
        </p:txBody>
      </p:sp>
      <p:sp>
        <p:nvSpPr>
          <p:cNvPr id="11" name="稻壳儿原创设计师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0538D9A8-2FC5-4107-8A7B-E1D62E41FDB0}"/>
              </a:ext>
            </a:extLst>
          </p:cNvPr>
          <p:cNvSpPr/>
          <p:nvPr/>
        </p:nvSpPr>
        <p:spPr>
          <a:xfrm>
            <a:off x="8219260" y="4523868"/>
            <a:ext cx="2863692" cy="131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政策/合规风险</a:t>
            </a:r>
          </a:p>
          <a:p>
            <a:pPr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工信部发布《车用动力电池拆解破碎安全要求》等两项强制性国标征求意见，强化电池回收环节安全合规要求。 推测说明：未使用推测 来源：https://www.miit.gov.cn/gzcy/yjzj/art/2026/art_6ee188a6acf34735a568af7ebdc507b5.html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</a:p>
        </p:txBody>
      </p:sp>
      <p:sp>
        <p:nvSpPr>
          <p:cNvPr id="12" name="稻壳儿原创设计师【幻雨工作室】_12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DDAA2FB0-0963-4A6F-88DC-3962BD5B5E7C}"/>
              </a:ext>
            </a:extLst>
          </p:cNvPr>
          <p:cNvSpPr/>
          <p:nvPr/>
        </p:nvSpPr>
        <p:spPr>
          <a:xfrm>
            <a:off x="1109049" y="2249084"/>
            <a:ext cx="2863692" cy="131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技术/产品路线</a:t>
            </a:r>
          </a:p>
          <a:p>
            <a:pPr algn="r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多氟多发布大圆柱换电模组，同体积容量击穿行业纪录；万润新能源推出高容量、高压实LFP材料，能量密度和循环性能优异。 推测说明：未使用推测 来源：https://www.itdcw.com/news/chanpinxinwen/06251562M2026.html；https://www.hbwanrun.com/application_details/1.h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</a:p>
        </p:txBody>
      </p:sp>
      <p:sp>
        <p:nvSpPr>
          <p:cNvPr id="13" name="稻壳儿原创设计师【幻雨工作室】_13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D2B14BEE-68BF-4DFD-BFE2-7DDFF7EA07F6}"/>
              </a:ext>
            </a:extLst>
          </p:cNvPr>
          <p:cNvSpPr/>
          <p:nvPr/>
        </p:nvSpPr>
        <p:spPr>
          <a:xfrm>
            <a:off x="1109049" y="4523868"/>
            <a:ext cx="2863692" cy="131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价格/盈利压力</a:t>
            </a:r>
          </a:p>
          <a:p>
            <a:pPr algn="r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未直接提及价格或盈利数据，但项目扩产叫停暗示行业盈利承压，企业投资趋于谨慎。 推测说明：推测理由：项目扩产叫停通常反映企业对未来盈利预期悲观或资金压力。证据不足点：无具体价格或毛利率数据支撑。 来源：https://www.itdcw.com/news/dczk/06291563622026.html</a:t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1524588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稻壳儿原创设计师【幻雨工作室】_4">
            <a:extLst>
              <a:ext uri="{FF2B5EF4-FFF2-40B4-BE49-F238E27FC236}">
                <a16:creationId xmlns:a16="http://schemas.microsoft.com/office/drawing/2014/main" id="{3E3B8C09-1466-4348-B708-EC7EBDC98C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789" y="2051700"/>
            <a:ext cx="2912419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8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8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稻壳儿原创设计师【幻雨工作室】_5">
            <a:extLst>
              <a:ext uri="{FF2B5EF4-FFF2-40B4-BE49-F238E27FC236}">
                <a16:creationId xmlns:a16="http://schemas.microsoft.com/office/drawing/2014/main" id="{AFE96CFF-7E9C-412F-BDDE-98D07B6E7FC5}"/>
              </a:ext>
            </a:extLst>
          </p:cNvPr>
          <p:cNvSpPr txBox="1"/>
          <p:nvPr/>
        </p:nvSpPr>
        <p:spPr>
          <a:xfrm>
            <a:off x="3926175" y="3483736"/>
            <a:ext cx="433965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风险机会</a:t>
            </a:r>
          </a:p>
          <a:p>
            <a:pPr algn="ctr"/>
            <a:r>
              <a:rPr lang="zh-CN" altLang="en-US" sz="3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Signals</a:t>
            </a:r>
          </a:p>
        </p:txBody>
      </p:sp>
    </p:spTree>
    <p:extLst>
      <p:ext uri="{BB962C8B-B14F-4D97-AF65-F5344CB8AC3E}">
        <p14:creationId xmlns:p14="http://schemas.microsoft.com/office/powerpoint/2010/main" val="42343384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稻壳儿原创设计师【幻雨工作室】_5">
            <a:extLst>
              <a:ext uri="{FF2B5EF4-FFF2-40B4-BE49-F238E27FC236}">
                <a16:creationId xmlns:a16="http://schemas.microsoft.com/office/drawing/2014/main" id="{9B54E570-542E-449D-ACBA-32F3A3FC8033}"/>
              </a:ext>
            </a:extLst>
          </p:cNvPr>
          <p:cNvSpPr txBox="1"/>
          <p:nvPr/>
        </p:nvSpPr>
        <p:spPr>
          <a:xfrm>
            <a:off x="809608" y="716508"/>
            <a:ext cx="54264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后续工作目标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Follow up objectives</a:t>
            </a:r>
          </a:p>
        </p:txBody>
      </p:sp>
      <p:sp>
        <p:nvSpPr>
          <p:cNvPr id="4" name="稻壳儿原创设计师【幻雨工作室】_4">
            <a:extLst>
              <a:ext uri="{FF2B5EF4-FFF2-40B4-BE49-F238E27FC236}">
                <a16:creationId xmlns:a16="http://schemas.microsoft.com/office/drawing/2014/main" id="{A848A9B5-1DFF-4FF9-BC3C-3D568C4B0DAA}"/>
              </a:ext>
            </a:extLst>
          </p:cNvPr>
          <p:cNvSpPr/>
          <p:nvPr/>
        </p:nvSpPr>
        <p:spPr>
          <a:xfrm>
            <a:off x="768238" y="3792049"/>
            <a:ext cx="2517416" cy="21139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5" name="稻壳儿原创设计师【幻雨工作室】_5">
            <a:extLst>
              <a:ext uri="{FF2B5EF4-FFF2-40B4-BE49-F238E27FC236}">
                <a16:creationId xmlns:a16="http://schemas.microsoft.com/office/drawing/2014/main" id="{AA702E98-8E7D-4053-8907-948095E6DD52}"/>
              </a:ext>
            </a:extLst>
          </p:cNvPr>
          <p:cNvSpPr/>
          <p:nvPr/>
        </p:nvSpPr>
        <p:spPr>
          <a:xfrm>
            <a:off x="8893929" y="3792049"/>
            <a:ext cx="2517416" cy="21139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6" name="稻壳儿原创设计师【幻雨工作室】_6">
            <a:extLst>
              <a:ext uri="{FF2B5EF4-FFF2-40B4-BE49-F238E27FC236}">
                <a16:creationId xmlns:a16="http://schemas.microsoft.com/office/drawing/2014/main" id="{AE48EA5B-AA20-4A64-BFAD-3A5742269E50}"/>
              </a:ext>
            </a:extLst>
          </p:cNvPr>
          <p:cNvSpPr/>
          <p:nvPr/>
        </p:nvSpPr>
        <p:spPr>
          <a:xfrm>
            <a:off x="6165479" y="3792049"/>
            <a:ext cx="2536696" cy="21139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7" name="稻壳儿原创设计师【幻雨工作室】_7">
            <a:extLst>
              <a:ext uri="{FF2B5EF4-FFF2-40B4-BE49-F238E27FC236}">
                <a16:creationId xmlns:a16="http://schemas.microsoft.com/office/drawing/2014/main" id="{30975D43-5DDD-4667-BB64-467B97ADCA70}"/>
              </a:ext>
            </a:extLst>
          </p:cNvPr>
          <p:cNvSpPr/>
          <p:nvPr/>
        </p:nvSpPr>
        <p:spPr>
          <a:xfrm>
            <a:off x="3470835" y="3792049"/>
            <a:ext cx="2544071" cy="21139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grpSp>
        <p:nvGrpSpPr>
          <p:cNvPr id="8" name="稻壳儿原创设计师【幻雨工作室】_8">
            <a:extLst>
              <a:ext uri="{FF2B5EF4-FFF2-40B4-BE49-F238E27FC236}">
                <a16:creationId xmlns:a16="http://schemas.microsoft.com/office/drawing/2014/main" id="{1B0DA669-7CBC-48B1-8A33-FE3125577AD5}"/>
              </a:ext>
            </a:extLst>
          </p:cNvPr>
          <p:cNvGrpSpPr/>
          <p:nvPr/>
        </p:nvGrpSpPr>
        <p:grpSpPr>
          <a:xfrm>
            <a:off x="3455507" y="2052268"/>
            <a:ext cx="5246668" cy="1739780"/>
            <a:chOff x="3455507" y="2052268"/>
            <a:chExt cx="5246668" cy="1739780"/>
          </a:xfrm>
          <a:blipFill dpi="0" rotWithShape="1">
            <a:blip r:embed="rId2"/>
            <a:srcRect/>
            <a:tile tx="0" ty="0" sx="100000" sy="100000" flip="none" algn="tl"/>
          </a:blipFill>
        </p:grpSpPr>
        <p:sp>
          <p:nvSpPr>
            <p:cNvPr id="9" name="稻壳儿原创设计师【幻雨工作室】_4">
              <a:extLst>
                <a:ext uri="{FF2B5EF4-FFF2-40B4-BE49-F238E27FC236}">
                  <a16:creationId xmlns:a16="http://schemas.microsoft.com/office/drawing/2014/main" id="{E6A6B3D6-E43B-4968-AFE6-4B7BA4564455}"/>
                </a:ext>
              </a:extLst>
            </p:cNvPr>
            <p:cNvSpPr/>
            <p:nvPr/>
          </p:nvSpPr>
          <p:spPr>
            <a:xfrm>
              <a:off x="3455507" y="2052268"/>
              <a:ext cx="2525080" cy="1739780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" name="稻壳儿原创设计师【幻雨工作室】_5">
              <a:extLst>
                <a:ext uri="{FF2B5EF4-FFF2-40B4-BE49-F238E27FC236}">
                  <a16:creationId xmlns:a16="http://schemas.microsoft.com/office/drawing/2014/main" id="{C137A729-A661-4B53-B94D-67DFDCDCEDE5}"/>
                </a:ext>
              </a:extLst>
            </p:cNvPr>
            <p:cNvSpPr/>
            <p:nvPr/>
          </p:nvSpPr>
          <p:spPr>
            <a:xfrm>
              <a:off x="6177095" y="2052268"/>
              <a:ext cx="2525080" cy="1739780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</p:grpSp>
      <p:sp>
        <p:nvSpPr>
          <p:cNvPr id="11" name="稻壳儿原创设计师【幻雨工作室】_9">
            <a:extLst>
              <a:ext uri="{FF2B5EF4-FFF2-40B4-BE49-F238E27FC236}">
                <a16:creationId xmlns:a16="http://schemas.microsoft.com/office/drawing/2014/main" id="{E5D9902D-F2A3-4861-879E-73F4CEC5595B}"/>
              </a:ext>
            </a:extLst>
          </p:cNvPr>
          <p:cNvSpPr/>
          <p:nvPr/>
        </p:nvSpPr>
        <p:spPr>
          <a:xfrm>
            <a:off x="768238" y="2052268"/>
            <a:ext cx="2525080" cy="1739780"/>
          </a:xfrm>
          <a:prstGeom prst="roundRect">
            <a:avLst>
              <a:gd name="adj" fmla="val 8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12" name="稻壳儿原创设计师【幻雨工作室】_10">
            <a:extLst>
              <a:ext uri="{FF2B5EF4-FFF2-40B4-BE49-F238E27FC236}">
                <a16:creationId xmlns:a16="http://schemas.microsoft.com/office/drawing/2014/main" id="{31B86FB4-3796-4EE5-BC38-D2655F47E920}"/>
              </a:ext>
            </a:extLst>
          </p:cNvPr>
          <p:cNvSpPr/>
          <p:nvPr/>
        </p:nvSpPr>
        <p:spPr>
          <a:xfrm>
            <a:off x="8893929" y="2052268"/>
            <a:ext cx="2525080" cy="173978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13" name="稻壳儿原创设计师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19B7DFF5-F403-47B6-BC4B-56E21B16EA16}"/>
              </a:ext>
            </a:extLst>
          </p:cNvPr>
          <p:cNvSpPr/>
          <p:nvPr/>
        </p:nvSpPr>
        <p:spPr>
          <a:xfrm>
            <a:off x="3705297" y="4087598"/>
            <a:ext cx="207514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grpSp>
        <p:nvGrpSpPr>
          <p:cNvPr id="14" name="稻壳儿原创设计师【幻雨工作室】_12">
            <a:extLst>
              <a:ext uri="{FF2B5EF4-FFF2-40B4-BE49-F238E27FC236}">
                <a16:creationId xmlns:a16="http://schemas.microsoft.com/office/drawing/2014/main" id="{D9F0A114-3172-4C2C-A30A-70E7CECE6C34}"/>
              </a:ext>
            </a:extLst>
          </p:cNvPr>
          <p:cNvGrpSpPr/>
          <p:nvPr/>
        </p:nvGrpSpPr>
        <p:grpSpPr>
          <a:xfrm>
            <a:off x="1621662" y="2490229"/>
            <a:ext cx="818232" cy="863858"/>
            <a:chOff x="3170167" y="7307266"/>
            <a:chExt cx="523581" cy="552777"/>
          </a:xfrm>
        </p:grpSpPr>
        <p:sp>
          <p:nvSpPr>
            <p:cNvPr id="15" name="稻壳儿搜索【幻雨工作室】_11">
              <a:extLst>
                <a:ext uri="{FF2B5EF4-FFF2-40B4-BE49-F238E27FC236}">
                  <a16:creationId xmlns:a16="http://schemas.microsoft.com/office/drawing/2014/main" id="{01981F75-869D-454D-9336-53AF51AF054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49236" y="7307266"/>
              <a:ext cx="165445" cy="165444"/>
            </a:xfrm>
            <a:custGeom>
              <a:avLst/>
              <a:gdLst>
                <a:gd name="T0" fmla="*/ 18 w 36"/>
                <a:gd name="T1" fmla="*/ 36 h 36"/>
                <a:gd name="T2" fmla="*/ 36 w 36"/>
                <a:gd name="T3" fmla="*/ 18 h 36"/>
                <a:gd name="T4" fmla="*/ 18 w 36"/>
                <a:gd name="T5" fmla="*/ 0 h 36"/>
                <a:gd name="T6" fmla="*/ 0 w 36"/>
                <a:gd name="T7" fmla="*/ 18 h 36"/>
                <a:gd name="T8" fmla="*/ 18 w 36"/>
                <a:gd name="T9" fmla="*/ 36 h 36"/>
                <a:gd name="T10" fmla="*/ 18 w 36"/>
                <a:gd name="T11" fmla="*/ 6 h 36"/>
                <a:gd name="T12" fmla="*/ 30 w 36"/>
                <a:gd name="T13" fmla="*/ 18 h 36"/>
                <a:gd name="T14" fmla="*/ 18 w 36"/>
                <a:gd name="T15" fmla="*/ 30 h 36"/>
                <a:gd name="T16" fmla="*/ 6 w 36"/>
                <a:gd name="T17" fmla="*/ 18 h 36"/>
                <a:gd name="T18" fmla="*/ 18 w 36"/>
                <a:gd name="T19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28" y="36"/>
                    <a:pt x="36" y="28"/>
                    <a:pt x="36" y="18"/>
                  </a:cubicBezTo>
                  <a:cubicBezTo>
                    <a:pt x="36" y="8"/>
                    <a:pt x="28" y="0"/>
                    <a:pt x="18" y="0"/>
                  </a:cubicBezTo>
                  <a:cubicBezTo>
                    <a:pt x="8" y="0"/>
                    <a:pt x="0" y="8"/>
                    <a:pt x="0" y="18"/>
                  </a:cubicBezTo>
                  <a:cubicBezTo>
                    <a:pt x="0" y="28"/>
                    <a:pt x="8" y="36"/>
                    <a:pt x="18" y="36"/>
                  </a:cubicBezTo>
                  <a:close/>
                  <a:moveTo>
                    <a:pt x="18" y="6"/>
                  </a:moveTo>
                  <a:cubicBezTo>
                    <a:pt x="25" y="6"/>
                    <a:pt x="30" y="11"/>
                    <a:pt x="30" y="18"/>
                  </a:cubicBezTo>
                  <a:cubicBezTo>
                    <a:pt x="30" y="25"/>
                    <a:pt x="25" y="30"/>
                    <a:pt x="18" y="30"/>
                  </a:cubicBezTo>
                  <a:cubicBezTo>
                    <a:pt x="11" y="30"/>
                    <a:pt x="6" y="25"/>
                    <a:pt x="6" y="18"/>
                  </a:cubicBezTo>
                  <a:cubicBezTo>
                    <a:pt x="6" y="11"/>
                    <a:pt x="11" y="6"/>
                    <a:pt x="18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6" name="稻壳儿搜索【幻雨工作室】_12">
              <a:extLst>
                <a:ext uri="{FF2B5EF4-FFF2-40B4-BE49-F238E27FC236}">
                  <a16:creationId xmlns:a16="http://schemas.microsoft.com/office/drawing/2014/main" id="{2C7E3854-7978-484B-8FED-7B8C976B1E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21986" y="7499959"/>
              <a:ext cx="219944" cy="360084"/>
            </a:xfrm>
            <a:custGeom>
              <a:avLst/>
              <a:gdLst>
                <a:gd name="T0" fmla="*/ 36 w 48"/>
                <a:gd name="T1" fmla="*/ 0 h 78"/>
                <a:gd name="T2" fmla="*/ 12 w 48"/>
                <a:gd name="T3" fmla="*/ 0 h 78"/>
                <a:gd name="T4" fmla="*/ 6 w 48"/>
                <a:gd name="T5" fmla="*/ 5 h 78"/>
                <a:gd name="T6" fmla="*/ 0 w 48"/>
                <a:gd name="T7" fmla="*/ 38 h 78"/>
                <a:gd name="T8" fmla="*/ 1 w 48"/>
                <a:gd name="T9" fmla="*/ 43 h 78"/>
                <a:gd name="T10" fmla="*/ 6 w 48"/>
                <a:gd name="T11" fmla="*/ 45 h 78"/>
                <a:gd name="T12" fmla="*/ 10 w 48"/>
                <a:gd name="T13" fmla="*/ 45 h 78"/>
                <a:gd name="T14" fmla="*/ 12 w 48"/>
                <a:gd name="T15" fmla="*/ 72 h 78"/>
                <a:gd name="T16" fmla="*/ 18 w 48"/>
                <a:gd name="T17" fmla="*/ 78 h 78"/>
                <a:gd name="T18" fmla="*/ 30 w 48"/>
                <a:gd name="T19" fmla="*/ 78 h 78"/>
                <a:gd name="T20" fmla="*/ 36 w 48"/>
                <a:gd name="T21" fmla="*/ 72 h 78"/>
                <a:gd name="T22" fmla="*/ 38 w 48"/>
                <a:gd name="T23" fmla="*/ 45 h 78"/>
                <a:gd name="T24" fmla="*/ 42 w 48"/>
                <a:gd name="T25" fmla="*/ 45 h 78"/>
                <a:gd name="T26" fmla="*/ 47 w 48"/>
                <a:gd name="T27" fmla="*/ 43 h 78"/>
                <a:gd name="T28" fmla="*/ 48 w 48"/>
                <a:gd name="T29" fmla="*/ 38 h 78"/>
                <a:gd name="T30" fmla="*/ 42 w 48"/>
                <a:gd name="T31" fmla="*/ 5 h 78"/>
                <a:gd name="T32" fmla="*/ 36 w 48"/>
                <a:gd name="T33" fmla="*/ 0 h 78"/>
                <a:gd name="T34" fmla="*/ 33 w 48"/>
                <a:gd name="T35" fmla="*/ 39 h 78"/>
                <a:gd name="T36" fmla="*/ 30 w 48"/>
                <a:gd name="T37" fmla="*/ 72 h 78"/>
                <a:gd name="T38" fmla="*/ 18 w 48"/>
                <a:gd name="T39" fmla="*/ 72 h 78"/>
                <a:gd name="T40" fmla="*/ 15 w 48"/>
                <a:gd name="T41" fmla="*/ 39 h 78"/>
                <a:gd name="T42" fmla="*/ 6 w 48"/>
                <a:gd name="T43" fmla="*/ 39 h 78"/>
                <a:gd name="T44" fmla="*/ 12 w 48"/>
                <a:gd name="T45" fmla="*/ 6 h 78"/>
                <a:gd name="T46" fmla="*/ 21 w 48"/>
                <a:gd name="T47" fmla="*/ 6 h 78"/>
                <a:gd name="T48" fmla="*/ 21 w 48"/>
                <a:gd name="T49" fmla="*/ 24 h 78"/>
                <a:gd name="T50" fmla="*/ 24 w 48"/>
                <a:gd name="T51" fmla="*/ 27 h 78"/>
                <a:gd name="T52" fmla="*/ 27 w 48"/>
                <a:gd name="T53" fmla="*/ 24 h 78"/>
                <a:gd name="T54" fmla="*/ 27 w 48"/>
                <a:gd name="T55" fmla="*/ 6 h 78"/>
                <a:gd name="T56" fmla="*/ 36 w 48"/>
                <a:gd name="T57" fmla="*/ 6 h 78"/>
                <a:gd name="T58" fmla="*/ 42 w 48"/>
                <a:gd name="T59" fmla="*/ 39 h 78"/>
                <a:gd name="T60" fmla="*/ 33 w 48"/>
                <a:gd name="T61" fmla="*/ 3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8" h="78">
                  <a:moveTo>
                    <a:pt x="36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9" y="0"/>
                    <a:pt x="7" y="2"/>
                    <a:pt x="6" y="5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0"/>
                    <a:pt x="0" y="41"/>
                    <a:pt x="1" y="43"/>
                  </a:cubicBezTo>
                  <a:cubicBezTo>
                    <a:pt x="3" y="44"/>
                    <a:pt x="4" y="45"/>
                    <a:pt x="6" y="45"/>
                  </a:cubicBezTo>
                  <a:cubicBezTo>
                    <a:pt x="10" y="45"/>
                    <a:pt x="10" y="45"/>
                    <a:pt x="10" y="45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12" y="76"/>
                    <a:pt x="15" y="78"/>
                    <a:pt x="18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3" y="78"/>
                    <a:pt x="36" y="76"/>
                    <a:pt x="36" y="72"/>
                  </a:cubicBezTo>
                  <a:cubicBezTo>
                    <a:pt x="38" y="45"/>
                    <a:pt x="38" y="45"/>
                    <a:pt x="38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4" y="45"/>
                    <a:pt x="45" y="44"/>
                    <a:pt x="47" y="43"/>
                  </a:cubicBezTo>
                  <a:cubicBezTo>
                    <a:pt x="48" y="41"/>
                    <a:pt x="48" y="40"/>
                    <a:pt x="48" y="38"/>
                  </a:cubicBezTo>
                  <a:cubicBezTo>
                    <a:pt x="42" y="5"/>
                    <a:pt x="42" y="5"/>
                    <a:pt x="42" y="5"/>
                  </a:cubicBezTo>
                  <a:cubicBezTo>
                    <a:pt x="41" y="2"/>
                    <a:pt x="39" y="0"/>
                    <a:pt x="36" y="0"/>
                  </a:cubicBezTo>
                  <a:close/>
                  <a:moveTo>
                    <a:pt x="33" y="39"/>
                  </a:moveTo>
                  <a:cubicBezTo>
                    <a:pt x="30" y="72"/>
                    <a:pt x="30" y="72"/>
                    <a:pt x="30" y="72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6" y="39"/>
                    <a:pt x="6" y="39"/>
                    <a:pt x="6" y="39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1" y="26"/>
                    <a:pt x="22" y="27"/>
                    <a:pt x="24" y="27"/>
                  </a:cubicBezTo>
                  <a:cubicBezTo>
                    <a:pt x="26" y="27"/>
                    <a:pt x="27" y="26"/>
                    <a:pt x="27" y="24"/>
                  </a:cubicBezTo>
                  <a:cubicBezTo>
                    <a:pt x="27" y="6"/>
                    <a:pt x="27" y="6"/>
                    <a:pt x="27" y="6"/>
                  </a:cubicBezTo>
                  <a:cubicBezTo>
                    <a:pt x="36" y="6"/>
                    <a:pt x="36" y="6"/>
                    <a:pt x="36" y="6"/>
                  </a:cubicBezTo>
                  <a:cubicBezTo>
                    <a:pt x="42" y="39"/>
                    <a:pt x="42" y="39"/>
                    <a:pt x="42" y="39"/>
                  </a:cubicBezTo>
                  <a:lnTo>
                    <a:pt x="3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7" name="稻壳儿搜索【幻雨工作室】_13">
              <a:extLst>
                <a:ext uri="{FF2B5EF4-FFF2-40B4-BE49-F238E27FC236}">
                  <a16:creationId xmlns:a16="http://schemas.microsoft.com/office/drawing/2014/main" id="{B992E87C-F9C0-493C-81A4-4A17FFE4A3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38036" y="7334515"/>
              <a:ext cx="132355" cy="134302"/>
            </a:xfrm>
            <a:custGeom>
              <a:avLst/>
              <a:gdLst>
                <a:gd name="T0" fmla="*/ 14 w 29"/>
                <a:gd name="T1" fmla="*/ 29 h 29"/>
                <a:gd name="T2" fmla="*/ 29 w 29"/>
                <a:gd name="T3" fmla="*/ 14 h 29"/>
                <a:gd name="T4" fmla="*/ 14 w 29"/>
                <a:gd name="T5" fmla="*/ 0 h 29"/>
                <a:gd name="T6" fmla="*/ 0 w 29"/>
                <a:gd name="T7" fmla="*/ 14 h 29"/>
                <a:gd name="T8" fmla="*/ 14 w 29"/>
                <a:gd name="T9" fmla="*/ 29 h 29"/>
                <a:gd name="T10" fmla="*/ 14 w 29"/>
                <a:gd name="T11" fmla="*/ 5 h 29"/>
                <a:gd name="T12" fmla="*/ 24 w 29"/>
                <a:gd name="T13" fmla="*/ 14 h 29"/>
                <a:gd name="T14" fmla="*/ 14 w 29"/>
                <a:gd name="T15" fmla="*/ 24 h 29"/>
                <a:gd name="T16" fmla="*/ 5 w 29"/>
                <a:gd name="T17" fmla="*/ 14 h 29"/>
                <a:gd name="T18" fmla="*/ 14 w 29"/>
                <a:gd name="T19" fmla="*/ 5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29">
                  <a:moveTo>
                    <a:pt x="14" y="29"/>
                  </a:moveTo>
                  <a:cubicBezTo>
                    <a:pt x="22" y="29"/>
                    <a:pt x="29" y="22"/>
                    <a:pt x="29" y="14"/>
                  </a:cubicBezTo>
                  <a:cubicBezTo>
                    <a:pt x="29" y="6"/>
                    <a:pt x="22" y="0"/>
                    <a:pt x="14" y="0"/>
                  </a:cubicBezTo>
                  <a:cubicBezTo>
                    <a:pt x="6" y="0"/>
                    <a:pt x="0" y="6"/>
                    <a:pt x="0" y="14"/>
                  </a:cubicBezTo>
                  <a:cubicBezTo>
                    <a:pt x="0" y="22"/>
                    <a:pt x="6" y="29"/>
                    <a:pt x="14" y="29"/>
                  </a:cubicBezTo>
                  <a:close/>
                  <a:moveTo>
                    <a:pt x="14" y="5"/>
                  </a:moveTo>
                  <a:cubicBezTo>
                    <a:pt x="19" y="5"/>
                    <a:pt x="24" y="9"/>
                    <a:pt x="24" y="14"/>
                  </a:cubicBezTo>
                  <a:cubicBezTo>
                    <a:pt x="24" y="20"/>
                    <a:pt x="19" y="24"/>
                    <a:pt x="14" y="24"/>
                  </a:cubicBezTo>
                  <a:cubicBezTo>
                    <a:pt x="9" y="24"/>
                    <a:pt x="5" y="20"/>
                    <a:pt x="5" y="14"/>
                  </a:cubicBezTo>
                  <a:cubicBezTo>
                    <a:pt x="5" y="9"/>
                    <a:pt x="9" y="5"/>
                    <a:pt x="14" y="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8" name="稻壳儿搜索【幻雨工作室】_14">
              <a:extLst>
                <a:ext uri="{FF2B5EF4-FFF2-40B4-BE49-F238E27FC236}">
                  <a16:creationId xmlns:a16="http://schemas.microsoft.com/office/drawing/2014/main" id="{CBC9CEBB-6921-4BBF-875A-70BA5E1FBE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8036" y="7490228"/>
              <a:ext cx="155712" cy="286121"/>
            </a:xfrm>
            <a:custGeom>
              <a:avLst/>
              <a:gdLst>
                <a:gd name="T0" fmla="*/ 29 w 34"/>
                <a:gd name="T1" fmla="*/ 4 h 62"/>
                <a:gd name="T2" fmla="*/ 24 w 34"/>
                <a:gd name="T3" fmla="*/ 0 h 62"/>
                <a:gd name="T4" fmla="*/ 5 w 34"/>
                <a:gd name="T5" fmla="*/ 0 h 62"/>
                <a:gd name="T6" fmla="*/ 0 w 34"/>
                <a:gd name="T7" fmla="*/ 3 h 62"/>
                <a:gd name="T8" fmla="*/ 1 w 34"/>
                <a:gd name="T9" fmla="*/ 6 h 62"/>
                <a:gd name="T10" fmla="*/ 3 w 34"/>
                <a:gd name="T11" fmla="*/ 16 h 62"/>
                <a:gd name="T12" fmla="*/ 5 w 34"/>
                <a:gd name="T13" fmla="*/ 4 h 62"/>
                <a:gd name="T14" fmla="*/ 12 w 34"/>
                <a:gd name="T15" fmla="*/ 4 h 62"/>
                <a:gd name="T16" fmla="*/ 12 w 34"/>
                <a:gd name="T17" fmla="*/ 19 h 62"/>
                <a:gd name="T18" fmla="*/ 14 w 34"/>
                <a:gd name="T19" fmla="*/ 21 h 62"/>
                <a:gd name="T20" fmla="*/ 17 w 34"/>
                <a:gd name="T21" fmla="*/ 19 h 62"/>
                <a:gd name="T22" fmla="*/ 17 w 34"/>
                <a:gd name="T23" fmla="*/ 4 h 62"/>
                <a:gd name="T24" fmla="*/ 24 w 34"/>
                <a:gd name="T25" fmla="*/ 4 h 62"/>
                <a:gd name="T26" fmla="*/ 29 w 34"/>
                <a:gd name="T27" fmla="*/ 31 h 62"/>
                <a:gd name="T28" fmla="*/ 21 w 34"/>
                <a:gd name="T29" fmla="*/ 31 h 62"/>
                <a:gd name="T30" fmla="*/ 19 w 34"/>
                <a:gd name="T31" fmla="*/ 57 h 62"/>
                <a:gd name="T32" fmla="*/ 9 w 34"/>
                <a:gd name="T33" fmla="*/ 57 h 62"/>
                <a:gd name="T34" fmla="*/ 7 w 34"/>
                <a:gd name="T35" fmla="*/ 44 h 62"/>
                <a:gd name="T36" fmla="*/ 3 w 34"/>
                <a:gd name="T37" fmla="*/ 50 h 62"/>
                <a:gd name="T38" fmla="*/ 5 w 34"/>
                <a:gd name="T39" fmla="*/ 58 h 62"/>
                <a:gd name="T40" fmla="*/ 9 w 34"/>
                <a:gd name="T41" fmla="*/ 62 h 62"/>
                <a:gd name="T42" fmla="*/ 19 w 34"/>
                <a:gd name="T43" fmla="*/ 62 h 62"/>
                <a:gd name="T44" fmla="*/ 24 w 34"/>
                <a:gd name="T45" fmla="*/ 58 h 62"/>
                <a:gd name="T46" fmla="*/ 26 w 34"/>
                <a:gd name="T47" fmla="*/ 36 h 62"/>
                <a:gd name="T48" fmla="*/ 29 w 34"/>
                <a:gd name="T49" fmla="*/ 36 h 62"/>
                <a:gd name="T50" fmla="*/ 32 w 34"/>
                <a:gd name="T51" fmla="*/ 34 h 62"/>
                <a:gd name="T52" fmla="*/ 33 w 34"/>
                <a:gd name="T53" fmla="*/ 30 h 62"/>
                <a:gd name="T54" fmla="*/ 29 w 34"/>
                <a:gd name="T55" fmla="*/ 4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4" h="62">
                  <a:moveTo>
                    <a:pt x="29" y="4"/>
                  </a:moveTo>
                  <a:cubicBezTo>
                    <a:pt x="28" y="1"/>
                    <a:pt x="26" y="0"/>
                    <a:pt x="2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1" y="1"/>
                    <a:pt x="0" y="3"/>
                  </a:cubicBezTo>
                  <a:cubicBezTo>
                    <a:pt x="0" y="4"/>
                    <a:pt x="1" y="5"/>
                    <a:pt x="1" y="6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20"/>
                    <a:pt x="13" y="21"/>
                    <a:pt x="14" y="21"/>
                  </a:cubicBezTo>
                  <a:cubicBezTo>
                    <a:pt x="16" y="21"/>
                    <a:pt x="17" y="20"/>
                    <a:pt x="17" y="19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1" y="31"/>
                    <a:pt x="21" y="31"/>
                    <a:pt x="21" y="31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3" y="50"/>
                    <a:pt x="3" y="50"/>
                    <a:pt x="3" y="50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60"/>
                    <a:pt x="7" y="62"/>
                    <a:pt x="9" y="62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22" y="62"/>
                    <a:pt x="24" y="60"/>
                    <a:pt x="24" y="58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0" y="36"/>
                    <a:pt x="31" y="35"/>
                    <a:pt x="32" y="34"/>
                  </a:cubicBezTo>
                  <a:cubicBezTo>
                    <a:pt x="33" y="33"/>
                    <a:pt x="34" y="31"/>
                    <a:pt x="33" y="30"/>
                  </a:cubicBezTo>
                  <a:lnTo>
                    <a:pt x="29" y="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9" name="稻壳儿搜索【幻雨工作室】_15">
              <a:extLst>
                <a:ext uri="{FF2B5EF4-FFF2-40B4-BE49-F238E27FC236}">
                  <a16:creationId xmlns:a16="http://schemas.microsoft.com/office/drawing/2014/main" id="{0DD5B421-752C-44AC-B1BD-B42EA5458B6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93524" y="7334515"/>
              <a:ext cx="132355" cy="134302"/>
            </a:xfrm>
            <a:custGeom>
              <a:avLst/>
              <a:gdLst>
                <a:gd name="T0" fmla="*/ 15 w 29"/>
                <a:gd name="T1" fmla="*/ 29 h 29"/>
                <a:gd name="T2" fmla="*/ 29 w 29"/>
                <a:gd name="T3" fmla="*/ 14 h 29"/>
                <a:gd name="T4" fmla="*/ 15 w 29"/>
                <a:gd name="T5" fmla="*/ 0 h 29"/>
                <a:gd name="T6" fmla="*/ 0 w 29"/>
                <a:gd name="T7" fmla="*/ 14 h 29"/>
                <a:gd name="T8" fmla="*/ 15 w 29"/>
                <a:gd name="T9" fmla="*/ 29 h 29"/>
                <a:gd name="T10" fmla="*/ 15 w 29"/>
                <a:gd name="T11" fmla="*/ 5 h 29"/>
                <a:gd name="T12" fmla="*/ 24 w 29"/>
                <a:gd name="T13" fmla="*/ 14 h 29"/>
                <a:gd name="T14" fmla="*/ 15 w 29"/>
                <a:gd name="T15" fmla="*/ 24 h 29"/>
                <a:gd name="T16" fmla="*/ 5 w 29"/>
                <a:gd name="T17" fmla="*/ 14 h 29"/>
                <a:gd name="T18" fmla="*/ 15 w 29"/>
                <a:gd name="T19" fmla="*/ 5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29">
                  <a:moveTo>
                    <a:pt x="15" y="29"/>
                  </a:moveTo>
                  <a:cubicBezTo>
                    <a:pt x="23" y="29"/>
                    <a:pt x="29" y="22"/>
                    <a:pt x="29" y="14"/>
                  </a:cubicBezTo>
                  <a:cubicBezTo>
                    <a:pt x="29" y="6"/>
                    <a:pt x="23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22"/>
                    <a:pt x="7" y="29"/>
                    <a:pt x="15" y="29"/>
                  </a:cubicBezTo>
                  <a:close/>
                  <a:moveTo>
                    <a:pt x="15" y="5"/>
                  </a:moveTo>
                  <a:cubicBezTo>
                    <a:pt x="20" y="5"/>
                    <a:pt x="24" y="9"/>
                    <a:pt x="24" y="14"/>
                  </a:cubicBezTo>
                  <a:cubicBezTo>
                    <a:pt x="24" y="20"/>
                    <a:pt x="20" y="24"/>
                    <a:pt x="15" y="24"/>
                  </a:cubicBezTo>
                  <a:cubicBezTo>
                    <a:pt x="10" y="24"/>
                    <a:pt x="5" y="20"/>
                    <a:pt x="5" y="14"/>
                  </a:cubicBezTo>
                  <a:cubicBezTo>
                    <a:pt x="5" y="9"/>
                    <a:pt x="10" y="5"/>
                    <a:pt x="15" y="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20" name="稻壳儿搜索【幻雨工作室】_16">
              <a:extLst>
                <a:ext uri="{FF2B5EF4-FFF2-40B4-BE49-F238E27FC236}">
                  <a16:creationId xmlns:a16="http://schemas.microsoft.com/office/drawing/2014/main" id="{54079CB0-97F8-4E96-9540-D5126A1465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0167" y="7490228"/>
              <a:ext cx="155712" cy="286121"/>
            </a:xfrm>
            <a:custGeom>
              <a:avLst/>
              <a:gdLst>
                <a:gd name="T0" fmla="*/ 20 w 34"/>
                <a:gd name="T1" fmla="*/ 21 h 62"/>
                <a:gd name="T2" fmla="*/ 22 w 34"/>
                <a:gd name="T3" fmla="*/ 19 h 62"/>
                <a:gd name="T4" fmla="*/ 22 w 34"/>
                <a:gd name="T5" fmla="*/ 4 h 62"/>
                <a:gd name="T6" fmla="*/ 29 w 34"/>
                <a:gd name="T7" fmla="*/ 4 h 62"/>
                <a:gd name="T8" fmla="*/ 31 w 34"/>
                <a:gd name="T9" fmla="*/ 16 h 62"/>
                <a:gd name="T10" fmla="*/ 33 w 34"/>
                <a:gd name="T11" fmla="*/ 6 h 62"/>
                <a:gd name="T12" fmla="*/ 34 w 34"/>
                <a:gd name="T13" fmla="*/ 3 h 62"/>
                <a:gd name="T14" fmla="*/ 29 w 34"/>
                <a:gd name="T15" fmla="*/ 0 h 62"/>
                <a:gd name="T16" fmla="*/ 10 w 34"/>
                <a:gd name="T17" fmla="*/ 0 h 62"/>
                <a:gd name="T18" fmla="*/ 5 w 34"/>
                <a:gd name="T19" fmla="*/ 4 h 62"/>
                <a:gd name="T20" fmla="*/ 1 w 34"/>
                <a:gd name="T21" fmla="*/ 30 h 62"/>
                <a:gd name="T22" fmla="*/ 2 w 34"/>
                <a:gd name="T23" fmla="*/ 34 h 62"/>
                <a:gd name="T24" fmla="*/ 5 w 34"/>
                <a:gd name="T25" fmla="*/ 36 h 62"/>
                <a:gd name="T26" fmla="*/ 8 w 34"/>
                <a:gd name="T27" fmla="*/ 36 h 62"/>
                <a:gd name="T28" fmla="*/ 10 w 34"/>
                <a:gd name="T29" fmla="*/ 58 h 62"/>
                <a:gd name="T30" fmla="*/ 15 w 34"/>
                <a:gd name="T31" fmla="*/ 62 h 62"/>
                <a:gd name="T32" fmla="*/ 25 w 34"/>
                <a:gd name="T33" fmla="*/ 62 h 62"/>
                <a:gd name="T34" fmla="*/ 29 w 34"/>
                <a:gd name="T35" fmla="*/ 58 h 62"/>
                <a:gd name="T36" fmla="*/ 31 w 34"/>
                <a:gd name="T37" fmla="*/ 50 h 62"/>
                <a:gd name="T38" fmla="*/ 27 w 34"/>
                <a:gd name="T39" fmla="*/ 44 h 62"/>
                <a:gd name="T40" fmla="*/ 25 w 34"/>
                <a:gd name="T41" fmla="*/ 57 h 62"/>
                <a:gd name="T42" fmla="*/ 15 w 34"/>
                <a:gd name="T43" fmla="*/ 57 h 62"/>
                <a:gd name="T44" fmla="*/ 13 w 34"/>
                <a:gd name="T45" fmla="*/ 31 h 62"/>
                <a:gd name="T46" fmla="*/ 5 w 34"/>
                <a:gd name="T47" fmla="*/ 31 h 62"/>
                <a:gd name="T48" fmla="*/ 10 w 34"/>
                <a:gd name="T49" fmla="*/ 4 h 62"/>
                <a:gd name="T50" fmla="*/ 17 w 34"/>
                <a:gd name="T51" fmla="*/ 4 h 62"/>
                <a:gd name="T52" fmla="*/ 17 w 34"/>
                <a:gd name="T53" fmla="*/ 19 h 62"/>
                <a:gd name="T54" fmla="*/ 20 w 34"/>
                <a:gd name="T55" fmla="*/ 21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4" h="62">
                  <a:moveTo>
                    <a:pt x="20" y="21"/>
                  </a:moveTo>
                  <a:cubicBezTo>
                    <a:pt x="21" y="21"/>
                    <a:pt x="22" y="20"/>
                    <a:pt x="22" y="19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3" y="6"/>
                    <a:pt x="33" y="6"/>
                    <a:pt x="33" y="6"/>
                  </a:cubicBezTo>
                  <a:cubicBezTo>
                    <a:pt x="33" y="5"/>
                    <a:pt x="34" y="4"/>
                    <a:pt x="34" y="3"/>
                  </a:cubicBezTo>
                  <a:cubicBezTo>
                    <a:pt x="33" y="1"/>
                    <a:pt x="32" y="0"/>
                    <a:pt x="29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8" y="0"/>
                    <a:pt x="6" y="1"/>
                    <a:pt x="5" y="4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31"/>
                    <a:pt x="1" y="33"/>
                    <a:pt x="2" y="34"/>
                  </a:cubicBezTo>
                  <a:cubicBezTo>
                    <a:pt x="3" y="35"/>
                    <a:pt x="4" y="36"/>
                    <a:pt x="5" y="36"/>
                  </a:cubicBezTo>
                  <a:cubicBezTo>
                    <a:pt x="8" y="36"/>
                    <a:pt x="8" y="36"/>
                    <a:pt x="8" y="36"/>
                  </a:cubicBezTo>
                  <a:cubicBezTo>
                    <a:pt x="10" y="58"/>
                    <a:pt x="10" y="58"/>
                    <a:pt x="10" y="58"/>
                  </a:cubicBezTo>
                  <a:cubicBezTo>
                    <a:pt x="10" y="60"/>
                    <a:pt x="12" y="62"/>
                    <a:pt x="15" y="62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27" y="62"/>
                    <a:pt x="29" y="60"/>
                    <a:pt x="29" y="58"/>
                  </a:cubicBezTo>
                  <a:cubicBezTo>
                    <a:pt x="31" y="50"/>
                    <a:pt x="31" y="50"/>
                    <a:pt x="31" y="50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5" y="31"/>
                    <a:pt x="5" y="31"/>
                    <a:pt x="5" y="31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20"/>
                    <a:pt x="18" y="21"/>
                    <a:pt x="20" y="2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21" name="稻壳儿原创设计师【幻雨工作室】_13">
            <a:extLst>
              <a:ext uri="{FF2B5EF4-FFF2-40B4-BE49-F238E27FC236}">
                <a16:creationId xmlns:a16="http://schemas.microsoft.com/office/drawing/2014/main" id="{C6A68E01-3BCC-49A3-B19A-20C947DD71B8}"/>
              </a:ext>
            </a:extLst>
          </p:cNvPr>
          <p:cNvGrpSpPr/>
          <p:nvPr/>
        </p:nvGrpSpPr>
        <p:grpSpPr>
          <a:xfrm>
            <a:off x="9716934" y="2482624"/>
            <a:ext cx="879070" cy="879068"/>
            <a:chOff x="7066209" y="7316024"/>
            <a:chExt cx="562511" cy="562510"/>
          </a:xfrm>
        </p:grpSpPr>
        <p:sp>
          <p:nvSpPr>
            <p:cNvPr id="22" name="稻壳儿搜索【幻雨工作室】_17">
              <a:extLst>
                <a:ext uri="{FF2B5EF4-FFF2-40B4-BE49-F238E27FC236}">
                  <a16:creationId xmlns:a16="http://schemas.microsoft.com/office/drawing/2014/main" id="{2553FF6E-F8BD-4140-927E-9FBF63ABD7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66209" y="7316024"/>
              <a:ext cx="562511" cy="562510"/>
            </a:xfrm>
            <a:custGeom>
              <a:avLst/>
              <a:gdLst>
                <a:gd name="T0" fmla="*/ 114 w 122"/>
                <a:gd name="T1" fmla="*/ 8 h 122"/>
                <a:gd name="T2" fmla="*/ 84 w 122"/>
                <a:gd name="T3" fmla="*/ 8 h 122"/>
                <a:gd name="T4" fmla="*/ 46 w 122"/>
                <a:gd name="T5" fmla="*/ 47 h 122"/>
                <a:gd name="T6" fmla="*/ 46 w 122"/>
                <a:gd name="T7" fmla="*/ 55 h 122"/>
                <a:gd name="T8" fmla="*/ 12 w 122"/>
                <a:gd name="T9" fmla="*/ 89 h 122"/>
                <a:gd name="T10" fmla="*/ 6 w 122"/>
                <a:gd name="T11" fmla="*/ 112 h 122"/>
                <a:gd name="T12" fmla="*/ 1 w 122"/>
                <a:gd name="T13" fmla="*/ 117 h 122"/>
                <a:gd name="T14" fmla="*/ 1 w 122"/>
                <a:gd name="T15" fmla="*/ 121 h 122"/>
                <a:gd name="T16" fmla="*/ 5 w 122"/>
                <a:gd name="T17" fmla="*/ 121 h 122"/>
                <a:gd name="T18" fmla="*/ 10 w 122"/>
                <a:gd name="T19" fmla="*/ 116 h 122"/>
                <a:gd name="T20" fmla="*/ 33 w 122"/>
                <a:gd name="T21" fmla="*/ 110 h 122"/>
                <a:gd name="T22" fmla="*/ 67 w 122"/>
                <a:gd name="T23" fmla="*/ 76 h 122"/>
                <a:gd name="T24" fmla="*/ 75 w 122"/>
                <a:gd name="T25" fmla="*/ 76 h 122"/>
                <a:gd name="T26" fmla="*/ 114 w 122"/>
                <a:gd name="T27" fmla="*/ 38 h 122"/>
                <a:gd name="T28" fmla="*/ 114 w 122"/>
                <a:gd name="T29" fmla="*/ 8 h 122"/>
                <a:gd name="T30" fmla="*/ 29 w 122"/>
                <a:gd name="T31" fmla="*/ 106 h 122"/>
                <a:gd name="T32" fmla="*/ 12 w 122"/>
                <a:gd name="T33" fmla="*/ 110 h 122"/>
                <a:gd name="T34" fmla="*/ 16 w 122"/>
                <a:gd name="T35" fmla="*/ 93 h 122"/>
                <a:gd name="T36" fmla="*/ 50 w 122"/>
                <a:gd name="T37" fmla="*/ 59 h 122"/>
                <a:gd name="T38" fmla="*/ 63 w 122"/>
                <a:gd name="T39" fmla="*/ 72 h 122"/>
                <a:gd name="T40" fmla="*/ 29 w 122"/>
                <a:gd name="T41" fmla="*/ 106 h 122"/>
                <a:gd name="T42" fmla="*/ 71 w 122"/>
                <a:gd name="T43" fmla="*/ 72 h 122"/>
                <a:gd name="T44" fmla="*/ 50 w 122"/>
                <a:gd name="T45" fmla="*/ 51 h 122"/>
                <a:gd name="T46" fmla="*/ 88 w 122"/>
                <a:gd name="T47" fmla="*/ 12 h 122"/>
                <a:gd name="T48" fmla="*/ 110 w 122"/>
                <a:gd name="T49" fmla="*/ 12 h 122"/>
                <a:gd name="T50" fmla="*/ 110 w 122"/>
                <a:gd name="T51" fmla="*/ 34 h 122"/>
                <a:gd name="T52" fmla="*/ 71 w 122"/>
                <a:gd name="T53" fmla="*/ 72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22" h="122">
                  <a:moveTo>
                    <a:pt x="114" y="8"/>
                  </a:moveTo>
                  <a:cubicBezTo>
                    <a:pt x="106" y="0"/>
                    <a:pt x="92" y="0"/>
                    <a:pt x="84" y="8"/>
                  </a:cubicBezTo>
                  <a:cubicBezTo>
                    <a:pt x="46" y="47"/>
                    <a:pt x="46" y="47"/>
                    <a:pt x="46" y="47"/>
                  </a:cubicBezTo>
                  <a:cubicBezTo>
                    <a:pt x="43" y="49"/>
                    <a:pt x="43" y="53"/>
                    <a:pt x="46" y="55"/>
                  </a:cubicBezTo>
                  <a:cubicBezTo>
                    <a:pt x="12" y="89"/>
                    <a:pt x="12" y="89"/>
                    <a:pt x="12" y="89"/>
                  </a:cubicBezTo>
                  <a:cubicBezTo>
                    <a:pt x="6" y="94"/>
                    <a:pt x="2" y="106"/>
                    <a:pt x="6" y="112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18"/>
                    <a:pt x="0" y="120"/>
                    <a:pt x="1" y="121"/>
                  </a:cubicBezTo>
                  <a:cubicBezTo>
                    <a:pt x="2" y="122"/>
                    <a:pt x="4" y="122"/>
                    <a:pt x="5" y="121"/>
                  </a:cubicBezTo>
                  <a:cubicBezTo>
                    <a:pt x="10" y="116"/>
                    <a:pt x="10" y="116"/>
                    <a:pt x="10" y="116"/>
                  </a:cubicBezTo>
                  <a:cubicBezTo>
                    <a:pt x="16" y="120"/>
                    <a:pt x="28" y="116"/>
                    <a:pt x="33" y="110"/>
                  </a:cubicBezTo>
                  <a:cubicBezTo>
                    <a:pt x="67" y="76"/>
                    <a:pt x="67" y="76"/>
                    <a:pt x="67" y="76"/>
                  </a:cubicBezTo>
                  <a:cubicBezTo>
                    <a:pt x="69" y="79"/>
                    <a:pt x="73" y="79"/>
                    <a:pt x="75" y="76"/>
                  </a:cubicBezTo>
                  <a:cubicBezTo>
                    <a:pt x="114" y="38"/>
                    <a:pt x="114" y="38"/>
                    <a:pt x="114" y="38"/>
                  </a:cubicBezTo>
                  <a:cubicBezTo>
                    <a:pt x="122" y="30"/>
                    <a:pt x="122" y="16"/>
                    <a:pt x="114" y="8"/>
                  </a:cubicBezTo>
                  <a:close/>
                  <a:moveTo>
                    <a:pt x="29" y="106"/>
                  </a:moveTo>
                  <a:cubicBezTo>
                    <a:pt x="25" y="110"/>
                    <a:pt x="15" y="114"/>
                    <a:pt x="12" y="110"/>
                  </a:cubicBezTo>
                  <a:cubicBezTo>
                    <a:pt x="8" y="107"/>
                    <a:pt x="12" y="97"/>
                    <a:pt x="16" y="93"/>
                  </a:cubicBezTo>
                  <a:cubicBezTo>
                    <a:pt x="50" y="59"/>
                    <a:pt x="50" y="59"/>
                    <a:pt x="50" y="59"/>
                  </a:cubicBezTo>
                  <a:cubicBezTo>
                    <a:pt x="63" y="72"/>
                    <a:pt x="63" y="72"/>
                    <a:pt x="63" y="72"/>
                  </a:cubicBezTo>
                  <a:lnTo>
                    <a:pt x="29" y="106"/>
                  </a:lnTo>
                  <a:close/>
                  <a:moveTo>
                    <a:pt x="71" y="72"/>
                  </a:moveTo>
                  <a:cubicBezTo>
                    <a:pt x="50" y="51"/>
                    <a:pt x="50" y="51"/>
                    <a:pt x="50" y="51"/>
                  </a:cubicBezTo>
                  <a:cubicBezTo>
                    <a:pt x="88" y="12"/>
                    <a:pt x="88" y="12"/>
                    <a:pt x="88" y="12"/>
                  </a:cubicBezTo>
                  <a:cubicBezTo>
                    <a:pt x="94" y="7"/>
                    <a:pt x="104" y="7"/>
                    <a:pt x="110" y="12"/>
                  </a:cubicBezTo>
                  <a:cubicBezTo>
                    <a:pt x="115" y="18"/>
                    <a:pt x="115" y="28"/>
                    <a:pt x="110" y="34"/>
                  </a:cubicBezTo>
                  <a:lnTo>
                    <a:pt x="71" y="7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23" name="稻壳儿搜索【幻雨工作室】_18">
              <a:extLst>
                <a:ext uri="{FF2B5EF4-FFF2-40B4-BE49-F238E27FC236}">
                  <a16:creationId xmlns:a16="http://schemas.microsoft.com/office/drawing/2014/main" id="{E6A6966D-74EF-4F91-B6E8-1516486F9EC5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9918" y="7522343"/>
              <a:ext cx="175176" cy="181016"/>
            </a:xfrm>
            <a:custGeom>
              <a:avLst/>
              <a:gdLst>
                <a:gd name="T0" fmla="*/ 37 w 38"/>
                <a:gd name="T1" fmla="*/ 2 h 39"/>
                <a:gd name="T2" fmla="*/ 33 w 38"/>
                <a:gd name="T3" fmla="*/ 2 h 39"/>
                <a:gd name="T4" fmla="*/ 1 w 38"/>
                <a:gd name="T5" fmla="*/ 33 h 39"/>
                <a:gd name="T6" fmla="*/ 1 w 38"/>
                <a:gd name="T7" fmla="*/ 38 h 39"/>
                <a:gd name="T8" fmla="*/ 5 w 38"/>
                <a:gd name="T9" fmla="*/ 38 h 39"/>
                <a:gd name="T10" fmla="*/ 37 w 38"/>
                <a:gd name="T11" fmla="*/ 6 h 39"/>
                <a:gd name="T12" fmla="*/ 37 w 38"/>
                <a:gd name="T13" fmla="*/ 2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" h="39">
                  <a:moveTo>
                    <a:pt x="37" y="2"/>
                  </a:moveTo>
                  <a:cubicBezTo>
                    <a:pt x="36" y="0"/>
                    <a:pt x="34" y="0"/>
                    <a:pt x="33" y="2"/>
                  </a:cubicBezTo>
                  <a:cubicBezTo>
                    <a:pt x="1" y="33"/>
                    <a:pt x="1" y="33"/>
                    <a:pt x="1" y="33"/>
                  </a:cubicBezTo>
                  <a:cubicBezTo>
                    <a:pt x="0" y="35"/>
                    <a:pt x="0" y="37"/>
                    <a:pt x="1" y="38"/>
                  </a:cubicBezTo>
                  <a:cubicBezTo>
                    <a:pt x="2" y="39"/>
                    <a:pt x="4" y="39"/>
                    <a:pt x="5" y="38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8" y="5"/>
                    <a:pt x="38" y="3"/>
                    <a:pt x="37" y="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25" name="稻壳儿原创设计师【幻雨工作室】_14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852FEF01-552D-4B71-8507-92F1C6FD26FF}"/>
              </a:ext>
            </a:extLst>
          </p:cNvPr>
          <p:cNvSpPr/>
          <p:nvPr/>
        </p:nvSpPr>
        <p:spPr>
          <a:xfrm>
            <a:off x="6396254" y="4087598"/>
            <a:ext cx="207514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稻壳儿原创设计师【幻雨工作室】_15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4F90B39B-18A7-452C-9603-41000CAD03EB}"/>
              </a:ext>
            </a:extLst>
          </p:cNvPr>
          <p:cNvSpPr/>
          <p:nvPr/>
        </p:nvSpPr>
        <p:spPr>
          <a:xfrm>
            <a:off x="1072677" y="4087598"/>
            <a:ext cx="207514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稻壳儿原创设计师【幻雨工作室】_16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39DF019B-8490-41E4-A4F4-61B3C2E7D1E3}"/>
              </a:ext>
            </a:extLst>
          </p:cNvPr>
          <p:cNvSpPr/>
          <p:nvPr/>
        </p:nvSpPr>
        <p:spPr>
          <a:xfrm>
            <a:off x="9115064" y="4087598"/>
            <a:ext cx="207514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4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80721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稻壳儿原创设计师【幻雨工作室】_5">
            <a:extLst>
              <a:ext uri="{FF2B5EF4-FFF2-40B4-BE49-F238E27FC236}">
                <a16:creationId xmlns:a16="http://schemas.microsoft.com/office/drawing/2014/main" id="{9B54E570-542E-449D-ACBA-32F3A3FC8033}"/>
              </a:ext>
            </a:extLst>
          </p:cNvPr>
          <p:cNvSpPr txBox="1"/>
          <p:nvPr/>
        </p:nvSpPr>
        <p:spPr>
          <a:xfrm>
            <a:off x="809608" y="716508"/>
            <a:ext cx="54264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风险机会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Signals</a:t>
            </a:r>
          </a:p>
        </p:txBody>
      </p:sp>
      <p:sp>
        <p:nvSpPr>
          <p:cNvPr id="4" name="稻壳儿原创设计师【幻雨工作室】_4">
            <a:extLst>
              <a:ext uri="{FF2B5EF4-FFF2-40B4-BE49-F238E27FC236}">
                <a16:creationId xmlns:a16="http://schemas.microsoft.com/office/drawing/2014/main" id="{3080B17D-7B9E-4E74-8486-2A34C0687BB3}"/>
              </a:ext>
            </a:extLst>
          </p:cNvPr>
          <p:cNvSpPr/>
          <p:nvPr/>
        </p:nvSpPr>
        <p:spPr>
          <a:xfrm>
            <a:off x="1374662" y="2231646"/>
            <a:ext cx="1236453" cy="1236453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稻壳儿原创设计师【幻雨工作室】_5">
            <a:extLst>
              <a:ext uri="{FF2B5EF4-FFF2-40B4-BE49-F238E27FC236}">
                <a16:creationId xmlns:a16="http://schemas.microsoft.com/office/drawing/2014/main" id="{BA49B73B-B32A-477B-9EEA-6660F6A8B181}"/>
              </a:ext>
            </a:extLst>
          </p:cNvPr>
          <p:cNvSpPr/>
          <p:nvPr/>
        </p:nvSpPr>
        <p:spPr>
          <a:xfrm>
            <a:off x="6670553" y="2231646"/>
            <a:ext cx="1236453" cy="1236453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稻壳儿原创设计师【幻雨工作室】_6">
            <a:extLst>
              <a:ext uri="{FF2B5EF4-FFF2-40B4-BE49-F238E27FC236}">
                <a16:creationId xmlns:a16="http://schemas.microsoft.com/office/drawing/2014/main" id="{7303DF73-D386-4535-AADC-993B5E70333F}"/>
              </a:ext>
            </a:extLst>
          </p:cNvPr>
          <p:cNvSpPr/>
          <p:nvPr/>
        </p:nvSpPr>
        <p:spPr>
          <a:xfrm>
            <a:off x="1374662" y="4690174"/>
            <a:ext cx="1236453" cy="1236453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稻壳儿原创设计师【幻雨工作室】_7">
            <a:extLst>
              <a:ext uri="{FF2B5EF4-FFF2-40B4-BE49-F238E27FC236}">
                <a16:creationId xmlns:a16="http://schemas.microsoft.com/office/drawing/2014/main" id="{757AF709-70DE-4CF9-B3CF-44F17B540D7F}"/>
              </a:ext>
            </a:extLst>
          </p:cNvPr>
          <p:cNvSpPr/>
          <p:nvPr/>
        </p:nvSpPr>
        <p:spPr>
          <a:xfrm>
            <a:off x="6670553" y="4690174"/>
            <a:ext cx="1236453" cy="1236453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稻壳儿原创设计师【幻雨工作室】_8">
            <a:extLst>
              <a:ext uri="{FF2B5EF4-FFF2-40B4-BE49-F238E27FC236}">
                <a16:creationId xmlns:a16="http://schemas.microsoft.com/office/drawing/2014/main" id="{6AF91386-7442-4C8B-9CC3-7C1BEADCA927}"/>
              </a:ext>
            </a:extLst>
          </p:cNvPr>
          <p:cNvSpPr txBox="1">
            <a:spLocks/>
          </p:cNvSpPr>
          <p:nvPr/>
        </p:nvSpPr>
        <p:spPr>
          <a:xfrm>
            <a:off x="1704200" y="2582158"/>
            <a:ext cx="577377" cy="535430"/>
          </a:xfrm>
          <a:prstGeom prst="rect">
            <a:avLst/>
          </a:prstGeom>
          <a:ln>
            <a:noFill/>
          </a:ln>
        </p:spPr>
        <p:txBody>
          <a:bodyPr lIns="68580" tIns="34290" rIns="68580" bIns="3429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500" b="1" i="0" kern="1200" cap="all">
                <a:solidFill>
                  <a:schemeClr val="accent2"/>
                </a:solidFill>
                <a:latin typeface="Lato Black" charset="0"/>
                <a:ea typeface="Lato Black" charset="0"/>
                <a:cs typeface="Lato Black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500" dirty="0">
                <a:solidFill>
                  <a:schemeClr val="bg1"/>
                </a:solidFill>
                <a:latin typeface="Arial" panose="020B0604020202020204" pitchFamily="34" charset="0"/>
                <a:ea typeface="FontAwesome"/>
                <a:cs typeface="Arial" panose="020B0604020202020204" pitchFamily="34" charset="0"/>
                <a:sym typeface="FontAwesome"/>
              </a:rPr>
              <a:t>1</a:t>
            </a:r>
            <a:endParaRPr lang="es-ES_tradnl" sz="3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稻壳儿原创设计师【幻雨工作室】_9">
            <a:extLst>
              <a:ext uri="{FF2B5EF4-FFF2-40B4-BE49-F238E27FC236}">
                <a16:creationId xmlns:a16="http://schemas.microsoft.com/office/drawing/2014/main" id="{1009BF9B-5760-4926-A266-E432DE247AD3}"/>
              </a:ext>
            </a:extLst>
          </p:cNvPr>
          <p:cNvSpPr txBox="1">
            <a:spLocks/>
          </p:cNvSpPr>
          <p:nvPr/>
        </p:nvSpPr>
        <p:spPr>
          <a:xfrm>
            <a:off x="7000091" y="2582158"/>
            <a:ext cx="577377" cy="535430"/>
          </a:xfrm>
          <a:prstGeom prst="rect">
            <a:avLst/>
          </a:prstGeom>
          <a:ln>
            <a:noFill/>
          </a:ln>
        </p:spPr>
        <p:txBody>
          <a:bodyPr lIns="68580" tIns="34290" rIns="68580" bIns="3429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500" b="1" i="0" kern="1200" cap="all">
                <a:solidFill>
                  <a:schemeClr val="accent2"/>
                </a:solidFill>
                <a:latin typeface="Lato Black" charset="0"/>
                <a:ea typeface="Lato Black" charset="0"/>
                <a:cs typeface="Lato Black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500" dirty="0">
                <a:solidFill>
                  <a:schemeClr val="bg1"/>
                </a:solidFill>
                <a:latin typeface="Arial" panose="020B0604020202020204" pitchFamily="34" charset="0"/>
                <a:ea typeface="FontAwesome"/>
                <a:cs typeface="Arial" panose="020B0604020202020204" pitchFamily="34" charset="0"/>
                <a:sym typeface="FontAwesome"/>
              </a:rPr>
              <a:t>2</a:t>
            </a:r>
            <a:endParaRPr lang="es-ES_tradnl" sz="3500" dirty="0">
              <a:solidFill>
                <a:schemeClr val="bg1"/>
              </a:solidFill>
              <a:latin typeface="Arial" panose="020B0604020202020204" pitchFamily="34" charset="0"/>
              <a:ea typeface="FontAwesome"/>
              <a:cs typeface="Arial" panose="020B0604020202020204" pitchFamily="34" charset="0"/>
            </a:endParaRPr>
          </a:p>
        </p:txBody>
      </p:sp>
      <p:sp>
        <p:nvSpPr>
          <p:cNvPr id="10" name="稻壳儿原创设计师【幻雨工作室】_10">
            <a:extLst>
              <a:ext uri="{FF2B5EF4-FFF2-40B4-BE49-F238E27FC236}">
                <a16:creationId xmlns:a16="http://schemas.microsoft.com/office/drawing/2014/main" id="{D40FD20E-1B71-4F57-A46A-73AE4FB82506}"/>
              </a:ext>
            </a:extLst>
          </p:cNvPr>
          <p:cNvSpPr txBox="1">
            <a:spLocks/>
          </p:cNvSpPr>
          <p:nvPr/>
        </p:nvSpPr>
        <p:spPr>
          <a:xfrm>
            <a:off x="1704200" y="5040686"/>
            <a:ext cx="577377" cy="535430"/>
          </a:xfrm>
          <a:prstGeom prst="rect">
            <a:avLst/>
          </a:prstGeom>
          <a:ln>
            <a:noFill/>
          </a:ln>
        </p:spPr>
        <p:txBody>
          <a:bodyPr lIns="68580" tIns="34290" rIns="68580" bIns="3429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500" b="1" i="0" kern="1200" cap="all">
                <a:solidFill>
                  <a:schemeClr val="accent2"/>
                </a:solidFill>
                <a:latin typeface="Lato Black" charset="0"/>
                <a:ea typeface="Lato Black" charset="0"/>
                <a:cs typeface="Lato Black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500" dirty="0">
                <a:solidFill>
                  <a:schemeClr val="bg1"/>
                </a:solidFill>
                <a:latin typeface="Arial" panose="020B0604020202020204" pitchFamily="34" charset="0"/>
                <a:ea typeface="FontAwesome"/>
                <a:cs typeface="Arial" panose="020B0604020202020204" pitchFamily="34" charset="0"/>
                <a:sym typeface="FontAwesome"/>
              </a:rPr>
              <a:t>3</a:t>
            </a:r>
            <a:endParaRPr lang="es-ES_tradnl" sz="3500" dirty="0">
              <a:solidFill>
                <a:schemeClr val="bg1"/>
              </a:solidFill>
              <a:latin typeface="Arial" panose="020B0604020202020204" pitchFamily="34" charset="0"/>
              <a:ea typeface="FontAwesome"/>
              <a:cs typeface="Arial" panose="020B0604020202020204" pitchFamily="34" charset="0"/>
            </a:endParaRPr>
          </a:p>
        </p:txBody>
      </p:sp>
      <p:sp>
        <p:nvSpPr>
          <p:cNvPr id="11" name="稻壳儿原创设计师【幻雨工作室】_11">
            <a:extLst>
              <a:ext uri="{FF2B5EF4-FFF2-40B4-BE49-F238E27FC236}">
                <a16:creationId xmlns:a16="http://schemas.microsoft.com/office/drawing/2014/main" id="{78BD647D-AC47-4B4B-87E7-A7D92F6621AE}"/>
              </a:ext>
            </a:extLst>
          </p:cNvPr>
          <p:cNvSpPr txBox="1">
            <a:spLocks/>
          </p:cNvSpPr>
          <p:nvPr/>
        </p:nvSpPr>
        <p:spPr>
          <a:xfrm>
            <a:off x="7000091" y="5040686"/>
            <a:ext cx="577377" cy="535430"/>
          </a:xfrm>
          <a:prstGeom prst="rect">
            <a:avLst/>
          </a:prstGeom>
          <a:ln>
            <a:noFill/>
          </a:ln>
        </p:spPr>
        <p:txBody>
          <a:bodyPr lIns="68580" tIns="34290" rIns="68580" bIns="3429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500" b="1" i="0" kern="1200" cap="all">
                <a:solidFill>
                  <a:schemeClr val="accent2"/>
                </a:solidFill>
                <a:latin typeface="Lato Black" charset="0"/>
                <a:ea typeface="Lato Black" charset="0"/>
                <a:cs typeface="Lato Black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500" dirty="0">
                <a:solidFill>
                  <a:schemeClr val="bg1"/>
                </a:solidFill>
                <a:latin typeface="Arial" panose="020B0604020202020204" pitchFamily="34" charset="0"/>
                <a:ea typeface="FontAwesome"/>
                <a:cs typeface="Arial" panose="020B0604020202020204" pitchFamily="34" charset="0"/>
                <a:sym typeface="FontAwesome"/>
              </a:rPr>
              <a:t>4</a:t>
            </a:r>
            <a:endParaRPr lang="es-ES_tradnl" sz="3500" dirty="0">
              <a:solidFill>
                <a:schemeClr val="bg1"/>
              </a:solidFill>
              <a:latin typeface="Arial" panose="020B0604020202020204" pitchFamily="34" charset="0"/>
              <a:ea typeface="FontAwesome"/>
              <a:cs typeface="Arial" panose="020B0604020202020204" pitchFamily="34" charset="0"/>
            </a:endParaRPr>
          </a:p>
        </p:txBody>
      </p:sp>
      <p:sp>
        <p:nvSpPr>
          <p:cNvPr id="12" name="稻壳儿原创设计师【幻雨工作室】_12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8A380945-EBEA-419C-9A48-2B8A4D236984}"/>
              </a:ext>
            </a:extLst>
          </p:cNvPr>
          <p:cNvSpPr/>
          <p:nvPr/>
        </p:nvSpPr>
        <p:spPr>
          <a:xfrm>
            <a:off x="7994072" y="1998466"/>
            <a:ext cx="2823267" cy="1469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技术/产品路线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多氟多发布大圆柱换电模组，同体积容量击穿行业纪录；万润新能源推出高容量、高压实LFP材料，能量密度和循环性能优异。 推测说明：未使用推测 来源：https://www.itdcw.com/news/chanpinxinwen/06251562M2026.html；https://www.hbwanrun.com/application_details/1.h</a:t>
            </a:r>
          </a:p>
        </p:txBody>
      </p:sp>
      <p:sp>
        <p:nvSpPr>
          <p:cNvPr id="13" name="稻壳儿原创设计师【幻雨工作室】_13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ABC99380-6022-472A-BBC6-F182C8FC8D32}"/>
              </a:ext>
            </a:extLst>
          </p:cNvPr>
          <p:cNvSpPr/>
          <p:nvPr/>
        </p:nvSpPr>
        <p:spPr>
          <a:xfrm>
            <a:off x="7994072" y="4573583"/>
            <a:ext cx="2823267" cy="1469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价格/盈利压力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未直接提及价格或盈利数据，但项目扩产叫停暗示行业盈利承压，企业投资趋于谨慎。 推测说明：推测理由：项目扩产叫停通常反映企业对未来盈利预期悲观或资金压力。证据不足点：无具体价格或毛利率数据支撑。 来源：https://www.itdcw.com/news/dczk/06291563622026.html</a:t>
            </a:r>
          </a:p>
        </p:txBody>
      </p:sp>
      <p:sp>
        <p:nvSpPr>
          <p:cNvPr id="14" name="稻壳儿原创设计师【幻雨工作室】_14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ADC7A08F-24BF-4781-B36F-B6F3F5A537A2}"/>
              </a:ext>
            </a:extLst>
          </p:cNvPr>
          <p:cNvSpPr/>
          <p:nvPr/>
        </p:nvSpPr>
        <p:spPr>
          <a:xfrm>
            <a:off x="2698181" y="1998466"/>
            <a:ext cx="2823267" cy="1469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今日结论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多氟多发布大圆柱换电方案，技术突破提升体积能量密度；万润新能源等产品向高压实、高容量演进；项目扩产出现叫停，供应端局部趋紧；工信部发布动力电池拆解安全国标征求意见。 推测说明：未使用推测 来源：https://www.itdcw.com/news/chanpinxinwen/06251562M2026.html；https://www.hbwanrun.co</a:t>
            </a:r>
          </a:p>
        </p:txBody>
      </p:sp>
      <p:sp>
        <p:nvSpPr>
          <p:cNvPr id="15" name="稻壳儿原创设计师【幻雨工作室】_15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7C55F7B0-C7A3-4581-B4A9-7AC3A1D27612}"/>
              </a:ext>
            </a:extLst>
          </p:cNvPr>
          <p:cNvSpPr/>
          <p:nvPr/>
        </p:nvSpPr>
        <p:spPr>
          <a:xfrm>
            <a:off x="2698181" y="4573583"/>
            <a:ext cx="2823267" cy="1469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产能/客户/订单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磷酸铁锂项目一边扩产一边叫停，钠电正极市场规模化出货企业少，下半年需求集中释放或致正极供应紧张，局部环节可能出现供需缺口。 推测说明：推测理由：基于供应格局分析，钠电正极产能利用率未达预期，而需求释放预期明确，可能导致供需缺口。证据不足点：缺乏具体产能数据和下游订单确认信息。 来源：https://www.itdcw.com/news/dczk/062915</a:t>
            </a:r>
          </a:p>
        </p:txBody>
      </p:sp>
    </p:spTree>
    <p:extLst>
      <p:ext uri="{BB962C8B-B14F-4D97-AF65-F5344CB8AC3E}">
        <p14:creationId xmlns:p14="http://schemas.microsoft.com/office/powerpoint/2010/main" val="11579395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稻壳儿原创设计师【幻雨工作室】_4">
            <a:extLst>
              <a:ext uri="{FF2B5EF4-FFF2-40B4-BE49-F238E27FC236}">
                <a16:creationId xmlns:a16="http://schemas.microsoft.com/office/drawing/2014/main" id="{D24A3084-7E2A-4446-B286-6CD64F7C3F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789" y="2051700"/>
            <a:ext cx="2912419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8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8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稻壳儿原创设计师【幻雨工作室】_5">
            <a:extLst>
              <a:ext uri="{FF2B5EF4-FFF2-40B4-BE49-F238E27FC236}">
                <a16:creationId xmlns:a16="http://schemas.microsoft.com/office/drawing/2014/main" id="{A1D9D0F9-E0CF-424D-8441-9F00CF4316D2}"/>
              </a:ext>
            </a:extLst>
          </p:cNvPr>
          <p:cNvSpPr txBox="1"/>
          <p:nvPr/>
        </p:nvSpPr>
        <p:spPr>
          <a:xfrm>
            <a:off x="3915755" y="3465513"/>
            <a:ext cx="436048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来源追踪</a:t>
            </a:r>
          </a:p>
          <a:p>
            <a:pPr algn="ctr"/>
            <a:r>
              <a:rPr lang="zh-CN" altLang="en-US" sz="3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Sources</a:t>
            </a:r>
          </a:p>
        </p:txBody>
      </p:sp>
    </p:spTree>
    <p:extLst>
      <p:ext uri="{BB962C8B-B14F-4D97-AF65-F5344CB8AC3E}">
        <p14:creationId xmlns:p14="http://schemas.microsoft.com/office/powerpoint/2010/main" val="2238750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稻壳儿原创设计师【幻雨工作室】_5">
            <a:extLst>
              <a:ext uri="{FF2B5EF4-FFF2-40B4-BE49-F238E27FC236}">
                <a16:creationId xmlns:a16="http://schemas.microsoft.com/office/drawing/2014/main" id="{1E131898-65FB-4149-A9A4-2A51BF17CE14}"/>
              </a:ext>
            </a:extLst>
          </p:cNvPr>
          <p:cNvSpPr txBox="1"/>
          <p:nvPr/>
        </p:nvSpPr>
        <p:spPr>
          <a:xfrm>
            <a:off x="809608" y="716507"/>
            <a:ext cx="48708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来源追踪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Sources</a:t>
            </a:r>
          </a:p>
        </p:txBody>
      </p:sp>
      <p:sp>
        <p:nvSpPr>
          <p:cNvPr id="5" name="稻壳儿原创设计师【幻雨工作室】_4">
            <a:extLst>
              <a:ext uri="{FF2B5EF4-FFF2-40B4-BE49-F238E27FC236}">
                <a16:creationId xmlns:a16="http://schemas.microsoft.com/office/drawing/2014/main" id="{6A3C9DE7-5AC9-4129-85AA-5F5BD456E7BE}"/>
              </a:ext>
            </a:extLst>
          </p:cNvPr>
          <p:cNvSpPr>
            <a:spLocks/>
          </p:cNvSpPr>
          <p:nvPr/>
        </p:nvSpPr>
        <p:spPr bwMode="auto">
          <a:xfrm>
            <a:off x="937579" y="2557702"/>
            <a:ext cx="9237294" cy="3530596"/>
          </a:xfrm>
          <a:custGeom>
            <a:avLst/>
            <a:gdLst/>
            <a:ahLst/>
            <a:cxnLst>
              <a:cxn ang="0">
                <a:pos x="1548" y="674"/>
              </a:cxn>
              <a:cxn ang="0">
                <a:pos x="1577" y="645"/>
              </a:cxn>
              <a:cxn ang="0">
                <a:pos x="1735" y="724"/>
              </a:cxn>
              <a:cxn ang="0">
                <a:pos x="1437" y="784"/>
              </a:cxn>
              <a:cxn ang="0">
                <a:pos x="1474" y="748"/>
              </a:cxn>
              <a:cxn ang="0">
                <a:pos x="1328" y="742"/>
              </a:cxn>
              <a:cxn ang="0">
                <a:pos x="930" y="692"/>
              </a:cxn>
              <a:cxn ang="0">
                <a:pos x="571" y="498"/>
              </a:cxn>
              <a:cxn ang="0">
                <a:pos x="702" y="361"/>
              </a:cxn>
              <a:cxn ang="0">
                <a:pos x="948" y="236"/>
              </a:cxn>
              <a:cxn ang="0">
                <a:pos x="0" y="0"/>
              </a:cxn>
              <a:cxn ang="0">
                <a:pos x="993" y="243"/>
              </a:cxn>
              <a:cxn ang="0">
                <a:pos x="777" y="359"/>
              </a:cxn>
              <a:cxn ang="0">
                <a:pos x="678" y="520"/>
              </a:cxn>
              <a:cxn ang="0">
                <a:pos x="1328" y="670"/>
              </a:cxn>
              <a:cxn ang="0">
                <a:pos x="1548" y="674"/>
              </a:cxn>
            </a:cxnLst>
            <a:rect l="0" t="0" r="r" b="b"/>
            <a:pathLst>
              <a:path w="1735" h="784">
                <a:moveTo>
                  <a:pt x="1548" y="674"/>
                </a:moveTo>
                <a:cubicBezTo>
                  <a:pt x="1577" y="645"/>
                  <a:pt x="1577" y="645"/>
                  <a:pt x="1577" y="645"/>
                </a:cubicBezTo>
                <a:cubicBezTo>
                  <a:pt x="1735" y="724"/>
                  <a:pt x="1735" y="724"/>
                  <a:pt x="1735" y="724"/>
                </a:cubicBezTo>
                <a:cubicBezTo>
                  <a:pt x="1437" y="784"/>
                  <a:pt x="1437" y="784"/>
                  <a:pt x="1437" y="784"/>
                </a:cubicBezTo>
                <a:cubicBezTo>
                  <a:pt x="1474" y="748"/>
                  <a:pt x="1474" y="748"/>
                  <a:pt x="1474" y="748"/>
                </a:cubicBezTo>
                <a:cubicBezTo>
                  <a:pt x="1425" y="747"/>
                  <a:pt x="1376" y="745"/>
                  <a:pt x="1328" y="742"/>
                </a:cubicBezTo>
                <a:cubicBezTo>
                  <a:pt x="1190" y="733"/>
                  <a:pt x="1058" y="716"/>
                  <a:pt x="930" y="692"/>
                </a:cubicBezTo>
                <a:cubicBezTo>
                  <a:pt x="698" y="635"/>
                  <a:pt x="578" y="571"/>
                  <a:pt x="571" y="498"/>
                </a:cubicBezTo>
                <a:cubicBezTo>
                  <a:pt x="562" y="453"/>
                  <a:pt x="606" y="407"/>
                  <a:pt x="702" y="361"/>
                </a:cubicBezTo>
                <a:cubicBezTo>
                  <a:pt x="824" y="313"/>
                  <a:pt x="906" y="271"/>
                  <a:pt x="948" y="236"/>
                </a:cubicBezTo>
                <a:cubicBezTo>
                  <a:pt x="1053" y="130"/>
                  <a:pt x="737" y="51"/>
                  <a:pt x="0" y="0"/>
                </a:cubicBezTo>
                <a:cubicBezTo>
                  <a:pt x="754" y="31"/>
                  <a:pt x="1085" y="112"/>
                  <a:pt x="993" y="243"/>
                </a:cubicBezTo>
                <a:cubicBezTo>
                  <a:pt x="968" y="274"/>
                  <a:pt x="896" y="312"/>
                  <a:pt x="777" y="359"/>
                </a:cubicBezTo>
                <a:cubicBezTo>
                  <a:pt x="664" y="409"/>
                  <a:pt x="631" y="463"/>
                  <a:pt x="678" y="520"/>
                </a:cubicBezTo>
                <a:cubicBezTo>
                  <a:pt x="761" y="606"/>
                  <a:pt x="977" y="656"/>
                  <a:pt x="1328" y="670"/>
                </a:cubicBezTo>
                <a:cubicBezTo>
                  <a:pt x="1396" y="673"/>
                  <a:pt x="1470" y="674"/>
                  <a:pt x="1548" y="674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100000">
                <a:schemeClr val="accent2"/>
              </a:gs>
            </a:gsLst>
            <a:lin ang="5400000" scaled="1"/>
          </a:gradFill>
          <a:ln w="9525">
            <a:noFill/>
            <a:round/>
            <a:headEnd/>
            <a:tailEnd/>
          </a:ln>
        </p:spPr>
        <p:txBody>
          <a:bodyPr lIns="121682" tIns="60841" rIns="121682" bIns="60841"/>
          <a:lstStyle/>
          <a:p>
            <a:pPr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262626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" name="稻壳儿原创设计师【幻雨工作室】_5">
            <a:extLst>
              <a:ext uri="{FF2B5EF4-FFF2-40B4-BE49-F238E27FC236}">
                <a16:creationId xmlns:a16="http://schemas.microsoft.com/office/drawing/2014/main" id="{85EA6C08-D2C4-4309-9AC1-7AEE84F29A1B}"/>
              </a:ext>
            </a:extLst>
          </p:cNvPr>
          <p:cNvSpPr/>
          <p:nvPr/>
        </p:nvSpPr>
        <p:spPr>
          <a:xfrm>
            <a:off x="7587605" y="4760232"/>
            <a:ext cx="693431" cy="544839"/>
          </a:xfrm>
          <a:prstGeom prst="wave">
            <a:avLst>
              <a:gd name="adj1" fmla="val 6364"/>
              <a:gd name="adj2" fmla="val 0"/>
            </a:avLst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" name="稻壳儿原创设计师【幻雨工作室】_6">
            <a:extLst>
              <a:ext uri="{FF2B5EF4-FFF2-40B4-BE49-F238E27FC236}">
                <a16:creationId xmlns:a16="http://schemas.microsoft.com/office/drawing/2014/main" id="{903FB831-686F-46B6-8D4F-5D577AE82AC3}"/>
              </a:ext>
            </a:extLst>
          </p:cNvPr>
          <p:cNvSpPr/>
          <p:nvPr/>
        </p:nvSpPr>
        <p:spPr>
          <a:xfrm>
            <a:off x="7463778" y="5983026"/>
            <a:ext cx="198123" cy="74296"/>
          </a:xfrm>
          <a:prstGeom prst="can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8" name="稻壳儿原创设计师【幻雨工作室】_7">
            <a:extLst>
              <a:ext uri="{FF2B5EF4-FFF2-40B4-BE49-F238E27FC236}">
                <a16:creationId xmlns:a16="http://schemas.microsoft.com/office/drawing/2014/main" id="{D52BDC23-5F98-448C-A97D-B0567327BC09}"/>
              </a:ext>
            </a:extLst>
          </p:cNvPr>
          <p:cNvSpPr/>
          <p:nvPr/>
        </p:nvSpPr>
        <p:spPr>
          <a:xfrm>
            <a:off x="7538074" y="4760232"/>
            <a:ext cx="49531" cy="1238271"/>
          </a:xfrm>
          <a:prstGeom prst="can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9" name="稻壳儿原创设计师【幻雨工作室】_8">
            <a:extLst>
              <a:ext uri="{FF2B5EF4-FFF2-40B4-BE49-F238E27FC236}">
                <a16:creationId xmlns:a16="http://schemas.microsoft.com/office/drawing/2014/main" id="{2C1FEB88-F9F7-4C5F-AEF1-F423B9243401}"/>
              </a:ext>
            </a:extLst>
          </p:cNvPr>
          <p:cNvSpPr/>
          <p:nvPr/>
        </p:nvSpPr>
        <p:spPr>
          <a:xfrm>
            <a:off x="3911870" y="4038891"/>
            <a:ext cx="693431" cy="544839"/>
          </a:xfrm>
          <a:prstGeom prst="wave">
            <a:avLst>
              <a:gd name="adj1" fmla="val 6364"/>
              <a:gd name="adj2" fmla="val 0"/>
            </a:avLst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0" name="稻壳儿原创设计师【幻雨工作室】_9">
            <a:extLst>
              <a:ext uri="{FF2B5EF4-FFF2-40B4-BE49-F238E27FC236}">
                <a16:creationId xmlns:a16="http://schemas.microsoft.com/office/drawing/2014/main" id="{5DBB8F8C-9BD3-4748-A0B6-5135F0E99453}"/>
              </a:ext>
            </a:extLst>
          </p:cNvPr>
          <p:cNvSpPr/>
          <p:nvPr/>
        </p:nvSpPr>
        <p:spPr>
          <a:xfrm>
            <a:off x="3788043" y="5261685"/>
            <a:ext cx="198123" cy="74296"/>
          </a:xfrm>
          <a:prstGeom prst="can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1" name="稻壳儿原创设计师【幻雨工作室】_10">
            <a:extLst>
              <a:ext uri="{FF2B5EF4-FFF2-40B4-BE49-F238E27FC236}">
                <a16:creationId xmlns:a16="http://schemas.microsoft.com/office/drawing/2014/main" id="{648827B0-0BC0-401B-9628-80BF2F646EAC}"/>
              </a:ext>
            </a:extLst>
          </p:cNvPr>
          <p:cNvSpPr/>
          <p:nvPr/>
        </p:nvSpPr>
        <p:spPr>
          <a:xfrm>
            <a:off x="3862339" y="4038891"/>
            <a:ext cx="49531" cy="1238271"/>
          </a:xfrm>
          <a:prstGeom prst="can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2" name="稻壳儿原创设计师【幻雨工作室】_11">
            <a:extLst>
              <a:ext uri="{FF2B5EF4-FFF2-40B4-BE49-F238E27FC236}">
                <a16:creationId xmlns:a16="http://schemas.microsoft.com/office/drawing/2014/main" id="{261E71DD-AB0E-4DA5-8D5A-9C99AEBCCA00}"/>
              </a:ext>
            </a:extLst>
          </p:cNvPr>
          <p:cNvSpPr/>
          <p:nvPr/>
        </p:nvSpPr>
        <p:spPr>
          <a:xfrm>
            <a:off x="6487039" y="2335195"/>
            <a:ext cx="693431" cy="544839"/>
          </a:xfrm>
          <a:prstGeom prst="wave">
            <a:avLst>
              <a:gd name="adj1" fmla="val 6364"/>
              <a:gd name="adj2" fmla="val 0"/>
            </a:avLst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3" name="稻壳儿原创设计师【幻雨工作室】_12">
            <a:extLst>
              <a:ext uri="{FF2B5EF4-FFF2-40B4-BE49-F238E27FC236}">
                <a16:creationId xmlns:a16="http://schemas.microsoft.com/office/drawing/2014/main" id="{20A91E9E-E8BB-4CD5-A505-C8EC3B9182EB}"/>
              </a:ext>
            </a:extLst>
          </p:cNvPr>
          <p:cNvSpPr/>
          <p:nvPr/>
        </p:nvSpPr>
        <p:spPr>
          <a:xfrm>
            <a:off x="6363212" y="3557989"/>
            <a:ext cx="198123" cy="74296"/>
          </a:xfrm>
          <a:prstGeom prst="can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4" name="稻壳儿原创设计师【幻雨工作室】_13">
            <a:extLst>
              <a:ext uri="{FF2B5EF4-FFF2-40B4-BE49-F238E27FC236}">
                <a16:creationId xmlns:a16="http://schemas.microsoft.com/office/drawing/2014/main" id="{6DC33A77-DA90-4156-B7B5-995AABCAFE46}"/>
              </a:ext>
            </a:extLst>
          </p:cNvPr>
          <p:cNvSpPr/>
          <p:nvPr/>
        </p:nvSpPr>
        <p:spPr>
          <a:xfrm>
            <a:off x="6437508" y="2335195"/>
            <a:ext cx="49531" cy="1238271"/>
          </a:xfrm>
          <a:prstGeom prst="can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5" name="稻壳儿原创设计师【幻雨工作室】_14">
            <a:extLst>
              <a:ext uri="{FF2B5EF4-FFF2-40B4-BE49-F238E27FC236}">
                <a16:creationId xmlns:a16="http://schemas.microsoft.com/office/drawing/2014/main" id="{C3C8560A-041E-466F-8B3D-5CA3EE2C5EA8}"/>
              </a:ext>
            </a:extLst>
          </p:cNvPr>
          <p:cNvSpPr/>
          <p:nvPr/>
        </p:nvSpPr>
        <p:spPr>
          <a:xfrm>
            <a:off x="2743377" y="1909157"/>
            <a:ext cx="693431" cy="544839"/>
          </a:xfrm>
          <a:prstGeom prst="wave">
            <a:avLst>
              <a:gd name="adj1" fmla="val 6364"/>
              <a:gd name="adj2" fmla="val 0"/>
            </a:avLst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6" name="稻壳儿原创设计师【幻雨工作室】_15">
            <a:extLst>
              <a:ext uri="{FF2B5EF4-FFF2-40B4-BE49-F238E27FC236}">
                <a16:creationId xmlns:a16="http://schemas.microsoft.com/office/drawing/2014/main" id="{6CA8B467-9375-4E95-AA62-839A8647704D}"/>
              </a:ext>
            </a:extLst>
          </p:cNvPr>
          <p:cNvSpPr/>
          <p:nvPr/>
        </p:nvSpPr>
        <p:spPr>
          <a:xfrm>
            <a:off x="2619550" y="3131951"/>
            <a:ext cx="198123" cy="74296"/>
          </a:xfrm>
          <a:prstGeom prst="can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7" name="稻壳儿原创设计师【幻雨工作室】_16">
            <a:extLst>
              <a:ext uri="{FF2B5EF4-FFF2-40B4-BE49-F238E27FC236}">
                <a16:creationId xmlns:a16="http://schemas.microsoft.com/office/drawing/2014/main" id="{C334E7BA-71E2-4D62-8AB2-662D604892D0}"/>
              </a:ext>
            </a:extLst>
          </p:cNvPr>
          <p:cNvSpPr/>
          <p:nvPr/>
        </p:nvSpPr>
        <p:spPr>
          <a:xfrm>
            <a:off x="2693846" y="1909157"/>
            <a:ext cx="49531" cy="1238271"/>
          </a:xfrm>
          <a:prstGeom prst="can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8" name="稻壳儿原创设计师【幻雨工作室】_17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BDBFAE53-9E75-4214-9DCB-9C736AE8E08F}"/>
              </a:ext>
            </a:extLst>
          </p:cNvPr>
          <p:cNvSpPr/>
          <p:nvPr/>
        </p:nvSpPr>
        <p:spPr>
          <a:xfrm>
            <a:off x="1527547" y="4202847"/>
            <a:ext cx="2710280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鑫椤锂电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鑫椤锂电；原始链接：https://www.icbattery.com/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</a:p>
        </p:txBody>
      </p:sp>
      <p:sp>
        <p:nvSpPr>
          <p:cNvPr id="19" name="稻壳儿原创设计师【幻雨工作室】_18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E34F2C9D-C912-44EB-89B4-8C19D9D3E3DC}"/>
              </a:ext>
            </a:extLst>
          </p:cNvPr>
          <p:cNvSpPr/>
          <p:nvPr/>
        </p:nvSpPr>
        <p:spPr>
          <a:xfrm>
            <a:off x="3702461" y="1454300"/>
            <a:ext cx="2710281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中国电池网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【正极材料周报】磷酸铁锂项目一边扩产一边叫停！富临精工持续加码前驱体项目_电池网；原始链接：https://www.itdcw.com/news/dczk/06291563622026.html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</a:p>
        </p:txBody>
      </p:sp>
      <p:sp>
        <p:nvSpPr>
          <p:cNvPr id="20" name="稻壳儿原创设计师【幻雨工作室】_19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38373F3B-77E8-45A8-9CDA-5D04D24D63C7}"/>
              </a:ext>
            </a:extLst>
          </p:cNvPr>
          <p:cNvSpPr/>
          <p:nvPr/>
        </p:nvSpPr>
        <p:spPr>
          <a:xfrm>
            <a:off x="7258988" y="2222373"/>
            <a:ext cx="2773589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中国电池网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同体积容量击穿行业纪录！多氟多两款大圆柱磷酸铁锂换电方案发布_电池网；原始链接：https://www.itdcw.com/news/chanpinxinwen/06251562M2026.html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</a:p>
        </p:txBody>
      </p:sp>
      <p:sp>
        <p:nvSpPr>
          <p:cNvPr id="21" name="稻壳儿原创设计师【幻雨工作室】_2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3B9D2A2B-7460-4952-9A3A-2E4A3F8DAAC5}"/>
              </a:ext>
            </a:extLst>
          </p:cNvPr>
          <p:cNvSpPr/>
          <p:nvPr/>
        </p:nvSpPr>
        <p:spPr>
          <a:xfrm>
            <a:off x="8437096" y="4186056"/>
            <a:ext cx="2710280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高工锂电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高工锂电；原始链接：https://www.gg-lb.com/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0493168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稻壳儿原创设计师【幻雨工作室】_5">
            <a:extLst>
              <a:ext uri="{FF2B5EF4-FFF2-40B4-BE49-F238E27FC236}">
                <a16:creationId xmlns:a16="http://schemas.microsoft.com/office/drawing/2014/main" id="{1E131898-65FB-4149-A9A4-2A51BF17CE14}"/>
              </a:ext>
            </a:extLst>
          </p:cNvPr>
          <p:cNvSpPr txBox="1"/>
          <p:nvPr/>
        </p:nvSpPr>
        <p:spPr>
          <a:xfrm>
            <a:off x="809608" y="716507"/>
            <a:ext cx="48708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工作进度计划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schedule</a:t>
            </a:r>
          </a:p>
        </p:txBody>
      </p:sp>
      <p:sp>
        <p:nvSpPr>
          <p:cNvPr id="3" name="稻壳儿原创设计师【幻雨工作室】_3">
            <a:extLst>
              <a:ext uri="{FF2B5EF4-FFF2-40B4-BE49-F238E27FC236}">
                <a16:creationId xmlns:a16="http://schemas.microsoft.com/office/drawing/2014/main" id="{BD2B62DE-65A2-4C37-9B6B-E698890F9BF1}"/>
              </a:ext>
            </a:extLst>
          </p:cNvPr>
          <p:cNvSpPr/>
          <p:nvPr/>
        </p:nvSpPr>
        <p:spPr>
          <a:xfrm>
            <a:off x="1529063" y="2317092"/>
            <a:ext cx="3263018" cy="3263018"/>
          </a:xfrm>
          <a:prstGeom prst="ellipse">
            <a:avLst/>
          </a:prstGeom>
          <a:noFill/>
          <a:ln w="1524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" name="稻壳儿原创设计师【幻雨工作室】_4">
            <a:extLst>
              <a:ext uri="{FF2B5EF4-FFF2-40B4-BE49-F238E27FC236}">
                <a16:creationId xmlns:a16="http://schemas.microsoft.com/office/drawing/2014/main" id="{AC8B4DAC-A363-4F94-BD75-6E9AF06DF99C}"/>
              </a:ext>
            </a:extLst>
          </p:cNvPr>
          <p:cNvSpPr/>
          <p:nvPr/>
        </p:nvSpPr>
        <p:spPr>
          <a:xfrm>
            <a:off x="1529063" y="2317092"/>
            <a:ext cx="3263018" cy="3263018"/>
          </a:xfrm>
          <a:prstGeom prst="arc">
            <a:avLst>
              <a:gd name="adj1" fmla="val 16200000"/>
              <a:gd name="adj2" fmla="val 13309299"/>
            </a:avLst>
          </a:prstGeom>
          <a:ln w="1524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6" name="稻壳儿原创设计师【幻雨工作室】_5">
            <a:extLst>
              <a:ext uri="{FF2B5EF4-FFF2-40B4-BE49-F238E27FC236}">
                <a16:creationId xmlns:a16="http://schemas.microsoft.com/office/drawing/2014/main" id="{E18F8252-454C-4ABD-A7FD-AE4CF34E416C}"/>
              </a:ext>
            </a:extLst>
          </p:cNvPr>
          <p:cNvSpPr/>
          <p:nvPr/>
        </p:nvSpPr>
        <p:spPr>
          <a:xfrm>
            <a:off x="2300863" y="3379215"/>
            <a:ext cx="1719418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4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85</a:t>
            </a:r>
            <a:r>
              <a:rPr lang="en-US" altLang="zh-CN" sz="3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</a:p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项目名称</a:t>
            </a:r>
          </a:p>
        </p:txBody>
      </p:sp>
      <p:sp>
        <p:nvSpPr>
          <p:cNvPr id="7" name="稻壳儿原创设计师【幻雨工作室】_6">
            <a:extLst>
              <a:ext uri="{FF2B5EF4-FFF2-40B4-BE49-F238E27FC236}">
                <a16:creationId xmlns:a16="http://schemas.microsoft.com/office/drawing/2014/main" id="{8EFBEA9E-55B2-49E9-9F5E-A5AACD4E837E}"/>
              </a:ext>
            </a:extLst>
          </p:cNvPr>
          <p:cNvSpPr/>
          <p:nvPr/>
        </p:nvSpPr>
        <p:spPr>
          <a:xfrm>
            <a:off x="6378952" y="4152452"/>
            <a:ext cx="4283986" cy="1647038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稻壳儿原创设计师【幻雨工作室】_7">
            <a:extLst>
              <a:ext uri="{FF2B5EF4-FFF2-40B4-BE49-F238E27FC236}">
                <a16:creationId xmlns:a16="http://schemas.microsoft.com/office/drawing/2014/main" id="{8C231DBE-7E82-49CC-BD46-26879E65E9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6697" y="4489918"/>
            <a:ext cx="998012" cy="9721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宋体" panose="02010600030101010101" pitchFamily="2" charset="-122"/>
              </a:rPr>
              <a:t>02</a:t>
            </a:r>
            <a:endParaRPr lang="zh-CN" altLang="zh-CN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  <a:sym typeface="宋体" panose="02010600030101010101" pitchFamily="2" charset="-122"/>
            </a:endParaRPr>
          </a:p>
        </p:txBody>
      </p:sp>
      <p:sp>
        <p:nvSpPr>
          <p:cNvPr id="9" name="稻壳儿原创设计师【幻雨工作室】_8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9AF08446-A444-4662-8ED7-1D26857B7FD9}"/>
              </a:ext>
            </a:extLst>
          </p:cNvPr>
          <p:cNvSpPr/>
          <p:nvPr/>
        </p:nvSpPr>
        <p:spPr>
          <a:xfrm>
            <a:off x="7904021" y="4358495"/>
            <a:ext cx="2469605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10" name="稻壳儿原创设计师【幻雨工作室】_9">
            <a:extLst>
              <a:ext uri="{FF2B5EF4-FFF2-40B4-BE49-F238E27FC236}">
                <a16:creationId xmlns:a16="http://schemas.microsoft.com/office/drawing/2014/main" id="{212124CD-727C-4E35-87D3-621D0F8E2961}"/>
              </a:ext>
            </a:extLst>
          </p:cNvPr>
          <p:cNvSpPr/>
          <p:nvPr/>
        </p:nvSpPr>
        <p:spPr>
          <a:xfrm>
            <a:off x="6378952" y="2171760"/>
            <a:ext cx="4283986" cy="1647038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稻壳儿原创设计师【幻雨工作室】_10">
            <a:extLst>
              <a:ext uri="{FF2B5EF4-FFF2-40B4-BE49-F238E27FC236}">
                <a16:creationId xmlns:a16="http://schemas.microsoft.com/office/drawing/2014/main" id="{D98BACCF-286C-4C93-BF63-A5D7CA2510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6697" y="2509226"/>
            <a:ext cx="998012" cy="9721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宋体" panose="02010600030101010101" pitchFamily="2" charset="-122"/>
              </a:rPr>
              <a:t>01</a:t>
            </a:r>
            <a:endParaRPr lang="zh-CN" altLang="zh-CN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  <a:sym typeface="宋体" panose="02010600030101010101" pitchFamily="2" charset="-122"/>
            </a:endParaRPr>
          </a:p>
        </p:txBody>
      </p:sp>
      <p:sp>
        <p:nvSpPr>
          <p:cNvPr id="12" name="稻壳儿原创设计师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E9759AE9-9B98-48C0-AF2A-14F0275C9933}"/>
              </a:ext>
            </a:extLst>
          </p:cNvPr>
          <p:cNvSpPr/>
          <p:nvPr/>
        </p:nvSpPr>
        <p:spPr>
          <a:xfrm>
            <a:off x="7904021" y="2377803"/>
            <a:ext cx="2469605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</p:spTree>
    <p:extLst>
      <p:ext uri="{BB962C8B-B14F-4D97-AF65-F5344CB8AC3E}">
        <p14:creationId xmlns:p14="http://schemas.microsoft.com/office/powerpoint/2010/main" val="18427832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稻壳儿原创设计师【幻雨工作室】_1">
            <a:extLst>
              <a:ext uri="{FF2B5EF4-FFF2-40B4-BE49-F238E27FC236}">
                <a16:creationId xmlns:a16="http://schemas.microsoft.com/office/drawing/2014/main" id="{3615CF7E-4A66-4911-8651-4957BEC8C224}"/>
              </a:ext>
            </a:extLst>
          </p:cNvPr>
          <p:cNvSpPr>
            <a:spLocks noEditPoints="1"/>
          </p:cNvSpPr>
          <p:nvPr/>
        </p:nvSpPr>
        <p:spPr bwMode="auto">
          <a:xfrm>
            <a:off x="1583202" y="2278743"/>
            <a:ext cx="2361260" cy="2803160"/>
          </a:xfrm>
          <a:custGeom>
            <a:avLst/>
            <a:gdLst>
              <a:gd name="T0" fmla="*/ 313 w 756"/>
              <a:gd name="T1" fmla="*/ 0 h 888"/>
              <a:gd name="T2" fmla="*/ 296 w 756"/>
              <a:gd name="T3" fmla="*/ 1 h 888"/>
              <a:gd name="T4" fmla="*/ 296 w 756"/>
              <a:gd name="T5" fmla="*/ 0 h 888"/>
              <a:gd name="T6" fmla="*/ 0 w 756"/>
              <a:gd name="T7" fmla="*/ 0 h 888"/>
              <a:gd name="T8" fmla="*/ 0 w 756"/>
              <a:gd name="T9" fmla="*/ 888 h 888"/>
              <a:gd name="T10" fmla="*/ 296 w 756"/>
              <a:gd name="T11" fmla="*/ 888 h 888"/>
              <a:gd name="T12" fmla="*/ 296 w 756"/>
              <a:gd name="T13" fmla="*/ 888 h 888"/>
              <a:gd name="T14" fmla="*/ 311 w 756"/>
              <a:gd name="T15" fmla="*/ 888 h 888"/>
              <a:gd name="T16" fmla="*/ 756 w 756"/>
              <a:gd name="T17" fmla="*/ 442 h 888"/>
              <a:gd name="T18" fmla="*/ 313 w 756"/>
              <a:gd name="T19" fmla="*/ 0 h 888"/>
              <a:gd name="T20" fmla="*/ 257 w 756"/>
              <a:gd name="T21" fmla="*/ 326 h 888"/>
              <a:gd name="T22" fmla="*/ 349 w 756"/>
              <a:gd name="T23" fmla="*/ 92 h 888"/>
              <a:gd name="T24" fmla="*/ 411 w 756"/>
              <a:gd name="T25" fmla="*/ 341 h 888"/>
              <a:gd name="T26" fmla="*/ 317 w 756"/>
              <a:gd name="T27" fmla="*/ 578 h 888"/>
              <a:gd name="T28" fmla="*/ 257 w 756"/>
              <a:gd name="T29" fmla="*/ 326 h 888"/>
              <a:gd name="T30" fmla="*/ 234 w 756"/>
              <a:gd name="T31" fmla="*/ 790 h 888"/>
              <a:gd name="T32" fmla="*/ 118 w 756"/>
              <a:gd name="T33" fmla="*/ 558 h 888"/>
              <a:gd name="T34" fmla="*/ 212 w 756"/>
              <a:gd name="T35" fmla="*/ 279 h 888"/>
              <a:gd name="T36" fmla="*/ 273 w 756"/>
              <a:gd name="T37" fmla="*/ 573 h 888"/>
              <a:gd name="T38" fmla="*/ 278 w 756"/>
              <a:gd name="T39" fmla="*/ 667 h 888"/>
              <a:gd name="T40" fmla="*/ 234 w 756"/>
              <a:gd name="T41" fmla="*/ 790 h 888"/>
              <a:gd name="T42" fmla="*/ 505 w 756"/>
              <a:gd name="T43" fmla="*/ 664 h 888"/>
              <a:gd name="T44" fmla="*/ 278 w 756"/>
              <a:gd name="T45" fmla="*/ 789 h 888"/>
              <a:gd name="T46" fmla="*/ 395 w 756"/>
              <a:gd name="T47" fmla="*/ 559 h 888"/>
              <a:gd name="T48" fmla="*/ 616 w 756"/>
              <a:gd name="T49" fmla="*/ 426 h 888"/>
              <a:gd name="T50" fmla="*/ 505 w 756"/>
              <a:gd name="T51" fmla="*/ 664 h 8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756" h="888">
                <a:moveTo>
                  <a:pt x="313" y="0"/>
                </a:moveTo>
                <a:cubicBezTo>
                  <a:pt x="307" y="0"/>
                  <a:pt x="302" y="0"/>
                  <a:pt x="296" y="1"/>
                </a:cubicBezTo>
                <a:cubicBezTo>
                  <a:pt x="296" y="0"/>
                  <a:pt x="296" y="0"/>
                  <a:pt x="29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888"/>
                  <a:pt x="0" y="888"/>
                  <a:pt x="0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301" y="888"/>
                  <a:pt x="306" y="888"/>
                  <a:pt x="311" y="888"/>
                </a:cubicBezTo>
                <a:cubicBezTo>
                  <a:pt x="556" y="888"/>
                  <a:pt x="756" y="686"/>
                  <a:pt x="756" y="442"/>
                </a:cubicBezTo>
                <a:cubicBezTo>
                  <a:pt x="756" y="197"/>
                  <a:pt x="557" y="1"/>
                  <a:pt x="313" y="0"/>
                </a:cubicBezTo>
                <a:close/>
                <a:moveTo>
                  <a:pt x="257" y="326"/>
                </a:moveTo>
                <a:cubicBezTo>
                  <a:pt x="268" y="192"/>
                  <a:pt x="349" y="92"/>
                  <a:pt x="349" y="92"/>
                </a:cubicBezTo>
                <a:cubicBezTo>
                  <a:pt x="349" y="92"/>
                  <a:pt x="427" y="188"/>
                  <a:pt x="411" y="341"/>
                </a:cubicBezTo>
                <a:cubicBezTo>
                  <a:pt x="396" y="491"/>
                  <a:pt x="317" y="578"/>
                  <a:pt x="317" y="578"/>
                </a:cubicBezTo>
                <a:cubicBezTo>
                  <a:pt x="317" y="578"/>
                  <a:pt x="245" y="459"/>
                  <a:pt x="257" y="326"/>
                </a:cubicBezTo>
                <a:close/>
                <a:moveTo>
                  <a:pt x="234" y="790"/>
                </a:moveTo>
                <a:cubicBezTo>
                  <a:pt x="234" y="790"/>
                  <a:pt x="127" y="667"/>
                  <a:pt x="118" y="558"/>
                </a:cubicBezTo>
                <a:cubicBezTo>
                  <a:pt x="105" y="410"/>
                  <a:pt x="212" y="279"/>
                  <a:pt x="212" y="279"/>
                </a:cubicBezTo>
                <a:cubicBezTo>
                  <a:pt x="205" y="483"/>
                  <a:pt x="273" y="573"/>
                  <a:pt x="273" y="573"/>
                </a:cubicBezTo>
                <a:cubicBezTo>
                  <a:pt x="273" y="573"/>
                  <a:pt x="289" y="597"/>
                  <a:pt x="278" y="667"/>
                </a:cubicBezTo>
                <a:cubicBezTo>
                  <a:pt x="267" y="736"/>
                  <a:pt x="234" y="790"/>
                  <a:pt x="234" y="790"/>
                </a:cubicBezTo>
                <a:close/>
                <a:moveTo>
                  <a:pt x="505" y="664"/>
                </a:moveTo>
                <a:cubicBezTo>
                  <a:pt x="408" y="771"/>
                  <a:pt x="278" y="789"/>
                  <a:pt x="278" y="789"/>
                </a:cubicBezTo>
                <a:cubicBezTo>
                  <a:pt x="278" y="789"/>
                  <a:pt x="282" y="666"/>
                  <a:pt x="395" y="559"/>
                </a:cubicBezTo>
                <a:cubicBezTo>
                  <a:pt x="508" y="453"/>
                  <a:pt x="616" y="426"/>
                  <a:pt x="616" y="426"/>
                </a:cubicBezTo>
                <a:cubicBezTo>
                  <a:pt x="616" y="426"/>
                  <a:pt x="601" y="557"/>
                  <a:pt x="505" y="664"/>
                </a:cubicBezTo>
                <a:close/>
              </a:path>
            </a:pathLst>
          </a:custGeom>
          <a:solidFill>
            <a:schemeClr val="bg1">
              <a:lumMod val="95000"/>
              <a:alpha val="38000"/>
            </a:schemeClr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896857"/>
              </a:solidFill>
              <a:effectLst/>
              <a:uLnTx/>
              <a:uFillTx/>
              <a:latin typeface="Arial" pitchFamily="34" charset="0"/>
              <a:ea typeface="微软雅黑" pitchFamily="34" charset="-122"/>
              <a:cs typeface="+mn-ea"/>
              <a:sym typeface="Arial" pitchFamily="34" charset="0"/>
            </a:endParaRPr>
          </a:p>
        </p:txBody>
      </p:sp>
      <p:sp>
        <p:nvSpPr>
          <p:cNvPr id="46" name="稻壳儿原创设计师【幻雨工作室】_6">
            <a:extLst>
              <a:ext uri="{FF2B5EF4-FFF2-40B4-BE49-F238E27FC236}">
                <a16:creationId xmlns:a16="http://schemas.microsoft.com/office/drawing/2014/main" id="{6D296337-6626-4C48-8AD9-27A8094C9650}"/>
              </a:ext>
            </a:extLst>
          </p:cNvPr>
          <p:cNvSpPr txBox="1"/>
          <p:nvPr/>
        </p:nvSpPr>
        <p:spPr>
          <a:xfrm>
            <a:off x="4100943" y="2803160"/>
            <a:ext cx="47221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Thank You</a:t>
            </a:r>
          </a:p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经典行书简" panose="02010609010101010101" pitchFamily="49" charset="-122"/>
              </a:rPr>
              <a:t>欢迎交流</a:t>
            </a:r>
          </a:p>
        </p:txBody>
      </p:sp>
      <p:cxnSp>
        <p:nvCxnSpPr>
          <p:cNvPr id="33" name="稻壳儿原创设计师【幻雨工作室】_4">
            <a:extLst>
              <a:ext uri="{FF2B5EF4-FFF2-40B4-BE49-F238E27FC236}">
                <a16:creationId xmlns:a16="http://schemas.microsoft.com/office/drawing/2014/main" id="{E09059F6-14B4-4384-A7E7-116A5A5EDD9A}"/>
              </a:ext>
            </a:extLst>
          </p:cNvPr>
          <p:cNvCxnSpPr/>
          <p:nvPr/>
        </p:nvCxnSpPr>
        <p:spPr>
          <a:xfrm>
            <a:off x="10580618" y="5759053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稻壳儿原创设计师【幻雨工作室】_5">
            <a:extLst>
              <a:ext uri="{FF2B5EF4-FFF2-40B4-BE49-F238E27FC236}">
                <a16:creationId xmlns:a16="http://schemas.microsoft.com/office/drawing/2014/main" id="{FDFBF106-EB5A-4FF7-8F72-D06519B335C9}"/>
              </a:ext>
            </a:extLst>
          </p:cNvPr>
          <p:cNvCxnSpPr/>
          <p:nvPr/>
        </p:nvCxnSpPr>
        <p:spPr>
          <a:xfrm>
            <a:off x="10580618" y="5984964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3309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经典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5275"/>
      </a:accent1>
      <a:accent2>
        <a:srgbClr val="485275"/>
      </a:accent2>
      <a:accent3>
        <a:srgbClr val="485275"/>
      </a:accent3>
      <a:accent4>
        <a:srgbClr val="485275"/>
      </a:accent4>
      <a:accent5>
        <a:srgbClr val="485275"/>
      </a:accent5>
      <a:accent6>
        <a:srgbClr val="485275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771</Words>
  <Application>Microsoft Office PowerPoint</Application>
  <PresentationFormat>宽屏</PresentationFormat>
  <Paragraphs>118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0" baseType="lpstr">
      <vt:lpstr>FontAwesome</vt:lpstr>
      <vt:lpstr>Lato Black</vt:lpstr>
      <vt:lpstr>Open Sans</vt:lpstr>
      <vt:lpstr>等线</vt:lpstr>
      <vt:lpstr>等线 Light</vt:lpstr>
      <vt:lpstr>华文细黑</vt:lpstr>
      <vt:lpstr>经典行书简</vt:lpstr>
      <vt:lpstr>宋体</vt:lpstr>
      <vt:lpstr>微软雅黑</vt:lpstr>
      <vt:lpstr>微软雅黑 Light</vt:lpstr>
      <vt:lpstr>Arial</vt:lpstr>
      <vt:lpstr>Arial Rounded MT Bold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19940802</dc:creator>
  <cp:lastModifiedBy>19940802</cp:lastModifiedBy>
  <cp:revision>15</cp:revision>
  <dcterms:created xsi:type="dcterms:W3CDTF">2020-05-18T03:48:39Z</dcterms:created>
  <dcterms:modified xsi:type="dcterms:W3CDTF">2020-05-18T04:43:24Z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2052-11.1.0.9912</vt:lpwstr>
  </property>
  <property fmtid="{D5CDD505-2E9C-101B-9397-08002B2CF9AE}" pid="3" name="KSOTemplateUUID">
    <vt:lpwstr>v1.0_mb_gAoP81zLHtv9kWQ9r7oE8w==</vt:lpwstr>
  </property>
</Properties>
</file>