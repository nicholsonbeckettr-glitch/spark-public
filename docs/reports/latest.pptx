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1.</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LFP DAILY BRIEF</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2026-10-26</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01</a:t>
            </a:r>
            <a:endParaRPr lang="en-US" sz="730" dirty="0"/>
          </a:p>
        </p:txBody>
      </p:sp>
      <p:sp>
        <p:nvSpPr>
          <p:cNvPr id="9" name="Text 7"/>
          <p:cNvSpPr/>
          <p:nvPr/>
        </p:nvSpPr>
        <p:spPr>
          <a:xfrm>
            <a:off x="640080" y="1051560"/>
            <a:ext cx="1554480" cy="411480"/>
          </a:xfrm>
          <a:prstGeom prst="rect">
            <a:avLst/>
          </a:prstGeom>
          <a:noFill/>
          <a:ln/>
        </p:spPr>
        <p:txBody>
          <a:bodyPr wrap="square" lIns="0" tIns="0" rIns="0" bIns="0" rtlCol="0" anchor="ctr"/>
          <a:lstStyle/>
          <a:p>
            <a:pPr indent="0" marL="0">
              <a:buNone/>
            </a:pPr>
            <a:r>
              <a:rPr lang="en-US" sz="2400" b="1" dirty="0">
                <a:solidFill>
                  <a:srgbClr val="487052"/>
                </a:solidFill>
                <a:latin typeface="Aptos" pitchFamily="34" charset="0"/>
                <a:ea typeface="Aptos" pitchFamily="34" charset="-122"/>
                <a:cs typeface="Aptos" pitchFamily="34" charset="-120"/>
              </a:rPr>
              <a:t>LFP</a:t>
            </a:r>
            <a:endParaRPr lang="en-US" sz="2400" dirty="0"/>
          </a:p>
        </p:txBody>
      </p:sp>
      <p:sp>
        <p:nvSpPr>
          <p:cNvPr id="10" name="Text 8"/>
          <p:cNvSpPr/>
          <p:nvPr/>
        </p:nvSpPr>
        <p:spPr>
          <a:xfrm>
            <a:off x="621792" y="1481328"/>
            <a:ext cx="6035040" cy="621792"/>
          </a:xfrm>
          <a:prstGeom prst="rect">
            <a:avLst/>
          </a:prstGeom>
          <a:noFill/>
          <a:ln/>
        </p:spPr>
        <p:txBody>
          <a:bodyPr wrap="square" lIns="0" tIns="0" rIns="0" bIns="0" rtlCol="0" anchor="ctr">
            <a:normAutofit/>
          </a:bodyPr>
          <a:lstStyle/>
          <a:p>
            <a:pPr indent="0" marL="0">
              <a:buNone/>
            </a:pPr>
            <a:r>
              <a:rPr lang="en-US" sz="2600" b="1" dirty="0">
                <a:solidFill>
                  <a:srgbClr val="121212"/>
                </a:solidFill>
                <a:latin typeface="Microsoft YaHei" pitchFamily="34" charset="0"/>
                <a:ea typeface="Microsoft YaHei" pitchFamily="34" charset="-122"/>
                <a:cs typeface="Microsoft YaHei" pitchFamily="34" charset="-120"/>
              </a:rPr>
              <a:t>磷酸铁锂行业早报</a:t>
            </a:r>
            <a:endParaRPr lang="en-US" sz="2600" dirty="0"/>
          </a:p>
        </p:txBody>
      </p:sp>
      <p:sp>
        <p:nvSpPr>
          <p:cNvPr id="11" name="Text 9"/>
          <p:cNvSpPr/>
          <p:nvPr/>
        </p:nvSpPr>
        <p:spPr>
          <a:xfrm>
            <a:off x="658368" y="2176272"/>
            <a:ext cx="5852160" cy="310896"/>
          </a:xfrm>
          <a:prstGeom prst="rect">
            <a:avLst/>
          </a:prstGeom>
          <a:noFill/>
          <a:ln/>
        </p:spPr>
        <p:txBody>
          <a:bodyPr wrap="square" lIns="0" tIns="0" rIns="0" bIns="0" rtlCol="0" anchor="ctr"/>
          <a:lstStyle/>
          <a:p>
            <a:pPr indent="0" marL="0">
              <a:buNone/>
            </a:pPr>
            <a:r>
              <a:rPr lang="en-US" sz="1200" dirty="0">
                <a:solidFill>
                  <a:srgbClr val="6D756F"/>
                </a:solidFill>
                <a:latin typeface="Microsoft YaHei" pitchFamily="34" charset="0"/>
                <a:ea typeface="Microsoft YaHei" pitchFamily="34" charset="-122"/>
                <a:cs typeface="Microsoft YaHei" pitchFamily="34" charset="-120"/>
              </a:rPr>
              <a:t>从公开事件到产业判断的每日工程化筛选</a:t>
            </a:r>
            <a:endParaRPr lang="en-US" sz="1200" dirty="0"/>
          </a:p>
        </p:txBody>
      </p:sp>
      <p:sp>
        <p:nvSpPr>
          <p:cNvPr id="12" name="Text 10"/>
          <p:cNvSpPr/>
          <p:nvPr/>
        </p:nvSpPr>
        <p:spPr>
          <a:xfrm>
            <a:off x="658368" y="2761488"/>
            <a:ext cx="5715000" cy="1188720"/>
          </a:xfrm>
          <a:prstGeom prst="rect">
            <a:avLst/>
          </a:prstGeom>
          <a:noFill/>
          <a:ln/>
        </p:spPr>
        <p:txBody>
          <a:bodyPr wrap="square" lIns="0" tIns="0" rIns="0" bIns="0" rtlCol="0" anchor="ctr">
            <a:normAutofit/>
          </a:bodyPr>
          <a:lstStyle/>
          <a:p>
            <a:pPr indent="0" marL="0">
              <a:buNone/>
            </a:pPr>
            <a:r>
              <a:rPr lang="en-US" sz="1400" b="1" dirty="0">
                <a:solidFill>
                  <a:srgbClr val="121212"/>
                </a:solidFill>
                <a:latin typeface="Microsoft YaHei" pitchFamily="34" charset="0"/>
                <a:ea typeface="Microsoft YaHei" pitchFamily="34" charset="-122"/>
                <a:cs typeface="Microsoft YaHei" pitchFamily="34" charset="-120"/>
              </a:rPr>
              <a:t>今日磷酸铁锂行业信息以扩产和出海政策变化为主。湖南裕能、万华化学再度扩产磷酸铁锂，显示龙头对需求预期仍偏乐观；新能源汽车出口退税率从13%降至9%，可能抬高出海成本并倒逼电池环节降本。宁德时代三季报高增，机构关注盈利拐点，但需区分其磷酸铁锂业务贡献。整体看，供给扩张与出口政策收紧并存，行业盈利修复仍需观察产能消化和海外需求弹性。</a:t>
            </a:r>
            <a:endParaRPr lang="en-US" sz="1400" dirty="0"/>
          </a:p>
        </p:txBody>
      </p:sp>
      <p:sp>
        <p:nvSpPr>
          <p:cNvPr id="13" name="Shape 11"/>
          <p:cNvSpPr/>
          <p:nvPr/>
        </p:nvSpPr>
        <p:spPr>
          <a:xfrm>
            <a:off x="7315200" y="960120"/>
            <a:ext cx="3886200" cy="4526280"/>
          </a:xfrm>
          <a:prstGeom prst="rect">
            <a:avLst/>
          </a:prstGeom>
          <a:solidFill>
            <a:srgbClr val="F4FAF6"/>
          </a:solidFill>
          <a:ln w="10160">
            <a:solidFill>
              <a:srgbClr val="DADADA"/>
            </a:solidFill>
            <a:prstDash val="solid"/>
          </a:ln>
        </p:spPr>
      </p:sp>
      <p:sp>
        <p:nvSpPr>
          <p:cNvPr id="14" name="Text 12"/>
          <p:cNvSpPr/>
          <p:nvPr/>
        </p:nvSpPr>
        <p:spPr>
          <a:xfrm>
            <a:off x="7607808" y="1188720"/>
            <a:ext cx="2011680" cy="310896"/>
          </a:xfrm>
          <a:prstGeom prst="rect">
            <a:avLst/>
          </a:prstGeom>
          <a:noFill/>
          <a:ln/>
        </p:spPr>
        <p:txBody>
          <a:bodyPr wrap="square" lIns="0" tIns="0" rIns="0" bIns="0" rtlCol="0" anchor="ctr"/>
          <a:lstStyle/>
          <a:p>
            <a:pPr indent="0" marL="0">
              <a:buNone/>
            </a:pPr>
            <a:r>
              <a:rPr lang="en-US" sz="1300" b="1" dirty="0">
                <a:solidFill>
                  <a:srgbClr val="121212"/>
                </a:solidFill>
                <a:latin typeface="Microsoft YaHei" pitchFamily="34" charset="0"/>
                <a:ea typeface="Microsoft YaHei" pitchFamily="34" charset="-122"/>
                <a:cs typeface="Microsoft YaHei" pitchFamily="34" charset="-120"/>
              </a:rPr>
              <a:t>今日逻辑主线</a:t>
            </a:r>
            <a:endParaRPr lang="en-US" sz="1300" dirty="0"/>
          </a:p>
        </p:txBody>
      </p:sp>
      <p:sp>
        <p:nvSpPr>
          <p:cNvPr id="15" name="Shape 13"/>
          <p:cNvSpPr/>
          <p:nvPr/>
        </p:nvSpPr>
        <p:spPr>
          <a:xfrm>
            <a:off x="7882128" y="1755648"/>
            <a:ext cx="0" cy="3090672"/>
          </a:xfrm>
          <a:prstGeom prst="line">
            <a:avLst/>
          </a:prstGeom>
          <a:noFill/>
          <a:ln w="15240">
            <a:solidFill>
              <a:srgbClr val="7F9D84"/>
            </a:solidFill>
            <a:prstDash val="solid"/>
          </a:ln>
        </p:spPr>
      </p:sp>
      <p:sp>
        <p:nvSpPr>
          <p:cNvPr id="16" name="Shape 14"/>
          <p:cNvSpPr/>
          <p:nvPr/>
        </p:nvSpPr>
        <p:spPr>
          <a:xfrm>
            <a:off x="7790688" y="1700784"/>
            <a:ext cx="182880" cy="182880"/>
          </a:xfrm>
          <a:prstGeom prst="ellipse">
            <a:avLst/>
          </a:prstGeom>
          <a:solidFill>
            <a:srgbClr val="487052"/>
          </a:solidFill>
          <a:ln w="12700">
            <a:solidFill>
              <a:srgbClr val="487052"/>
            </a:solidFill>
            <a:prstDash val="solid"/>
          </a:ln>
        </p:spPr>
      </p:sp>
      <p:sp>
        <p:nvSpPr>
          <p:cNvPr id="17" name="Shape 15"/>
          <p:cNvSpPr/>
          <p:nvPr/>
        </p:nvSpPr>
        <p:spPr>
          <a:xfrm>
            <a:off x="8183880" y="1627632"/>
            <a:ext cx="2514600" cy="365760"/>
          </a:xfrm>
          <a:prstGeom prst="rect">
            <a:avLst/>
          </a:prstGeom>
          <a:solidFill>
            <a:srgbClr val="DDEBE0"/>
          </a:solidFill>
          <a:ln w="7620">
            <a:solidFill>
              <a:srgbClr val="DADADA"/>
            </a:solidFill>
            <a:prstDash val="solid"/>
          </a:ln>
        </p:spPr>
      </p:sp>
      <p:sp>
        <p:nvSpPr>
          <p:cNvPr id="18" name="Text 16"/>
          <p:cNvSpPr/>
          <p:nvPr/>
        </p:nvSpPr>
        <p:spPr>
          <a:xfrm>
            <a:off x="8321040" y="1709928"/>
            <a:ext cx="2240280" cy="164592"/>
          </a:xfrm>
          <a:prstGeom prst="rect">
            <a:avLst/>
          </a:prstGeom>
          <a:noFill/>
          <a:ln/>
        </p:spPr>
        <p:txBody>
          <a:bodyPr wrap="square" lIns="0" tIns="0" rIns="0" bIns="0" rtlCol="0" anchor="ctr">
            <a:normAutofit/>
          </a:bodyPr>
          <a:lstStyle/>
          <a:p>
            <a:pPr indent="0" marL="0">
              <a:buNone/>
            </a:pPr>
            <a:r>
              <a:rPr lang="en-US" sz="880" b="1" dirty="0">
                <a:solidFill>
                  <a:srgbClr val="121212"/>
                </a:solidFill>
                <a:latin typeface="Microsoft YaHei" pitchFamily="34" charset="0"/>
                <a:ea typeface="Microsoft YaHei" pitchFamily="34" charset="-122"/>
                <a:cs typeface="Microsoft YaHei" pitchFamily="34" charset="-120"/>
              </a:rPr>
              <a:t>技术突破</a:t>
            </a:r>
            <a:endParaRPr lang="en-US" sz="880" dirty="0"/>
          </a:p>
        </p:txBody>
      </p:sp>
      <p:sp>
        <p:nvSpPr>
          <p:cNvPr id="19" name="Shape 17"/>
          <p:cNvSpPr/>
          <p:nvPr/>
        </p:nvSpPr>
        <p:spPr>
          <a:xfrm>
            <a:off x="7790688" y="2267712"/>
            <a:ext cx="182880" cy="182880"/>
          </a:xfrm>
          <a:prstGeom prst="ellipse">
            <a:avLst/>
          </a:prstGeom>
          <a:solidFill>
            <a:srgbClr val="487052"/>
          </a:solidFill>
          <a:ln w="12700">
            <a:solidFill>
              <a:srgbClr val="487052"/>
            </a:solidFill>
            <a:prstDash val="solid"/>
          </a:ln>
        </p:spPr>
      </p:sp>
      <p:sp>
        <p:nvSpPr>
          <p:cNvPr id="20" name="Shape 18"/>
          <p:cNvSpPr/>
          <p:nvPr/>
        </p:nvSpPr>
        <p:spPr>
          <a:xfrm>
            <a:off x="8183880" y="2194560"/>
            <a:ext cx="2514600" cy="365760"/>
          </a:xfrm>
          <a:prstGeom prst="rect">
            <a:avLst/>
          </a:prstGeom>
          <a:solidFill>
            <a:srgbClr val="DDEBE0"/>
          </a:solidFill>
          <a:ln w="7620">
            <a:solidFill>
              <a:srgbClr val="DADADA"/>
            </a:solidFill>
            <a:prstDash val="solid"/>
          </a:ln>
        </p:spPr>
      </p:sp>
      <p:sp>
        <p:nvSpPr>
          <p:cNvPr id="21" name="Text 19"/>
          <p:cNvSpPr/>
          <p:nvPr/>
        </p:nvSpPr>
        <p:spPr>
          <a:xfrm>
            <a:off x="8321040" y="2276856"/>
            <a:ext cx="2240280" cy="164592"/>
          </a:xfrm>
          <a:prstGeom prst="rect">
            <a:avLst/>
          </a:prstGeom>
          <a:noFill/>
          <a:ln/>
        </p:spPr>
        <p:txBody>
          <a:bodyPr wrap="square" lIns="0" tIns="0" rIns="0" bIns="0" rtlCol="0" anchor="ctr">
            <a:normAutofit/>
          </a:bodyPr>
          <a:lstStyle/>
          <a:p>
            <a:pPr indent="0" marL="0">
              <a:buNone/>
            </a:pPr>
            <a:r>
              <a:rPr lang="en-US" sz="880" b="1" dirty="0">
                <a:solidFill>
                  <a:srgbClr val="121212"/>
                </a:solidFill>
                <a:latin typeface="Microsoft YaHei" pitchFamily="34" charset="0"/>
                <a:ea typeface="Microsoft YaHei" pitchFamily="34" charset="-122"/>
                <a:cs typeface="Microsoft YaHei" pitchFamily="34" charset="-120"/>
              </a:rPr>
              <a:t>产能变化</a:t>
            </a:r>
            <a:endParaRPr lang="en-US" sz="880" dirty="0"/>
          </a:p>
        </p:txBody>
      </p:sp>
      <p:sp>
        <p:nvSpPr>
          <p:cNvPr id="22" name="Shape 20"/>
          <p:cNvSpPr/>
          <p:nvPr/>
        </p:nvSpPr>
        <p:spPr>
          <a:xfrm>
            <a:off x="7790688" y="2834640"/>
            <a:ext cx="182880" cy="182880"/>
          </a:xfrm>
          <a:prstGeom prst="ellipse">
            <a:avLst/>
          </a:prstGeom>
          <a:solidFill>
            <a:srgbClr val="487052"/>
          </a:solidFill>
          <a:ln w="12700">
            <a:solidFill>
              <a:srgbClr val="487052"/>
            </a:solidFill>
            <a:prstDash val="solid"/>
          </a:ln>
        </p:spPr>
      </p:sp>
      <p:sp>
        <p:nvSpPr>
          <p:cNvPr id="23" name="Shape 21"/>
          <p:cNvSpPr/>
          <p:nvPr/>
        </p:nvSpPr>
        <p:spPr>
          <a:xfrm>
            <a:off x="8183880" y="2761488"/>
            <a:ext cx="2514600" cy="365760"/>
          </a:xfrm>
          <a:prstGeom prst="rect">
            <a:avLst/>
          </a:prstGeom>
          <a:solidFill>
            <a:srgbClr val="DDEBE0"/>
          </a:solidFill>
          <a:ln w="7620">
            <a:solidFill>
              <a:srgbClr val="DADADA"/>
            </a:solidFill>
            <a:prstDash val="solid"/>
          </a:ln>
        </p:spPr>
      </p:sp>
      <p:sp>
        <p:nvSpPr>
          <p:cNvPr id="24" name="Text 22"/>
          <p:cNvSpPr/>
          <p:nvPr/>
        </p:nvSpPr>
        <p:spPr>
          <a:xfrm>
            <a:off x="8321040" y="2843784"/>
            <a:ext cx="2240280" cy="164592"/>
          </a:xfrm>
          <a:prstGeom prst="rect">
            <a:avLst/>
          </a:prstGeom>
          <a:noFill/>
          <a:ln/>
        </p:spPr>
        <p:txBody>
          <a:bodyPr wrap="square" lIns="0" tIns="0" rIns="0" bIns="0" rtlCol="0" anchor="ctr">
            <a:normAutofit/>
          </a:bodyPr>
          <a:lstStyle/>
          <a:p>
            <a:pPr indent="0" marL="0">
              <a:buNone/>
            </a:pPr>
            <a:r>
              <a:rPr lang="en-US" sz="880" b="1" dirty="0">
                <a:solidFill>
                  <a:srgbClr val="121212"/>
                </a:solidFill>
                <a:latin typeface="Microsoft YaHei" pitchFamily="34" charset="0"/>
                <a:ea typeface="Microsoft YaHei" pitchFamily="34" charset="-122"/>
                <a:cs typeface="Microsoft YaHei" pitchFamily="34" charset="-120"/>
              </a:rPr>
              <a:t>政策合规</a:t>
            </a:r>
            <a:endParaRPr lang="en-US" sz="880" dirty="0"/>
          </a:p>
        </p:txBody>
      </p:sp>
      <p:sp>
        <p:nvSpPr>
          <p:cNvPr id="25" name="Shape 23"/>
          <p:cNvSpPr/>
          <p:nvPr/>
        </p:nvSpPr>
        <p:spPr>
          <a:xfrm>
            <a:off x="7790688" y="3401568"/>
            <a:ext cx="182880" cy="182880"/>
          </a:xfrm>
          <a:prstGeom prst="ellipse">
            <a:avLst/>
          </a:prstGeom>
          <a:solidFill>
            <a:srgbClr val="FFFFFF"/>
          </a:solidFill>
          <a:ln w="12700">
            <a:solidFill>
              <a:srgbClr val="487052"/>
            </a:solidFill>
            <a:prstDash val="solid"/>
          </a:ln>
        </p:spPr>
      </p:sp>
      <p:sp>
        <p:nvSpPr>
          <p:cNvPr id="26" name="Shape 24"/>
          <p:cNvSpPr/>
          <p:nvPr/>
        </p:nvSpPr>
        <p:spPr>
          <a:xfrm>
            <a:off x="8183880" y="3328416"/>
            <a:ext cx="2514600" cy="365760"/>
          </a:xfrm>
          <a:prstGeom prst="rect">
            <a:avLst/>
          </a:prstGeom>
          <a:solidFill>
            <a:srgbClr val="FFFFFF"/>
          </a:solidFill>
          <a:ln w="7620">
            <a:solidFill>
              <a:srgbClr val="DADADA"/>
            </a:solidFill>
            <a:prstDash val="solid"/>
          </a:ln>
        </p:spPr>
      </p:sp>
      <p:sp>
        <p:nvSpPr>
          <p:cNvPr id="27" name="Text 25"/>
          <p:cNvSpPr/>
          <p:nvPr/>
        </p:nvSpPr>
        <p:spPr>
          <a:xfrm>
            <a:off x="8321040" y="3410712"/>
            <a:ext cx="2240280" cy="164592"/>
          </a:xfrm>
          <a:prstGeom prst="rect">
            <a:avLst/>
          </a:prstGeom>
          <a:noFill/>
          <a:ln/>
        </p:spPr>
        <p:txBody>
          <a:bodyPr wrap="square" lIns="0" tIns="0" rIns="0" bIns="0" rtlCol="0" anchor="ctr">
            <a:normAutofit/>
          </a:bodyPr>
          <a:lstStyle/>
          <a:p>
            <a:pPr indent="0" marL="0">
              <a:buNone/>
            </a:pPr>
            <a:r>
              <a:rPr lang="en-US" sz="880" dirty="0">
                <a:solidFill>
                  <a:srgbClr val="121212"/>
                </a:solidFill>
                <a:latin typeface="Microsoft YaHei" pitchFamily="34" charset="0"/>
                <a:ea typeface="Microsoft YaHei" pitchFamily="34" charset="-122"/>
                <a:cs typeface="Microsoft YaHei" pitchFamily="34" charset="-120"/>
              </a:rPr>
              <a:t>企业信号</a:t>
            </a:r>
            <a:endParaRPr lang="en-US" sz="880" dirty="0"/>
          </a:p>
        </p:txBody>
      </p:sp>
      <p:sp>
        <p:nvSpPr>
          <p:cNvPr id="28" name="Shape 26"/>
          <p:cNvSpPr/>
          <p:nvPr/>
        </p:nvSpPr>
        <p:spPr>
          <a:xfrm>
            <a:off x="7790688" y="3968496"/>
            <a:ext cx="182880" cy="182880"/>
          </a:xfrm>
          <a:prstGeom prst="ellipse">
            <a:avLst/>
          </a:prstGeom>
          <a:solidFill>
            <a:srgbClr val="487052"/>
          </a:solidFill>
          <a:ln w="12700">
            <a:solidFill>
              <a:srgbClr val="487052"/>
            </a:solidFill>
            <a:prstDash val="solid"/>
          </a:ln>
        </p:spPr>
      </p:sp>
      <p:sp>
        <p:nvSpPr>
          <p:cNvPr id="29" name="Shape 27"/>
          <p:cNvSpPr/>
          <p:nvPr/>
        </p:nvSpPr>
        <p:spPr>
          <a:xfrm>
            <a:off x="8183880" y="3895344"/>
            <a:ext cx="2514600" cy="365760"/>
          </a:xfrm>
          <a:prstGeom prst="rect">
            <a:avLst/>
          </a:prstGeom>
          <a:solidFill>
            <a:srgbClr val="DDEBE0"/>
          </a:solidFill>
          <a:ln w="7620">
            <a:solidFill>
              <a:srgbClr val="DADADA"/>
            </a:solidFill>
            <a:prstDash val="solid"/>
          </a:ln>
        </p:spPr>
      </p:sp>
      <p:sp>
        <p:nvSpPr>
          <p:cNvPr id="30" name="Text 28"/>
          <p:cNvSpPr/>
          <p:nvPr/>
        </p:nvSpPr>
        <p:spPr>
          <a:xfrm>
            <a:off x="8321040" y="3977640"/>
            <a:ext cx="2240280" cy="164592"/>
          </a:xfrm>
          <a:prstGeom prst="rect">
            <a:avLst/>
          </a:prstGeom>
          <a:noFill/>
          <a:ln/>
        </p:spPr>
        <p:txBody>
          <a:bodyPr wrap="square" lIns="0" tIns="0" rIns="0" bIns="0" rtlCol="0" anchor="ctr">
            <a:normAutofit/>
          </a:bodyPr>
          <a:lstStyle/>
          <a:p>
            <a:pPr indent="0" marL="0">
              <a:buNone/>
            </a:pPr>
            <a:r>
              <a:rPr lang="en-US" sz="880" b="1" dirty="0">
                <a:solidFill>
                  <a:srgbClr val="121212"/>
                </a:solidFill>
                <a:latin typeface="Microsoft YaHei" pitchFamily="34" charset="0"/>
                <a:ea typeface="Microsoft YaHei" pitchFamily="34" charset="-122"/>
                <a:cs typeface="Microsoft YaHei" pitchFamily="34" charset="-120"/>
              </a:rPr>
              <a:t>风险机会</a:t>
            </a:r>
            <a:endParaRPr lang="en-US" sz="880" dirty="0"/>
          </a:p>
        </p:txBody>
      </p:sp>
      <p:sp>
        <p:nvSpPr>
          <p:cNvPr id="31" name="Shape 29"/>
          <p:cNvSpPr/>
          <p:nvPr/>
        </p:nvSpPr>
        <p:spPr>
          <a:xfrm>
            <a:off x="7790688" y="4535424"/>
            <a:ext cx="182880" cy="182880"/>
          </a:xfrm>
          <a:prstGeom prst="ellipse">
            <a:avLst/>
          </a:prstGeom>
          <a:solidFill>
            <a:srgbClr val="FFFFFF"/>
          </a:solidFill>
          <a:ln w="12700">
            <a:solidFill>
              <a:srgbClr val="487052"/>
            </a:solidFill>
            <a:prstDash val="solid"/>
          </a:ln>
        </p:spPr>
      </p:sp>
      <p:sp>
        <p:nvSpPr>
          <p:cNvPr id="32" name="Shape 30"/>
          <p:cNvSpPr/>
          <p:nvPr/>
        </p:nvSpPr>
        <p:spPr>
          <a:xfrm>
            <a:off x="8183880" y="4462272"/>
            <a:ext cx="2514600" cy="365760"/>
          </a:xfrm>
          <a:prstGeom prst="rect">
            <a:avLst/>
          </a:prstGeom>
          <a:solidFill>
            <a:srgbClr val="FFFFFF"/>
          </a:solidFill>
          <a:ln w="7620">
            <a:solidFill>
              <a:srgbClr val="DADADA"/>
            </a:solidFill>
            <a:prstDash val="solid"/>
          </a:ln>
        </p:spPr>
      </p:sp>
      <p:sp>
        <p:nvSpPr>
          <p:cNvPr id="33" name="Text 31"/>
          <p:cNvSpPr/>
          <p:nvPr/>
        </p:nvSpPr>
        <p:spPr>
          <a:xfrm>
            <a:off x="8321040" y="4544568"/>
            <a:ext cx="2240280" cy="164592"/>
          </a:xfrm>
          <a:prstGeom prst="rect">
            <a:avLst/>
          </a:prstGeom>
          <a:noFill/>
          <a:ln/>
        </p:spPr>
        <p:txBody>
          <a:bodyPr wrap="square" lIns="0" tIns="0" rIns="0" bIns="0" rtlCol="0" anchor="ctr">
            <a:normAutofit/>
          </a:bodyPr>
          <a:lstStyle/>
          <a:p>
            <a:pPr indent="0" marL="0">
              <a:buNone/>
            </a:pPr>
            <a:r>
              <a:rPr lang="en-US" sz="880" dirty="0">
                <a:solidFill>
                  <a:srgbClr val="121212"/>
                </a:solidFill>
                <a:latin typeface="Microsoft YaHei" pitchFamily="34" charset="0"/>
                <a:ea typeface="Microsoft YaHei" pitchFamily="34" charset="-122"/>
                <a:cs typeface="Microsoft YaHei" pitchFamily="34" charset="-120"/>
              </a:rPr>
              <a:t>来源索引</a:t>
            </a:r>
            <a:endParaRPr lang="en-US" sz="880" dirty="0"/>
          </a:p>
        </p:txBody>
      </p:sp>
      <p:sp>
        <p:nvSpPr>
          <p:cNvPr id="34" name="Shape 32"/>
          <p:cNvSpPr/>
          <p:nvPr/>
        </p:nvSpPr>
        <p:spPr>
          <a:xfrm>
            <a:off x="658368" y="5779008"/>
            <a:ext cx="1463040" cy="292608"/>
          </a:xfrm>
          <a:prstGeom prst="rect">
            <a:avLst/>
          </a:prstGeom>
          <a:solidFill>
            <a:srgbClr val="121212"/>
          </a:solidFill>
          <a:ln w="12700">
            <a:solidFill>
              <a:srgbClr val="121212"/>
            </a:solidFill>
            <a:prstDash val="solid"/>
          </a:ln>
        </p:spPr>
      </p:sp>
      <p:sp>
        <p:nvSpPr>
          <p:cNvPr id="35" name="Text 33"/>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核心判断</a:t>
            </a:r>
            <a:endParaRPr lang="en-US" sz="780" dirty="0"/>
          </a:p>
        </p:txBody>
      </p:sp>
      <p:sp>
        <p:nvSpPr>
          <p:cNvPr id="36" name="Text 34"/>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今日磷酸铁锂行业信息以扩产和出海政策变化为主。湖南裕能、万华化学再度扩产磷酸铁锂，显示龙头对需求预期仍偏乐观；新能源汽车出口退税率从13%降至</a:t>
            </a:r>
            <a:endParaRPr lang="en-US" sz="10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2.</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EXECUTIVE BRIEF</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2026-10-26</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02</a:t>
            </a:r>
            <a:endParaRPr lang="en-US" sz="730" dirty="0"/>
          </a:p>
        </p:txBody>
      </p:sp>
      <p:sp>
        <p:nvSpPr>
          <p:cNvPr id="9" name="Text 7"/>
          <p:cNvSpPr/>
          <p:nvPr/>
        </p:nvSpPr>
        <p:spPr>
          <a:xfrm>
            <a:off x="658368" y="932688"/>
            <a:ext cx="2377440" cy="384048"/>
          </a:xfrm>
          <a:prstGeom prst="rect">
            <a:avLst/>
          </a:prstGeom>
          <a:noFill/>
          <a:ln/>
        </p:spPr>
        <p:txBody>
          <a:bodyPr wrap="square" lIns="0" tIns="0" rIns="0" bIns="0" rtlCol="0" anchor="ct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今日总览</a:t>
            </a:r>
            <a:endParaRPr lang="en-US" sz="2000" dirty="0"/>
          </a:p>
        </p:txBody>
      </p:sp>
      <p:sp>
        <p:nvSpPr>
          <p:cNvPr id="10" name="Text 8"/>
          <p:cNvSpPr/>
          <p:nvPr/>
        </p:nvSpPr>
        <p:spPr>
          <a:xfrm>
            <a:off x="2880360" y="996696"/>
            <a:ext cx="8138160" cy="219456"/>
          </a:xfrm>
          <a:prstGeom prst="rect">
            <a:avLst/>
          </a:prstGeom>
          <a:noFill/>
          <a:ln/>
        </p:spPr>
        <p:txBody>
          <a:bodyPr wrap="square" lIns="0" tIns="0" rIns="0" bIns="0" rtlCol="0" anchor="ctr">
            <a:normAutofit/>
          </a:bodyPr>
          <a:lstStyle/>
          <a:p>
            <a:pPr indent="0" marL="0">
              <a:buNone/>
            </a:pPr>
            <a:r>
              <a:rPr lang="en-US" sz="940" dirty="0">
                <a:solidFill>
                  <a:srgbClr val="6D756F"/>
                </a:solidFill>
                <a:latin typeface="Microsoft YaHei" pitchFamily="34" charset="0"/>
                <a:ea typeface="Microsoft YaHei" pitchFamily="34" charset="-122"/>
                <a:cs typeface="Microsoft YaHei" pitchFamily="34" charset="-120"/>
              </a:rPr>
              <a:t>今日磷酸铁锂行业信息以扩产和出海政策变化为主。湖南裕能、万华化学再度扩产磷酸铁锂，显示龙头对需求预期仍偏乐观；新能源汽车出口退税率从13%降至</a:t>
            </a:r>
            <a:endParaRPr lang="en-US" sz="940" dirty="0"/>
          </a:p>
        </p:txBody>
      </p:sp>
      <p:sp>
        <p:nvSpPr>
          <p:cNvPr id="11" name="Shape 9"/>
          <p:cNvSpPr/>
          <p:nvPr/>
        </p:nvSpPr>
        <p:spPr>
          <a:xfrm>
            <a:off x="658368" y="1444752"/>
            <a:ext cx="5074920" cy="1737360"/>
          </a:xfrm>
          <a:prstGeom prst="rect">
            <a:avLst/>
          </a:prstGeom>
          <a:solidFill>
            <a:srgbClr val="F4FAF6"/>
          </a:solidFill>
          <a:ln w="8890">
            <a:solidFill>
              <a:srgbClr val="DADADA"/>
            </a:solidFill>
            <a:prstDash val="solid"/>
          </a:ln>
        </p:spPr>
      </p:sp>
      <p:sp>
        <p:nvSpPr>
          <p:cNvPr id="12" name="Shape 10"/>
          <p:cNvSpPr/>
          <p:nvPr/>
        </p:nvSpPr>
        <p:spPr>
          <a:xfrm>
            <a:off x="658368" y="1444752"/>
            <a:ext cx="384048" cy="1737360"/>
          </a:xfrm>
          <a:prstGeom prst="rect">
            <a:avLst/>
          </a:prstGeom>
          <a:solidFill>
            <a:srgbClr val="121212"/>
          </a:solidFill>
          <a:ln w="12700">
            <a:solidFill>
              <a:srgbClr val="121212"/>
            </a:solidFill>
            <a:prstDash val="solid"/>
          </a:ln>
        </p:spPr>
      </p:sp>
      <p:sp>
        <p:nvSpPr>
          <p:cNvPr id="13" name="Text 11"/>
          <p:cNvSpPr/>
          <p:nvPr/>
        </p:nvSpPr>
        <p:spPr>
          <a:xfrm>
            <a:off x="786384" y="1627632"/>
            <a:ext cx="128016" cy="164592"/>
          </a:xfrm>
          <a:prstGeom prst="rect">
            <a:avLst/>
          </a:prstGeom>
          <a:noFill/>
          <a:ln/>
        </p:spPr>
        <p:txBody>
          <a:bodyPr wrap="square" lIns="0" tIns="0" rIns="0" bIns="0" rtlCol="0" anchor="ctr"/>
          <a:lstStyle/>
          <a:p>
            <a:pPr indent="0" marL="0">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14" name="Text 12"/>
          <p:cNvSpPr/>
          <p:nvPr/>
        </p:nvSpPr>
        <p:spPr>
          <a:xfrm>
            <a:off x="1188720" y="1609344"/>
            <a:ext cx="4233672" cy="182880"/>
          </a:xfrm>
          <a:prstGeom prst="rect">
            <a:avLst/>
          </a:prstGeom>
          <a:noFill/>
          <a:ln/>
        </p:spPr>
        <p:txBody>
          <a:bodyPr wrap="square" lIns="0" tIns="0" rIns="0" bIns="0" rtlCol="0" anchor="ctr">
            <a:normAutofit/>
          </a:bodyPr>
          <a:lstStyle/>
          <a:p>
            <a:pPr indent="0" marL="0">
              <a:buNone/>
            </a:pPr>
            <a:r>
              <a:rPr lang="en-US" sz="920" b="1" dirty="0">
                <a:solidFill>
                  <a:srgbClr val="487052"/>
                </a:solidFill>
                <a:latin typeface="Microsoft YaHei" pitchFamily="34" charset="0"/>
                <a:ea typeface="Microsoft YaHei" pitchFamily="34" charset="-122"/>
                <a:cs typeface="Microsoft YaHei" pitchFamily="34" charset="-120"/>
              </a:rPr>
              <a:t>今日结论</a:t>
            </a:r>
            <a:endParaRPr lang="en-US" sz="920" dirty="0"/>
          </a:p>
        </p:txBody>
      </p:sp>
      <p:sp>
        <p:nvSpPr>
          <p:cNvPr id="15" name="Shape 13"/>
          <p:cNvSpPr/>
          <p:nvPr/>
        </p:nvSpPr>
        <p:spPr>
          <a:xfrm>
            <a:off x="1188720" y="1883664"/>
            <a:ext cx="2194560" cy="54864"/>
          </a:xfrm>
          <a:prstGeom prst="rect">
            <a:avLst/>
          </a:prstGeom>
          <a:solidFill>
            <a:srgbClr val="487052"/>
          </a:solidFill>
          <a:ln w="12700">
            <a:solidFill>
              <a:srgbClr val="487052"/>
            </a:solidFill>
            <a:prstDash val="solid"/>
          </a:ln>
        </p:spPr>
      </p:sp>
      <p:sp>
        <p:nvSpPr>
          <p:cNvPr id="16" name="Text 14"/>
          <p:cNvSpPr/>
          <p:nvPr/>
        </p:nvSpPr>
        <p:spPr>
          <a:xfrm>
            <a:off x="1188720" y="2029968"/>
            <a:ext cx="4233672" cy="749808"/>
          </a:xfrm>
          <a:prstGeom prst="rect">
            <a:avLst/>
          </a:prstGeom>
          <a:noFill/>
          <a:ln/>
        </p:spPr>
        <p:txBody>
          <a:bodyPr wrap="square" lIns="0" tIns="0" rIns="0" bIns="0" rtlCol="0" anchor="t">
            <a:normAutofit/>
          </a:bodyPr>
          <a:lstStyle/>
          <a:p>
            <a:pPr indent="0" marL="0">
              <a:buNone/>
            </a:pPr>
            <a:r>
              <a:rPr lang="en-US" sz="920" b="1" dirty="0">
                <a:solidFill>
                  <a:srgbClr val="121212"/>
                </a:solidFill>
                <a:latin typeface="Microsoft YaHei" pitchFamily="34" charset="0"/>
                <a:ea typeface="Microsoft YaHei" pitchFamily="34" charset="-122"/>
                <a:cs typeface="Microsoft YaHei" pitchFamily="34" charset="-120"/>
              </a:rPr>
              <a:t>湖南裕能、万华化学再扩磷酸铁锂产能，龙头扩产延续，供给端压力预期未消；新能源汽车出口退税率由13%降至9%，出海成本上升可能向上游电池材料传导；宁德时代三季报高增但机构对盈利</a:t>
            </a:r>
            <a:endParaRPr lang="en-US" sz="920" dirty="0"/>
          </a:p>
        </p:txBody>
      </p:sp>
      <p:sp>
        <p:nvSpPr>
          <p:cNvPr id="17" name="Text 15"/>
          <p:cNvSpPr/>
          <p:nvPr/>
        </p:nvSpPr>
        <p:spPr>
          <a:xfrm>
            <a:off x="1188720" y="2862072"/>
            <a:ext cx="4233672" cy="128016"/>
          </a:xfrm>
          <a:prstGeom prst="rect">
            <a:avLst/>
          </a:prstGeom>
          <a:noFill/>
          <a:ln/>
        </p:spPr>
        <p:txBody>
          <a:bodyPr wrap="square" lIns="0" tIns="0" rIns="0" bIns="0" rtlCol="0" anchor="ctr">
            <a:normAutofit/>
          </a:bodyPr>
          <a:lstStyle/>
          <a:p>
            <a:pPr indent="0" marL="0">
              <a:buNone/>
            </a:pPr>
            <a:r>
              <a:rPr lang="en-US" sz="750" dirty="0">
                <a:solidFill>
                  <a:srgbClr val="6D756F"/>
                </a:solidFill>
                <a:latin typeface="Aptos" pitchFamily="34" charset="0"/>
                <a:ea typeface="Aptos" pitchFamily="34" charset="-122"/>
                <a:cs typeface="Aptos" pitchFamily="34" charset="-120"/>
              </a:rPr>
              <a:t>[1][2][3]</a:t>
            </a:r>
            <a:endParaRPr lang="en-US" sz="750" dirty="0"/>
          </a:p>
        </p:txBody>
      </p:sp>
      <p:sp>
        <p:nvSpPr>
          <p:cNvPr id="18" name="Shape 16"/>
          <p:cNvSpPr/>
          <p:nvPr/>
        </p:nvSpPr>
        <p:spPr>
          <a:xfrm>
            <a:off x="6236208" y="1444752"/>
            <a:ext cx="5074920" cy="1737360"/>
          </a:xfrm>
          <a:prstGeom prst="rect">
            <a:avLst/>
          </a:prstGeom>
          <a:solidFill>
            <a:srgbClr val="FFFFFF"/>
          </a:solidFill>
          <a:ln w="8890">
            <a:solidFill>
              <a:srgbClr val="DADADA"/>
            </a:solidFill>
            <a:prstDash val="solid"/>
          </a:ln>
        </p:spPr>
      </p:sp>
      <p:sp>
        <p:nvSpPr>
          <p:cNvPr id="19" name="Shape 17"/>
          <p:cNvSpPr/>
          <p:nvPr/>
        </p:nvSpPr>
        <p:spPr>
          <a:xfrm>
            <a:off x="6236208" y="1444752"/>
            <a:ext cx="384048" cy="1737360"/>
          </a:xfrm>
          <a:prstGeom prst="rect">
            <a:avLst/>
          </a:prstGeom>
          <a:solidFill>
            <a:srgbClr val="121212"/>
          </a:solidFill>
          <a:ln w="12700">
            <a:solidFill>
              <a:srgbClr val="121212"/>
            </a:solidFill>
            <a:prstDash val="solid"/>
          </a:ln>
        </p:spPr>
      </p:sp>
      <p:sp>
        <p:nvSpPr>
          <p:cNvPr id="20" name="Text 18"/>
          <p:cNvSpPr/>
          <p:nvPr/>
        </p:nvSpPr>
        <p:spPr>
          <a:xfrm>
            <a:off x="6364224" y="1627632"/>
            <a:ext cx="128016" cy="164592"/>
          </a:xfrm>
          <a:prstGeom prst="rect">
            <a:avLst/>
          </a:prstGeom>
          <a:noFill/>
          <a:ln/>
        </p:spPr>
        <p:txBody>
          <a:bodyPr wrap="square" lIns="0" tIns="0" rIns="0" bIns="0" rtlCol="0" anchor="ctr"/>
          <a:lstStyle/>
          <a:p>
            <a:pPr indent="0" marL="0">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21" name="Text 19"/>
          <p:cNvSpPr/>
          <p:nvPr/>
        </p:nvSpPr>
        <p:spPr>
          <a:xfrm>
            <a:off x="6766560" y="1609344"/>
            <a:ext cx="4233672" cy="182880"/>
          </a:xfrm>
          <a:prstGeom prst="rect">
            <a:avLst/>
          </a:prstGeom>
          <a:noFill/>
          <a:ln/>
        </p:spPr>
        <p:txBody>
          <a:bodyPr wrap="square" lIns="0" tIns="0" rIns="0" bIns="0" rtlCol="0" anchor="ctr">
            <a:normAutofit/>
          </a:bodyPr>
          <a:lstStyle/>
          <a:p>
            <a:pPr indent="0" marL="0">
              <a:buNone/>
            </a:pPr>
            <a:r>
              <a:rPr lang="en-US" sz="920" b="1" dirty="0">
                <a:solidFill>
                  <a:srgbClr val="487052"/>
                </a:solidFill>
                <a:latin typeface="Microsoft YaHei" pitchFamily="34" charset="0"/>
                <a:ea typeface="Microsoft YaHei" pitchFamily="34" charset="-122"/>
                <a:cs typeface="Microsoft YaHei" pitchFamily="34" charset="-120"/>
              </a:rPr>
              <a:t>技术/产品路线</a:t>
            </a:r>
            <a:endParaRPr lang="en-US" sz="920" dirty="0"/>
          </a:p>
        </p:txBody>
      </p:sp>
      <p:sp>
        <p:nvSpPr>
          <p:cNvPr id="22" name="Shape 20"/>
          <p:cNvSpPr/>
          <p:nvPr/>
        </p:nvSpPr>
        <p:spPr>
          <a:xfrm>
            <a:off x="6766560" y="1883664"/>
            <a:ext cx="1316736" cy="54864"/>
          </a:xfrm>
          <a:prstGeom prst="rect">
            <a:avLst/>
          </a:prstGeom>
          <a:solidFill>
            <a:srgbClr val="487052"/>
          </a:solidFill>
          <a:ln w="12700">
            <a:solidFill>
              <a:srgbClr val="487052"/>
            </a:solidFill>
            <a:prstDash val="solid"/>
          </a:ln>
        </p:spPr>
      </p:sp>
      <p:sp>
        <p:nvSpPr>
          <p:cNvPr id="23" name="Text 21"/>
          <p:cNvSpPr/>
          <p:nvPr/>
        </p:nvSpPr>
        <p:spPr>
          <a:xfrm>
            <a:off x="6766560" y="2029968"/>
            <a:ext cx="4233672" cy="749808"/>
          </a:xfrm>
          <a:prstGeom prst="rect">
            <a:avLst/>
          </a:prstGeom>
          <a:noFill/>
          <a:ln/>
        </p:spPr>
        <p:txBody>
          <a:bodyPr wrap="square" lIns="0" tIns="0" rIns="0" bIns="0" rtlCol="0" anchor="t">
            <a:normAutofit/>
          </a:bodyPr>
          <a:lstStyle/>
          <a:p>
            <a:pPr indent="0" marL="0">
              <a:buNone/>
            </a:pPr>
            <a:r>
              <a:rPr lang="en-US" sz="920" b="1" dirty="0">
                <a:solidFill>
                  <a:srgbClr val="121212"/>
                </a:solidFill>
                <a:latin typeface="Microsoft YaHei" pitchFamily="34" charset="0"/>
                <a:ea typeface="Microsoft YaHei" pitchFamily="34" charset="-122"/>
                <a:cs typeface="Microsoft YaHei" pitchFamily="34" charset="-120"/>
              </a:rPr>
              <a:t>今日信息未出现磷酸铁锂技术路线的直接突破，但清陶能源80亿元固态电池项目一期投产的新闻与磷酸铁锂扩产同周出现，显示固态电池产业化推进对磷酸铁锂长期技术路线构成潜在竞争；电摩锂</a:t>
            </a:r>
            <a:endParaRPr lang="en-US" sz="920" dirty="0"/>
          </a:p>
        </p:txBody>
      </p:sp>
      <p:sp>
        <p:nvSpPr>
          <p:cNvPr id="24" name="Text 22"/>
          <p:cNvSpPr/>
          <p:nvPr/>
        </p:nvSpPr>
        <p:spPr>
          <a:xfrm>
            <a:off x="6766560" y="2862072"/>
            <a:ext cx="4233672" cy="128016"/>
          </a:xfrm>
          <a:prstGeom prst="rect">
            <a:avLst/>
          </a:prstGeom>
          <a:noFill/>
          <a:ln/>
        </p:spPr>
        <p:txBody>
          <a:bodyPr wrap="square" lIns="0" tIns="0" rIns="0" bIns="0" rtlCol="0" anchor="ctr">
            <a:normAutofit/>
          </a:bodyPr>
          <a:lstStyle/>
          <a:p>
            <a:pPr indent="0" marL="0">
              <a:buNone/>
            </a:pPr>
            <a:r>
              <a:rPr lang="en-US" sz="750" dirty="0">
                <a:solidFill>
                  <a:srgbClr val="6D756F"/>
                </a:solidFill>
                <a:latin typeface="Aptos" pitchFamily="34" charset="0"/>
                <a:ea typeface="Aptos" pitchFamily="34" charset="-122"/>
                <a:cs typeface="Aptos" pitchFamily="34" charset="-120"/>
              </a:rPr>
              <a:t>[1][4]</a:t>
            </a:r>
            <a:endParaRPr lang="en-US" sz="750" dirty="0"/>
          </a:p>
        </p:txBody>
      </p:sp>
      <p:sp>
        <p:nvSpPr>
          <p:cNvPr id="25" name="Shape 23"/>
          <p:cNvSpPr/>
          <p:nvPr/>
        </p:nvSpPr>
        <p:spPr>
          <a:xfrm>
            <a:off x="658368" y="3566160"/>
            <a:ext cx="5074920" cy="1737360"/>
          </a:xfrm>
          <a:prstGeom prst="rect">
            <a:avLst/>
          </a:prstGeom>
          <a:solidFill>
            <a:srgbClr val="F4FAF6"/>
          </a:solidFill>
          <a:ln w="8890">
            <a:solidFill>
              <a:srgbClr val="DADADA"/>
            </a:solidFill>
            <a:prstDash val="solid"/>
          </a:ln>
        </p:spPr>
      </p:sp>
      <p:sp>
        <p:nvSpPr>
          <p:cNvPr id="26" name="Shape 24"/>
          <p:cNvSpPr/>
          <p:nvPr/>
        </p:nvSpPr>
        <p:spPr>
          <a:xfrm>
            <a:off x="658368" y="3566160"/>
            <a:ext cx="384048" cy="1737360"/>
          </a:xfrm>
          <a:prstGeom prst="rect">
            <a:avLst/>
          </a:prstGeom>
          <a:solidFill>
            <a:srgbClr val="121212"/>
          </a:solidFill>
          <a:ln w="12700">
            <a:solidFill>
              <a:srgbClr val="121212"/>
            </a:solidFill>
            <a:prstDash val="solid"/>
          </a:ln>
        </p:spPr>
      </p:sp>
      <p:sp>
        <p:nvSpPr>
          <p:cNvPr id="27" name="Text 25"/>
          <p:cNvSpPr/>
          <p:nvPr/>
        </p:nvSpPr>
        <p:spPr>
          <a:xfrm>
            <a:off x="786384" y="3749040"/>
            <a:ext cx="128016" cy="164592"/>
          </a:xfrm>
          <a:prstGeom prst="rect">
            <a:avLst/>
          </a:prstGeom>
          <a:noFill/>
          <a:ln/>
        </p:spPr>
        <p:txBody>
          <a:bodyPr wrap="square" lIns="0" tIns="0" rIns="0" bIns="0" rtlCol="0" anchor="ctr"/>
          <a:lstStyle/>
          <a:p>
            <a:pPr indent="0" marL="0">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28" name="Text 26"/>
          <p:cNvSpPr/>
          <p:nvPr/>
        </p:nvSpPr>
        <p:spPr>
          <a:xfrm>
            <a:off x="1188720" y="3730752"/>
            <a:ext cx="4233672" cy="182880"/>
          </a:xfrm>
          <a:prstGeom prst="rect">
            <a:avLst/>
          </a:prstGeom>
          <a:noFill/>
          <a:ln/>
        </p:spPr>
        <p:txBody>
          <a:bodyPr wrap="square" lIns="0" tIns="0" rIns="0" bIns="0" rtlCol="0" anchor="ctr">
            <a:normAutofit/>
          </a:bodyPr>
          <a:lstStyle/>
          <a:p>
            <a:pPr indent="0" marL="0">
              <a:buNone/>
            </a:pPr>
            <a:r>
              <a:rPr lang="en-US" sz="920" b="1" dirty="0">
                <a:solidFill>
                  <a:srgbClr val="487052"/>
                </a:solidFill>
                <a:latin typeface="Microsoft YaHei" pitchFamily="34" charset="0"/>
                <a:ea typeface="Microsoft YaHei" pitchFamily="34" charset="-122"/>
                <a:cs typeface="Microsoft YaHei" pitchFamily="34" charset="-120"/>
              </a:rPr>
              <a:t>产能/客户/订单</a:t>
            </a:r>
            <a:endParaRPr lang="en-US" sz="920" dirty="0"/>
          </a:p>
        </p:txBody>
      </p:sp>
      <p:sp>
        <p:nvSpPr>
          <p:cNvPr id="29" name="Shape 27"/>
          <p:cNvSpPr/>
          <p:nvPr/>
        </p:nvSpPr>
        <p:spPr>
          <a:xfrm>
            <a:off x="1188720" y="4005072"/>
            <a:ext cx="1316736" cy="54864"/>
          </a:xfrm>
          <a:prstGeom prst="rect">
            <a:avLst/>
          </a:prstGeom>
          <a:solidFill>
            <a:srgbClr val="487052"/>
          </a:solidFill>
          <a:ln w="12700">
            <a:solidFill>
              <a:srgbClr val="487052"/>
            </a:solidFill>
            <a:prstDash val="solid"/>
          </a:ln>
        </p:spPr>
      </p:sp>
      <p:sp>
        <p:nvSpPr>
          <p:cNvPr id="30" name="Text 28"/>
          <p:cNvSpPr/>
          <p:nvPr/>
        </p:nvSpPr>
        <p:spPr>
          <a:xfrm>
            <a:off x="1188720" y="4151376"/>
            <a:ext cx="4233672" cy="749808"/>
          </a:xfrm>
          <a:prstGeom prst="rect">
            <a:avLst/>
          </a:prstGeom>
          <a:noFill/>
          <a:ln/>
        </p:spPr>
        <p:txBody>
          <a:bodyPr wrap="square" lIns="0" tIns="0" rIns="0" bIns="0" rtlCol="0" anchor="t">
            <a:normAutofit/>
          </a:bodyPr>
          <a:lstStyle/>
          <a:p>
            <a:pPr indent="0" marL="0">
              <a:buNone/>
            </a:pPr>
            <a:r>
              <a:rPr lang="en-US" sz="920" b="1" dirty="0">
                <a:solidFill>
                  <a:srgbClr val="121212"/>
                </a:solidFill>
                <a:latin typeface="Microsoft YaHei" pitchFamily="34" charset="0"/>
                <a:ea typeface="Microsoft YaHei" pitchFamily="34" charset="-122"/>
                <a:cs typeface="Microsoft YaHei" pitchFamily="34" charset="-120"/>
              </a:rPr>
              <a:t>湖南裕能、万华化学再度扩产磷酸铁锂，龙头产能扩张延续，行业供给端压力预期不减；宁德时代三季报业绩高增，作为磷酸铁锂主要客户之一，其排产增长可能对正极材料订单形成支撑，但具体磷</a:t>
            </a:r>
            <a:endParaRPr lang="en-US" sz="920" dirty="0"/>
          </a:p>
        </p:txBody>
      </p:sp>
      <p:sp>
        <p:nvSpPr>
          <p:cNvPr id="31" name="Text 29"/>
          <p:cNvSpPr/>
          <p:nvPr/>
        </p:nvSpPr>
        <p:spPr>
          <a:xfrm>
            <a:off x="1188720" y="4983480"/>
            <a:ext cx="4233672" cy="128016"/>
          </a:xfrm>
          <a:prstGeom prst="rect">
            <a:avLst/>
          </a:prstGeom>
          <a:noFill/>
          <a:ln/>
        </p:spPr>
        <p:txBody>
          <a:bodyPr wrap="square" lIns="0" tIns="0" rIns="0" bIns="0" rtlCol="0" anchor="ctr">
            <a:normAutofit/>
          </a:bodyPr>
          <a:lstStyle/>
          <a:p>
            <a:pPr indent="0" marL="0">
              <a:buNone/>
            </a:pPr>
            <a:r>
              <a:rPr lang="en-US" sz="750" dirty="0">
                <a:solidFill>
                  <a:srgbClr val="6D756F"/>
                </a:solidFill>
                <a:latin typeface="Aptos" pitchFamily="34" charset="0"/>
                <a:ea typeface="Aptos" pitchFamily="34" charset="-122"/>
                <a:cs typeface="Aptos" pitchFamily="34" charset="-120"/>
              </a:rPr>
              <a:t>[1][3]</a:t>
            </a:r>
            <a:endParaRPr lang="en-US" sz="750" dirty="0"/>
          </a:p>
        </p:txBody>
      </p:sp>
      <p:sp>
        <p:nvSpPr>
          <p:cNvPr id="32" name="Shape 30"/>
          <p:cNvSpPr/>
          <p:nvPr/>
        </p:nvSpPr>
        <p:spPr>
          <a:xfrm>
            <a:off x="6236208" y="3566160"/>
            <a:ext cx="5074920" cy="1737360"/>
          </a:xfrm>
          <a:prstGeom prst="rect">
            <a:avLst/>
          </a:prstGeom>
          <a:solidFill>
            <a:srgbClr val="FFFFFF"/>
          </a:solidFill>
          <a:ln w="8890">
            <a:solidFill>
              <a:srgbClr val="DADADA"/>
            </a:solidFill>
            <a:prstDash val="solid"/>
          </a:ln>
        </p:spPr>
      </p:sp>
      <p:sp>
        <p:nvSpPr>
          <p:cNvPr id="33" name="Shape 31"/>
          <p:cNvSpPr/>
          <p:nvPr/>
        </p:nvSpPr>
        <p:spPr>
          <a:xfrm>
            <a:off x="6236208" y="3566160"/>
            <a:ext cx="384048" cy="1737360"/>
          </a:xfrm>
          <a:prstGeom prst="rect">
            <a:avLst/>
          </a:prstGeom>
          <a:solidFill>
            <a:srgbClr val="121212"/>
          </a:solidFill>
          <a:ln w="12700">
            <a:solidFill>
              <a:srgbClr val="121212"/>
            </a:solidFill>
            <a:prstDash val="solid"/>
          </a:ln>
        </p:spPr>
      </p:sp>
      <p:sp>
        <p:nvSpPr>
          <p:cNvPr id="34" name="Text 32"/>
          <p:cNvSpPr/>
          <p:nvPr/>
        </p:nvSpPr>
        <p:spPr>
          <a:xfrm>
            <a:off x="6364224" y="3749040"/>
            <a:ext cx="128016" cy="164592"/>
          </a:xfrm>
          <a:prstGeom prst="rect">
            <a:avLst/>
          </a:prstGeom>
          <a:noFill/>
          <a:ln/>
        </p:spPr>
        <p:txBody>
          <a:bodyPr wrap="square" lIns="0" tIns="0" rIns="0" bIns="0" rtlCol="0" anchor="ctr"/>
          <a:lstStyle/>
          <a:p>
            <a:pPr indent="0" marL="0">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35" name="Text 33"/>
          <p:cNvSpPr/>
          <p:nvPr/>
        </p:nvSpPr>
        <p:spPr>
          <a:xfrm>
            <a:off x="6766560" y="3730752"/>
            <a:ext cx="4233672" cy="182880"/>
          </a:xfrm>
          <a:prstGeom prst="rect">
            <a:avLst/>
          </a:prstGeom>
          <a:noFill/>
          <a:ln/>
        </p:spPr>
        <p:txBody>
          <a:bodyPr wrap="square" lIns="0" tIns="0" rIns="0" bIns="0" rtlCol="0" anchor="ctr">
            <a:normAutofit/>
          </a:bodyPr>
          <a:lstStyle/>
          <a:p>
            <a:pPr indent="0" marL="0">
              <a:buNone/>
            </a:pPr>
            <a:r>
              <a:rPr lang="en-US" sz="920" b="1" dirty="0">
                <a:solidFill>
                  <a:srgbClr val="487052"/>
                </a:solidFill>
                <a:latin typeface="Microsoft YaHei" pitchFamily="34" charset="0"/>
                <a:ea typeface="Microsoft YaHei" pitchFamily="34" charset="-122"/>
                <a:cs typeface="Microsoft YaHei" pitchFamily="34" charset="-120"/>
              </a:rPr>
              <a:t>价格/盈利压力</a:t>
            </a:r>
            <a:endParaRPr lang="en-US" sz="920" dirty="0"/>
          </a:p>
        </p:txBody>
      </p:sp>
      <p:sp>
        <p:nvSpPr>
          <p:cNvPr id="36" name="Shape 34"/>
          <p:cNvSpPr/>
          <p:nvPr/>
        </p:nvSpPr>
        <p:spPr>
          <a:xfrm>
            <a:off x="6766560" y="4005072"/>
            <a:ext cx="1316736" cy="54864"/>
          </a:xfrm>
          <a:prstGeom prst="rect">
            <a:avLst/>
          </a:prstGeom>
          <a:solidFill>
            <a:srgbClr val="487052"/>
          </a:solidFill>
          <a:ln w="12700">
            <a:solidFill>
              <a:srgbClr val="487052"/>
            </a:solidFill>
            <a:prstDash val="solid"/>
          </a:ln>
        </p:spPr>
      </p:sp>
      <p:sp>
        <p:nvSpPr>
          <p:cNvPr id="37" name="Text 35"/>
          <p:cNvSpPr/>
          <p:nvPr/>
        </p:nvSpPr>
        <p:spPr>
          <a:xfrm>
            <a:off x="6766560" y="4151376"/>
            <a:ext cx="4233672" cy="749808"/>
          </a:xfrm>
          <a:prstGeom prst="rect">
            <a:avLst/>
          </a:prstGeom>
          <a:noFill/>
          <a:ln/>
        </p:spPr>
        <p:txBody>
          <a:bodyPr wrap="square" lIns="0" tIns="0" rIns="0" bIns="0" rtlCol="0" anchor="t">
            <a:normAutofit/>
          </a:bodyPr>
          <a:lstStyle/>
          <a:p>
            <a:pPr indent="0" marL="0">
              <a:buNone/>
            </a:pPr>
            <a:r>
              <a:rPr lang="en-US" sz="920" b="1" dirty="0">
                <a:solidFill>
                  <a:srgbClr val="121212"/>
                </a:solidFill>
                <a:latin typeface="Microsoft YaHei" pitchFamily="34" charset="0"/>
                <a:ea typeface="Microsoft YaHei" pitchFamily="34" charset="-122"/>
                <a:cs typeface="Microsoft YaHei" pitchFamily="34" charset="-120"/>
              </a:rPr>
              <a:t>新能源汽车出口退税率从13%降至9%，可能抬高出海成本并压缩电池厂利润，进而向上游磷酸铁锂正极材料传导降价压力；宁德时代三季报业绩高增，机构看好盈利拐点，但磷酸铁锂环节盈利是</a:t>
            </a:r>
            <a:endParaRPr lang="en-US" sz="920" dirty="0"/>
          </a:p>
        </p:txBody>
      </p:sp>
      <p:sp>
        <p:nvSpPr>
          <p:cNvPr id="38" name="Text 36"/>
          <p:cNvSpPr/>
          <p:nvPr/>
        </p:nvSpPr>
        <p:spPr>
          <a:xfrm>
            <a:off x="6766560" y="4983480"/>
            <a:ext cx="4233672" cy="128016"/>
          </a:xfrm>
          <a:prstGeom prst="rect">
            <a:avLst/>
          </a:prstGeom>
          <a:noFill/>
          <a:ln/>
        </p:spPr>
        <p:txBody>
          <a:bodyPr wrap="square" lIns="0" tIns="0" rIns="0" bIns="0" rtlCol="0" anchor="ctr">
            <a:normAutofit/>
          </a:bodyPr>
          <a:lstStyle/>
          <a:p>
            <a:pPr indent="0" marL="0">
              <a:buNone/>
            </a:pPr>
            <a:r>
              <a:rPr lang="en-US" sz="750" dirty="0">
                <a:solidFill>
                  <a:srgbClr val="6D756F"/>
                </a:solidFill>
                <a:latin typeface="Aptos" pitchFamily="34" charset="0"/>
                <a:ea typeface="Aptos" pitchFamily="34" charset="-122"/>
                <a:cs typeface="Aptos" pitchFamily="34" charset="-120"/>
              </a:rPr>
              <a:t>[2][3]</a:t>
            </a:r>
            <a:endParaRPr lang="en-US" sz="750" dirty="0"/>
          </a:p>
        </p:txBody>
      </p:sp>
      <p:sp>
        <p:nvSpPr>
          <p:cNvPr id="39" name="Shape 37"/>
          <p:cNvSpPr/>
          <p:nvPr/>
        </p:nvSpPr>
        <p:spPr>
          <a:xfrm>
            <a:off x="658368" y="5779008"/>
            <a:ext cx="1463040" cy="292608"/>
          </a:xfrm>
          <a:prstGeom prst="rect">
            <a:avLst/>
          </a:prstGeom>
          <a:solidFill>
            <a:srgbClr val="121212"/>
          </a:solidFill>
          <a:ln w="12700">
            <a:solidFill>
              <a:srgbClr val="121212"/>
            </a:solidFill>
            <a:prstDash val="solid"/>
          </a:ln>
        </p:spPr>
      </p:sp>
      <p:sp>
        <p:nvSpPr>
          <p:cNvPr id="40" name="Text 38"/>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总览结论</a:t>
            </a:r>
            <a:endParaRPr lang="en-US" sz="780" dirty="0"/>
          </a:p>
        </p:txBody>
      </p:sp>
      <p:sp>
        <p:nvSpPr>
          <p:cNvPr id="41" name="Text 39"/>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今日磷酸铁锂行业信息以扩产和出海政策变化为主。湖南裕能、万华化学再度扩产磷酸铁锂，显示龙头对需求预期仍偏乐观；新能源汽车出口退税率从13%降至</a:t>
            </a:r>
            <a:endParaRPr lang="en-US" sz="10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3.</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2026-10-26</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03</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今日结论</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3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湖南裕能、万华化学再扩磷酸铁锂产能，龙头扩产延续，供给端压力预期未消；新能源汽车出口退税率由13%降至9%，出海成本上升可能向上游电池材料传导；宁德时代三季报高增但机构对盈利拐点的判断仍需磷酸铁锂细分数据验证。短期行业核心矛盾仍是产能扩张与需求增速的匹配度。 [1][2][3]</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依据：[1][2][3]</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扩产新闻与出口退税下调形成对冲信号：一方面龙头扩产表明对中期需求有信心，另一方面出口政策收紧可能抑制海外新能源汽车增速，进而影响磷酸铁锂正极材料需求。宁德时代业绩高增更多反映其综合竞争力，不能直接等同于磷酸铁锂环节盈利改善。需继续调研：扩产项目的具体投产时间和产能规模；出口退税下调对电池厂海外定价和订单的实际影响；磷酸铁锂正极材料价格和加工费的最新走势。</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后续披露的扩产项目投产进度快于需求增速，则磷酸铁锂正极材料加工费可能继续承压；若出口退税下调导致新能源汽车海外销量增速放缓，则电池厂可能向上游压价。跟踪指标：磷酸铁锂正极材料周度价格、龙头扩产项目投产公告、新能源汽车月度出口数据。证据边界：当前仅有扩产和退税政策新闻，尚无具体产能释放和订单变化数据。</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关键数据解读</a:t>
            </a:r>
            <a:endParaRPr lang="en-US" sz="1200" dirty="0"/>
          </a:p>
        </p:txBody>
      </p:sp>
      <p:sp>
        <p:nvSpPr>
          <p:cNvPr id="24" name="Shape 22"/>
          <p:cNvSpPr/>
          <p:nvPr/>
        </p:nvSpPr>
        <p:spPr>
          <a:xfrm>
            <a:off x="7772400" y="1993392"/>
            <a:ext cx="2560320" cy="786384"/>
          </a:xfrm>
          <a:prstGeom prst="roundRect">
            <a:avLst>
              <a:gd name="adj" fmla="val 4651"/>
            </a:avLst>
          </a:prstGeom>
          <a:solidFill>
            <a:srgbClr val="F4FAF6"/>
          </a:solidFill>
          <a:ln w="7620">
            <a:solidFill>
              <a:srgbClr val="DADADA"/>
            </a:solidFill>
            <a:prstDash val="solid"/>
          </a:ln>
        </p:spPr>
      </p:sp>
      <p:sp>
        <p:nvSpPr>
          <p:cNvPr id="25" name="Text 23"/>
          <p:cNvSpPr/>
          <p:nvPr/>
        </p:nvSpPr>
        <p:spPr>
          <a:xfrm>
            <a:off x="7918704" y="2103120"/>
            <a:ext cx="822960" cy="384048"/>
          </a:xfrm>
          <a:prstGeom prst="rect">
            <a:avLst/>
          </a:prstGeom>
          <a:noFill/>
          <a:ln/>
        </p:spPr>
        <p:txBody>
          <a:bodyPr wrap="square" lIns="0" tIns="0" rIns="0" bIns="0" rtlCol="0" anchor="ctr">
            <a:normAutofit/>
          </a:bodyPr>
          <a:lstStyle/>
          <a:p>
            <a:pPr indent="0" marL="0">
              <a:buNone/>
            </a:pPr>
            <a:r>
              <a:rPr lang="en-US" sz="1600" b="1" dirty="0">
                <a:solidFill>
                  <a:srgbClr val="487052"/>
                </a:solidFill>
                <a:latin typeface="Aptos" pitchFamily="34" charset="0"/>
                <a:ea typeface="Aptos" pitchFamily="34" charset="-122"/>
                <a:cs typeface="Aptos" pitchFamily="34" charset="-120"/>
              </a:rPr>
              <a:t>13%</a:t>
            </a:r>
            <a:endParaRPr lang="en-US" sz="1600" dirty="0"/>
          </a:p>
        </p:txBody>
      </p:sp>
      <p:sp>
        <p:nvSpPr>
          <p:cNvPr id="26" name="Text 24"/>
          <p:cNvSpPr/>
          <p:nvPr/>
        </p:nvSpPr>
        <p:spPr>
          <a:xfrm>
            <a:off x="8759952" y="2167128"/>
            <a:ext cx="1371600" cy="201168"/>
          </a:xfrm>
          <a:prstGeom prst="rect">
            <a:avLst/>
          </a:prstGeom>
          <a:noFill/>
          <a:ln/>
        </p:spPr>
        <p:txBody>
          <a:bodyPr wrap="square" lIns="0" tIns="0" rIns="0" bIns="0" rtlCol="0" anchor="ctr">
            <a:normAutofit/>
          </a:bodyPr>
          <a:lstStyle/>
          <a:p>
            <a:pPr indent="0" marL="0">
              <a:buNone/>
            </a:pPr>
            <a:r>
              <a:rPr lang="en-US" sz="820" b="1" dirty="0">
                <a:solidFill>
                  <a:srgbClr val="121212"/>
                </a:solidFill>
                <a:latin typeface="Microsoft YaHei" pitchFamily="34" charset="0"/>
                <a:ea typeface="Microsoft YaHei" pitchFamily="34" charset="-122"/>
                <a:cs typeface="Microsoft YaHei" pitchFamily="34" charset="-120"/>
              </a:rPr>
              <a:t>降至</a:t>
            </a:r>
            <a:endParaRPr lang="en-US" sz="820" dirty="0"/>
          </a:p>
        </p:txBody>
      </p:sp>
      <p:sp>
        <p:nvSpPr>
          <p:cNvPr id="27" name="Text 25"/>
          <p:cNvSpPr/>
          <p:nvPr/>
        </p:nvSpPr>
        <p:spPr>
          <a:xfrm>
            <a:off x="7918704" y="2578608"/>
            <a:ext cx="2176272" cy="201168"/>
          </a:xfrm>
          <a:prstGeom prst="rect">
            <a:avLst/>
          </a:prstGeom>
          <a:noFill/>
          <a:ln/>
        </p:spPr>
        <p:txBody>
          <a:bodyPr wrap="square" lIns="0" tIns="0" rIns="0" bIns="0" rtlCol="0" anchor="t">
            <a:normAutofit/>
          </a:bodyPr>
          <a:lstStyle/>
          <a:p>
            <a:pPr indent="0" marL="0">
              <a:buNone/>
            </a:pPr>
            <a:r>
              <a:rPr lang="en-US" sz="840" dirty="0">
                <a:solidFill>
                  <a:srgbClr val="121212"/>
                </a:solidFill>
                <a:latin typeface="Microsoft YaHei" pitchFamily="34" charset="0"/>
                <a:ea typeface="Microsoft YaHei" pitchFamily="34" charset="-122"/>
                <a:cs typeface="Microsoft YaHei" pitchFamily="34" charset="-120"/>
              </a:rPr>
              <a:t>公开信息：新能源汽车出口退税率由13%降至9%，出海成本上升可能向上</a:t>
            </a:r>
            <a:endParaRPr lang="en-US" sz="840" dirty="0"/>
          </a:p>
        </p:txBody>
      </p:sp>
      <p:sp>
        <p:nvSpPr>
          <p:cNvPr id="28" name="Shape 26"/>
          <p:cNvSpPr/>
          <p:nvPr/>
        </p:nvSpPr>
        <p:spPr>
          <a:xfrm>
            <a:off x="7772400" y="2926080"/>
            <a:ext cx="2560320" cy="786384"/>
          </a:xfrm>
          <a:prstGeom prst="roundRect">
            <a:avLst>
              <a:gd name="adj" fmla="val 4651"/>
            </a:avLst>
          </a:prstGeom>
          <a:solidFill>
            <a:srgbClr val="FFFFFF"/>
          </a:solidFill>
          <a:ln w="7620">
            <a:solidFill>
              <a:srgbClr val="DADADA"/>
            </a:solidFill>
            <a:prstDash val="solid"/>
          </a:ln>
        </p:spPr>
      </p:sp>
      <p:sp>
        <p:nvSpPr>
          <p:cNvPr id="29" name="Text 27"/>
          <p:cNvSpPr/>
          <p:nvPr/>
        </p:nvSpPr>
        <p:spPr>
          <a:xfrm>
            <a:off x="7918704" y="3035808"/>
            <a:ext cx="822960" cy="384048"/>
          </a:xfrm>
          <a:prstGeom prst="rect">
            <a:avLst/>
          </a:prstGeom>
          <a:noFill/>
          <a:ln/>
        </p:spPr>
        <p:txBody>
          <a:bodyPr wrap="square" lIns="0" tIns="0" rIns="0" bIns="0" rtlCol="0" anchor="ctr">
            <a:normAutofit/>
          </a:bodyPr>
          <a:lstStyle/>
          <a:p>
            <a:pPr indent="0" marL="0">
              <a:buNone/>
            </a:pPr>
            <a:r>
              <a:rPr lang="en-US" sz="1600" b="1" dirty="0">
                <a:solidFill>
                  <a:srgbClr val="487052"/>
                </a:solidFill>
                <a:latin typeface="Aptos" pitchFamily="34" charset="0"/>
                <a:ea typeface="Aptos" pitchFamily="34" charset="-122"/>
                <a:cs typeface="Aptos" pitchFamily="34" charset="-120"/>
              </a:rPr>
              <a:t>9%</a:t>
            </a:r>
            <a:endParaRPr lang="en-US" sz="1600" dirty="0"/>
          </a:p>
        </p:txBody>
      </p:sp>
      <p:sp>
        <p:nvSpPr>
          <p:cNvPr id="30" name="Text 28"/>
          <p:cNvSpPr/>
          <p:nvPr/>
        </p:nvSpPr>
        <p:spPr>
          <a:xfrm>
            <a:off x="8759952" y="3099816"/>
            <a:ext cx="1371600" cy="201168"/>
          </a:xfrm>
          <a:prstGeom prst="rect">
            <a:avLst/>
          </a:prstGeom>
          <a:noFill/>
          <a:ln/>
        </p:spPr>
        <p:txBody>
          <a:bodyPr wrap="square" lIns="0" tIns="0" rIns="0" bIns="0" rtlCol="0" anchor="ctr">
            <a:normAutofit/>
          </a:bodyPr>
          <a:lstStyle/>
          <a:p>
            <a:pPr indent="0" marL="0">
              <a:buNone/>
            </a:pPr>
            <a:r>
              <a:rPr lang="en-US" sz="820" b="1" dirty="0">
                <a:solidFill>
                  <a:srgbClr val="121212"/>
                </a:solidFill>
                <a:latin typeface="Microsoft YaHei" pitchFamily="34" charset="0"/>
                <a:ea typeface="Microsoft YaHei" pitchFamily="34" charset="-122"/>
                <a:cs typeface="Microsoft YaHei" pitchFamily="34" charset="-120"/>
              </a:rPr>
              <a:t>源汽车出口退税率由13%降至</a:t>
            </a:r>
            <a:endParaRPr lang="en-US" sz="820" dirty="0"/>
          </a:p>
        </p:txBody>
      </p:sp>
      <p:sp>
        <p:nvSpPr>
          <p:cNvPr id="31" name="Text 29"/>
          <p:cNvSpPr/>
          <p:nvPr/>
        </p:nvSpPr>
        <p:spPr>
          <a:xfrm>
            <a:off x="7918704" y="3511296"/>
            <a:ext cx="2176272" cy="201168"/>
          </a:xfrm>
          <a:prstGeom prst="rect">
            <a:avLst/>
          </a:prstGeom>
          <a:noFill/>
          <a:ln/>
        </p:spPr>
        <p:txBody>
          <a:bodyPr wrap="square" lIns="0" tIns="0" rIns="0" bIns="0" rtlCol="0" anchor="t">
            <a:normAutofit/>
          </a:bodyPr>
          <a:lstStyle/>
          <a:p>
            <a:pPr indent="0" marL="0">
              <a:buNone/>
            </a:pPr>
            <a:r>
              <a:rPr lang="en-US" sz="840" dirty="0">
                <a:solidFill>
                  <a:srgbClr val="121212"/>
                </a:solidFill>
                <a:latin typeface="Microsoft YaHei" pitchFamily="34" charset="0"/>
                <a:ea typeface="Microsoft YaHei" pitchFamily="34" charset="-122"/>
                <a:cs typeface="Microsoft YaHei" pitchFamily="34" charset="-120"/>
              </a:rPr>
              <a:t>公开信息：新能源汽车出口退税率由13%降至9%，出海成本上升可能向上</a:t>
            </a:r>
            <a:endParaRPr lang="en-US" sz="840" dirty="0"/>
          </a:p>
        </p:txBody>
      </p:sp>
      <p:sp>
        <p:nvSpPr>
          <p:cNvPr id="32" name="Text 30"/>
          <p:cNvSpPr/>
          <p:nvPr/>
        </p:nvSpPr>
        <p:spPr>
          <a:xfrm>
            <a:off x="7772400" y="4498848"/>
            <a:ext cx="2560320" cy="384048"/>
          </a:xfrm>
          <a:prstGeom prst="rect">
            <a:avLst/>
          </a:prstGeom>
          <a:noFill/>
          <a:ln/>
        </p:spPr>
        <p:txBody>
          <a:bodyPr wrap="square" lIns="0" tIns="0" rIns="0" bIns="0" rtlCol="0" anchor="t">
            <a:normAutofit/>
          </a:bodyPr>
          <a:lstStyle/>
          <a:p>
            <a:pPr indent="0" marL="0">
              <a:buNone/>
            </a:pPr>
            <a:r>
              <a:rPr lang="en-US" sz="800" dirty="0">
                <a:solidFill>
                  <a:srgbClr val="6D756F"/>
                </a:solidFill>
                <a:latin typeface="Microsoft YaHei" pitchFamily="34" charset="0"/>
                <a:ea typeface="Microsoft YaHei" pitchFamily="34" charset="-122"/>
                <a:cs typeface="Microsoft YaHei" pitchFamily="34" charset="-120"/>
              </a:rPr>
              <a:t>阅读提示：仅按公开报道原文呈现；不同企业、时间和统计范围不可直接横向比较。</a:t>
            </a:r>
            <a:endParaRPr lang="en-US" sz="800" dirty="0"/>
          </a:p>
        </p:txBody>
      </p:sp>
      <p:sp>
        <p:nvSpPr>
          <p:cNvPr id="33" name="Shape 31"/>
          <p:cNvSpPr/>
          <p:nvPr/>
        </p:nvSpPr>
        <p:spPr>
          <a:xfrm>
            <a:off x="658368" y="5779008"/>
            <a:ext cx="1463040" cy="292608"/>
          </a:xfrm>
          <a:prstGeom prst="rect">
            <a:avLst/>
          </a:prstGeom>
          <a:solidFill>
            <a:srgbClr val="121212"/>
          </a:solidFill>
          <a:ln w="12700">
            <a:solidFill>
              <a:srgbClr val="121212"/>
            </a:solidFill>
            <a:prstDash val="solid"/>
          </a:ln>
        </p:spPr>
      </p:sp>
      <p:sp>
        <p:nvSpPr>
          <p:cNvPr id="34" name="Text 32"/>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35" name="Text 33"/>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若后续披露的扩产项目投产进度快于需求增速，则磷酸铁锂正极材料加工费可能继续承压</a:t>
            </a:r>
            <a:endParaRPr lang="en-US" sz="10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4.</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2026-10-26</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04</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技术/产品路线</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2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今日信息未出现磷酸铁锂技术路线的直接突破，但清陶能源80亿元固态电池项目一期投产的新闻与磷酸铁锂扩产同周出现，显示固态电池产业化推进对磷酸铁锂长期技术路线构成潜在竞争；电摩锂电化趋势则可能为磷酸铁锂在轻型动力领域打开增量应用场景。 [1][4]</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依据：[1][4]</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固态电池项目投产与磷酸铁锂扩产并存，反映电池技术路线多元化：短期磷酸铁锂仍是主流，但固态电池若加速量产可能分流高端需求。电摩锂电化新闻提到锂电化成为电摩起飞关键，磷酸铁锂因成本和安全优势可能受益于电摩市场增长。需验证：清陶固态电池项目的实际产能和客户导入情况；电摩用磷酸铁锂电池的渗透率和订单规模。</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固态电池项目投产进度超预期且成本快速下降，则磷酸铁锂在高端电动汽车领域的份额可能受到挤压；若电摩锂电化加速且磷酸铁锂成为主流选择，则轻型动力领域可能贡献新增需求。跟踪指标：清陶能源固态电池装车公告、电摩用锂电池出货量及正极材料类型占比。证据边界：固态电池项目刚投产，实际性能和成本数据尚未公开；电摩锂电化新闻未披露具体电池路线占比。</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对比矩阵</a:t>
            </a:r>
            <a:endParaRPr lang="en-US" sz="1200" dirty="0"/>
          </a:p>
        </p:txBody>
      </p:sp>
      <p:sp>
        <p:nvSpPr>
          <p:cNvPr id="24" name="Shape 22"/>
          <p:cNvSpPr/>
          <p:nvPr/>
        </p:nvSpPr>
        <p:spPr>
          <a:xfrm>
            <a:off x="7818120" y="2176272"/>
            <a:ext cx="2487168" cy="1609344"/>
          </a:xfrm>
          <a:prstGeom prst="rect">
            <a:avLst/>
          </a:prstGeom>
          <a:solidFill>
            <a:srgbClr val="FFFFFF"/>
          </a:solidFill>
          <a:ln w="10160">
            <a:solidFill>
              <a:srgbClr val="DADADA"/>
            </a:solidFill>
            <a:prstDash val="solid"/>
          </a:ln>
        </p:spPr>
      </p:sp>
      <p:sp>
        <p:nvSpPr>
          <p:cNvPr id="25" name="Shape 23"/>
          <p:cNvSpPr/>
          <p:nvPr/>
        </p:nvSpPr>
        <p:spPr>
          <a:xfrm>
            <a:off x="9061704" y="2176272"/>
            <a:ext cx="0" cy="1609344"/>
          </a:xfrm>
          <a:prstGeom prst="line">
            <a:avLst/>
          </a:prstGeom>
          <a:noFill/>
          <a:ln w="8890">
            <a:solidFill>
              <a:srgbClr val="DADADA"/>
            </a:solidFill>
            <a:prstDash val="solid"/>
          </a:ln>
        </p:spPr>
      </p:sp>
      <p:sp>
        <p:nvSpPr>
          <p:cNvPr id="26" name="Shape 24"/>
          <p:cNvSpPr/>
          <p:nvPr/>
        </p:nvSpPr>
        <p:spPr>
          <a:xfrm>
            <a:off x="7818120" y="2980944"/>
            <a:ext cx="2487168" cy="0"/>
          </a:xfrm>
          <a:prstGeom prst="line">
            <a:avLst/>
          </a:prstGeom>
          <a:noFill/>
          <a:ln w="8890">
            <a:solidFill>
              <a:srgbClr val="DADADA"/>
            </a:solidFill>
            <a:prstDash val="solid"/>
          </a:ln>
        </p:spPr>
      </p:sp>
      <p:sp>
        <p:nvSpPr>
          <p:cNvPr id="27" name="Shape 25"/>
          <p:cNvSpPr/>
          <p:nvPr/>
        </p:nvSpPr>
        <p:spPr>
          <a:xfrm>
            <a:off x="7818120" y="2176272"/>
            <a:ext cx="1243584" cy="804672"/>
          </a:xfrm>
          <a:prstGeom prst="rect">
            <a:avLst/>
          </a:prstGeom>
          <a:solidFill>
            <a:srgbClr val="DDEBE0"/>
          </a:solidFill>
          <a:ln w="3810">
            <a:solidFill>
              <a:srgbClr val="DADADA"/>
            </a:solidFill>
            <a:prstDash val="solid"/>
          </a:ln>
        </p:spPr>
      </p:sp>
      <p:sp>
        <p:nvSpPr>
          <p:cNvPr id="28" name="Text 26"/>
          <p:cNvSpPr/>
          <p:nvPr/>
        </p:nvSpPr>
        <p:spPr>
          <a:xfrm>
            <a:off x="7891272"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路线A</a:t>
            </a:r>
            <a:endParaRPr lang="en-US" sz="710" dirty="0"/>
          </a:p>
        </p:txBody>
      </p:sp>
      <p:sp>
        <p:nvSpPr>
          <p:cNvPr id="29" name="Text 27"/>
          <p:cNvSpPr/>
          <p:nvPr/>
        </p:nvSpPr>
        <p:spPr>
          <a:xfrm>
            <a:off x="7891272"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今日信息未出现磷酸铁锂技术</a:t>
            </a:r>
            <a:endParaRPr lang="en-US" sz="670" dirty="0"/>
          </a:p>
        </p:txBody>
      </p:sp>
      <p:sp>
        <p:nvSpPr>
          <p:cNvPr id="30" name="Shape 28"/>
          <p:cNvSpPr/>
          <p:nvPr/>
        </p:nvSpPr>
        <p:spPr>
          <a:xfrm>
            <a:off x="9061704" y="2176272"/>
            <a:ext cx="1243584" cy="804672"/>
          </a:xfrm>
          <a:prstGeom prst="rect">
            <a:avLst/>
          </a:prstGeom>
          <a:solidFill>
            <a:srgbClr val="FFFFFF"/>
          </a:solidFill>
          <a:ln w="3810">
            <a:solidFill>
              <a:srgbClr val="DADADA"/>
            </a:solidFill>
            <a:prstDash val="solid"/>
          </a:ln>
        </p:spPr>
      </p:sp>
      <p:sp>
        <p:nvSpPr>
          <p:cNvPr id="31" name="Text 29"/>
          <p:cNvSpPr/>
          <p:nvPr/>
        </p:nvSpPr>
        <p:spPr>
          <a:xfrm>
            <a:off x="9134856"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路线B</a:t>
            </a:r>
            <a:endParaRPr lang="en-US" sz="710" dirty="0"/>
          </a:p>
        </p:txBody>
      </p:sp>
      <p:sp>
        <p:nvSpPr>
          <p:cNvPr id="32" name="Text 30"/>
          <p:cNvSpPr/>
          <p:nvPr/>
        </p:nvSpPr>
        <p:spPr>
          <a:xfrm>
            <a:off x="9134856"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电摩锂电化趋势则可能为磷酸</a:t>
            </a:r>
            <a:endParaRPr lang="en-US" sz="670" dirty="0"/>
          </a:p>
        </p:txBody>
      </p:sp>
      <p:sp>
        <p:nvSpPr>
          <p:cNvPr id="33" name="Shape 31"/>
          <p:cNvSpPr/>
          <p:nvPr/>
        </p:nvSpPr>
        <p:spPr>
          <a:xfrm>
            <a:off x="7818120" y="2980944"/>
            <a:ext cx="1243584" cy="804672"/>
          </a:xfrm>
          <a:prstGeom prst="rect">
            <a:avLst/>
          </a:prstGeom>
          <a:solidFill>
            <a:srgbClr val="FFFFFF"/>
          </a:solidFill>
          <a:ln w="3810">
            <a:solidFill>
              <a:srgbClr val="DADADA"/>
            </a:solidFill>
            <a:prstDash val="solid"/>
          </a:ln>
        </p:spPr>
      </p:sp>
      <p:sp>
        <p:nvSpPr>
          <p:cNvPr id="34" name="Text 32"/>
          <p:cNvSpPr/>
          <p:nvPr/>
        </p:nvSpPr>
        <p:spPr>
          <a:xfrm>
            <a:off x="7891272"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机会</a:t>
            </a:r>
            <a:endParaRPr lang="en-US" sz="710" dirty="0"/>
          </a:p>
        </p:txBody>
      </p:sp>
      <p:sp>
        <p:nvSpPr>
          <p:cNvPr id="35" name="Text 33"/>
          <p:cNvSpPr/>
          <p:nvPr/>
        </p:nvSpPr>
        <p:spPr>
          <a:xfrm>
            <a:off x="7891272"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[1][4] 固态电池项目</a:t>
            </a:r>
            <a:endParaRPr lang="en-US" sz="670" dirty="0"/>
          </a:p>
        </p:txBody>
      </p:sp>
      <p:sp>
        <p:nvSpPr>
          <p:cNvPr id="36" name="Shape 34"/>
          <p:cNvSpPr/>
          <p:nvPr/>
        </p:nvSpPr>
        <p:spPr>
          <a:xfrm>
            <a:off x="9061704" y="2980944"/>
            <a:ext cx="1243584" cy="804672"/>
          </a:xfrm>
          <a:prstGeom prst="rect">
            <a:avLst/>
          </a:prstGeom>
          <a:solidFill>
            <a:srgbClr val="F4FAF6"/>
          </a:solidFill>
          <a:ln w="3810">
            <a:solidFill>
              <a:srgbClr val="DADADA"/>
            </a:solidFill>
            <a:prstDash val="solid"/>
          </a:ln>
        </p:spPr>
      </p:sp>
      <p:sp>
        <p:nvSpPr>
          <p:cNvPr id="37" name="Text 35"/>
          <p:cNvSpPr/>
          <p:nvPr/>
        </p:nvSpPr>
        <p:spPr>
          <a:xfrm>
            <a:off x="9134856"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约束</a:t>
            </a:r>
            <a:endParaRPr lang="en-US" sz="710" dirty="0"/>
          </a:p>
        </p:txBody>
      </p:sp>
      <p:sp>
        <p:nvSpPr>
          <p:cNvPr id="38" name="Text 36"/>
          <p:cNvSpPr/>
          <p:nvPr/>
        </p:nvSpPr>
        <p:spPr>
          <a:xfrm>
            <a:off x="9134856"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今日信息未出现磷酸铁锂技术</a:t>
            </a:r>
            <a:endParaRPr lang="en-US" sz="670" dirty="0"/>
          </a:p>
        </p:txBody>
      </p:sp>
      <p:sp>
        <p:nvSpPr>
          <p:cNvPr id="39" name="Text 37"/>
          <p:cNvSpPr/>
          <p:nvPr/>
        </p:nvSpPr>
        <p:spPr>
          <a:xfrm>
            <a:off x="7726680" y="4187952"/>
            <a:ext cx="2697480" cy="49377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检测到对比/分类信号，用矩阵压缩呈现，不新增外部判断。</a:t>
            </a:r>
            <a:endParaRPr lang="en-US" sz="760" dirty="0"/>
          </a:p>
        </p:txBody>
      </p:sp>
      <p:sp>
        <p:nvSpPr>
          <p:cNvPr id="40" name="Shape 38"/>
          <p:cNvSpPr/>
          <p:nvPr/>
        </p:nvSpPr>
        <p:spPr>
          <a:xfrm>
            <a:off x="658368" y="5779008"/>
            <a:ext cx="1463040" cy="292608"/>
          </a:xfrm>
          <a:prstGeom prst="rect">
            <a:avLst/>
          </a:prstGeom>
          <a:solidFill>
            <a:srgbClr val="121212"/>
          </a:solidFill>
          <a:ln w="12700">
            <a:solidFill>
              <a:srgbClr val="121212"/>
            </a:solidFill>
            <a:prstDash val="solid"/>
          </a:ln>
        </p:spPr>
      </p:sp>
      <p:sp>
        <p:nvSpPr>
          <p:cNvPr id="41" name="Text 39"/>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2" name="Text 40"/>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若固态电池项目投产进度超预期且成本快速下降，则磷酸铁锂在高端电动汽车领域的份额可能受到挤压</a:t>
            </a:r>
            <a:endParaRPr lang="en-US" sz="10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5.</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2026-10-26</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05</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产能/客户/订单</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2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湖南裕能、万华化学再度扩产磷酸铁锂，龙头产能扩张延续，行业供给端压力预期不减；宁德时代三季报业绩高增，作为磷酸铁锂主要客户之一，其排产增长可能对正极材料订单形成支撑，但具体磷酸铁锂采购量未披露。 [1][3]</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依据：[1][3]</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扩产新闻与宁德时代业绩高增形成供需两端信号：龙头扩产表明对中期需求乐观，宁德时代业绩高增则暗示电池排产可能维持高位，对磷酸铁锂正极材料订单有支撑。但扩产项目从公告到投产有时滞，若多家企业同步扩产，未来供给集中释放可能加剧竞争。需调研：湖南裕能、万华化学扩产项目的具体产能规模和投产时间；宁德时代磷酸铁锂电池产量占比及供应商结构。</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湖南裕能、万华化学扩产项目在2027年集中投产，而需求增速未能同步匹配，则磷酸铁锂正极材料加工费可能进一步下行；若宁德时代等电池厂排产持续高增，则短期订单可能消化部分新增产能。跟踪指标：扩产项目环评和投产公告、宁德时代季度电池产量及磷酸铁锂采购比例、正极材料企业产能利用率。证据边界：扩产新闻未披露具体产能数字和投产时间；宁德时代财报未拆分磷酸铁锂采购数据。</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落地链路</a:t>
            </a:r>
            <a:endParaRPr lang="en-US" sz="1200" dirty="0"/>
          </a:p>
        </p:txBody>
      </p:sp>
      <p:sp>
        <p:nvSpPr>
          <p:cNvPr id="24" name="Shape 22"/>
          <p:cNvSpPr/>
          <p:nvPr/>
        </p:nvSpPr>
        <p:spPr>
          <a:xfrm>
            <a:off x="7882128" y="2029968"/>
            <a:ext cx="2377440" cy="365760"/>
          </a:xfrm>
          <a:prstGeom prst="roundRect">
            <a:avLst>
              <a:gd name="adj" fmla="val 10000"/>
            </a:avLst>
          </a:prstGeom>
          <a:solidFill>
            <a:srgbClr val="F4FAF6"/>
          </a:solidFill>
          <a:ln w="8890">
            <a:solidFill>
              <a:srgbClr val="DADADA"/>
            </a:solidFill>
            <a:prstDash val="solid"/>
          </a:ln>
        </p:spPr>
      </p:sp>
      <p:sp>
        <p:nvSpPr>
          <p:cNvPr id="25" name="Text 23"/>
          <p:cNvSpPr/>
          <p:nvPr/>
        </p:nvSpPr>
        <p:spPr>
          <a:xfrm>
            <a:off x="8028432" y="2139696"/>
            <a:ext cx="566928" cy="109728"/>
          </a:xfrm>
          <a:prstGeom prst="rect">
            <a:avLst/>
          </a:prstGeom>
          <a:noFill/>
          <a:ln/>
        </p:spPr>
        <p:txBody>
          <a:bodyPr wrap="square" lIns="0" tIns="0" rIns="0" bIns="0" rtlCol="0" anchor="ctr">
            <a:normAutofit/>
          </a:bodyPr>
          <a:lstStyle/>
          <a:p>
            <a:pPr indent="0" marL="0">
              <a:buNone/>
            </a:pPr>
            <a:r>
              <a:rPr lang="en-US" sz="720" b="1" dirty="0">
                <a:solidFill>
                  <a:srgbClr val="487052"/>
                </a:solidFill>
                <a:latin typeface="Microsoft YaHei" pitchFamily="34" charset="0"/>
                <a:ea typeface="Microsoft YaHei" pitchFamily="34" charset="-122"/>
                <a:cs typeface="Microsoft YaHei" pitchFamily="34" charset="-120"/>
              </a:rPr>
              <a:t>产能</a:t>
            </a:r>
            <a:endParaRPr lang="en-US" sz="720" dirty="0"/>
          </a:p>
        </p:txBody>
      </p:sp>
      <p:sp>
        <p:nvSpPr>
          <p:cNvPr id="26" name="Text 24"/>
          <p:cNvSpPr/>
          <p:nvPr/>
        </p:nvSpPr>
        <p:spPr>
          <a:xfrm>
            <a:off x="8613648" y="2139696"/>
            <a:ext cx="1481328" cy="109728"/>
          </a:xfrm>
          <a:prstGeom prst="rect">
            <a:avLst/>
          </a:prstGeom>
          <a:noFill/>
          <a:ln/>
        </p:spPr>
        <p:txBody>
          <a:bodyPr wrap="square" lIns="0" tIns="0" rIns="0" bIns="0" rtlCol="0" anchor="ctr">
            <a:normAutofit/>
          </a:bodyPr>
          <a:lstStyle/>
          <a:p>
            <a:pPr indent="0" marL="0">
              <a:buNone/>
            </a:pPr>
            <a:r>
              <a:rPr lang="en-US" sz="700" dirty="0">
                <a:solidFill>
                  <a:srgbClr val="121212"/>
                </a:solidFill>
                <a:latin typeface="Microsoft YaHei" pitchFamily="34" charset="0"/>
                <a:ea typeface="Microsoft YaHei" pitchFamily="34" charset="-122"/>
                <a:cs typeface="Microsoft YaHei" pitchFamily="34" charset="-120"/>
              </a:rPr>
              <a:t>湖南裕能、万华化学再度扩产磷酸铁锂</a:t>
            </a:r>
            <a:endParaRPr lang="en-US" sz="700" dirty="0"/>
          </a:p>
        </p:txBody>
      </p:sp>
      <p:sp>
        <p:nvSpPr>
          <p:cNvPr id="27" name="Shape 25"/>
          <p:cNvSpPr/>
          <p:nvPr/>
        </p:nvSpPr>
        <p:spPr>
          <a:xfrm>
            <a:off x="8979408" y="2441448"/>
            <a:ext cx="164592" cy="146304"/>
          </a:xfrm>
          <a:prstGeom prst="downArrow">
            <a:avLst/>
          </a:prstGeom>
          <a:solidFill>
            <a:srgbClr val="7F9D84"/>
          </a:solidFill>
          <a:ln w="12700">
            <a:solidFill>
              <a:srgbClr val="7F9D84"/>
            </a:solidFill>
            <a:prstDash val="solid"/>
          </a:ln>
        </p:spPr>
      </p:sp>
      <p:sp>
        <p:nvSpPr>
          <p:cNvPr id="28" name="Shape 26"/>
          <p:cNvSpPr/>
          <p:nvPr/>
        </p:nvSpPr>
        <p:spPr>
          <a:xfrm>
            <a:off x="7882128" y="2596896"/>
            <a:ext cx="2377440" cy="365760"/>
          </a:xfrm>
          <a:prstGeom prst="roundRect">
            <a:avLst>
              <a:gd name="adj" fmla="val 10000"/>
            </a:avLst>
          </a:prstGeom>
          <a:solidFill>
            <a:srgbClr val="FFFFFF"/>
          </a:solidFill>
          <a:ln w="8890">
            <a:solidFill>
              <a:srgbClr val="DADADA"/>
            </a:solidFill>
            <a:prstDash val="solid"/>
          </a:ln>
        </p:spPr>
      </p:sp>
      <p:sp>
        <p:nvSpPr>
          <p:cNvPr id="29" name="Text 27"/>
          <p:cNvSpPr/>
          <p:nvPr/>
        </p:nvSpPr>
        <p:spPr>
          <a:xfrm>
            <a:off x="8028432" y="2706624"/>
            <a:ext cx="566928" cy="109728"/>
          </a:xfrm>
          <a:prstGeom prst="rect">
            <a:avLst/>
          </a:prstGeom>
          <a:noFill/>
          <a:ln/>
        </p:spPr>
        <p:txBody>
          <a:bodyPr wrap="square" lIns="0" tIns="0" rIns="0" bIns="0" rtlCol="0" anchor="ctr">
            <a:normAutofit/>
          </a:bodyPr>
          <a:lstStyle/>
          <a:p>
            <a:pPr indent="0" marL="0">
              <a:buNone/>
            </a:pPr>
            <a:r>
              <a:rPr lang="en-US" sz="720" b="1" dirty="0">
                <a:solidFill>
                  <a:srgbClr val="487052"/>
                </a:solidFill>
                <a:latin typeface="Microsoft YaHei" pitchFamily="34" charset="0"/>
                <a:ea typeface="Microsoft YaHei" pitchFamily="34" charset="-122"/>
                <a:cs typeface="Microsoft YaHei" pitchFamily="34" charset="-120"/>
              </a:rPr>
              <a:t>客户</a:t>
            </a:r>
            <a:endParaRPr lang="en-US" sz="720" dirty="0"/>
          </a:p>
        </p:txBody>
      </p:sp>
      <p:sp>
        <p:nvSpPr>
          <p:cNvPr id="30" name="Text 28"/>
          <p:cNvSpPr/>
          <p:nvPr/>
        </p:nvSpPr>
        <p:spPr>
          <a:xfrm>
            <a:off x="8613648" y="2706624"/>
            <a:ext cx="1481328" cy="109728"/>
          </a:xfrm>
          <a:prstGeom prst="rect">
            <a:avLst/>
          </a:prstGeom>
          <a:noFill/>
          <a:ln/>
        </p:spPr>
        <p:txBody>
          <a:bodyPr wrap="square" lIns="0" tIns="0" rIns="0" bIns="0" rtlCol="0" anchor="ctr">
            <a:normAutofit/>
          </a:bodyPr>
          <a:lstStyle/>
          <a:p>
            <a:pPr indent="0" marL="0">
              <a:buNone/>
            </a:pPr>
            <a:r>
              <a:rPr lang="en-US" sz="700" dirty="0">
                <a:solidFill>
                  <a:srgbClr val="121212"/>
                </a:solidFill>
                <a:latin typeface="Microsoft YaHei" pitchFamily="34" charset="0"/>
                <a:ea typeface="Microsoft YaHei" pitchFamily="34" charset="-122"/>
                <a:cs typeface="Microsoft YaHei" pitchFamily="34" charset="-120"/>
              </a:rPr>
              <a:t>宁德时代三季报业绩高增，作为磷酸铁</a:t>
            </a:r>
            <a:endParaRPr lang="en-US" sz="700" dirty="0"/>
          </a:p>
        </p:txBody>
      </p:sp>
      <p:sp>
        <p:nvSpPr>
          <p:cNvPr id="31" name="Shape 29"/>
          <p:cNvSpPr/>
          <p:nvPr/>
        </p:nvSpPr>
        <p:spPr>
          <a:xfrm>
            <a:off x="8979408" y="3008376"/>
            <a:ext cx="164592" cy="146304"/>
          </a:xfrm>
          <a:prstGeom prst="downArrow">
            <a:avLst/>
          </a:prstGeom>
          <a:solidFill>
            <a:srgbClr val="7F9D84"/>
          </a:solidFill>
          <a:ln w="12700">
            <a:solidFill>
              <a:srgbClr val="7F9D84"/>
            </a:solidFill>
            <a:prstDash val="solid"/>
          </a:ln>
        </p:spPr>
      </p:sp>
      <p:sp>
        <p:nvSpPr>
          <p:cNvPr id="32" name="Shape 30"/>
          <p:cNvSpPr/>
          <p:nvPr/>
        </p:nvSpPr>
        <p:spPr>
          <a:xfrm>
            <a:off x="7882128" y="3163824"/>
            <a:ext cx="2377440" cy="365760"/>
          </a:xfrm>
          <a:prstGeom prst="roundRect">
            <a:avLst>
              <a:gd name="adj" fmla="val 10000"/>
            </a:avLst>
          </a:prstGeom>
          <a:solidFill>
            <a:srgbClr val="F4FAF6"/>
          </a:solidFill>
          <a:ln w="8890">
            <a:solidFill>
              <a:srgbClr val="DADADA"/>
            </a:solidFill>
            <a:prstDash val="solid"/>
          </a:ln>
        </p:spPr>
      </p:sp>
      <p:sp>
        <p:nvSpPr>
          <p:cNvPr id="33" name="Text 31"/>
          <p:cNvSpPr/>
          <p:nvPr/>
        </p:nvSpPr>
        <p:spPr>
          <a:xfrm>
            <a:off x="8028432" y="3273552"/>
            <a:ext cx="566928" cy="109728"/>
          </a:xfrm>
          <a:prstGeom prst="rect">
            <a:avLst/>
          </a:prstGeom>
          <a:noFill/>
          <a:ln/>
        </p:spPr>
        <p:txBody>
          <a:bodyPr wrap="square" lIns="0" tIns="0" rIns="0" bIns="0" rtlCol="0" anchor="ctr">
            <a:normAutofit/>
          </a:bodyPr>
          <a:lstStyle/>
          <a:p>
            <a:pPr indent="0" marL="0">
              <a:buNone/>
            </a:pPr>
            <a:r>
              <a:rPr lang="en-US" sz="720" b="1" dirty="0">
                <a:solidFill>
                  <a:srgbClr val="487052"/>
                </a:solidFill>
                <a:latin typeface="Microsoft YaHei" pitchFamily="34" charset="0"/>
                <a:ea typeface="Microsoft YaHei" pitchFamily="34" charset="-122"/>
                <a:cs typeface="Microsoft YaHei" pitchFamily="34" charset="-120"/>
              </a:rPr>
              <a:t>落地</a:t>
            </a:r>
            <a:endParaRPr lang="en-US" sz="720" dirty="0"/>
          </a:p>
        </p:txBody>
      </p:sp>
      <p:sp>
        <p:nvSpPr>
          <p:cNvPr id="34" name="Text 32"/>
          <p:cNvSpPr/>
          <p:nvPr/>
        </p:nvSpPr>
        <p:spPr>
          <a:xfrm>
            <a:off x="8613648" y="3273552"/>
            <a:ext cx="1481328" cy="109728"/>
          </a:xfrm>
          <a:prstGeom prst="rect">
            <a:avLst/>
          </a:prstGeom>
          <a:noFill/>
          <a:ln/>
        </p:spPr>
        <p:txBody>
          <a:bodyPr wrap="square" lIns="0" tIns="0" rIns="0" bIns="0" rtlCol="0" anchor="ctr">
            <a:normAutofit/>
          </a:bodyPr>
          <a:lstStyle/>
          <a:p>
            <a:pPr indent="0" marL="0">
              <a:buNone/>
            </a:pPr>
            <a:r>
              <a:rPr lang="en-US" sz="700" dirty="0">
                <a:solidFill>
                  <a:srgbClr val="121212"/>
                </a:solidFill>
                <a:latin typeface="Microsoft YaHei" pitchFamily="34" charset="0"/>
                <a:ea typeface="Microsoft YaHei" pitchFamily="34" charset="-122"/>
                <a:cs typeface="Microsoft YaHei" pitchFamily="34" charset="-120"/>
              </a:rPr>
              <a:t>[1][3] 扩产新闻与宁德时代业</a:t>
            </a:r>
            <a:endParaRPr lang="en-US" sz="700" dirty="0"/>
          </a:p>
        </p:txBody>
      </p:sp>
      <p:sp>
        <p:nvSpPr>
          <p:cNvPr id="35" name="Text 33"/>
          <p:cNvSpPr/>
          <p:nvPr/>
        </p:nvSpPr>
        <p:spPr>
          <a:xfrm>
            <a:off x="7726680" y="4535424"/>
            <a:ext cx="2697480" cy="31089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用企业、项目、产能、客户的链路承接文字结论。</a:t>
            </a:r>
            <a:endParaRPr lang="en-US" sz="760" dirty="0"/>
          </a:p>
        </p:txBody>
      </p:sp>
      <p:sp>
        <p:nvSpPr>
          <p:cNvPr id="36" name="Shape 34"/>
          <p:cNvSpPr/>
          <p:nvPr/>
        </p:nvSpPr>
        <p:spPr>
          <a:xfrm>
            <a:off x="658368" y="5779008"/>
            <a:ext cx="1463040" cy="292608"/>
          </a:xfrm>
          <a:prstGeom prst="rect">
            <a:avLst/>
          </a:prstGeom>
          <a:solidFill>
            <a:srgbClr val="121212"/>
          </a:solidFill>
          <a:ln w="12700">
            <a:solidFill>
              <a:srgbClr val="121212"/>
            </a:solidFill>
            <a:prstDash val="solid"/>
          </a:ln>
        </p:spPr>
      </p:sp>
      <p:sp>
        <p:nvSpPr>
          <p:cNvPr id="37" name="Text 35"/>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38" name="Text 36"/>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若湖南裕能、万华化学扩产项目在2027年集中投产，而需求增速未能同步匹配，则磷酸铁锂正极材料加工费可能进一步下行</a:t>
            </a:r>
            <a:endParaRPr lang="en-US" sz="10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6.</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2026-10-26</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06</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价格/盈利压力</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2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新能源汽车出口退税率从13%降至9%，可能抬高出海成本并压缩电池厂利润，进而向上游磷酸铁锂正极材料传导降价压力；宁德时代三季报业绩高增，机构看好盈利拐点，但磷酸铁锂环节盈利是否同步改善尚缺乏直接证据。 [2][3]</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依据：[2][3]</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出口退税下调直接增加新能源汽车出口成本，电池厂可能通过压低上游材料采购价格来对冲，磷酸铁锂正极材料加工费面临压力。宁德时代业绩高增更多体现其规模和技术优势，不能简单推断磷酸铁锂环节盈利改善。需验证：出口退税下调后电池厂对正极材料采购价的调整幅度；磷酸铁锂正极材料行业平均毛利率变化；宁德时代磷酸铁锂电池的单位盈利趋势。</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出口退税下调导致新能源汽车出口增速放缓，则电池厂可能进一步压降磷酸铁锂采购价格，正极材料企业盈利承压；若电池厂通过技术降本消化退税影响，则磷酸铁锂价格压力可能小于预期。跟踪指标：磷酸铁锂正极材料周度价格、新能源汽车月度出口量、电池厂季度毛利率。证据边界：退税政策刚发布，实际影响需等待出口数据和采购合同变化验证；宁德时代财报未单独披露磷酸铁锂业务盈利。</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关键数据解读</a:t>
            </a:r>
            <a:endParaRPr lang="en-US" sz="1200" dirty="0"/>
          </a:p>
        </p:txBody>
      </p:sp>
      <p:sp>
        <p:nvSpPr>
          <p:cNvPr id="24" name="Shape 22"/>
          <p:cNvSpPr/>
          <p:nvPr/>
        </p:nvSpPr>
        <p:spPr>
          <a:xfrm>
            <a:off x="7772400" y="1993392"/>
            <a:ext cx="2560320" cy="786384"/>
          </a:xfrm>
          <a:prstGeom prst="roundRect">
            <a:avLst>
              <a:gd name="adj" fmla="val 4651"/>
            </a:avLst>
          </a:prstGeom>
          <a:solidFill>
            <a:srgbClr val="F4FAF6"/>
          </a:solidFill>
          <a:ln w="7620">
            <a:solidFill>
              <a:srgbClr val="DADADA"/>
            </a:solidFill>
            <a:prstDash val="solid"/>
          </a:ln>
        </p:spPr>
      </p:sp>
      <p:sp>
        <p:nvSpPr>
          <p:cNvPr id="25" name="Text 23"/>
          <p:cNvSpPr/>
          <p:nvPr/>
        </p:nvSpPr>
        <p:spPr>
          <a:xfrm>
            <a:off x="7918704" y="2103120"/>
            <a:ext cx="822960" cy="384048"/>
          </a:xfrm>
          <a:prstGeom prst="rect">
            <a:avLst/>
          </a:prstGeom>
          <a:noFill/>
          <a:ln/>
        </p:spPr>
        <p:txBody>
          <a:bodyPr wrap="square" lIns="0" tIns="0" rIns="0" bIns="0" rtlCol="0" anchor="ctr">
            <a:normAutofit/>
          </a:bodyPr>
          <a:lstStyle/>
          <a:p>
            <a:pPr indent="0" marL="0">
              <a:buNone/>
            </a:pPr>
            <a:r>
              <a:rPr lang="en-US" sz="1600" b="1" dirty="0">
                <a:solidFill>
                  <a:srgbClr val="487052"/>
                </a:solidFill>
                <a:latin typeface="Aptos" pitchFamily="34" charset="0"/>
                <a:ea typeface="Aptos" pitchFamily="34" charset="-122"/>
                <a:cs typeface="Aptos" pitchFamily="34" charset="-120"/>
              </a:rPr>
              <a:t>13%</a:t>
            </a:r>
            <a:endParaRPr lang="en-US" sz="1600" dirty="0"/>
          </a:p>
        </p:txBody>
      </p:sp>
      <p:sp>
        <p:nvSpPr>
          <p:cNvPr id="26" name="Text 24"/>
          <p:cNvSpPr/>
          <p:nvPr/>
        </p:nvSpPr>
        <p:spPr>
          <a:xfrm>
            <a:off x="8759952" y="2167128"/>
            <a:ext cx="1371600" cy="201168"/>
          </a:xfrm>
          <a:prstGeom prst="rect">
            <a:avLst/>
          </a:prstGeom>
          <a:noFill/>
          <a:ln/>
        </p:spPr>
        <p:txBody>
          <a:bodyPr wrap="square" lIns="0" tIns="0" rIns="0" bIns="0" rtlCol="0" anchor="ctr">
            <a:normAutofit/>
          </a:bodyPr>
          <a:lstStyle/>
          <a:p>
            <a:pPr indent="0" marL="0">
              <a:buNone/>
            </a:pPr>
            <a:r>
              <a:rPr lang="en-US" sz="820" b="1" dirty="0">
                <a:solidFill>
                  <a:srgbClr val="121212"/>
                </a:solidFill>
                <a:latin typeface="Microsoft YaHei" pitchFamily="34" charset="0"/>
                <a:ea typeface="Microsoft YaHei" pitchFamily="34" charset="-122"/>
                <a:cs typeface="Microsoft YaHei" pitchFamily="34" charset="-120"/>
              </a:rPr>
              <a:t>降至</a:t>
            </a:r>
            <a:endParaRPr lang="en-US" sz="820" dirty="0"/>
          </a:p>
        </p:txBody>
      </p:sp>
      <p:sp>
        <p:nvSpPr>
          <p:cNvPr id="27" name="Text 25"/>
          <p:cNvSpPr/>
          <p:nvPr/>
        </p:nvSpPr>
        <p:spPr>
          <a:xfrm>
            <a:off x="7918704" y="2578608"/>
            <a:ext cx="2176272" cy="201168"/>
          </a:xfrm>
          <a:prstGeom prst="rect">
            <a:avLst/>
          </a:prstGeom>
          <a:noFill/>
          <a:ln/>
        </p:spPr>
        <p:txBody>
          <a:bodyPr wrap="square" lIns="0" tIns="0" rIns="0" bIns="0" rtlCol="0" anchor="t">
            <a:normAutofit/>
          </a:bodyPr>
          <a:lstStyle/>
          <a:p>
            <a:pPr indent="0" marL="0">
              <a:buNone/>
            </a:pPr>
            <a:r>
              <a:rPr lang="en-US" sz="840" dirty="0">
                <a:solidFill>
                  <a:srgbClr val="121212"/>
                </a:solidFill>
                <a:latin typeface="Microsoft YaHei" pitchFamily="34" charset="0"/>
                <a:ea typeface="Microsoft YaHei" pitchFamily="34" charset="-122"/>
                <a:cs typeface="Microsoft YaHei" pitchFamily="34" charset="-120"/>
              </a:rPr>
              <a:t>公开信息：新能源汽车出口退税率从13%降至9%，可能抬高出海成本并压</a:t>
            </a:r>
            <a:endParaRPr lang="en-US" sz="840" dirty="0"/>
          </a:p>
        </p:txBody>
      </p:sp>
      <p:sp>
        <p:nvSpPr>
          <p:cNvPr id="28" name="Shape 26"/>
          <p:cNvSpPr/>
          <p:nvPr/>
        </p:nvSpPr>
        <p:spPr>
          <a:xfrm>
            <a:off x="7772400" y="2926080"/>
            <a:ext cx="2560320" cy="786384"/>
          </a:xfrm>
          <a:prstGeom prst="roundRect">
            <a:avLst>
              <a:gd name="adj" fmla="val 4651"/>
            </a:avLst>
          </a:prstGeom>
          <a:solidFill>
            <a:srgbClr val="FFFFFF"/>
          </a:solidFill>
          <a:ln w="7620">
            <a:solidFill>
              <a:srgbClr val="DADADA"/>
            </a:solidFill>
            <a:prstDash val="solid"/>
          </a:ln>
        </p:spPr>
      </p:sp>
      <p:sp>
        <p:nvSpPr>
          <p:cNvPr id="29" name="Text 27"/>
          <p:cNvSpPr/>
          <p:nvPr/>
        </p:nvSpPr>
        <p:spPr>
          <a:xfrm>
            <a:off x="7918704" y="3035808"/>
            <a:ext cx="822960" cy="384048"/>
          </a:xfrm>
          <a:prstGeom prst="rect">
            <a:avLst/>
          </a:prstGeom>
          <a:noFill/>
          <a:ln/>
        </p:spPr>
        <p:txBody>
          <a:bodyPr wrap="square" lIns="0" tIns="0" rIns="0" bIns="0" rtlCol="0" anchor="ctr">
            <a:normAutofit/>
          </a:bodyPr>
          <a:lstStyle/>
          <a:p>
            <a:pPr indent="0" marL="0">
              <a:buNone/>
            </a:pPr>
            <a:r>
              <a:rPr lang="en-US" sz="1600" b="1" dirty="0">
                <a:solidFill>
                  <a:srgbClr val="487052"/>
                </a:solidFill>
                <a:latin typeface="Aptos" pitchFamily="34" charset="0"/>
                <a:ea typeface="Aptos" pitchFamily="34" charset="-122"/>
                <a:cs typeface="Aptos" pitchFamily="34" charset="-120"/>
              </a:rPr>
              <a:t>9%</a:t>
            </a:r>
            <a:endParaRPr lang="en-US" sz="1600" dirty="0"/>
          </a:p>
        </p:txBody>
      </p:sp>
      <p:sp>
        <p:nvSpPr>
          <p:cNvPr id="30" name="Text 28"/>
          <p:cNvSpPr/>
          <p:nvPr/>
        </p:nvSpPr>
        <p:spPr>
          <a:xfrm>
            <a:off x="8759952" y="3099816"/>
            <a:ext cx="1371600" cy="201168"/>
          </a:xfrm>
          <a:prstGeom prst="rect">
            <a:avLst/>
          </a:prstGeom>
          <a:noFill/>
          <a:ln/>
        </p:spPr>
        <p:txBody>
          <a:bodyPr wrap="square" lIns="0" tIns="0" rIns="0" bIns="0" rtlCol="0" anchor="ctr">
            <a:normAutofit/>
          </a:bodyPr>
          <a:lstStyle/>
          <a:p>
            <a:pPr indent="0" marL="0">
              <a:buNone/>
            </a:pPr>
            <a:r>
              <a:rPr lang="en-US" sz="820" b="1" dirty="0">
                <a:solidFill>
                  <a:srgbClr val="121212"/>
                </a:solidFill>
                <a:latin typeface="Microsoft YaHei" pitchFamily="34" charset="0"/>
                <a:ea typeface="Microsoft YaHei" pitchFamily="34" charset="-122"/>
                <a:cs typeface="Microsoft YaHei" pitchFamily="34" charset="-120"/>
              </a:rPr>
              <a:t>源汽车出口退税率从13%降至</a:t>
            </a:r>
            <a:endParaRPr lang="en-US" sz="820" dirty="0"/>
          </a:p>
        </p:txBody>
      </p:sp>
      <p:sp>
        <p:nvSpPr>
          <p:cNvPr id="31" name="Text 29"/>
          <p:cNvSpPr/>
          <p:nvPr/>
        </p:nvSpPr>
        <p:spPr>
          <a:xfrm>
            <a:off x="7918704" y="3511296"/>
            <a:ext cx="2176272" cy="201168"/>
          </a:xfrm>
          <a:prstGeom prst="rect">
            <a:avLst/>
          </a:prstGeom>
          <a:noFill/>
          <a:ln/>
        </p:spPr>
        <p:txBody>
          <a:bodyPr wrap="square" lIns="0" tIns="0" rIns="0" bIns="0" rtlCol="0" anchor="t">
            <a:normAutofit/>
          </a:bodyPr>
          <a:lstStyle/>
          <a:p>
            <a:pPr indent="0" marL="0">
              <a:buNone/>
            </a:pPr>
            <a:r>
              <a:rPr lang="en-US" sz="840" dirty="0">
                <a:solidFill>
                  <a:srgbClr val="121212"/>
                </a:solidFill>
                <a:latin typeface="Microsoft YaHei" pitchFamily="34" charset="0"/>
                <a:ea typeface="Microsoft YaHei" pitchFamily="34" charset="-122"/>
                <a:cs typeface="Microsoft YaHei" pitchFamily="34" charset="-120"/>
              </a:rPr>
              <a:t>公开信息：新能源汽车出口退税率从13%降至9%，可能抬高出海成本并压</a:t>
            </a:r>
            <a:endParaRPr lang="en-US" sz="840" dirty="0"/>
          </a:p>
        </p:txBody>
      </p:sp>
      <p:sp>
        <p:nvSpPr>
          <p:cNvPr id="32" name="Text 30"/>
          <p:cNvSpPr/>
          <p:nvPr/>
        </p:nvSpPr>
        <p:spPr>
          <a:xfrm>
            <a:off x="7772400" y="4498848"/>
            <a:ext cx="2560320" cy="384048"/>
          </a:xfrm>
          <a:prstGeom prst="rect">
            <a:avLst/>
          </a:prstGeom>
          <a:noFill/>
          <a:ln/>
        </p:spPr>
        <p:txBody>
          <a:bodyPr wrap="square" lIns="0" tIns="0" rIns="0" bIns="0" rtlCol="0" anchor="t">
            <a:normAutofit/>
          </a:bodyPr>
          <a:lstStyle/>
          <a:p>
            <a:pPr indent="0" marL="0">
              <a:buNone/>
            </a:pPr>
            <a:r>
              <a:rPr lang="en-US" sz="800" dirty="0">
                <a:solidFill>
                  <a:srgbClr val="6D756F"/>
                </a:solidFill>
                <a:latin typeface="Microsoft YaHei" pitchFamily="34" charset="0"/>
                <a:ea typeface="Microsoft YaHei" pitchFamily="34" charset="-122"/>
                <a:cs typeface="Microsoft YaHei" pitchFamily="34" charset="-120"/>
              </a:rPr>
              <a:t>阅读提示：仅按公开报道原文呈现；不同企业、时间和统计范围不可直接横向比较。</a:t>
            </a:r>
            <a:endParaRPr lang="en-US" sz="800" dirty="0"/>
          </a:p>
        </p:txBody>
      </p:sp>
      <p:sp>
        <p:nvSpPr>
          <p:cNvPr id="33" name="Shape 31"/>
          <p:cNvSpPr/>
          <p:nvPr/>
        </p:nvSpPr>
        <p:spPr>
          <a:xfrm>
            <a:off x="658368" y="5779008"/>
            <a:ext cx="1463040" cy="292608"/>
          </a:xfrm>
          <a:prstGeom prst="rect">
            <a:avLst/>
          </a:prstGeom>
          <a:solidFill>
            <a:srgbClr val="121212"/>
          </a:solidFill>
          <a:ln w="12700">
            <a:solidFill>
              <a:srgbClr val="121212"/>
            </a:solidFill>
            <a:prstDash val="solid"/>
          </a:ln>
        </p:spPr>
      </p:sp>
      <p:sp>
        <p:nvSpPr>
          <p:cNvPr id="34" name="Text 32"/>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35" name="Text 33"/>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若出口退税下调导致新能源汽车出口增速放缓，则电池厂可能进一步压降磷酸铁锂采购价格，正极材料企业盈利承压</a:t>
            </a:r>
            <a:endParaRPr lang="en-US" sz="10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7.</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2026-10-26</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07</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政策/合规风险</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3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新能源汽车出口退税率由13%降至9%，是今日最直接的政策变化，可能增加出海成本并影响电池及材料环节的海外订单定价；此外，废旧锂电池回收相关新闻显示回收体系在国内外持续推进，但尚未形成对磷酸铁锂生产的直接约束。 [2][5][6]</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依据：[2][5][6]</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出口退税下调属于贸易政策调整，直接影响新能源汽车出口盈利，电池厂可能将部分成本压力转嫁上游材料企业。电池回收新闻（吉尔吉斯斯坦设立回收箱、废旧锂电池破碎分选设备）反映全球对电池全生命周期管理关注度提升，长期可能对磷酸铁锂生产企业的回收责任提出更高要求。需调研：出口退税下调是否伴随其他出海支持政策；国内电池回收法规对磷酸铁锂生产企业的具体合规要求。</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出口退税下调后新能源汽车出口量明显下滑，则电池厂可能减少海外订单并向上游压价，磷酸铁锂需求承压；若回收政策趋严要求生产企业承担回收成本，则磷酸铁锂企业可能面临额外合规支出。跟踪指标：新能源汽车月度出口数据、国内电池回收法规草案、磷酸铁锂企业回收合作公告。证据边界：退税政策影响需等待出口数据验证；回收新闻多为行业动态，尚未形成对磷酸铁锂生产的直接约束。</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合规风险金字塔</a:t>
            </a:r>
            <a:endParaRPr lang="en-US" sz="1200" dirty="0"/>
          </a:p>
        </p:txBody>
      </p:sp>
      <p:sp>
        <p:nvSpPr>
          <p:cNvPr id="24" name="Shape 22"/>
          <p:cNvSpPr/>
          <p:nvPr/>
        </p:nvSpPr>
        <p:spPr>
          <a:xfrm>
            <a:off x="8503920" y="1975104"/>
            <a:ext cx="1097280" cy="512064"/>
          </a:xfrm>
          <a:prstGeom prst="trapezoid">
            <a:avLst/>
          </a:prstGeom>
          <a:solidFill>
            <a:srgbClr val="B85A4A"/>
          </a:solidFill>
          <a:ln w="8890">
            <a:solidFill>
              <a:srgbClr val="487052"/>
            </a:solidFill>
            <a:prstDash val="solid"/>
          </a:ln>
        </p:spPr>
      </p:sp>
      <p:sp>
        <p:nvSpPr>
          <p:cNvPr id="25" name="Text 23"/>
          <p:cNvSpPr/>
          <p:nvPr/>
        </p:nvSpPr>
        <p:spPr>
          <a:xfrm>
            <a:off x="8595360" y="2066544"/>
            <a:ext cx="914400" cy="118872"/>
          </a:xfrm>
          <a:prstGeom prst="rect">
            <a:avLst/>
          </a:prstGeom>
          <a:noFill/>
          <a:ln/>
        </p:spPr>
        <p:txBody>
          <a:bodyPr wrap="square" lIns="0" tIns="0" rIns="0" bIns="0" rtlCol="0" anchor="ctr">
            <a:normAutofit/>
          </a:bodyPr>
          <a:lstStyle/>
          <a:p>
            <a:pPr algn="ctr" indent="0" marL="0">
              <a:buNone/>
            </a:pPr>
            <a:r>
              <a:rPr lang="en-US" sz="740" b="1" dirty="0">
                <a:solidFill>
                  <a:srgbClr val="FFFFFF"/>
                </a:solidFill>
                <a:latin typeface="Microsoft YaHei" pitchFamily="34" charset="0"/>
                <a:ea typeface="Microsoft YaHei" pitchFamily="34" charset="-122"/>
                <a:cs typeface="Microsoft YaHei" pitchFamily="34" charset="-120"/>
              </a:rPr>
              <a:t>监管红线</a:t>
            </a:r>
            <a:endParaRPr lang="en-US" sz="740" dirty="0"/>
          </a:p>
        </p:txBody>
      </p:sp>
      <p:sp>
        <p:nvSpPr>
          <p:cNvPr id="26" name="Text 24"/>
          <p:cNvSpPr/>
          <p:nvPr/>
        </p:nvSpPr>
        <p:spPr>
          <a:xfrm>
            <a:off x="7808976" y="2496312"/>
            <a:ext cx="2514600" cy="118872"/>
          </a:xfrm>
          <a:prstGeom prst="rect">
            <a:avLst/>
          </a:prstGeom>
          <a:noFill/>
          <a:ln/>
        </p:spPr>
        <p:txBody>
          <a:bodyPr wrap="square" lIns="0" tIns="0" rIns="0" bIns="0" rtlCol="0" anchor="ctr">
            <a:normAutofit/>
          </a:bodyPr>
          <a:lstStyle/>
          <a:p>
            <a:pPr algn="ctr" indent="0" marL="0">
              <a:buNone/>
            </a:pPr>
            <a:r>
              <a:rPr lang="en-US" sz="660" dirty="0">
                <a:solidFill>
                  <a:srgbClr val="121212"/>
                </a:solidFill>
                <a:latin typeface="Microsoft YaHei" pitchFamily="34" charset="0"/>
                <a:ea typeface="Microsoft YaHei" pitchFamily="34" charset="-122"/>
                <a:cs typeface="Microsoft YaHei" pitchFamily="34" charset="-120"/>
              </a:rPr>
              <a:t>新能源汽车出口退税率由13%降至9</a:t>
            </a:r>
            <a:endParaRPr lang="en-US" sz="660" dirty="0"/>
          </a:p>
        </p:txBody>
      </p:sp>
      <p:sp>
        <p:nvSpPr>
          <p:cNvPr id="27" name="Shape 25"/>
          <p:cNvSpPr/>
          <p:nvPr/>
        </p:nvSpPr>
        <p:spPr>
          <a:xfrm>
            <a:off x="8183880" y="2615184"/>
            <a:ext cx="1737360" cy="512064"/>
          </a:xfrm>
          <a:prstGeom prst="trapezoid">
            <a:avLst/>
          </a:prstGeom>
          <a:solidFill>
            <a:srgbClr val="DDEBE0"/>
          </a:solidFill>
          <a:ln w="8890">
            <a:solidFill>
              <a:srgbClr val="487052"/>
            </a:solidFill>
            <a:prstDash val="solid"/>
          </a:ln>
        </p:spPr>
      </p:sp>
      <p:sp>
        <p:nvSpPr>
          <p:cNvPr id="28" name="Text 26"/>
          <p:cNvSpPr/>
          <p:nvPr/>
        </p:nvSpPr>
        <p:spPr>
          <a:xfrm>
            <a:off x="8275320" y="2706624"/>
            <a:ext cx="1554480" cy="118872"/>
          </a:xfrm>
          <a:prstGeom prst="rect">
            <a:avLst/>
          </a:prstGeom>
          <a:noFill/>
          <a:ln/>
        </p:spPr>
        <p:txBody>
          <a:bodyPr wrap="square" lIns="0" tIns="0" rIns="0" bIns="0" rtlCol="0" anchor="ctr">
            <a:normAutofit/>
          </a:bodyPr>
          <a:lstStyle/>
          <a:p>
            <a:pPr algn="ctr" indent="0" marL="0">
              <a:buNone/>
            </a:pPr>
            <a:r>
              <a:rPr lang="en-US" sz="740" b="1" dirty="0">
                <a:solidFill>
                  <a:srgbClr val="487052"/>
                </a:solidFill>
                <a:latin typeface="Microsoft YaHei" pitchFamily="34" charset="0"/>
                <a:ea typeface="Microsoft YaHei" pitchFamily="34" charset="-122"/>
                <a:cs typeface="Microsoft YaHei" pitchFamily="34" charset="-120"/>
              </a:rPr>
              <a:t>合规动作</a:t>
            </a:r>
            <a:endParaRPr lang="en-US" sz="740" dirty="0"/>
          </a:p>
        </p:txBody>
      </p:sp>
      <p:sp>
        <p:nvSpPr>
          <p:cNvPr id="29" name="Text 27"/>
          <p:cNvSpPr/>
          <p:nvPr/>
        </p:nvSpPr>
        <p:spPr>
          <a:xfrm>
            <a:off x="7808976" y="3136392"/>
            <a:ext cx="2514600" cy="118872"/>
          </a:xfrm>
          <a:prstGeom prst="rect">
            <a:avLst/>
          </a:prstGeom>
          <a:noFill/>
          <a:ln/>
        </p:spPr>
        <p:txBody>
          <a:bodyPr wrap="square" lIns="0" tIns="0" rIns="0" bIns="0" rtlCol="0" anchor="ctr">
            <a:normAutofit/>
          </a:bodyPr>
          <a:lstStyle/>
          <a:p>
            <a:pPr algn="ctr" indent="0" marL="0">
              <a:buNone/>
            </a:pPr>
            <a:r>
              <a:rPr lang="en-US" sz="660" dirty="0">
                <a:solidFill>
                  <a:srgbClr val="121212"/>
                </a:solidFill>
                <a:latin typeface="Microsoft YaHei" pitchFamily="34" charset="0"/>
                <a:ea typeface="Microsoft YaHei" pitchFamily="34" charset="-122"/>
                <a:cs typeface="Microsoft YaHei" pitchFamily="34" charset="-120"/>
              </a:rPr>
              <a:t>此外，废旧锂电池回收相关新闻显示回</a:t>
            </a:r>
            <a:endParaRPr lang="en-US" sz="660" dirty="0"/>
          </a:p>
        </p:txBody>
      </p:sp>
      <p:sp>
        <p:nvSpPr>
          <p:cNvPr id="30" name="Shape 28"/>
          <p:cNvSpPr/>
          <p:nvPr/>
        </p:nvSpPr>
        <p:spPr>
          <a:xfrm>
            <a:off x="7863840" y="3255264"/>
            <a:ext cx="2377440" cy="512064"/>
          </a:xfrm>
          <a:prstGeom prst="trapezoid">
            <a:avLst/>
          </a:prstGeom>
          <a:solidFill>
            <a:srgbClr val="F4FAF6"/>
          </a:solidFill>
          <a:ln w="8890">
            <a:solidFill>
              <a:srgbClr val="487052"/>
            </a:solidFill>
            <a:prstDash val="solid"/>
          </a:ln>
        </p:spPr>
      </p:sp>
      <p:sp>
        <p:nvSpPr>
          <p:cNvPr id="31" name="Text 29"/>
          <p:cNvSpPr/>
          <p:nvPr/>
        </p:nvSpPr>
        <p:spPr>
          <a:xfrm>
            <a:off x="7955280" y="3346704"/>
            <a:ext cx="2194560" cy="118872"/>
          </a:xfrm>
          <a:prstGeom prst="rect">
            <a:avLst/>
          </a:prstGeom>
          <a:noFill/>
          <a:ln/>
        </p:spPr>
        <p:txBody>
          <a:bodyPr wrap="square" lIns="0" tIns="0" rIns="0" bIns="0" rtlCol="0" anchor="ctr">
            <a:normAutofit/>
          </a:bodyPr>
          <a:lstStyle/>
          <a:p>
            <a:pPr algn="ctr" indent="0" marL="0">
              <a:buNone/>
            </a:pPr>
            <a:r>
              <a:rPr lang="en-US" sz="740" b="1" dirty="0">
                <a:solidFill>
                  <a:srgbClr val="487052"/>
                </a:solidFill>
                <a:latin typeface="Microsoft YaHei" pitchFamily="34" charset="0"/>
                <a:ea typeface="Microsoft YaHei" pitchFamily="34" charset="-122"/>
                <a:cs typeface="Microsoft YaHei" pitchFamily="34" charset="-120"/>
              </a:rPr>
              <a:t>经营影响/观察</a:t>
            </a:r>
            <a:endParaRPr lang="en-US" sz="740" dirty="0"/>
          </a:p>
        </p:txBody>
      </p:sp>
      <p:sp>
        <p:nvSpPr>
          <p:cNvPr id="32" name="Text 30"/>
          <p:cNvSpPr/>
          <p:nvPr/>
        </p:nvSpPr>
        <p:spPr>
          <a:xfrm>
            <a:off x="7808976" y="3776472"/>
            <a:ext cx="2514600" cy="118872"/>
          </a:xfrm>
          <a:prstGeom prst="rect">
            <a:avLst/>
          </a:prstGeom>
          <a:noFill/>
          <a:ln/>
        </p:spPr>
        <p:txBody>
          <a:bodyPr wrap="square" lIns="0" tIns="0" rIns="0" bIns="0" rtlCol="0" anchor="ctr">
            <a:normAutofit/>
          </a:bodyPr>
          <a:lstStyle/>
          <a:p>
            <a:pPr algn="ctr" indent="0" marL="0">
              <a:buNone/>
            </a:pPr>
            <a:r>
              <a:rPr lang="en-US" sz="660" dirty="0">
                <a:solidFill>
                  <a:srgbClr val="121212"/>
                </a:solidFill>
                <a:latin typeface="Microsoft YaHei" pitchFamily="34" charset="0"/>
                <a:ea typeface="Microsoft YaHei" pitchFamily="34" charset="-122"/>
                <a:cs typeface="Microsoft YaHei" pitchFamily="34" charset="-120"/>
              </a:rPr>
              <a:t>[2][5][6] 出口退税下调属</a:t>
            </a:r>
            <a:endParaRPr lang="en-US" sz="660" dirty="0"/>
          </a:p>
        </p:txBody>
      </p:sp>
      <p:sp>
        <p:nvSpPr>
          <p:cNvPr id="33" name="Shape 31"/>
          <p:cNvSpPr/>
          <p:nvPr/>
        </p:nvSpPr>
        <p:spPr>
          <a:xfrm>
            <a:off x="658368" y="5779008"/>
            <a:ext cx="1463040" cy="292608"/>
          </a:xfrm>
          <a:prstGeom prst="rect">
            <a:avLst/>
          </a:prstGeom>
          <a:solidFill>
            <a:srgbClr val="121212"/>
          </a:solidFill>
          <a:ln w="12700">
            <a:solidFill>
              <a:srgbClr val="121212"/>
            </a:solidFill>
            <a:prstDash val="solid"/>
          </a:ln>
        </p:spPr>
      </p:sp>
      <p:sp>
        <p:nvSpPr>
          <p:cNvPr id="34" name="Text 32"/>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35" name="Text 33"/>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若出口退税下调后新能源汽车出口量明显下滑，则电池厂可能减少海外订单并向上游压价，磷酸铁锂需求承压</a:t>
            </a:r>
            <a:endParaRPr lang="en-US" sz="10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8.</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2026-10-26</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08</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竞品观察</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2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清陶能源80亿元固态电池项目一期投产，固态电池产业化推进对磷酸铁锂长期技术路线构成潜在竞争；电摩锂电化趋势中，磷酸铁锂需与其他锂电路线竞争轻型动力市场，但今日信息未披露具体竞品份额变化。 [1][4]</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依据：[1][4]</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固态电池项目投产是今日竞品观察的核心信号，若固态电池在高端电动汽车领域加速渗透，可能分流磷酸铁锂的部分增量需求。电摩锂电化新闻提到锂电化成为电摩起飞关键，但未明确磷酸铁锂与三元等其他路线的占比，磷酸铁锂在成本和安全上的优势可能使其在电摩市场具备竞争力。需验证：清陶固态电池项目的客户和装车计划；电摩用锂电池的正极材料路线分布。</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固态电池在2027年前实现规模化装车且成本接近磷酸铁锂，则磷酸铁锂在高端电动汽车市场的份额可能被侵蚀；若电摩锂电化加速且磷酸铁锂成为主流选择，则磷酸铁锂在轻型动力领域可能获得新增量。跟踪指标：固态电池装车量和成本数据、电摩用锂电池出货量及正极材料类型占比。证据边界：固态电池项目刚投产，实际性能和成本尚未公开；电摩新闻未披露电池路线具体份额。</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对比矩阵</a:t>
            </a:r>
            <a:endParaRPr lang="en-US" sz="1200" dirty="0"/>
          </a:p>
        </p:txBody>
      </p:sp>
      <p:sp>
        <p:nvSpPr>
          <p:cNvPr id="24" name="Shape 22"/>
          <p:cNvSpPr/>
          <p:nvPr/>
        </p:nvSpPr>
        <p:spPr>
          <a:xfrm>
            <a:off x="7818120" y="2176272"/>
            <a:ext cx="2487168" cy="1609344"/>
          </a:xfrm>
          <a:prstGeom prst="rect">
            <a:avLst/>
          </a:prstGeom>
          <a:solidFill>
            <a:srgbClr val="FFFFFF"/>
          </a:solidFill>
          <a:ln w="10160">
            <a:solidFill>
              <a:srgbClr val="DADADA"/>
            </a:solidFill>
            <a:prstDash val="solid"/>
          </a:ln>
        </p:spPr>
      </p:sp>
      <p:sp>
        <p:nvSpPr>
          <p:cNvPr id="25" name="Shape 23"/>
          <p:cNvSpPr/>
          <p:nvPr/>
        </p:nvSpPr>
        <p:spPr>
          <a:xfrm>
            <a:off x="9061704" y="2176272"/>
            <a:ext cx="0" cy="1609344"/>
          </a:xfrm>
          <a:prstGeom prst="line">
            <a:avLst/>
          </a:prstGeom>
          <a:noFill/>
          <a:ln w="8890">
            <a:solidFill>
              <a:srgbClr val="DADADA"/>
            </a:solidFill>
            <a:prstDash val="solid"/>
          </a:ln>
        </p:spPr>
      </p:sp>
      <p:sp>
        <p:nvSpPr>
          <p:cNvPr id="26" name="Shape 24"/>
          <p:cNvSpPr/>
          <p:nvPr/>
        </p:nvSpPr>
        <p:spPr>
          <a:xfrm>
            <a:off x="7818120" y="2980944"/>
            <a:ext cx="2487168" cy="0"/>
          </a:xfrm>
          <a:prstGeom prst="line">
            <a:avLst/>
          </a:prstGeom>
          <a:noFill/>
          <a:ln w="8890">
            <a:solidFill>
              <a:srgbClr val="DADADA"/>
            </a:solidFill>
            <a:prstDash val="solid"/>
          </a:ln>
        </p:spPr>
      </p:sp>
      <p:sp>
        <p:nvSpPr>
          <p:cNvPr id="27" name="Shape 25"/>
          <p:cNvSpPr/>
          <p:nvPr/>
        </p:nvSpPr>
        <p:spPr>
          <a:xfrm>
            <a:off x="7818120" y="2176272"/>
            <a:ext cx="1243584" cy="804672"/>
          </a:xfrm>
          <a:prstGeom prst="rect">
            <a:avLst/>
          </a:prstGeom>
          <a:solidFill>
            <a:srgbClr val="DDEBE0"/>
          </a:solidFill>
          <a:ln w="3810">
            <a:solidFill>
              <a:srgbClr val="DADADA"/>
            </a:solidFill>
            <a:prstDash val="solid"/>
          </a:ln>
        </p:spPr>
      </p:sp>
      <p:sp>
        <p:nvSpPr>
          <p:cNvPr id="28" name="Text 26"/>
          <p:cNvSpPr/>
          <p:nvPr/>
        </p:nvSpPr>
        <p:spPr>
          <a:xfrm>
            <a:off x="7891272"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路线A</a:t>
            </a:r>
            <a:endParaRPr lang="en-US" sz="710" dirty="0"/>
          </a:p>
        </p:txBody>
      </p:sp>
      <p:sp>
        <p:nvSpPr>
          <p:cNvPr id="29" name="Text 27"/>
          <p:cNvSpPr/>
          <p:nvPr/>
        </p:nvSpPr>
        <p:spPr>
          <a:xfrm>
            <a:off x="7891272"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清陶能源80亿元固态电池项</a:t>
            </a:r>
            <a:endParaRPr lang="en-US" sz="670" dirty="0"/>
          </a:p>
        </p:txBody>
      </p:sp>
      <p:sp>
        <p:nvSpPr>
          <p:cNvPr id="30" name="Shape 28"/>
          <p:cNvSpPr/>
          <p:nvPr/>
        </p:nvSpPr>
        <p:spPr>
          <a:xfrm>
            <a:off x="9061704" y="2176272"/>
            <a:ext cx="1243584" cy="804672"/>
          </a:xfrm>
          <a:prstGeom prst="rect">
            <a:avLst/>
          </a:prstGeom>
          <a:solidFill>
            <a:srgbClr val="FFFFFF"/>
          </a:solidFill>
          <a:ln w="3810">
            <a:solidFill>
              <a:srgbClr val="DADADA"/>
            </a:solidFill>
            <a:prstDash val="solid"/>
          </a:ln>
        </p:spPr>
      </p:sp>
      <p:sp>
        <p:nvSpPr>
          <p:cNvPr id="31" name="Text 29"/>
          <p:cNvSpPr/>
          <p:nvPr/>
        </p:nvSpPr>
        <p:spPr>
          <a:xfrm>
            <a:off x="9134856"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路线B</a:t>
            </a:r>
            <a:endParaRPr lang="en-US" sz="710" dirty="0"/>
          </a:p>
        </p:txBody>
      </p:sp>
      <p:sp>
        <p:nvSpPr>
          <p:cNvPr id="32" name="Text 30"/>
          <p:cNvSpPr/>
          <p:nvPr/>
        </p:nvSpPr>
        <p:spPr>
          <a:xfrm>
            <a:off x="9134856"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电摩锂电化趋势中，磷酸铁锂</a:t>
            </a:r>
            <a:endParaRPr lang="en-US" sz="670" dirty="0"/>
          </a:p>
        </p:txBody>
      </p:sp>
      <p:sp>
        <p:nvSpPr>
          <p:cNvPr id="33" name="Shape 31"/>
          <p:cNvSpPr/>
          <p:nvPr/>
        </p:nvSpPr>
        <p:spPr>
          <a:xfrm>
            <a:off x="7818120" y="2980944"/>
            <a:ext cx="1243584" cy="804672"/>
          </a:xfrm>
          <a:prstGeom prst="rect">
            <a:avLst/>
          </a:prstGeom>
          <a:solidFill>
            <a:srgbClr val="FFFFFF"/>
          </a:solidFill>
          <a:ln w="3810">
            <a:solidFill>
              <a:srgbClr val="DADADA"/>
            </a:solidFill>
            <a:prstDash val="solid"/>
          </a:ln>
        </p:spPr>
      </p:sp>
      <p:sp>
        <p:nvSpPr>
          <p:cNvPr id="34" name="Text 32"/>
          <p:cNvSpPr/>
          <p:nvPr/>
        </p:nvSpPr>
        <p:spPr>
          <a:xfrm>
            <a:off x="7891272"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机会</a:t>
            </a:r>
            <a:endParaRPr lang="en-US" sz="710" dirty="0"/>
          </a:p>
        </p:txBody>
      </p:sp>
      <p:sp>
        <p:nvSpPr>
          <p:cNvPr id="35" name="Text 33"/>
          <p:cNvSpPr/>
          <p:nvPr/>
        </p:nvSpPr>
        <p:spPr>
          <a:xfrm>
            <a:off x="7891272"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[1][4] 固态电池项目</a:t>
            </a:r>
            <a:endParaRPr lang="en-US" sz="670" dirty="0"/>
          </a:p>
        </p:txBody>
      </p:sp>
      <p:sp>
        <p:nvSpPr>
          <p:cNvPr id="36" name="Shape 34"/>
          <p:cNvSpPr/>
          <p:nvPr/>
        </p:nvSpPr>
        <p:spPr>
          <a:xfrm>
            <a:off x="9061704" y="2980944"/>
            <a:ext cx="1243584" cy="804672"/>
          </a:xfrm>
          <a:prstGeom prst="rect">
            <a:avLst/>
          </a:prstGeom>
          <a:solidFill>
            <a:srgbClr val="F4FAF6"/>
          </a:solidFill>
          <a:ln w="3810">
            <a:solidFill>
              <a:srgbClr val="DADADA"/>
            </a:solidFill>
            <a:prstDash val="solid"/>
          </a:ln>
        </p:spPr>
      </p:sp>
      <p:sp>
        <p:nvSpPr>
          <p:cNvPr id="37" name="Text 35"/>
          <p:cNvSpPr/>
          <p:nvPr/>
        </p:nvSpPr>
        <p:spPr>
          <a:xfrm>
            <a:off x="9134856"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约束</a:t>
            </a:r>
            <a:endParaRPr lang="en-US" sz="710" dirty="0"/>
          </a:p>
        </p:txBody>
      </p:sp>
      <p:sp>
        <p:nvSpPr>
          <p:cNvPr id="38" name="Text 36"/>
          <p:cNvSpPr/>
          <p:nvPr/>
        </p:nvSpPr>
        <p:spPr>
          <a:xfrm>
            <a:off x="9134856"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清陶能源80亿元固态电池项</a:t>
            </a:r>
            <a:endParaRPr lang="en-US" sz="670" dirty="0"/>
          </a:p>
        </p:txBody>
      </p:sp>
      <p:sp>
        <p:nvSpPr>
          <p:cNvPr id="39" name="Text 37"/>
          <p:cNvSpPr/>
          <p:nvPr/>
        </p:nvSpPr>
        <p:spPr>
          <a:xfrm>
            <a:off x="7726680" y="4187952"/>
            <a:ext cx="2697480" cy="49377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检测到对比/分类信号，用矩阵压缩呈现，不新增外部判断。</a:t>
            </a:r>
            <a:endParaRPr lang="en-US" sz="760" dirty="0"/>
          </a:p>
        </p:txBody>
      </p:sp>
      <p:sp>
        <p:nvSpPr>
          <p:cNvPr id="40" name="Shape 38"/>
          <p:cNvSpPr/>
          <p:nvPr/>
        </p:nvSpPr>
        <p:spPr>
          <a:xfrm>
            <a:off x="658368" y="5779008"/>
            <a:ext cx="1463040" cy="292608"/>
          </a:xfrm>
          <a:prstGeom prst="rect">
            <a:avLst/>
          </a:prstGeom>
          <a:solidFill>
            <a:srgbClr val="121212"/>
          </a:solidFill>
          <a:ln w="12700">
            <a:solidFill>
              <a:srgbClr val="121212"/>
            </a:solidFill>
            <a:prstDash val="solid"/>
          </a:ln>
        </p:spPr>
      </p:sp>
      <p:sp>
        <p:nvSpPr>
          <p:cNvPr id="41" name="Text 39"/>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2" name="Text 40"/>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若固态电池在2027年前实现规模化装车且成本接近磷酸铁锂，则磷酸铁锂在高端电动汽车市场的份额可能被侵蚀</a:t>
            </a:r>
            <a:endParaRPr lang="en-US" sz="10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9.</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2026-10-26</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09</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风险/机会/观察</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3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风险方面，磷酸铁锂龙头扩产延续叠加出口退税下调，供给压力和需求不确定性并存；机会方面，电摩锂电化和储能等非汽车领域可能为磷酸铁锂打开增量空间；观察重点是扩产项目投产节奏、出口退税政策实际影响和磷酸铁锂价格走势。 [1][2][4]</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依据：[1][2][4]</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当前行业信号多空交织：扩产新闻显示龙头对需求乐观，但出口退税下调可能抑制海外需求，两者共同作用决定磷酸铁锂价格和盈利方向。电摩锂电化新闻提示轻型动力领域可能成为磷酸铁锂的新增长点，但规模尚小。需持续调研：磷酸铁锂在储能领域的订单变化；扩产企业的资金和建设进度；出口退税下调后电池厂海外定价策略调整。</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扩产项目投产进度快于需求增速且出口退税下调抑制海外需求，则磷酸铁锂价格和加工费可能继续承压；若电摩和储能等非汽车领域需求超预期增长，则可能部分对冲汽车领域的需求波动。跟踪指标：磷酸铁锂周度价格、扩产项目投产公告、电摩和储能电池月度出货量、新能源汽车出口数据。证据边界：当前仅有扩产和退税政策新闻，实际供需变化需等待月度数据验证；电摩和储能领域对磷酸铁锂的具体需求规模尚未披露。</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对比矩阵</a:t>
            </a:r>
            <a:endParaRPr lang="en-US" sz="1200" dirty="0"/>
          </a:p>
        </p:txBody>
      </p:sp>
      <p:sp>
        <p:nvSpPr>
          <p:cNvPr id="24" name="Shape 22"/>
          <p:cNvSpPr/>
          <p:nvPr/>
        </p:nvSpPr>
        <p:spPr>
          <a:xfrm>
            <a:off x="7818120" y="2176272"/>
            <a:ext cx="2487168" cy="1609344"/>
          </a:xfrm>
          <a:prstGeom prst="rect">
            <a:avLst/>
          </a:prstGeom>
          <a:solidFill>
            <a:srgbClr val="FFFFFF"/>
          </a:solidFill>
          <a:ln w="10160">
            <a:solidFill>
              <a:srgbClr val="DADADA"/>
            </a:solidFill>
            <a:prstDash val="solid"/>
          </a:ln>
        </p:spPr>
      </p:sp>
      <p:sp>
        <p:nvSpPr>
          <p:cNvPr id="25" name="Shape 23"/>
          <p:cNvSpPr/>
          <p:nvPr/>
        </p:nvSpPr>
        <p:spPr>
          <a:xfrm>
            <a:off x="9061704" y="2176272"/>
            <a:ext cx="0" cy="1609344"/>
          </a:xfrm>
          <a:prstGeom prst="line">
            <a:avLst/>
          </a:prstGeom>
          <a:noFill/>
          <a:ln w="8890">
            <a:solidFill>
              <a:srgbClr val="DADADA"/>
            </a:solidFill>
            <a:prstDash val="solid"/>
          </a:ln>
        </p:spPr>
      </p:sp>
      <p:sp>
        <p:nvSpPr>
          <p:cNvPr id="26" name="Shape 24"/>
          <p:cNvSpPr/>
          <p:nvPr/>
        </p:nvSpPr>
        <p:spPr>
          <a:xfrm>
            <a:off x="7818120" y="2980944"/>
            <a:ext cx="2487168" cy="0"/>
          </a:xfrm>
          <a:prstGeom prst="line">
            <a:avLst/>
          </a:prstGeom>
          <a:noFill/>
          <a:ln w="8890">
            <a:solidFill>
              <a:srgbClr val="DADADA"/>
            </a:solidFill>
            <a:prstDash val="solid"/>
          </a:ln>
        </p:spPr>
      </p:sp>
      <p:sp>
        <p:nvSpPr>
          <p:cNvPr id="27" name="Shape 25"/>
          <p:cNvSpPr/>
          <p:nvPr/>
        </p:nvSpPr>
        <p:spPr>
          <a:xfrm>
            <a:off x="7818120" y="2176272"/>
            <a:ext cx="1243584" cy="804672"/>
          </a:xfrm>
          <a:prstGeom prst="rect">
            <a:avLst/>
          </a:prstGeom>
          <a:solidFill>
            <a:srgbClr val="DDEBE0"/>
          </a:solidFill>
          <a:ln w="3810">
            <a:solidFill>
              <a:srgbClr val="DADADA"/>
            </a:solidFill>
            <a:prstDash val="solid"/>
          </a:ln>
        </p:spPr>
      </p:sp>
      <p:sp>
        <p:nvSpPr>
          <p:cNvPr id="28" name="Text 26"/>
          <p:cNvSpPr/>
          <p:nvPr/>
        </p:nvSpPr>
        <p:spPr>
          <a:xfrm>
            <a:off x="7891272"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路线A</a:t>
            </a:r>
            <a:endParaRPr lang="en-US" sz="710" dirty="0"/>
          </a:p>
        </p:txBody>
      </p:sp>
      <p:sp>
        <p:nvSpPr>
          <p:cNvPr id="29" name="Text 27"/>
          <p:cNvSpPr/>
          <p:nvPr/>
        </p:nvSpPr>
        <p:spPr>
          <a:xfrm>
            <a:off x="7891272"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风险方面，磷酸铁锂龙头扩产</a:t>
            </a:r>
            <a:endParaRPr lang="en-US" sz="670" dirty="0"/>
          </a:p>
        </p:txBody>
      </p:sp>
      <p:sp>
        <p:nvSpPr>
          <p:cNvPr id="30" name="Shape 28"/>
          <p:cNvSpPr/>
          <p:nvPr/>
        </p:nvSpPr>
        <p:spPr>
          <a:xfrm>
            <a:off x="9061704" y="2176272"/>
            <a:ext cx="1243584" cy="804672"/>
          </a:xfrm>
          <a:prstGeom prst="rect">
            <a:avLst/>
          </a:prstGeom>
          <a:solidFill>
            <a:srgbClr val="FFFFFF"/>
          </a:solidFill>
          <a:ln w="3810">
            <a:solidFill>
              <a:srgbClr val="DADADA"/>
            </a:solidFill>
            <a:prstDash val="solid"/>
          </a:ln>
        </p:spPr>
      </p:sp>
      <p:sp>
        <p:nvSpPr>
          <p:cNvPr id="31" name="Text 29"/>
          <p:cNvSpPr/>
          <p:nvPr/>
        </p:nvSpPr>
        <p:spPr>
          <a:xfrm>
            <a:off x="9134856"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路线B</a:t>
            </a:r>
            <a:endParaRPr lang="en-US" sz="710" dirty="0"/>
          </a:p>
        </p:txBody>
      </p:sp>
      <p:sp>
        <p:nvSpPr>
          <p:cNvPr id="32" name="Text 30"/>
          <p:cNvSpPr/>
          <p:nvPr/>
        </p:nvSpPr>
        <p:spPr>
          <a:xfrm>
            <a:off x="9134856"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机会方面，电摩锂电化和储能</a:t>
            </a:r>
            <a:endParaRPr lang="en-US" sz="670" dirty="0"/>
          </a:p>
        </p:txBody>
      </p:sp>
      <p:sp>
        <p:nvSpPr>
          <p:cNvPr id="33" name="Shape 31"/>
          <p:cNvSpPr/>
          <p:nvPr/>
        </p:nvSpPr>
        <p:spPr>
          <a:xfrm>
            <a:off x="7818120" y="2980944"/>
            <a:ext cx="1243584" cy="804672"/>
          </a:xfrm>
          <a:prstGeom prst="rect">
            <a:avLst/>
          </a:prstGeom>
          <a:solidFill>
            <a:srgbClr val="FFFFFF"/>
          </a:solidFill>
          <a:ln w="3810">
            <a:solidFill>
              <a:srgbClr val="DADADA"/>
            </a:solidFill>
            <a:prstDash val="solid"/>
          </a:ln>
        </p:spPr>
      </p:sp>
      <p:sp>
        <p:nvSpPr>
          <p:cNvPr id="34" name="Text 32"/>
          <p:cNvSpPr/>
          <p:nvPr/>
        </p:nvSpPr>
        <p:spPr>
          <a:xfrm>
            <a:off x="7891272"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机会</a:t>
            </a:r>
            <a:endParaRPr lang="en-US" sz="710" dirty="0"/>
          </a:p>
        </p:txBody>
      </p:sp>
      <p:sp>
        <p:nvSpPr>
          <p:cNvPr id="35" name="Text 33"/>
          <p:cNvSpPr/>
          <p:nvPr/>
        </p:nvSpPr>
        <p:spPr>
          <a:xfrm>
            <a:off x="7891272"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观察重点是扩产项目投产节奏</a:t>
            </a:r>
            <a:endParaRPr lang="en-US" sz="670" dirty="0"/>
          </a:p>
        </p:txBody>
      </p:sp>
      <p:sp>
        <p:nvSpPr>
          <p:cNvPr id="36" name="Shape 34"/>
          <p:cNvSpPr/>
          <p:nvPr/>
        </p:nvSpPr>
        <p:spPr>
          <a:xfrm>
            <a:off x="9061704" y="2980944"/>
            <a:ext cx="1243584" cy="804672"/>
          </a:xfrm>
          <a:prstGeom prst="rect">
            <a:avLst/>
          </a:prstGeom>
          <a:solidFill>
            <a:srgbClr val="F4FAF6"/>
          </a:solidFill>
          <a:ln w="3810">
            <a:solidFill>
              <a:srgbClr val="DADADA"/>
            </a:solidFill>
            <a:prstDash val="solid"/>
          </a:ln>
        </p:spPr>
      </p:sp>
      <p:sp>
        <p:nvSpPr>
          <p:cNvPr id="37" name="Text 35"/>
          <p:cNvSpPr/>
          <p:nvPr/>
        </p:nvSpPr>
        <p:spPr>
          <a:xfrm>
            <a:off x="9134856"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约束</a:t>
            </a:r>
            <a:endParaRPr lang="en-US" sz="710" dirty="0"/>
          </a:p>
        </p:txBody>
      </p:sp>
      <p:sp>
        <p:nvSpPr>
          <p:cNvPr id="38" name="Text 36"/>
          <p:cNvSpPr/>
          <p:nvPr/>
        </p:nvSpPr>
        <p:spPr>
          <a:xfrm>
            <a:off x="9134856"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风险方面，磷酸铁锂龙头扩产</a:t>
            </a:r>
            <a:endParaRPr lang="en-US" sz="670" dirty="0"/>
          </a:p>
        </p:txBody>
      </p:sp>
      <p:sp>
        <p:nvSpPr>
          <p:cNvPr id="39" name="Text 37"/>
          <p:cNvSpPr/>
          <p:nvPr/>
        </p:nvSpPr>
        <p:spPr>
          <a:xfrm>
            <a:off x="7726680" y="4187952"/>
            <a:ext cx="2697480" cy="49377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检测到对比/分类信号，用矩阵压缩呈现，不新增外部判断。</a:t>
            </a:r>
            <a:endParaRPr lang="en-US" sz="760" dirty="0"/>
          </a:p>
        </p:txBody>
      </p:sp>
      <p:sp>
        <p:nvSpPr>
          <p:cNvPr id="40" name="Shape 38"/>
          <p:cNvSpPr/>
          <p:nvPr/>
        </p:nvSpPr>
        <p:spPr>
          <a:xfrm>
            <a:off x="658368" y="5779008"/>
            <a:ext cx="1463040" cy="292608"/>
          </a:xfrm>
          <a:prstGeom prst="rect">
            <a:avLst/>
          </a:prstGeom>
          <a:solidFill>
            <a:srgbClr val="121212"/>
          </a:solidFill>
          <a:ln w="12700">
            <a:solidFill>
              <a:srgbClr val="121212"/>
            </a:solidFill>
            <a:prstDash val="solid"/>
          </a:ln>
        </p:spPr>
      </p:sp>
      <p:sp>
        <p:nvSpPr>
          <p:cNvPr id="41" name="Text 39"/>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2" name="Text 40"/>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若扩产项目投产进度快于需求增速且出口退税下调抑制海外需求，则磷酸铁锂价格和加工费可能继续承压</a:t>
            </a:r>
            <a:endParaRPr lang="en-US" sz="10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10.</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SOURCE INDEX</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2026-10-26</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10</a:t>
            </a:r>
            <a:endParaRPr lang="en-US" sz="730" dirty="0"/>
          </a:p>
        </p:txBody>
      </p:sp>
      <p:sp>
        <p:nvSpPr>
          <p:cNvPr id="9" name="Text 7"/>
          <p:cNvSpPr/>
          <p:nvPr/>
        </p:nvSpPr>
        <p:spPr>
          <a:xfrm>
            <a:off x="1143000" y="932688"/>
            <a:ext cx="4114800" cy="384048"/>
          </a:xfrm>
          <a:prstGeom prst="rect">
            <a:avLst/>
          </a:prstGeom>
          <a:noFill/>
          <a:ln/>
        </p:spPr>
        <p:txBody>
          <a:bodyPr wrap="square" lIns="0" tIns="0" rIns="0" bIns="0" rtlCol="0" anchor="ct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来源索引与可追溯性</a:t>
            </a:r>
            <a:endParaRPr lang="en-US" sz="2000" dirty="0"/>
          </a:p>
        </p:txBody>
      </p:sp>
      <p:sp>
        <p:nvSpPr>
          <p:cNvPr id="10" name="Shape 8"/>
          <p:cNvSpPr/>
          <p:nvPr/>
        </p:nvSpPr>
        <p:spPr>
          <a:xfrm>
            <a:off x="658368" y="1444752"/>
            <a:ext cx="566928" cy="310896"/>
          </a:xfrm>
          <a:prstGeom prst="rect">
            <a:avLst/>
          </a:prstGeom>
          <a:solidFill>
            <a:srgbClr val="121212"/>
          </a:solidFill>
          <a:ln w="6350">
            <a:solidFill>
              <a:srgbClr val="DADADA"/>
            </a:solidFill>
            <a:prstDash val="solid"/>
          </a:ln>
        </p:spPr>
      </p:sp>
      <p:sp>
        <p:nvSpPr>
          <p:cNvPr id="11" name="Text 9"/>
          <p:cNvSpPr/>
          <p:nvPr/>
        </p:nvSpPr>
        <p:spPr>
          <a:xfrm>
            <a:off x="731520" y="1536192"/>
            <a:ext cx="420624" cy="128016"/>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编号</a:t>
            </a:r>
            <a:endParaRPr lang="en-US" sz="780" dirty="0"/>
          </a:p>
        </p:txBody>
      </p:sp>
      <p:sp>
        <p:nvSpPr>
          <p:cNvPr id="12" name="Shape 10"/>
          <p:cNvSpPr/>
          <p:nvPr/>
        </p:nvSpPr>
        <p:spPr>
          <a:xfrm>
            <a:off x="1225296" y="1444752"/>
            <a:ext cx="1234440" cy="310896"/>
          </a:xfrm>
          <a:prstGeom prst="rect">
            <a:avLst/>
          </a:prstGeom>
          <a:solidFill>
            <a:srgbClr val="DDEBE0"/>
          </a:solidFill>
          <a:ln w="6350">
            <a:solidFill>
              <a:srgbClr val="DADADA"/>
            </a:solidFill>
            <a:prstDash val="solid"/>
          </a:ln>
        </p:spPr>
      </p:sp>
      <p:sp>
        <p:nvSpPr>
          <p:cNvPr id="13" name="Text 11"/>
          <p:cNvSpPr/>
          <p:nvPr/>
        </p:nvSpPr>
        <p:spPr>
          <a:xfrm>
            <a:off x="1298448" y="1536192"/>
            <a:ext cx="1088136"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来源</a:t>
            </a:r>
            <a:endParaRPr lang="en-US" sz="780" dirty="0"/>
          </a:p>
        </p:txBody>
      </p:sp>
      <p:sp>
        <p:nvSpPr>
          <p:cNvPr id="14" name="Shape 12"/>
          <p:cNvSpPr/>
          <p:nvPr/>
        </p:nvSpPr>
        <p:spPr>
          <a:xfrm>
            <a:off x="2459736" y="1444752"/>
            <a:ext cx="3977640" cy="310896"/>
          </a:xfrm>
          <a:prstGeom prst="rect">
            <a:avLst/>
          </a:prstGeom>
          <a:solidFill>
            <a:srgbClr val="DDEBE0"/>
          </a:solidFill>
          <a:ln w="6350">
            <a:solidFill>
              <a:srgbClr val="DADADA"/>
            </a:solidFill>
            <a:prstDash val="solid"/>
          </a:ln>
        </p:spPr>
      </p:sp>
      <p:sp>
        <p:nvSpPr>
          <p:cNvPr id="15" name="Text 13"/>
          <p:cNvSpPr/>
          <p:nvPr/>
        </p:nvSpPr>
        <p:spPr>
          <a:xfrm>
            <a:off x="2532888" y="1536192"/>
            <a:ext cx="3831336"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标题</a:t>
            </a:r>
            <a:endParaRPr lang="en-US" sz="780" dirty="0"/>
          </a:p>
        </p:txBody>
      </p:sp>
      <p:sp>
        <p:nvSpPr>
          <p:cNvPr id="16" name="Shape 14"/>
          <p:cNvSpPr/>
          <p:nvPr/>
        </p:nvSpPr>
        <p:spPr>
          <a:xfrm>
            <a:off x="6437376" y="1444752"/>
            <a:ext cx="4645152" cy="310896"/>
          </a:xfrm>
          <a:prstGeom prst="rect">
            <a:avLst/>
          </a:prstGeom>
          <a:solidFill>
            <a:srgbClr val="DDEBE0"/>
          </a:solidFill>
          <a:ln w="6350">
            <a:solidFill>
              <a:srgbClr val="DADADA"/>
            </a:solidFill>
            <a:prstDash val="solid"/>
          </a:ln>
        </p:spPr>
      </p:sp>
      <p:sp>
        <p:nvSpPr>
          <p:cNvPr id="17" name="Text 15"/>
          <p:cNvSpPr/>
          <p:nvPr/>
        </p:nvSpPr>
        <p:spPr>
          <a:xfrm>
            <a:off x="6510528" y="1536192"/>
            <a:ext cx="4498848"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链接</a:t>
            </a:r>
            <a:endParaRPr lang="en-US" sz="780" dirty="0"/>
          </a:p>
        </p:txBody>
      </p:sp>
      <p:sp>
        <p:nvSpPr>
          <p:cNvPr id="18" name="Shape 16"/>
          <p:cNvSpPr/>
          <p:nvPr/>
        </p:nvSpPr>
        <p:spPr>
          <a:xfrm>
            <a:off x="658368" y="1755648"/>
            <a:ext cx="10424160" cy="274320"/>
          </a:xfrm>
          <a:prstGeom prst="rect">
            <a:avLst/>
          </a:prstGeom>
          <a:solidFill>
            <a:srgbClr val="F4FAF6"/>
          </a:solidFill>
          <a:ln w="5080">
            <a:solidFill>
              <a:srgbClr val="DADADA"/>
            </a:solidFill>
            <a:prstDash val="solid"/>
          </a:ln>
        </p:spPr>
      </p:sp>
      <p:sp>
        <p:nvSpPr>
          <p:cNvPr id="19" name="Text 17"/>
          <p:cNvSpPr/>
          <p:nvPr/>
        </p:nvSpPr>
        <p:spPr>
          <a:xfrm>
            <a:off x="749808" y="182880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a:t>
            </a:r>
            <a:endParaRPr lang="en-US" sz="680" dirty="0"/>
          </a:p>
        </p:txBody>
      </p:sp>
      <p:sp>
        <p:nvSpPr>
          <p:cNvPr id="20" name="Text 18"/>
          <p:cNvSpPr/>
          <p:nvPr/>
        </p:nvSpPr>
        <p:spPr>
          <a:xfrm>
            <a:off x="1261872" y="182880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21" name="Text 19"/>
          <p:cNvSpPr/>
          <p:nvPr/>
        </p:nvSpPr>
        <p:spPr>
          <a:xfrm>
            <a:off x="2487168" y="182880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【一周投资热点】湖南裕能/万华化学再扩磷酸铁锂！清陶能源80亿元固态电</a:t>
            </a:r>
            <a:endParaRPr lang="en-US" sz="680" dirty="0"/>
          </a:p>
        </p:txBody>
      </p:sp>
      <p:sp>
        <p:nvSpPr>
          <p:cNvPr id="22" name="Text 20"/>
          <p:cNvSpPr/>
          <p:nvPr/>
        </p:nvSpPr>
        <p:spPr>
          <a:xfrm>
            <a:off x="6510528" y="182880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https://news.google.com/rss/articles/CBMiY0FVX3lxTE9kOGZ3VUJ5X0ZwWFF4QlNQUklDRndUZlBEQXVHZTludjJ3TlEzeHFkd2E5Nk9TdDMwQUFzcDFnQTdyRUhHaUhKUnR0YkFQUzRDeVlTQ3lYeGJSRFozaGxSTlFwbw?oc=5</a:t>
            </a:r>
            <a:endParaRPr lang="en-US" sz="580" dirty="0"/>
          </a:p>
        </p:txBody>
      </p:sp>
      <p:sp>
        <p:nvSpPr>
          <p:cNvPr id="23" name="Shape 21"/>
          <p:cNvSpPr/>
          <p:nvPr/>
        </p:nvSpPr>
        <p:spPr>
          <a:xfrm>
            <a:off x="658368" y="2066544"/>
            <a:ext cx="10424160" cy="274320"/>
          </a:xfrm>
          <a:prstGeom prst="rect">
            <a:avLst/>
          </a:prstGeom>
          <a:solidFill>
            <a:srgbClr val="FFFFFF"/>
          </a:solidFill>
          <a:ln w="5080">
            <a:solidFill>
              <a:srgbClr val="DADADA"/>
            </a:solidFill>
            <a:prstDash val="solid"/>
          </a:ln>
        </p:spPr>
      </p:sp>
      <p:sp>
        <p:nvSpPr>
          <p:cNvPr id="24" name="Text 22"/>
          <p:cNvSpPr/>
          <p:nvPr/>
        </p:nvSpPr>
        <p:spPr>
          <a:xfrm>
            <a:off x="749808" y="213969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a:t>
            </a:r>
            <a:endParaRPr lang="en-US" sz="680" dirty="0"/>
          </a:p>
        </p:txBody>
      </p:sp>
      <p:sp>
        <p:nvSpPr>
          <p:cNvPr id="25" name="Text 23"/>
          <p:cNvSpPr/>
          <p:nvPr/>
        </p:nvSpPr>
        <p:spPr>
          <a:xfrm>
            <a:off x="1261872" y="213969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26" name="Text 24"/>
          <p:cNvSpPr/>
          <p:nvPr/>
        </p:nvSpPr>
        <p:spPr>
          <a:xfrm>
            <a:off x="2487168" y="213969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从13%到9%，新能源汽车出海告别千亿退税红利_车市动态 - 中金在线</a:t>
            </a:r>
            <a:endParaRPr lang="en-US" sz="680" dirty="0"/>
          </a:p>
        </p:txBody>
      </p:sp>
      <p:sp>
        <p:nvSpPr>
          <p:cNvPr id="27" name="Text 25"/>
          <p:cNvSpPr/>
          <p:nvPr/>
        </p:nvSpPr>
        <p:spPr>
          <a:xfrm>
            <a:off x="6510528" y="213969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http://auto.cnfol.com/cheshidongtai/20261026/32407513.shtml</a:t>
            </a:r>
            <a:endParaRPr lang="en-US" sz="580" dirty="0"/>
          </a:p>
        </p:txBody>
      </p:sp>
      <p:sp>
        <p:nvSpPr>
          <p:cNvPr id="28" name="Shape 26"/>
          <p:cNvSpPr/>
          <p:nvPr/>
        </p:nvSpPr>
        <p:spPr>
          <a:xfrm>
            <a:off x="658368" y="2377440"/>
            <a:ext cx="10424160" cy="274320"/>
          </a:xfrm>
          <a:prstGeom prst="rect">
            <a:avLst/>
          </a:prstGeom>
          <a:solidFill>
            <a:srgbClr val="F4FAF6"/>
          </a:solidFill>
          <a:ln w="5080">
            <a:solidFill>
              <a:srgbClr val="DADADA"/>
            </a:solidFill>
            <a:prstDash val="solid"/>
          </a:ln>
        </p:spPr>
      </p:sp>
      <p:sp>
        <p:nvSpPr>
          <p:cNvPr id="29" name="Text 27"/>
          <p:cNvSpPr/>
          <p:nvPr/>
        </p:nvSpPr>
        <p:spPr>
          <a:xfrm>
            <a:off x="749808" y="2450592"/>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[3]</a:t>
            </a:r>
            <a:endParaRPr lang="en-US" sz="680" dirty="0"/>
          </a:p>
        </p:txBody>
      </p:sp>
      <p:sp>
        <p:nvSpPr>
          <p:cNvPr id="30" name="Text 28"/>
          <p:cNvSpPr/>
          <p:nvPr/>
        </p:nvSpPr>
        <p:spPr>
          <a:xfrm>
            <a:off x="1261872" y="2450592"/>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31" name="Text 29"/>
          <p:cNvSpPr/>
          <p:nvPr/>
        </p:nvSpPr>
        <p:spPr>
          <a:xfrm>
            <a:off x="2487168" y="2450592"/>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宁德时代三季报业绩高增 机构看好盈利拐点显现 - 手机新浪网</a:t>
            </a:r>
            <a:endParaRPr lang="en-US" sz="680" dirty="0"/>
          </a:p>
        </p:txBody>
      </p:sp>
      <p:sp>
        <p:nvSpPr>
          <p:cNvPr id="32" name="Text 30"/>
          <p:cNvSpPr/>
          <p:nvPr/>
        </p:nvSpPr>
        <p:spPr>
          <a:xfrm>
            <a:off x="6510528" y="2450592"/>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https://k.sina.com.cn/article_5953740931_162dee0830670435tw.html</a:t>
            </a:r>
            <a:endParaRPr lang="en-US" sz="580" dirty="0"/>
          </a:p>
        </p:txBody>
      </p:sp>
      <p:sp>
        <p:nvSpPr>
          <p:cNvPr id="33" name="Shape 31"/>
          <p:cNvSpPr/>
          <p:nvPr/>
        </p:nvSpPr>
        <p:spPr>
          <a:xfrm>
            <a:off x="658368" y="2688336"/>
            <a:ext cx="10424160" cy="274320"/>
          </a:xfrm>
          <a:prstGeom prst="rect">
            <a:avLst/>
          </a:prstGeom>
          <a:solidFill>
            <a:srgbClr val="FFFFFF"/>
          </a:solidFill>
          <a:ln w="5080">
            <a:solidFill>
              <a:srgbClr val="DADADA"/>
            </a:solidFill>
            <a:prstDash val="solid"/>
          </a:ln>
        </p:spPr>
      </p:sp>
      <p:sp>
        <p:nvSpPr>
          <p:cNvPr id="34" name="Text 32"/>
          <p:cNvSpPr/>
          <p:nvPr/>
        </p:nvSpPr>
        <p:spPr>
          <a:xfrm>
            <a:off x="749808" y="2761488"/>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[4]</a:t>
            </a:r>
            <a:endParaRPr lang="en-US" sz="680" dirty="0"/>
          </a:p>
        </p:txBody>
      </p:sp>
      <p:sp>
        <p:nvSpPr>
          <p:cNvPr id="35" name="Text 33"/>
          <p:cNvSpPr/>
          <p:nvPr/>
        </p:nvSpPr>
        <p:spPr>
          <a:xfrm>
            <a:off x="1261872" y="2761488"/>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36" name="Text 34"/>
          <p:cNvSpPr/>
          <p:nvPr/>
        </p:nvSpPr>
        <p:spPr>
          <a:xfrm>
            <a:off x="2487168" y="2761488"/>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锂电化成为电摩起飞关键，但谁更值得渠道“押注”？ - 手机搜狐网</a:t>
            </a:r>
            <a:endParaRPr lang="en-US" sz="680" dirty="0"/>
          </a:p>
        </p:txBody>
      </p:sp>
      <p:sp>
        <p:nvSpPr>
          <p:cNvPr id="37" name="Text 35"/>
          <p:cNvSpPr/>
          <p:nvPr/>
        </p:nvSpPr>
        <p:spPr>
          <a:xfrm>
            <a:off x="6510528" y="2761488"/>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https://m.sohu.com/a/1092685047_121017563?scm=10001.325_13-325_13.0.0-0-0-0-0.5_1334</a:t>
            </a:r>
            <a:endParaRPr lang="en-US" sz="580" dirty="0"/>
          </a:p>
        </p:txBody>
      </p:sp>
      <p:sp>
        <p:nvSpPr>
          <p:cNvPr id="38" name="Shape 36"/>
          <p:cNvSpPr/>
          <p:nvPr/>
        </p:nvSpPr>
        <p:spPr>
          <a:xfrm>
            <a:off x="658368" y="2999232"/>
            <a:ext cx="10424160" cy="274320"/>
          </a:xfrm>
          <a:prstGeom prst="rect">
            <a:avLst/>
          </a:prstGeom>
          <a:solidFill>
            <a:srgbClr val="F4FAF6"/>
          </a:solidFill>
          <a:ln w="5080">
            <a:solidFill>
              <a:srgbClr val="DADADA"/>
            </a:solidFill>
            <a:prstDash val="solid"/>
          </a:ln>
        </p:spPr>
      </p:sp>
      <p:sp>
        <p:nvSpPr>
          <p:cNvPr id="39" name="Text 37"/>
          <p:cNvSpPr/>
          <p:nvPr/>
        </p:nvSpPr>
        <p:spPr>
          <a:xfrm>
            <a:off x="749808" y="3072384"/>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[5]</a:t>
            </a:r>
            <a:endParaRPr lang="en-US" sz="680" dirty="0"/>
          </a:p>
        </p:txBody>
      </p:sp>
      <p:sp>
        <p:nvSpPr>
          <p:cNvPr id="40" name="Text 38"/>
          <p:cNvSpPr/>
          <p:nvPr/>
        </p:nvSpPr>
        <p:spPr>
          <a:xfrm>
            <a:off x="1261872" y="3072384"/>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41" name="Text 39"/>
          <p:cNvSpPr/>
          <p:nvPr/>
        </p:nvSpPr>
        <p:spPr>
          <a:xfrm>
            <a:off x="2487168" y="3072384"/>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吉尔吉斯斯坦将设立超850个废旧电池环保回收箱 - TV BRICS</a:t>
            </a:r>
            <a:endParaRPr lang="en-US" sz="680" dirty="0"/>
          </a:p>
        </p:txBody>
      </p:sp>
      <p:sp>
        <p:nvSpPr>
          <p:cNvPr id="42" name="Text 40"/>
          <p:cNvSpPr/>
          <p:nvPr/>
        </p:nvSpPr>
        <p:spPr>
          <a:xfrm>
            <a:off x="6510528" y="3072384"/>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https://tvbrics.com/cn/news/kyrgyzstan-to-install-over-850-eco-boxes-for-used-battery-collection/</a:t>
            </a:r>
            <a:endParaRPr lang="en-US" sz="580" dirty="0"/>
          </a:p>
        </p:txBody>
      </p:sp>
      <p:sp>
        <p:nvSpPr>
          <p:cNvPr id="43" name="Shape 41"/>
          <p:cNvSpPr/>
          <p:nvPr/>
        </p:nvSpPr>
        <p:spPr>
          <a:xfrm>
            <a:off x="658368" y="3310128"/>
            <a:ext cx="10424160" cy="274320"/>
          </a:xfrm>
          <a:prstGeom prst="rect">
            <a:avLst/>
          </a:prstGeom>
          <a:solidFill>
            <a:srgbClr val="FFFFFF"/>
          </a:solidFill>
          <a:ln w="5080">
            <a:solidFill>
              <a:srgbClr val="DADADA"/>
            </a:solidFill>
            <a:prstDash val="solid"/>
          </a:ln>
        </p:spPr>
      </p:sp>
      <p:sp>
        <p:nvSpPr>
          <p:cNvPr id="44" name="Text 42"/>
          <p:cNvSpPr/>
          <p:nvPr/>
        </p:nvSpPr>
        <p:spPr>
          <a:xfrm>
            <a:off x="749808" y="338328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[6]</a:t>
            </a:r>
            <a:endParaRPr lang="en-US" sz="680" dirty="0"/>
          </a:p>
        </p:txBody>
      </p:sp>
      <p:sp>
        <p:nvSpPr>
          <p:cNvPr id="45" name="Text 43"/>
          <p:cNvSpPr/>
          <p:nvPr/>
        </p:nvSpPr>
        <p:spPr>
          <a:xfrm>
            <a:off x="1261872" y="338328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46" name="Text 44"/>
          <p:cNvSpPr/>
          <p:nvPr/>
        </p:nvSpPr>
        <p:spPr>
          <a:xfrm>
            <a:off x="2487168" y="338328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废旧锂电池如何变废为宝一套完整破碎分选设备全流程揭秘 - 手机网易网</a:t>
            </a:r>
            <a:endParaRPr lang="en-US" sz="680" dirty="0"/>
          </a:p>
        </p:txBody>
      </p:sp>
      <p:sp>
        <p:nvSpPr>
          <p:cNvPr id="47" name="Text 45"/>
          <p:cNvSpPr/>
          <p:nvPr/>
        </p:nvSpPr>
        <p:spPr>
          <a:xfrm>
            <a:off x="6510528" y="338328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https://www.163.com/dy/article/LA34VCMF0553NYPG.html</a:t>
            </a:r>
            <a:endParaRPr lang="en-US" sz="580" dirty="0"/>
          </a:p>
        </p:txBody>
      </p:sp>
      <p:sp>
        <p:nvSpPr>
          <p:cNvPr id="48" name="Shape 46"/>
          <p:cNvSpPr/>
          <p:nvPr/>
        </p:nvSpPr>
        <p:spPr>
          <a:xfrm>
            <a:off x="658368" y="3621024"/>
            <a:ext cx="10424160" cy="274320"/>
          </a:xfrm>
          <a:prstGeom prst="rect">
            <a:avLst/>
          </a:prstGeom>
          <a:solidFill>
            <a:srgbClr val="F4FAF6"/>
          </a:solidFill>
          <a:ln w="5080">
            <a:solidFill>
              <a:srgbClr val="DADADA"/>
            </a:solidFill>
            <a:prstDash val="solid"/>
          </a:ln>
        </p:spPr>
      </p:sp>
      <p:sp>
        <p:nvSpPr>
          <p:cNvPr id="49" name="Text 47"/>
          <p:cNvSpPr/>
          <p:nvPr/>
        </p:nvSpPr>
        <p:spPr>
          <a:xfrm>
            <a:off x="749808" y="369417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[7]</a:t>
            </a:r>
            <a:endParaRPr lang="en-US" sz="680" dirty="0"/>
          </a:p>
        </p:txBody>
      </p:sp>
      <p:sp>
        <p:nvSpPr>
          <p:cNvPr id="50" name="Text 48"/>
          <p:cNvSpPr/>
          <p:nvPr/>
        </p:nvSpPr>
        <p:spPr>
          <a:xfrm>
            <a:off x="1261872" y="369417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中国电池网</a:t>
            </a:r>
            <a:endParaRPr lang="en-US" sz="680" dirty="0"/>
          </a:p>
        </p:txBody>
      </p:sp>
      <p:sp>
        <p:nvSpPr>
          <p:cNvPr id="51" name="Text 49"/>
          <p:cNvSpPr/>
          <p:nvPr/>
        </p:nvSpPr>
        <p:spPr>
          <a:xfrm>
            <a:off x="2487168" y="369417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【正极材料周报】贵州一含60万吨磷酸铁锂项目传新进展！锂业巨头前三季度</a:t>
            </a:r>
            <a:endParaRPr lang="en-US" sz="680" dirty="0"/>
          </a:p>
        </p:txBody>
      </p:sp>
      <p:sp>
        <p:nvSpPr>
          <p:cNvPr id="52" name="Text 50"/>
          <p:cNvSpPr/>
          <p:nvPr/>
        </p:nvSpPr>
        <p:spPr>
          <a:xfrm>
            <a:off x="6510528" y="369417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https://www.itdcw.com/news/dczk/101915V592026.html</a:t>
            </a:r>
            <a:endParaRPr lang="en-US" sz="580" dirty="0"/>
          </a:p>
        </p:txBody>
      </p:sp>
      <p:sp>
        <p:nvSpPr>
          <p:cNvPr id="53" name="Shape 51"/>
          <p:cNvSpPr/>
          <p:nvPr/>
        </p:nvSpPr>
        <p:spPr>
          <a:xfrm>
            <a:off x="658368" y="3931920"/>
            <a:ext cx="10424160" cy="274320"/>
          </a:xfrm>
          <a:prstGeom prst="rect">
            <a:avLst/>
          </a:prstGeom>
          <a:solidFill>
            <a:srgbClr val="FFFFFF"/>
          </a:solidFill>
          <a:ln w="5080">
            <a:solidFill>
              <a:srgbClr val="DADADA"/>
            </a:solidFill>
            <a:prstDash val="solid"/>
          </a:ln>
        </p:spPr>
      </p:sp>
      <p:sp>
        <p:nvSpPr>
          <p:cNvPr id="54" name="Text 52"/>
          <p:cNvSpPr/>
          <p:nvPr/>
        </p:nvSpPr>
        <p:spPr>
          <a:xfrm>
            <a:off x="749808" y="4005072"/>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[8]</a:t>
            </a:r>
            <a:endParaRPr lang="en-US" sz="680" dirty="0"/>
          </a:p>
        </p:txBody>
      </p:sp>
      <p:sp>
        <p:nvSpPr>
          <p:cNvPr id="55" name="Text 53"/>
          <p:cNvSpPr/>
          <p:nvPr/>
        </p:nvSpPr>
        <p:spPr>
          <a:xfrm>
            <a:off x="1261872" y="4005072"/>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中国电池网</a:t>
            </a:r>
            <a:endParaRPr lang="en-US" sz="680" dirty="0"/>
          </a:p>
        </p:txBody>
      </p:sp>
      <p:sp>
        <p:nvSpPr>
          <p:cNvPr id="56" name="Text 54"/>
          <p:cNvSpPr/>
          <p:nvPr/>
        </p:nvSpPr>
        <p:spPr>
          <a:xfrm>
            <a:off x="2487168" y="4005072"/>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我国研发新型无钴高镍正极材料 显著提升快充效率与循环寿命_电池网</a:t>
            </a:r>
            <a:endParaRPr lang="en-US" sz="680" dirty="0"/>
          </a:p>
        </p:txBody>
      </p:sp>
      <p:sp>
        <p:nvSpPr>
          <p:cNvPr id="57" name="Text 55"/>
          <p:cNvSpPr/>
          <p:nvPr/>
        </p:nvSpPr>
        <p:spPr>
          <a:xfrm>
            <a:off x="6510528" y="4005072"/>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https://www.itdcw.com/news/focus/100415Rb2026.html</a:t>
            </a:r>
            <a:endParaRPr lang="en-US" sz="580" dirty="0"/>
          </a:p>
        </p:txBody>
      </p:sp>
      <p:sp>
        <p:nvSpPr>
          <p:cNvPr id="58" name="Shape 56"/>
          <p:cNvSpPr/>
          <p:nvPr/>
        </p:nvSpPr>
        <p:spPr>
          <a:xfrm>
            <a:off x="658368" y="4242816"/>
            <a:ext cx="10424160" cy="274320"/>
          </a:xfrm>
          <a:prstGeom prst="rect">
            <a:avLst/>
          </a:prstGeom>
          <a:solidFill>
            <a:srgbClr val="F4FAF6"/>
          </a:solidFill>
          <a:ln w="5080">
            <a:solidFill>
              <a:srgbClr val="DADADA"/>
            </a:solidFill>
            <a:prstDash val="solid"/>
          </a:ln>
        </p:spPr>
      </p:sp>
      <p:sp>
        <p:nvSpPr>
          <p:cNvPr id="59" name="Text 57"/>
          <p:cNvSpPr/>
          <p:nvPr/>
        </p:nvSpPr>
        <p:spPr>
          <a:xfrm>
            <a:off x="749808" y="4315968"/>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[9]</a:t>
            </a:r>
            <a:endParaRPr lang="en-US" sz="680" dirty="0"/>
          </a:p>
        </p:txBody>
      </p:sp>
      <p:sp>
        <p:nvSpPr>
          <p:cNvPr id="60" name="Text 58"/>
          <p:cNvSpPr/>
          <p:nvPr/>
        </p:nvSpPr>
        <p:spPr>
          <a:xfrm>
            <a:off x="1261872" y="4315968"/>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中国电池网</a:t>
            </a:r>
            <a:endParaRPr lang="en-US" sz="680" dirty="0"/>
          </a:p>
        </p:txBody>
      </p:sp>
      <p:sp>
        <p:nvSpPr>
          <p:cNvPr id="61" name="Text 59"/>
          <p:cNvSpPr/>
          <p:nvPr/>
        </p:nvSpPr>
        <p:spPr>
          <a:xfrm>
            <a:off x="2487168" y="4315968"/>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同体积容量击穿行业纪录！多氟多两款大圆柱磷酸铁锂换电方案发布_电池网</a:t>
            </a:r>
            <a:endParaRPr lang="en-US" sz="680" dirty="0"/>
          </a:p>
        </p:txBody>
      </p:sp>
      <p:sp>
        <p:nvSpPr>
          <p:cNvPr id="62" name="Text 60"/>
          <p:cNvSpPr/>
          <p:nvPr/>
        </p:nvSpPr>
        <p:spPr>
          <a:xfrm>
            <a:off x="6510528" y="4315968"/>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https://www.itdcw.com/news/chanpinxinwen/06251562M2026.html</a:t>
            </a:r>
            <a:endParaRPr lang="en-US" sz="580" dirty="0"/>
          </a:p>
        </p:txBody>
      </p:sp>
      <p:sp>
        <p:nvSpPr>
          <p:cNvPr id="63" name="Shape 61"/>
          <p:cNvSpPr/>
          <p:nvPr/>
        </p:nvSpPr>
        <p:spPr>
          <a:xfrm>
            <a:off x="658368" y="4553712"/>
            <a:ext cx="10424160" cy="274320"/>
          </a:xfrm>
          <a:prstGeom prst="rect">
            <a:avLst/>
          </a:prstGeom>
          <a:solidFill>
            <a:srgbClr val="FFFFFF"/>
          </a:solidFill>
          <a:ln w="5080">
            <a:solidFill>
              <a:srgbClr val="DADADA"/>
            </a:solidFill>
            <a:prstDash val="solid"/>
          </a:ln>
        </p:spPr>
      </p:sp>
      <p:sp>
        <p:nvSpPr>
          <p:cNvPr id="64" name="Text 62"/>
          <p:cNvSpPr/>
          <p:nvPr/>
        </p:nvSpPr>
        <p:spPr>
          <a:xfrm>
            <a:off x="749808" y="4626864"/>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[10]</a:t>
            </a:r>
            <a:endParaRPr lang="en-US" sz="680" dirty="0"/>
          </a:p>
        </p:txBody>
      </p:sp>
      <p:sp>
        <p:nvSpPr>
          <p:cNvPr id="65" name="Text 63"/>
          <p:cNvSpPr/>
          <p:nvPr/>
        </p:nvSpPr>
        <p:spPr>
          <a:xfrm>
            <a:off x="1261872" y="4626864"/>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中国电池网</a:t>
            </a:r>
            <a:endParaRPr lang="en-US" sz="680" dirty="0"/>
          </a:p>
        </p:txBody>
      </p:sp>
      <p:sp>
        <p:nvSpPr>
          <p:cNvPr id="66" name="Text 64"/>
          <p:cNvSpPr/>
          <p:nvPr/>
        </p:nvSpPr>
        <p:spPr>
          <a:xfrm>
            <a:off x="2487168" y="4626864"/>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磷酸铁锂动力型电池与磷酸铁锂储能型电池的区别分析_电池网</a:t>
            </a:r>
            <a:endParaRPr lang="en-US" sz="680" dirty="0"/>
          </a:p>
        </p:txBody>
      </p:sp>
      <p:sp>
        <p:nvSpPr>
          <p:cNvPr id="67" name="Text 65"/>
          <p:cNvSpPr/>
          <p:nvPr/>
        </p:nvSpPr>
        <p:spPr>
          <a:xfrm>
            <a:off x="6510528" y="4626864"/>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https://www.itdcw.com/news/dianchibaike/06301359262023.html</a:t>
            </a:r>
            <a:endParaRPr lang="en-US" sz="580" dirty="0"/>
          </a:p>
        </p:txBody>
      </p:sp>
      <p:sp>
        <p:nvSpPr>
          <p:cNvPr id="68" name="Shape 66"/>
          <p:cNvSpPr/>
          <p:nvPr/>
        </p:nvSpPr>
        <p:spPr>
          <a:xfrm>
            <a:off x="658368" y="4864608"/>
            <a:ext cx="10424160" cy="274320"/>
          </a:xfrm>
          <a:prstGeom prst="rect">
            <a:avLst/>
          </a:prstGeom>
          <a:solidFill>
            <a:srgbClr val="F4FAF6"/>
          </a:solidFill>
          <a:ln w="5080">
            <a:solidFill>
              <a:srgbClr val="DADADA"/>
            </a:solidFill>
            <a:prstDash val="solid"/>
          </a:ln>
        </p:spPr>
      </p:sp>
      <p:sp>
        <p:nvSpPr>
          <p:cNvPr id="69" name="Text 67"/>
          <p:cNvSpPr/>
          <p:nvPr/>
        </p:nvSpPr>
        <p:spPr>
          <a:xfrm>
            <a:off x="749808" y="493776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[11]</a:t>
            </a:r>
            <a:endParaRPr lang="en-US" sz="680" dirty="0"/>
          </a:p>
        </p:txBody>
      </p:sp>
      <p:sp>
        <p:nvSpPr>
          <p:cNvPr id="70" name="Text 68"/>
          <p:cNvSpPr/>
          <p:nvPr/>
        </p:nvSpPr>
        <p:spPr>
          <a:xfrm>
            <a:off x="1261872" y="493776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鑫椤锂电</a:t>
            </a:r>
            <a:endParaRPr lang="en-US" sz="680" dirty="0"/>
          </a:p>
        </p:txBody>
      </p:sp>
      <p:sp>
        <p:nvSpPr>
          <p:cNvPr id="71" name="Text 69"/>
          <p:cNvSpPr/>
          <p:nvPr/>
        </p:nvSpPr>
        <p:spPr>
          <a:xfrm>
            <a:off x="2487168" y="493776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鑫椤锂电</a:t>
            </a:r>
            <a:endParaRPr lang="en-US" sz="680" dirty="0"/>
          </a:p>
        </p:txBody>
      </p:sp>
      <p:sp>
        <p:nvSpPr>
          <p:cNvPr id="72" name="Text 70"/>
          <p:cNvSpPr/>
          <p:nvPr/>
        </p:nvSpPr>
        <p:spPr>
          <a:xfrm>
            <a:off x="6510528" y="493776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https://www.icbattery.com/</a:t>
            </a:r>
            <a:endParaRPr lang="en-US" sz="580" dirty="0"/>
          </a:p>
        </p:txBody>
      </p:sp>
      <p:sp>
        <p:nvSpPr>
          <p:cNvPr id="73" name="Shape 71"/>
          <p:cNvSpPr/>
          <p:nvPr/>
        </p:nvSpPr>
        <p:spPr>
          <a:xfrm>
            <a:off x="658368" y="5175504"/>
            <a:ext cx="10424160" cy="274320"/>
          </a:xfrm>
          <a:prstGeom prst="rect">
            <a:avLst/>
          </a:prstGeom>
          <a:solidFill>
            <a:srgbClr val="FFFFFF"/>
          </a:solidFill>
          <a:ln w="5080">
            <a:solidFill>
              <a:srgbClr val="DADADA"/>
            </a:solidFill>
            <a:prstDash val="solid"/>
          </a:ln>
        </p:spPr>
      </p:sp>
      <p:sp>
        <p:nvSpPr>
          <p:cNvPr id="74" name="Text 72"/>
          <p:cNvSpPr/>
          <p:nvPr/>
        </p:nvSpPr>
        <p:spPr>
          <a:xfrm>
            <a:off x="749808" y="524865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[12]</a:t>
            </a:r>
            <a:endParaRPr lang="en-US" sz="680" dirty="0"/>
          </a:p>
        </p:txBody>
      </p:sp>
      <p:sp>
        <p:nvSpPr>
          <p:cNvPr id="75" name="Text 73"/>
          <p:cNvSpPr/>
          <p:nvPr/>
        </p:nvSpPr>
        <p:spPr>
          <a:xfrm>
            <a:off x="1261872" y="524865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高工锂电</a:t>
            </a:r>
            <a:endParaRPr lang="en-US" sz="680" dirty="0"/>
          </a:p>
        </p:txBody>
      </p:sp>
      <p:sp>
        <p:nvSpPr>
          <p:cNvPr id="76" name="Text 74"/>
          <p:cNvSpPr/>
          <p:nvPr/>
        </p:nvSpPr>
        <p:spPr>
          <a:xfrm>
            <a:off x="2487168" y="524865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高工锂电</a:t>
            </a:r>
            <a:endParaRPr lang="en-US" sz="680" dirty="0"/>
          </a:p>
        </p:txBody>
      </p:sp>
      <p:sp>
        <p:nvSpPr>
          <p:cNvPr id="77" name="Text 75"/>
          <p:cNvSpPr/>
          <p:nvPr/>
        </p:nvSpPr>
        <p:spPr>
          <a:xfrm>
            <a:off x="6510528" y="524865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https://www.gg-lb.com/</a:t>
            </a:r>
            <a:endParaRPr lang="en-US" sz="580" dirty="0"/>
          </a:p>
        </p:txBody>
      </p:sp>
      <p:sp>
        <p:nvSpPr>
          <p:cNvPr id="78" name="Shape 76"/>
          <p:cNvSpPr/>
          <p:nvPr/>
        </p:nvSpPr>
        <p:spPr>
          <a:xfrm>
            <a:off x="658368" y="5779008"/>
            <a:ext cx="1463040" cy="292608"/>
          </a:xfrm>
          <a:prstGeom prst="rect">
            <a:avLst/>
          </a:prstGeom>
          <a:solidFill>
            <a:srgbClr val="121212"/>
          </a:solidFill>
          <a:ln w="12700">
            <a:solidFill>
              <a:srgbClr val="121212"/>
            </a:solidFill>
            <a:prstDash val="solid"/>
          </a:ln>
        </p:spPr>
      </p:sp>
      <p:sp>
        <p:nvSpPr>
          <p:cNvPr id="79" name="Text 77"/>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引用规则</a:t>
            </a:r>
            <a:endParaRPr lang="en-US" sz="780" dirty="0"/>
          </a:p>
        </p:txBody>
      </p:sp>
      <p:sp>
        <p:nvSpPr>
          <p:cNvPr id="80" name="Text 78"/>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正文引用编号与本页来源一一对应，未进入正文的公开来源保留在 JSON 审计记录中。</a:t>
            </a:r>
            <a:endParaRPr lang="en-US" sz="10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11.</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SOURCE INDEX</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2026-10-26</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11</a:t>
            </a:r>
            <a:endParaRPr lang="en-US" sz="730" dirty="0"/>
          </a:p>
        </p:txBody>
      </p:sp>
      <p:sp>
        <p:nvSpPr>
          <p:cNvPr id="9" name="Text 7"/>
          <p:cNvSpPr/>
          <p:nvPr/>
        </p:nvSpPr>
        <p:spPr>
          <a:xfrm>
            <a:off x="1143000" y="932688"/>
            <a:ext cx="4114800" cy="384048"/>
          </a:xfrm>
          <a:prstGeom prst="rect">
            <a:avLst/>
          </a:prstGeom>
          <a:noFill/>
          <a:ln/>
        </p:spPr>
        <p:txBody>
          <a:bodyPr wrap="square" lIns="0" tIns="0" rIns="0" bIns="0" rtlCol="0" anchor="ct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来源索引与可追溯性</a:t>
            </a:r>
            <a:endParaRPr lang="en-US" sz="2000" dirty="0"/>
          </a:p>
        </p:txBody>
      </p:sp>
      <p:sp>
        <p:nvSpPr>
          <p:cNvPr id="10" name="Shape 8"/>
          <p:cNvSpPr/>
          <p:nvPr/>
        </p:nvSpPr>
        <p:spPr>
          <a:xfrm>
            <a:off x="658368" y="1444752"/>
            <a:ext cx="566928" cy="310896"/>
          </a:xfrm>
          <a:prstGeom prst="rect">
            <a:avLst/>
          </a:prstGeom>
          <a:solidFill>
            <a:srgbClr val="121212"/>
          </a:solidFill>
          <a:ln w="6350">
            <a:solidFill>
              <a:srgbClr val="DADADA"/>
            </a:solidFill>
            <a:prstDash val="solid"/>
          </a:ln>
        </p:spPr>
      </p:sp>
      <p:sp>
        <p:nvSpPr>
          <p:cNvPr id="11" name="Text 9"/>
          <p:cNvSpPr/>
          <p:nvPr/>
        </p:nvSpPr>
        <p:spPr>
          <a:xfrm>
            <a:off x="731520" y="1536192"/>
            <a:ext cx="420624" cy="128016"/>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编号</a:t>
            </a:r>
            <a:endParaRPr lang="en-US" sz="780" dirty="0"/>
          </a:p>
        </p:txBody>
      </p:sp>
      <p:sp>
        <p:nvSpPr>
          <p:cNvPr id="12" name="Shape 10"/>
          <p:cNvSpPr/>
          <p:nvPr/>
        </p:nvSpPr>
        <p:spPr>
          <a:xfrm>
            <a:off x="1225296" y="1444752"/>
            <a:ext cx="1234440" cy="310896"/>
          </a:xfrm>
          <a:prstGeom prst="rect">
            <a:avLst/>
          </a:prstGeom>
          <a:solidFill>
            <a:srgbClr val="DDEBE0"/>
          </a:solidFill>
          <a:ln w="6350">
            <a:solidFill>
              <a:srgbClr val="DADADA"/>
            </a:solidFill>
            <a:prstDash val="solid"/>
          </a:ln>
        </p:spPr>
      </p:sp>
      <p:sp>
        <p:nvSpPr>
          <p:cNvPr id="13" name="Text 11"/>
          <p:cNvSpPr/>
          <p:nvPr/>
        </p:nvSpPr>
        <p:spPr>
          <a:xfrm>
            <a:off x="1298448" y="1536192"/>
            <a:ext cx="1088136"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来源</a:t>
            </a:r>
            <a:endParaRPr lang="en-US" sz="780" dirty="0"/>
          </a:p>
        </p:txBody>
      </p:sp>
      <p:sp>
        <p:nvSpPr>
          <p:cNvPr id="14" name="Shape 12"/>
          <p:cNvSpPr/>
          <p:nvPr/>
        </p:nvSpPr>
        <p:spPr>
          <a:xfrm>
            <a:off x="2459736" y="1444752"/>
            <a:ext cx="3977640" cy="310896"/>
          </a:xfrm>
          <a:prstGeom prst="rect">
            <a:avLst/>
          </a:prstGeom>
          <a:solidFill>
            <a:srgbClr val="DDEBE0"/>
          </a:solidFill>
          <a:ln w="6350">
            <a:solidFill>
              <a:srgbClr val="DADADA"/>
            </a:solidFill>
            <a:prstDash val="solid"/>
          </a:ln>
        </p:spPr>
      </p:sp>
      <p:sp>
        <p:nvSpPr>
          <p:cNvPr id="15" name="Text 13"/>
          <p:cNvSpPr/>
          <p:nvPr/>
        </p:nvSpPr>
        <p:spPr>
          <a:xfrm>
            <a:off x="2532888" y="1536192"/>
            <a:ext cx="3831336"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标题</a:t>
            </a:r>
            <a:endParaRPr lang="en-US" sz="780" dirty="0"/>
          </a:p>
        </p:txBody>
      </p:sp>
      <p:sp>
        <p:nvSpPr>
          <p:cNvPr id="16" name="Shape 14"/>
          <p:cNvSpPr/>
          <p:nvPr/>
        </p:nvSpPr>
        <p:spPr>
          <a:xfrm>
            <a:off x="6437376" y="1444752"/>
            <a:ext cx="4645152" cy="310896"/>
          </a:xfrm>
          <a:prstGeom prst="rect">
            <a:avLst/>
          </a:prstGeom>
          <a:solidFill>
            <a:srgbClr val="DDEBE0"/>
          </a:solidFill>
          <a:ln w="6350">
            <a:solidFill>
              <a:srgbClr val="DADADA"/>
            </a:solidFill>
            <a:prstDash val="solid"/>
          </a:ln>
        </p:spPr>
      </p:sp>
      <p:sp>
        <p:nvSpPr>
          <p:cNvPr id="17" name="Text 15"/>
          <p:cNvSpPr/>
          <p:nvPr/>
        </p:nvSpPr>
        <p:spPr>
          <a:xfrm>
            <a:off x="6510528" y="1536192"/>
            <a:ext cx="4498848"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链接</a:t>
            </a:r>
            <a:endParaRPr lang="en-US" sz="780" dirty="0"/>
          </a:p>
        </p:txBody>
      </p:sp>
      <p:sp>
        <p:nvSpPr>
          <p:cNvPr id="18" name="Shape 16"/>
          <p:cNvSpPr/>
          <p:nvPr/>
        </p:nvSpPr>
        <p:spPr>
          <a:xfrm>
            <a:off x="658368" y="1755648"/>
            <a:ext cx="10424160" cy="274320"/>
          </a:xfrm>
          <a:prstGeom prst="rect">
            <a:avLst/>
          </a:prstGeom>
          <a:solidFill>
            <a:srgbClr val="F4FAF6"/>
          </a:solidFill>
          <a:ln w="5080">
            <a:solidFill>
              <a:srgbClr val="DADADA"/>
            </a:solidFill>
            <a:prstDash val="solid"/>
          </a:ln>
        </p:spPr>
      </p:sp>
      <p:sp>
        <p:nvSpPr>
          <p:cNvPr id="19" name="Text 17"/>
          <p:cNvSpPr/>
          <p:nvPr/>
        </p:nvSpPr>
        <p:spPr>
          <a:xfrm>
            <a:off x="749808" y="182880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[13]</a:t>
            </a:r>
            <a:endParaRPr lang="en-US" sz="680" dirty="0"/>
          </a:p>
        </p:txBody>
      </p:sp>
      <p:sp>
        <p:nvSpPr>
          <p:cNvPr id="20" name="Text 18"/>
          <p:cNvSpPr/>
          <p:nvPr/>
        </p:nvSpPr>
        <p:spPr>
          <a:xfrm>
            <a:off x="1261872" y="182880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电池中国</a:t>
            </a:r>
            <a:endParaRPr lang="en-US" sz="680" dirty="0"/>
          </a:p>
        </p:txBody>
      </p:sp>
      <p:sp>
        <p:nvSpPr>
          <p:cNvPr id="21" name="Text 19"/>
          <p:cNvSpPr/>
          <p:nvPr/>
        </p:nvSpPr>
        <p:spPr>
          <a:xfrm>
            <a:off x="2487168" y="182880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电池中国</a:t>
            </a:r>
            <a:endParaRPr lang="en-US" sz="680" dirty="0"/>
          </a:p>
        </p:txBody>
      </p:sp>
      <p:sp>
        <p:nvSpPr>
          <p:cNvPr id="22" name="Text 20"/>
          <p:cNvSpPr/>
          <p:nvPr/>
        </p:nvSpPr>
        <p:spPr>
          <a:xfrm>
            <a:off x="6510528" y="182880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https://www.cbea.com/</a:t>
            </a:r>
            <a:endParaRPr lang="en-US" sz="580" dirty="0"/>
          </a:p>
        </p:txBody>
      </p:sp>
      <p:sp>
        <p:nvSpPr>
          <p:cNvPr id="23" name="Shape 21"/>
          <p:cNvSpPr/>
          <p:nvPr/>
        </p:nvSpPr>
        <p:spPr>
          <a:xfrm>
            <a:off x="658368" y="2066544"/>
            <a:ext cx="10424160" cy="274320"/>
          </a:xfrm>
          <a:prstGeom prst="rect">
            <a:avLst/>
          </a:prstGeom>
          <a:solidFill>
            <a:srgbClr val="FFFFFF"/>
          </a:solidFill>
          <a:ln w="5080">
            <a:solidFill>
              <a:srgbClr val="DADADA"/>
            </a:solidFill>
            <a:prstDash val="solid"/>
          </a:ln>
        </p:spPr>
      </p:sp>
      <p:sp>
        <p:nvSpPr>
          <p:cNvPr id="24" name="Text 22"/>
          <p:cNvSpPr/>
          <p:nvPr/>
        </p:nvSpPr>
        <p:spPr>
          <a:xfrm>
            <a:off x="749808" y="213969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[14]</a:t>
            </a:r>
            <a:endParaRPr lang="en-US" sz="680" dirty="0"/>
          </a:p>
        </p:txBody>
      </p:sp>
      <p:sp>
        <p:nvSpPr>
          <p:cNvPr id="25" name="Text 23"/>
          <p:cNvSpPr/>
          <p:nvPr/>
        </p:nvSpPr>
        <p:spPr>
          <a:xfrm>
            <a:off x="1261872" y="213969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证券时报</a:t>
            </a:r>
            <a:endParaRPr lang="en-US" sz="680" dirty="0"/>
          </a:p>
        </p:txBody>
      </p:sp>
      <p:sp>
        <p:nvSpPr>
          <p:cNvPr id="26" name="Text 24"/>
          <p:cNvSpPr/>
          <p:nvPr/>
        </p:nvSpPr>
        <p:spPr>
          <a:xfrm>
            <a:off x="2487168" y="213969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证券时报</a:t>
            </a:r>
            <a:endParaRPr lang="en-US" sz="680" dirty="0"/>
          </a:p>
        </p:txBody>
      </p:sp>
      <p:sp>
        <p:nvSpPr>
          <p:cNvPr id="27" name="Text 25"/>
          <p:cNvSpPr/>
          <p:nvPr/>
        </p:nvSpPr>
        <p:spPr>
          <a:xfrm>
            <a:off x="6510528" y="213969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https://www.stcn.com/</a:t>
            </a:r>
            <a:endParaRPr lang="en-US" sz="580" dirty="0"/>
          </a:p>
        </p:txBody>
      </p:sp>
      <p:sp>
        <p:nvSpPr>
          <p:cNvPr id="28" name="Shape 26"/>
          <p:cNvSpPr/>
          <p:nvPr/>
        </p:nvSpPr>
        <p:spPr>
          <a:xfrm>
            <a:off x="658368" y="2377440"/>
            <a:ext cx="10424160" cy="274320"/>
          </a:xfrm>
          <a:prstGeom prst="rect">
            <a:avLst/>
          </a:prstGeom>
          <a:solidFill>
            <a:srgbClr val="F4FAF6"/>
          </a:solidFill>
          <a:ln w="5080">
            <a:solidFill>
              <a:srgbClr val="DADADA"/>
            </a:solidFill>
            <a:prstDash val="solid"/>
          </a:ln>
        </p:spPr>
      </p:sp>
      <p:sp>
        <p:nvSpPr>
          <p:cNvPr id="29" name="Text 27"/>
          <p:cNvSpPr/>
          <p:nvPr/>
        </p:nvSpPr>
        <p:spPr>
          <a:xfrm>
            <a:off x="749808" y="2450592"/>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[15]</a:t>
            </a:r>
            <a:endParaRPr lang="en-US" sz="680" dirty="0"/>
          </a:p>
        </p:txBody>
      </p:sp>
      <p:sp>
        <p:nvSpPr>
          <p:cNvPr id="30" name="Text 28"/>
          <p:cNvSpPr/>
          <p:nvPr/>
        </p:nvSpPr>
        <p:spPr>
          <a:xfrm>
            <a:off x="1261872" y="2450592"/>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界面新闻</a:t>
            </a:r>
            <a:endParaRPr lang="en-US" sz="680" dirty="0"/>
          </a:p>
        </p:txBody>
      </p:sp>
      <p:sp>
        <p:nvSpPr>
          <p:cNvPr id="31" name="Text 29"/>
          <p:cNvSpPr/>
          <p:nvPr/>
        </p:nvSpPr>
        <p:spPr>
          <a:xfrm>
            <a:off x="2487168" y="2450592"/>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界面新闻</a:t>
            </a:r>
            <a:endParaRPr lang="en-US" sz="680" dirty="0"/>
          </a:p>
        </p:txBody>
      </p:sp>
      <p:sp>
        <p:nvSpPr>
          <p:cNvPr id="32" name="Text 30"/>
          <p:cNvSpPr/>
          <p:nvPr/>
        </p:nvSpPr>
        <p:spPr>
          <a:xfrm>
            <a:off x="6510528" y="2450592"/>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https://www.jiemian.com/</a:t>
            </a:r>
            <a:endParaRPr lang="en-US" sz="580" dirty="0"/>
          </a:p>
        </p:txBody>
      </p:sp>
      <p:sp>
        <p:nvSpPr>
          <p:cNvPr id="33" name="Shape 31"/>
          <p:cNvSpPr/>
          <p:nvPr/>
        </p:nvSpPr>
        <p:spPr>
          <a:xfrm>
            <a:off x="658368" y="2688336"/>
            <a:ext cx="10424160" cy="274320"/>
          </a:xfrm>
          <a:prstGeom prst="rect">
            <a:avLst/>
          </a:prstGeom>
          <a:solidFill>
            <a:srgbClr val="FFFFFF"/>
          </a:solidFill>
          <a:ln w="5080">
            <a:solidFill>
              <a:srgbClr val="DADADA"/>
            </a:solidFill>
            <a:prstDash val="solid"/>
          </a:ln>
        </p:spPr>
      </p:sp>
      <p:sp>
        <p:nvSpPr>
          <p:cNvPr id="34" name="Text 32"/>
          <p:cNvSpPr/>
          <p:nvPr/>
        </p:nvSpPr>
        <p:spPr>
          <a:xfrm>
            <a:off x="749808" y="2761488"/>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[16]</a:t>
            </a:r>
            <a:endParaRPr lang="en-US" sz="680" dirty="0"/>
          </a:p>
        </p:txBody>
      </p:sp>
      <p:sp>
        <p:nvSpPr>
          <p:cNvPr id="35" name="Text 33"/>
          <p:cNvSpPr/>
          <p:nvPr/>
        </p:nvSpPr>
        <p:spPr>
          <a:xfrm>
            <a:off x="1261872" y="2761488"/>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工业和信息化部</a:t>
            </a:r>
            <a:endParaRPr lang="en-US" sz="680" dirty="0"/>
          </a:p>
        </p:txBody>
      </p:sp>
      <p:sp>
        <p:nvSpPr>
          <p:cNvPr id="36" name="Text 34"/>
          <p:cNvSpPr/>
          <p:nvPr/>
        </p:nvSpPr>
        <p:spPr>
          <a:xfrm>
            <a:off x="2487168" y="2761488"/>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国新办举行国务院政策例行吹风会 介绍加强中小企业回款难问题治理有关工作</a:t>
            </a:r>
            <a:endParaRPr lang="en-US" sz="680" dirty="0"/>
          </a:p>
        </p:txBody>
      </p:sp>
      <p:sp>
        <p:nvSpPr>
          <p:cNvPr id="37" name="Text 35"/>
          <p:cNvSpPr/>
          <p:nvPr/>
        </p:nvSpPr>
        <p:spPr>
          <a:xfrm>
            <a:off x="6510528" y="2761488"/>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http://www.miit.gov.cn/xwfb/bldhd/art/2026/art_7285ee48244d4f20b0f127c7f013ec11.html</a:t>
            </a:r>
            <a:endParaRPr lang="en-US" sz="580" dirty="0"/>
          </a:p>
        </p:txBody>
      </p:sp>
      <p:sp>
        <p:nvSpPr>
          <p:cNvPr id="38" name="Shape 36"/>
          <p:cNvSpPr/>
          <p:nvPr/>
        </p:nvSpPr>
        <p:spPr>
          <a:xfrm>
            <a:off x="658368" y="2999232"/>
            <a:ext cx="10424160" cy="274320"/>
          </a:xfrm>
          <a:prstGeom prst="rect">
            <a:avLst/>
          </a:prstGeom>
          <a:solidFill>
            <a:srgbClr val="F4FAF6"/>
          </a:solidFill>
          <a:ln w="5080">
            <a:solidFill>
              <a:srgbClr val="DADADA"/>
            </a:solidFill>
            <a:prstDash val="solid"/>
          </a:ln>
        </p:spPr>
      </p:sp>
      <p:sp>
        <p:nvSpPr>
          <p:cNvPr id="39" name="Text 37"/>
          <p:cNvSpPr/>
          <p:nvPr/>
        </p:nvSpPr>
        <p:spPr>
          <a:xfrm>
            <a:off x="749808" y="3072384"/>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[17]</a:t>
            </a:r>
            <a:endParaRPr lang="en-US" sz="680" dirty="0"/>
          </a:p>
        </p:txBody>
      </p:sp>
      <p:sp>
        <p:nvSpPr>
          <p:cNvPr id="40" name="Text 38"/>
          <p:cNvSpPr/>
          <p:nvPr/>
        </p:nvSpPr>
        <p:spPr>
          <a:xfrm>
            <a:off x="1261872" y="3072384"/>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工业和信息化部</a:t>
            </a:r>
            <a:endParaRPr lang="en-US" sz="680" dirty="0"/>
          </a:p>
        </p:txBody>
      </p:sp>
      <p:sp>
        <p:nvSpPr>
          <p:cNvPr id="41" name="Text 39"/>
          <p:cNvSpPr/>
          <p:nvPr/>
        </p:nvSpPr>
        <p:spPr>
          <a:xfrm>
            <a:off x="2487168" y="3072384"/>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四部门关于开展2026年度享受增值税加计抵减政策的集成电路企业清单制定</a:t>
            </a:r>
            <a:endParaRPr lang="en-US" sz="680" dirty="0"/>
          </a:p>
        </p:txBody>
      </p:sp>
      <p:sp>
        <p:nvSpPr>
          <p:cNvPr id="42" name="Text 40"/>
          <p:cNvSpPr/>
          <p:nvPr/>
        </p:nvSpPr>
        <p:spPr>
          <a:xfrm>
            <a:off x="6510528" y="3072384"/>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http://www.miit.gov.cn/zwgk/zcwj/wjfb/tz/art/2026/art_7d2e760b4be94217b8f55caec840b30d.html</a:t>
            </a:r>
            <a:endParaRPr lang="en-US" sz="580" dirty="0"/>
          </a:p>
        </p:txBody>
      </p:sp>
      <p:sp>
        <p:nvSpPr>
          <p:cNvPr id="43" name="Shape 41"/>
          <p:cNvSpPr/>
          <p:nvPr/>
        </p:nvSpPr>
        <p:spPr>
          <a:xfrm>
            <a:off x="658368" y="3310128"/>
            <a:ext cx="10424160" cy="274320"/>
          </a:xfrm>
          <a:prstGeom prst="rect">
            <a:avLst/>
          </a:prstGeom>
          <a:solidFill>
            <a:srgbClr val="FFFFFF"/>
          </a:solidFill>
          <a:ln w="5080">
            <a:solidFill>
              <a:srgbClr val="DADADA"/>
            </a:solidFill>
            <a:prstDash val="solid"/>
          </a:ln>
        </p:spPr>
      </p:sp>
      <p:sp>
        <p:nvSpPr>
          <p:cNvPr id="44" name="Text 42"/>
          <p:cNvSpPr/>
          <p:nvPr/>
        </p:nvSpPr>
        <p:spPr>
          <a:xfrm>
            <a:off x="749808" y="338328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[18]</a:t>
            </a:r>
            <a:endParaRPr lang="en-US" sz="680" dirty="0"/>
          </a:p>
        </p:txBody>
      </p:sp>
      <p:sp>
        <p:nvSpPr>
          <p:cNvPr id="45" name="Text 43"/>
          <p:cNvSpPr/>
          <p:nvPr/>
        </p:nvSpPr>
        <p:spPr>
          <a:xfrm>
            <a:off x="1261872" y="338328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工业和信息化部</a:t>
            </a:r>
            <a:endParaRPr lang="en-US" sz="680" dirty="0"/>
          </a:p>
        </p:txBody>
      </p:sp>
      <p:sp>
        <p:nvSpPr>
          <p:cNvPr id="46" name="Text 44"/>
          <p:cNvSpPr/>
          <p:nvPr/>
        </p:nvSpPr>
        <p:spPr>
          <a:xfrm>
            <a:off x="2487168" y="338328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工业和信息化部政策文件库</a:t>
            </a:r>
            <a:endParaRPr lang="en-US" sz="680" dirty="0"/>
          </a:p>
        </p:txBody>
      </p:sp>
      <p:sp>
        <p:nvSpPr>
          <p:cNvPr id="47" name="Text 45"/>
          <p:cNvSpPr/>
          <p:nvPr/>
        </p:nvSpPr>
        <p:spPr>
          <a:xfrm>
            <a:off x="6510528" y="338328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https://www.miit.gov.cn/search/zcwjk.html?websiteid=110000000000000&amp;pg=&amp;p=&amp;tpl=14&amp;category=183&amp;q=</a:t>
            </a:r>
            <a:endParaRPr lang="en-US" sz="580" dirty="0"/>
          </a:p>
        </p:txBody>
      </p:sp>
      <p:sp>
        <p:nvSpPr>
          <p:cNvPr id="48" name="Shape 46"/>
          <p:cNvSpPr/>
          <p:nvPr/>
        </p:nvSpPr>
        <p:spPr>
          <a:xfrm>
            <a:off x="658368" y="3621024"/>
            <a:ext cx="10424160" cy="274320"/>
          </a:xfrm>
          <a:prstGeom prst="rect">
            <a:avLst/>
          </a:prstGeom>
          <a:solidFill>
            <a:srgbClr val="F4FAF6"/>
          </a:solidFill>
          <a:ln w="5080">
            <a:solidFill>
              <a:srgbClr val="DADADA"/>
            </a:solidFill>
            <a:prstDash val="solid"/>
          </a:ln>
        </p:spPr>
      </p:sp>
      <p:sp>
        <p:nvSpPr>
          <p:cNvPr id="49" name="Text 47"/>
          <p:cNvSpPr/>
          <p:nvPr/>
        </p:nvSpPr>
        <p:spPr>
          <a:xfrm>
            <a:off x="749808" y="369417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[19]</a:t>
            </a:r>
            <a:endParaRPr lang="en-US" sz="680" dirty="0"/>
          </a:p>
        </p:txBody>
      </p:sp>
      <p:sp>
        <p:nvSpPr>
          <p:cNvPr id="50" name="Text 48"/>
          <p:cNvSpPr/>
          <p:nvPr/>
        </p:nvSpPr>
        <p:spPr>
          <a:xfrm>
            <a:off x="1261872" y="369417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工业和信息化部</a:t>
            </a:r>
            <a:endParaRPr lang="en-US" sz="680" dirty="0"/>
          </a:p>
        </p:txBody>
      </p:sp>
      <p:sp>
        <p:nvSpPr>
          <p:cNvPr id="51" name="Text 49"/>
          <p:cNvSpPr/>
          <p:nvPr/>
        </p:nvSpPr>
        <p:spPr>
          <a:xfrm>
            <a:off x="2487168" y="369417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最新政策</a:t>
            </a:r>
            <a:endParaRPr lang="en-US" sz="680" dirty="0"/>
          </a:p>
        </p:txBody>
      </p:sp>
      <p:sp>
        <p:nvSpPr>
          <p:cNvPr id="52" name="Text 50"/>
          <p:cNvSpPr/>
          <p:nvPr/>
        </p:nvSpPr>
        <p:spPr>
          <a:xfrm>
            <a:off x="6510528" y="369417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https://www.miit.gov.cn/xwfb/zxzc/index.html</a:t>
            </a:r>
            <a:endParaRPr lang="en-US" sz="580" dirty="0"/>
          </a:p>
        </p:txBody>
      </p:sp>
      <p:sp>
        <p:nvSpPr>
          <p:cNvPr id="53" name="Shape 51"/>
          <p:cNvSpPr/>
          <p:nvPr/>
        </p:nvSpPr>
        <p:spPr>
          <a:xfrm>
            <a:off x="658368" y="3931920"/>
            <a:ext cx="10424160" cy="274320"/>
          </a:xfrm>
          <a:prstGeom prst="rect">
            <a:avLst/>
          </a:prstGeom>
          <a:solidFill>
            <a:srgbClr val="FFFFFF"/>
          </a:solidFill>
          <a:ln w="5080">
            <a:solidFill>
              <a:srgbClr val="DADADA"/>
            </a:solidFill>
            <a:prstDash val="solid"/>
          </a:ln>
        </p:spPr>
      </p:sp>
      <p:sp>
        <p:nvSpPr>
          <p:cNvPr id="54" name="Text 52"/>
          <p:cNvSpPr/>
          <p:nvPr/>
        </p:nvSpPr>
        <p:spPr>
          <a:xfrm>
            <a:off x="749808" y="4005072"/>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[20]</a:t>
            </a:r>
            <a:endParaRPr lang="en-US" sz="680" dirty="0"/>
          </a:p>
        </p:txBody>
      </p:sp>
      <p:sp>
        <p:nvSpPr>
          <p:cNvPr id="55" name="Text 53"/>
          <p:cNvSpPr/>
          <p:nvPr/>
        </p:nvSpPr>
        <p:spPr>
          <a:xfrm>
            <a:off x="1261872" y="4005072"/>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国家发展改革委</a:t>
            </a:r>
            <a:endParaRPr lang="en-US" sz="680" dirty="0"/>
          </a:p>
        </p:txBody>
      </p:sp>
      <p:sp>
        <p:nvSpPr>
          <p:cNvPr id="56" name="Text 54"/>
          <p:cNvSpPr/>
          <p:nvPr/>
        </p:nvSpPr>
        <p:spPr>
          <a:xfrm>
            <a:off x="2487168" y="4005072"/>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国家发展改革委</a:t>
            </a:r>
            <a:endParaRPr lang="en-US" sz="680" dirty="0"/>
          </a:p>
        </p:txBody>
      </p:sp>
      <p:sp>
        <p:nvSpPr>
          <p:cNvPr id="57" name="Text 55"/>
          <p:cNvSpPr/>
          <p:nvPr/>
        </p:nvSpPr>
        <p:spPr>
          <a:xfrm>
            <a:off x="6510528" y="4005072"/>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https://www.ndrc.gov.cn/</a:t>
            </a:r>
            <a:endParaRPr lang="en-US" sz="580" dirty="0"/>
          </a:p>
        </p:txBody>
      </p:sp>
      <p:sp>
        <p:nvSpPr>
          <p:cNvPr id="58" name="Shape 56"/>
          <p:cNvSpPr/>
          <p:nvPr/>
        </p:nvSpPr>
        <p:spPr>
          <a:xfrm>
            <a:off x="658368" y="4242816"/>
            <a:ext cx="10424160" cy="274320"/>
          </a:xfrm>
          <a:prstGeom prst="rect">
            <a:avLst/>
          </a:prstGeom>
          <a:solidFill>
            <a:srgbClr val="F4FAF6"/>
          </a:solidFill>
          <a:ln w="5080">
            <a:solidFill>
              <a:srgbClr val="DADADA"/>
            </a:solidFill>
            <a:prstDash val="solid"/>
          </a:ln>
        </p:spPr>
      </p:sp>
      <p:sp>
        <p:nvSpPr>
          <p:cNvPr id="59" name="Text 57"/>
          <p:cNvSpPr/>
          <p:nvPr/>
        </p:nvSpPr>
        <p:spPr>
          <a:xfrm>
            <a:off x="749808" y="4315968"/>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[21]</a:t>
            </a:r>
            <a:endParaRPr lang="en-US" sz="680" dirty="0"/>
          </a:p>
        </p:txBody>
      </p:sp>
      <p:sp>
        <p:nvSpPr>
          <p:cNvPr id="60" name="Text 58"/>
          <p:cNvSpPr/>
          <p:nvPr/>
        </p:nvSpPr>
        <p:spPr>
          <a:xfrm>
            <a:off x="1261872" y="4315968"/>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中华人民共和国中央人民政府</a:t>
            </a:r>
            <a:endParaRPr lang="en-US" sz="680" dirty="0"/>
          </a:p>
        </p:txBody>
      </p:sp>
      <p:sp>
        <p:nvSpPr>
          <p:cNvPr id="61" name="Text 59"/>
          <p:cNvSpPr/>
          <p:nvPr/>
        </p:nvSpPr>
        <p:spPr>
          <a:xfrm>
            <a:off x="2487168" y="4315968"/>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中华人民共和国中央人民政府</a:t>
            </a:r>
            <a:endParaRPr lang="en-US" sz="680" dirty="0"/>
          </a:p>
        </p:txBody>
      </p:sp>
      <p:sp>
        <p:nvSpPr>
          <p:cNvPr id="62" name="Text 60"/>
          <p:cNvSpPr/>
          <p:nvPr/>
        </p:nvSpPr>
        <p:spPr>
          <a:xfrm>
            <a:off x="6510528" y="4315968"/>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https://www.gov.cn/</a:t>
            </a:r>
            <a:endParaRPr lang="en-US" sz="580" dirty="0"/>
          </a:p>
        </p:txBody>
      </p:sp>
      <p:sp>
        <p:nvSpPr>
          <p:cNvPr id="63" name="Shape 61"/>
          <p:cNvSpPr/>
          <p:nvPr/>
        </p:nvSpPr>
        <p:spPr>
          <a:xfrm>
            <a:off x="658368" y="4553712"/>
            <a:ext cx="10424160" cy="274320"/>
          </a:xfrm>
          <a:prstGeom prst="rect">
            <a:avLst/>
          </a:prstGeom>
          <a:solidFill>
            <a:srgbClr val="FFFFFF"/>
          </a:solidFill>
          <a:ln w="5080">
            <a:solidFill>
              <a:srgbClr val="DADADA"/>
            </a:solidFill>
            <a:prstDash val="solid"/>
          </a:ln>
        </p:spPr>
      </p:sp>
      <p:sp>
        <p:nvSpPr>
          <p:cNvPr id="64" name="Text 62"/>
          <p:cNvSpPr/>
          <p:nvPr/>
        </p:nvSpPr>
        <p:spPr>
          <a:xfrm>
            <a:off x="749808" y="4626864"/>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[22]</a:t>
            </a:r>
            <a:endParaRPr lang="en-US" sz="680" dirty="0"/>
          </a:p>
        </p:txBody>
      </p:sp>
      <p:sp>
        <p:nvSpPr>
          <p:cNvPr id="65" name="Text 63"/>
          <p:cNvSpPr/>
          <p:nvPr/>
        </p:nvSpPr>
        <p:spPr>
          <a:xfrm>
            <a:off x="1261872" y="4626864"/>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生态环境部</a:t>
            </a:r>
            <a:endParaRPr lang="en-US" sz="680" dirty="0"/>
          </a:p>
        </p:txBody>
      </p:sp>
      <p:sp>
        <p:nvSpPr>
          <p:cNvPr id="66" name="Text 64"/>
          <p:cNvSpPr/>
          <p:nvPr/>
        </p:nvSpPr>
        <p:spPr>
          <a:xfrm>
            <a:off x="2487168" y="4626864"/>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生态环境部</a:t>
            </a:r>
            <a:endParaRPr lang="en-US" sz="680" dirty="0"/>
          </a:p>
        </p:txBody>
      </p:sp>
      <p:sp>
        <p:nvSpPr>
          <p:cNvPr id="67" name="Text 65"/>
          <p:cNvSpPr/>
          <p:nvPr/>
        </p:nvSpPr>
        <p:spPr>
          <a:xfrm>
            <a:off x="6510528" y="4626864"/>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https://www.mee.gov.cn/</a:t>
            </a:r>
            <a:endParaRPr lang="en-US" sz="580" dirty="0"/>
          </a:p>
        </p:txBody>
      </p:sp>
      <p:sp>
        <p:nvSpPr>
          <p:cNvPr id="68" name="Shape 66"/>
          <p:cNvSpPr/>
          <p:nvPr/>
        </p:nvSpPr>
        <p:spPr>
          <a:xfrm>
            <a:off x="658368" y="4864608"/>
            <a:ext cx="10424160" cy="274320"/>
          </a:xfrm>
          <a:prstGeom prst="rect">
            <a:avLst/>
          </a:prstGeom>
          <a:solidFill>
            <a:srgbClr val="F4FAF6"/>
          </a:solidFill>
          <a:ln w="5080">
            <a:solidFill>
              <a:srgbClr val="DADADA"/>
            </a:solidFill>
            <a:prstDash val="solid"/>
          </a:ln>
        </p:spPr>
      </p:sp>
      <p:sp>
        <p:nvSpPr>
          <p:cNvPr id="69" name="Text 67"/>
          <p:cNvSpPr/>
          <p:nvPr/>
        </p:nvSpPr>
        <p:spPr>
          <a:xfrm>
            <a:off x="749808" y="493776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[23]</a:t>
            </a:r>
            <a:endParaRPr lang="en-US" sz="680" dirty="0"/>
          </a:p>
        </p:txBody>
      </p:sp>
      <p:sp>
        <p:nvSpPr>
          <p:cNvPr id="70" name="Text 68"/>
          <p:cNvSpPr/>
          <p:nvPr/>
        </p:nvSpPr>
        <p:spPr>
          <a:xfrm>
            <a:off x="1261872" y="493776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万润新能源</a:t>
            </a:r>
            <a:endParaRPr lang="en-US" sz="680" dirty="0"/>
          </a:p>
        </p:txBody>
      </p:sp>
      <p:sp>
        <p:nvSpPr>
          <p:cNvPr id="71" name="Text 69"/>
          <p:cNvSpPr/>
          <p:nvPr/>
        </p:nvSpPr>
        <p:spPr>
          <a:xfrm>
            <a:off x="2487168" y="493776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磷酸铁锂-湖北万润新能源科技股份有限公司_动力电池材料_消费电池材料_</a:t>
            </a:r>
            <a:endParaRPr lang="en-US" sz="680" dirty="0"/>
          </a:p>
        </p:txBody>
      </p:sp>
      <p:sp>
        <p:nvSpPr>
          <p:cNvPr id="72" name="Text 70"/>
          <p:cNvSpPr/>
          <p:nvPr/>
        </p:nvSpPr>
        <p:spPr>
          <a:xfrm>
            <a:off x="6510528" y="493776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https://www.hbwanrun.com/application_details/1.html</a:t>
            </a:r>
            <a:endParaRPr lang="en-US" sz="580" dirty="0"/>
          </a:p>
        </p:txBody>
      </p:sp>
      <p:sp>
        <p:nvSpPr>
          <p:cNvPr id="73" name="Shape 71"/>
          <p:cNvSpPr/>
          <p:nvPr/>
        </p:nvSpPr>
        <p:spPr>
          <a:xfrm>
            <a:off x="658368" y="5175504"/>
            <a:ext cx="10424160" cy="274320"/>
          </a:xfrm>
          <a:prstGeom prst="rect">
            <a:avLst/>
          </a:prstGeom>
          <a:solidFill>
            <a:srgbClr val="FFFFFF"/>
          </a:solidFill>
          <a:ln w="5080">
            <a:solidFill>
              <a:srgbClr val="DADADA"/>
            </a:solidFill>
            <a:prstDash val="solid"/>
          </a:ln>
        </p:spPr>
      </p:sp>
      <p:sp>
        <p:nvSpPr>
          <p:cNvPr id="74" name="Text 72"/>
          <p:cNvSpPr/>
          <p:nvPr/>
        </p:nvSpPr>
        <p:spPr>
          <a:xfrm>
            <a:off x="749808" y="524865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[24]</a:t>
            </a:r>
            <a:endParaRPr lang="en-US" sz="680" dirty="0"/>
          </a:p>
        </p:txBody>
      </p:sp>
      <p:sp>
        <p:nvSpPr>
          <p:cNvPr id="75" name="Text 73"/>
          <p:cNvSpPr/>
          <p:nvPr/>
        </p:nvSpPr>
        <p:spPr>
          <a:xfrm>
            <a:off x="1261872" y="524865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湖南裕能</a:t>
            </a:r>
            <a:endParaRPr lang="en-US" sz="680" dirty="0"/>
          </a:p>
        </p:txBody>
      </p:sp>
      <p:sp>
        <p:nvSpPr>
          <p:cNvPr id="76" name="Text 74"/>
          <p:cNvSpPr/>
          <p:nvPr/>
        </p:nvSpPr>
        <p:spPr>
          <a:xfrm>
            <a:off x="2487168" y="524865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湖南裕能</a:t>
            </a:r>
            <a:endParaRPr lang="en-US" sz="680" dirty="0"/>
          </a:p>
        </p:txBody>
      </p:sp>
      <p:sp>
        <p:nvSpPr>
          <p:cNvPr id="77" name="Text 75"/>
          <p:cNvSpPr/>
          <p:nvPr/>
        </p:nvSpPr>
        <p:spPr>
          <a:xfrm>
            <a:off x="6510528" y="524865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https://www.yunengchem.com/</a:t>
            </a:r>
            <a:endParaRPr lang="en-US" sz="580" dirty="0"/>
          </a:p>
        </p:txBody>
      </p:sp>
      <p:sp>
        <p:nvSpPr>
          <p:cNvPr id="78" name="Shape 76"/>
          <p:cNvSpPr/>
          <p:nvPr/>
        </p:nvSpPr>
        <p:spPr>
          <a:xfrm>
            <a:off x="658368" y="5779008"/>
            <a:ext cx="1463040" cy="292608"/>
          </a:xfrm>
          <a:prstGeom prst="rect">
            <a:avLst/>
          </a:prstGeom>
          <a:solidFill>
            <a:srgbClr val="121212"/>
          </a:solidFill>
          <a:ln w="12700">
            <a:solidFill>
              <a:srgbClr val="121212"/>
            </a:solidFill>
            <a:prstDash val="solid"/>
          </a:ln>
        </p:spPr>
      </p:sp>
      <p:sp>
        <p:nvSpPr>
          <p:cNvPr id="79" name="Text 77"/>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引用规则</a:t>
            </a:r>
            <a:endParaRPr lang="en-US" sz="780" dirty="0"/>
          </a:p>
        </p:txBody>
      </p:sp>
      <p:sp>
        <p:nvSpPr>
          <p:cNvPr id="80" name="Text 78"/>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正文引用编号与本页来源一一对应，未进入正文的公开来源保留在 JSON 审计记录中。</a:t>
            </a:r>
            <a:endParaRPr lang="en-US" sz="10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lifepo4_brief</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磷酸铁锂行业早报 2026-10-26</dc:title>
  <dc:subject>LFP daily briefing</dc:subject>
  <dc:creator>lifepo4_brief</dc:creator>
  <cp:lastModifiedBy>lifepo4_brief</cp:lastModifiedBy>
  <cp:revision>1</cp:revision>
  <dcterms:created xsi:type="dcterms:W3CDTF">2026-10-26T02:27:59Z</dcterms:created>
  <dcterms:modified xsi:type="dcterms:W3CDTF">2026-10-26T02:27:59Z</dcterms:modified>
</cp:coreProperties>
</file>