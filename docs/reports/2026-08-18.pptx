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2026-08-18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聚焦于储能系统集采、材料价格偏强运行及回收利用产业化。中国能建30GWh储能系统集采公示中标候选人，显示储能需求持续旺盛；磷酸铁锂及碳酸锂价格偏强运行，成本支撑明显。同时，动力电池回收利用进入新阶段，多个回收项目落地，政策与产业协同推进。行业整体呈现需求增长、价格稳中有升、产业链向回收延伸的态势。</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今日磷酸铁锂行业聚焦于储能系统集采、材料价格偏强运行及回收利用产业化。中国能建30GWh储能系统集采公示中标候选人，显示储能需求持续旺盛；磷酸</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2026-08-18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今日磷酸铁锂行业聚焦于储能系统集采、材料价格偏强运行及回收利用产业化。中国能建30GWh储能系统集采公示中标候选人，显示储能需求持续旺盛；磷酸</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中国能建30GWh磷酸铁锂储能系统集采公示中标候选人，显示储能市场需求强劲，利好头部电芯及系统集成商。同时，磷酸铁锂及碳酸锂价格偏强运行，成本支撑明显，行业盈利有望改善。动力</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1316736"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动力电池回收利用技术正从实验室走向产业化，物理法修复回收项目落地，梯次利用与再生材料回收成为主流方向。固态电池等新技术路线也在推进中，苏州启动固态方型动力电池中试产线建设，显</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[4][5]</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1316736"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中国能建30GWh储能系统集采公示中标候选人，涉及36家企业，订单规模巨大。同时，行业扩产仍在继续，但部分企业如钛能化学的扩产计划面临产能利用率低和资金缺口问题，行业产能扩张</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[1][6]</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1316736"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碳酸锂与磷酸铁锂价格偏强运行，成本支撑明显，正极材料企业盈利压力有望缓解。但行业整体产能过剩风险仍在，价格上行空间或受限制。</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[2][7]</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今日磷酸铁锂行业聚焦于储能系统集采、材料价格偏强运行及回收利用产业化。中国能建30GWh储能系统集采公示中标候选人，显示储能需求持续旺盛；磷酸</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2026-08-18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中国能建30GWh磷酸铁锂储能系统集采公示中标候选人，显示储能市场需求强劲，利好头部电芯及系统集成商。同时，磷酸铁锂及碳酸锂价格偏强运行，成本支撑明显，行业盈利有望改善。动力电池回收利用产业化加速，多个项目落地，政策支持明确，产业链闭环正在形成。 [1][2][3]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中国能建30GWh集采是年内最大规模储能采购之一，其公示中标候选人直接反映了下游需求景气度，对电芯厂、系统集成商的订单预期有积极影响。同时，材料端价格偏强运行，与需求端形成共振，表明行业供需格局正在改善。此外，动力电池回收利用政策与项目同步推进，表明行业正从单纯制造向全生命周期管理延伸，这将对未来锂资源供给和成本结构产生深远影响。</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中国能建30GWh集采项目后续顺利落地并释放订单，则可能带动相关中标企业的产能利用率和业绩提升，并进一步巩固其在储能市场的份额。需跟踪中标候选人名单的最终确定及后续合同签订情况。若碳酸锂和磷酸铁锂价格持续偏强运行，则可能推动下游电池厂商提价，并改善正极材料企业的盈利空间，需关注价格传导的持续性和下游接受度。</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中国能建30GWh磷酸铁锂</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同时，磷酸铁锂及碳酸锂价格</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动力电池回收利用产业化加速</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中国能建30GWh磷酸铁锂</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若中国能建30GWh集采项目后续顺利落地并释放订单，则可能带动相关中标企业的产能利用率和业绩提升，并进一步巩固其在储能市场的份额</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2026-08-18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动力电池回收利用技术正从实验室走向产业化，物理法修复回收项目落地，梯次利用与再生材料回收成为主流方向。固态电池等新技术路线也在推进中，苏州启动固态方型动力电池中试产线建设，显示行业技术路线多元化发展。 [4][5]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依据：[4][5]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四川宜宾1.25万吨废磷酸铁锂正极片物理法修复回收项目落地，标志着回收技术在产业化应用上取得进展，该技术路线相比湿法冶金更具成本优势。同时，苏州固态电池中试产线的建设，表明行业在探索下一代电池技术，但固态电池短期内对磷酸铁锂主流地位的冲击有限。回收技术的成熟和固态电池的研发并行，体现了行业在降本和提升性能上的双重努力。</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物理法回收技术在经济性上得到验证并大规模推广，则可能降低磷酸铁锂对上游锂资源的依赖，改变行业成本结构。需跟踪该项目的实际运营数据及成本效益。若固态电池中试产线顺利投产，则可能在中高端市场对液态锂电池形成补充，但短期内不会改变磷酸铁锂在储能和入门级电动车市场的主导地位，需关注其量产进度和成本下降曲线。</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动力电池回收利用技术正从实</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固态电池等新技术路线也在推</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[4][5] 四川宜宾1.</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动力电池回收利用技术正从实</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若物理法回收技术在经济性上得到验证并大规模推广，则可能降低磷酸铁锂对上游锂资源的依赖，改变行业成本结构</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2026-08-18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中国能建30GWh储能系统集采公示中标候选人，涉及36家企业，订单规模巨大。同时，行业扩产仍在继续，但部分企业如钛能化学的扩产计划面临产能利用率低和资金缺口问题，行业产能扩张呈现分化态势。 [1][6]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中国能建的集采项目是储能市场需求的直接体现，36家企业预中标表明市场竞争激烈，但也为中标企业提供了明确的订单支撑。与此同时，钛能化学的案例揭示了行业扩产的风险，其磷酸铁产能利用率仅41%却计划再扩产6倍，且面临资金缺口，这可能导致项目烂尾，加剧行业产能过剩风险。头部企业与二线企业的分化将更加明显。</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中国能建集采订单在年内逐步释放，则可能显著提升中标企业的营收和市场份额，尤其对二线电池企业是重大机遇。需跟踪最终中标结果和订单交付进度。若钛能化学等企业的激进扩产计划因资金问题受阻，则可能缓解行业产能过剩担忧，利好现有产能利用率较高的龙头企业，需关注其后续融资进展和项目实际建设情况。</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关键数据解读</a:t>
            </a:r>
            <a:endParaRPr lang="en-US" sz="1200" dirty="0"/>
          </a:p>
        </p:txBody>
      </p:sp>
      <p:sp>
        <p:nvSpPr>
          <p:cNvPr id="24" name="Shape 22"/>
          <p:cNvSpPr/>
          <p:nvPr/>
        </p:nvSpPr>
        <p:spPr>
          <a:xfrm>
            <a:off x="7772400" y="1993392"/>
            <a:ext cx="2560320" cy="1389888"/>
          </a:xfrm>
          <a:prstGeom prst="roundRect">
            <a:avLst>
              <a:gd name="adj" fmla="val 2632"/>
            </a:avLst>
          </a:prstGeom>
          <a:solidFill>
            <a:srgbClr val="F4FAF6"/>
          </a:solidFill>
          <a:ln w="7620">
            <a:solidFill>
              <a:srgbClr val="DADADA"/>
            </a:solidFill>
            <a:prstDash val="solid"/>
          </a:ln>
        </p:spPr>
      </p:sp>
      <p:sp>
        <p:nvSpPr>
          <p:cNvPr id="25" name="Text 23"/>
          <p:cNvSpPr/>
          <p:nvPr/>
        </p:nvSpPr>
        <p:spPr>
          <a:xfrm>
            <a:off x="7918704" y="2103120"/>
            <a:ext cx="822960" cy="384048"/>
          </a:xfrm>
          <a:prstGeom prst="rect">
            <a:avLst/>
          </a:prstGeom>
          <a:noFill/>
          <a:ln/>
        </p:spPr>
        <p:txBody>
          <a:bodyPr wrap="square" lIns="0" tIns="0" rIns="0" bIns="0" rtlCol="0" anchor="ctr">
            <a:normAutofit/>
          </a:bodyPr>
          <a:lstStyle/>
          <a:p>
            <a:pPr indent="0" marL="0">
              <a:buNone/>
            </a:pPr>
            <a:r>
              <a:rPr lang="en-US" sz="2100" b="1" dirty="0">
                <a:solidFill>
                  <a:srgbClr val="487052"/>
                </a:solidFill>
                <a:latin typeface="Aptos" pitchFamily="34" charset="0"/>
                <a:ea typeface="Aptos" pitchFamily="34" charset="-122"/>
                <a:cs typeface="Aptos" pitchFamily="34" charset="-120"/>
              </a:rPr>
              <a:t>41%</a:t>
            </a:r>
            <a:endParaRPr lang="en-US" sz="2100" dirty="0"/>
          </a:p>
        </p:txBody>
      </p:sp>
      <p:sp>
        <p:nvSpPr>
          <p:cNvPr id="26" name="Text 24"/>
          <p:cNvSpPr/>
          <p:nvPr/>
        </p:nvSpPr>
        <p:spPr>
          <a:xfrm>
            <a:off x="8759952" y="2167128"/>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却计划再扩产</a:t>
            </a:r>
            <a:endParaRPr lang="en-US" sz="820" dirty="0"/>
          </a:p>
        </p:txBody>
      </p:sp>
      <p:sp>
        <p:nvSpPr>
          <p:cNvPr id="27" name="Text 25"/>
          <p:cNvSpPr/>
          <p:nvPr/>
        </p:nvSpPr>
        <p:spPr>
          <a:xfrm>
            <a:off x="7918704" y="2578608"/>
            <a:ext cx="2176272" cy="512064"/>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公开信息：与此同时，钛能化学的案例揭示了行业扩产的风险，其磷酸铁产能利用率仅41%却计划再扩产6倍，且面临资金缺口，这可</a:t>
            </a:r>
            <a:endParaRPr lang="en-US" sz="840" dirty="0"/>
          </a:p>
        </p:txBody>
      </p:sp>
      <p:sp>
        <p:nvSpPr>
          <p:cNvPr id="28" name="Text 26"/>
          <p:cNvSpPr/>
          <p:nvPr/>
        </p:nvSpPr>
        <p:spPr>
          <a:xfrm>
            <a:off x="7772400" y="4498848"/>
            <a:ext cx="2560320" cy="384048"/>
          </a:xfrm>
          <a:prstGeom prst="rect">
            <a:avLst/>
          </a:prstGeom>
          <a:noFill/>
          <a:ln/>
        </p:spPr>
        <p:txBody>
          <a:bodyPr wrap="square" lIns="0" tIns="0" rIns="0" bIns="0" rtlCol="0" anchor="t">
            <a:normAutofit/>
          </a:bodyPr>
          <a:lstStyle/>
          <a:p>
            <a:pPr indent="0" marL="0">
              <a:buNone/>
            </a:pPr>
            <a:r>
              <a:rPr lang="en-US" sz="800" dirty="0">
                <a:solidFill>
                  <a:srgbClr val="6D756F"/>
                </a:solidFill>
                <a:latin typeface="Microsoft YaHei" pitchFamily="34" charset="0"/>
                <a:ea typeface="Microsoft YaHei" pitchFamily="34" charset="-122"/>
                <a:cs typeface="Microsoft YaHei" pitchFamily="34" charset="-120"/>
              </a:rPr>
              <a:t>阅读提示：仅按公开报道原文呈现；不同企业、时间和统计范围不可直接横向比较。</a:t>
            </a:r>
            <a:endParaRPr lang="en-US" sz="800" dirty="0"/>
          </a:p>
        </p:txBody>
      </p:sp>
      <p:sp>
        <p:nvSpPr>
          <p:cNvPr id="29" name="Shape 27"/>
          <p:cNvSpPr/>
          <p:nvPr/>
        </p:nvSpPr>
        <p:spPr>
          <a:xfrm>
            <a:off x="658368" y="5779008"/>
            <a:ext cx="1463040" cy="292608"/>
          </a:xfrm>
          <a:prstGeom prst="rect">
            <a:avLst/>
          </a:prstGeom>
          <a:solidFill>
            <a:srgbClr val="121212"/>
          </a:solidFill>
          <a:ln w="12700">
            <a:solidFill>
              <a:srgbClr val="121212"/>
            </a:solidFill>
            <a:prstDash val="solid"/>
          </a:ln>
        </p:spPr>
      </p:sp>
      <p:sp>
        <p:nvSpPr>
          <p:cNvPr id="30" name="Text 2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1" name="Text 2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若中国能建集采订单在年内逐步释放，则可能显著提升中标企业的营收和市场份额，尤其对二线电池企业是重大机遇</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2026-08-18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碳酸锂与磷酸铁锂价格偏强运行，成本支撑明显，正极材料企业盈利压力有望缓解。但行业整体产能过剩风险仍在，价格上行空间或受限制。 [2][7]</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依据：[2][7]</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上周市场回顾显示，碳酸锂与磷酸铁锂价格偏强运行，这主要受下游需求回暖及成本支撑影响。对于磷酸铁锂正极材料企业而言，产品价格跟随成本上涨，有助于改善其盈利空间。然而，行业产能过剩的背景下，价格上涨的持续性存疑，若需求不及预期，价格可能再度承压。同时，上游锂矿巨头的业绩爆发式增长，也印证了产业链利润仍集中在上游资源端。</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碳酸锂价格在需求旺季持续走强，则可能带动磷酸铁锂价格进一步上行，正极材料企业的盈利弹性将显现。需跟踪碳酸锂期货价格及下游电池厂的采购节奏。若价格上涨导致下游成本压力过大而减少采购，则可能抑制价格上行空间，需关注终端需求（如新能源车、储能）的销量数据是否持续超预期。</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碳酸锂与磷酸铁锂价格偏强运</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但行业整体产能过剩风险仍在</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[2][7] 上周市场回顾</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碳酸锂与磷酸铁锂价格偏强运</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若碳酸锂价格在需求旺季持续走强，则可能带动磷酸铁锂价格进一步上行，正极材料企业的盈利弹性将显现</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2026-08-18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动力电池回收利用政策体系加速完善，行业进入规范化发展新阶段。同时，行业规范条件对企业的碳排放、能耗等提出更高要求，宁德时代实现核心运营碳中和，显示头部企业在合规方面走在前列。 [3][8][9]</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依据：[3][8][9]</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中经评论指出动力电池回收利用驶入新阶段，预示着更严格的环保和回收责任要求将落地。这既是挑战也是机遇，合规企业将获得政策红利，而小散乱企业面临出清。同时，锂离子电池行业规范条件对企业的碳排放提出要求，宁德时代实现核心运营碳中和，为行业树立了标杆，但也意味着其他企业在环保合规上的投入将增加，可能加剧行业成本分化。</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动力电池回收责任延伸制度进一步细化并强制执行，则可能催生第三方回收服务市场，并促使电池厂与回收企业深度绑定，利好具备回收渠道和技术优势的企业。需关注具体实施细则的出台。若碳排放成为行业准入门槛，则可能加速落后产能退出，提升行业集中度，利好已在低碳生产方面投入的头部企业，需跟踪行业规范条件的修订动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动力电池回收利用政策体系加速完善，</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同时，行业规范条件对企业的碳排放、</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[3][8][9] 中经评论指出动</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若动力电池回收责任延伸制度进一步细化并强制执行，则可能催生第三方回收服务市场，并促使电池厂与回收企业深度绑定，利好具备回收渠道和技术优势的企业</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2026-08-18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宁德时代在零碳运营上取得进展，巩固其行业领导地位。同时，五矿新能等企业发布提质增效方案，显示二线企业正努力提升竞争力。美国市场对中国新能源车的复杂态度，也为行业竞争格局增添变数。 [8][10][11]</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依据：[8][10][11]</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宁德时代实现核心运营碳中和，不仅是其ESG战略的里程碑，也可能成为其获取国际客户订单的加分项。五矿新能发布提质增效重回报方案，表明二线企业正通过内部管理优化来应对竞争。此外，美国市场对中国新能源车既爱又恨，一方面有采购需求，另一方面存在政策限制，这种不确定性将影响中国电池企业的海外市场拓展策略。</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宁德时代的零碳实践能转化为实际的海外订单和溢价，则可能进一步拉大其与竞争对手的差距。需关注其后续披露的海外客户合作案例。若美国市场对中国新能源车的限制政策持续，则可能促使中国电池企业加速在东南亚、欧洲等地建厂以规避风险，需跟踪主要电池企业的海外产能布局进展。</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路线图</a:t>
            </a:r>
            <a:endParaRPr lang="en-US" sz="1200" dirty="0"/>
          </a:p>
        </p:txBody>
      </p:sp>
      <p:sp>
        <p:nvSpPr>
          <p:cNvPr id="24" name="Shape 22"/>
          <p:cNvSpPr/>
          <p:nvPr/>
        </p:nvSpPr>
        <p:spPr>
          <a:xfrm>
            <a:off x="7754112" y="2249424"/>
            <a:ext cx="612648" cy="402336"/>
          </a:xfrm>
          <a:prstGeom prst="chevron">
            <a:avLst/>
          </a:prstGeom>
          <a:solidFill>
            <a:srgbClr val="DDEBE0"/>
          </a:solidFill>
          <a:ln w="13970">
            <a:solidFill>
              <a:srgbClr val="487052"/>
            </a:solidFill>
            <a:prstDash val="solid"/>
          </a:ln>
        </p:spPr>
      </p:sp>
      <p:sp>
        <p:nvSpPr>
          <p:cNvPr id="25" name="Text 23"/>
          <p:cNvSpPr/>
          <p:nvPr/>
        </p:nvSpPr>
        <p:spPr>
          <a:xfrm>
            <a:off x="7827264"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技术</a:t>
            </a:r>
            <a:endParaRPr lang="en-US" sz="670" dirty="0"/>
          </a:p>
        </p:txBody>
      </p:sp>
      <p:sp>
        <p:nvSpPr>
          <p:cNvPr id="26" name="Shape 24"/>
          <p:cNvSpPr/>
          <p:nvPr/>
        </p:nvSpPr>
        <p:spPr>
          <a:xfrm>
            <a:off x="8375904" y="2249424"/>
            <a:ext cx="612648" cy="402336"/>
          </a:xfrm>
          <a:prstGeom prst="chevron">
            <a:avLst/>
          </a:prstGeom>
          <a:solidFill>
            <a:srgbClr val="FFFFFF"/>
          </a:solidFill>
          <a:ln w="13970">
            <a:solidFill>
              <a:srgbClr val="487052"/>
            </a:solidFill>
            <a:prstDash val="solid"/>
          </a:ln>
        </p:spPr>
      </p:sp>
      <p:sp>
        <p:nvSpPr>
          <p:cNvPr id="27" name="Text 25"/>
          <p:cNvSpPr/>
          <p:nvPr/>
        </p:nvSpPr>
        <p:spPr>
          <a:xfrm>
            <a:off x="8449056"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产品</a:t>
            </a:r>
            <a:endParaRPr lang="en-US" sz="670" dirty="0"/>
          </a:p>
        </p:txBody>
      </p:sp>
      <p:sp>
        <p:nvSpPr>
          <p:cNvPr id="28" name="Shape 26"/>
          <p:cNvSpPr/>
          <p:nvPr/>
        </p:nvSpPr>
        <p:spPr>
          <a:xfrm>
            <a:off x="8997696" y="2249424"/>
            <a:ext cx="612648" cy="402336"/>
          </a:xfrm>
          <a:prstGeom prst="chevron">
            <a:avLst/>
          </a:prstGeom>
          <a:solidFill>
            <a:srgbClr val="FFFFFF"/>
          </a:solidFill>
          <a:ln w="13970">
            <a:solidFill>
              <a:srgbClr val="487052"/>
            </a:solidFill>
            <a:prstDash val="solid"/>
          </a:ln>
        </p:spPr>
      </p:sp>
      <p:sp>
        <p:nvSpPr>
          <p:cNvPr id="29" name="Text 27"/>
          <p:cNvSpPr/>
          <p:nvPr/>
        </p:nvSpPr>
        <p:spPr>
          <a:xfrm>
            <a:off x="9070848"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验证</a:t>
            </a:r>
            <a:endParaRPr lang="en-US" sz="670" dirty="0"/>
          </a:p>
        </p:txBody>
      </p:sp>
      <p:sp>
        <p:nvSpPr>
          <p:cNvPr id="30" name="Shape 28"/>
          <p:cNvSpPr/>
          <p:nvPr/>
        </p:nvSpPr>
        <p:spPr>
          <a:xfrm>
            <a:off x="9619488" y="2249424"/>
            <a:ext cx="612648" cy="402336"/>
          </a:xfrm>
          <a:prstGeom prst="chevron">
            <a:avLst/>
          </a:prstGeom>
          <a:solidFill>
            <a:srgbClr val="FFFFFF"/>
          </a:solidFill>
          <a:ln w="13970">
            <a:solidFill>
              <a:srgbClr val="487052"/>
            </a:solidFill>
            <a:prstDash val="solid"/>
          </a:ln>
        </p:spPr>
      </p:sp>
      <p:sp>
        <p:nvSpPr>
          <p:cNvPr id="31" name="Text 29"/>
          <p:cNvSpPr/>
          <p:nvPr/>
        </p:nvSpPr>
        <p:spPr>
          <a:xfrm>
            <a:off x="9692640"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量产</a:t>
            </a:r>
            <a:endParaRPr lang="en-US" sz="670" dirty="0"/>
          </a:p>
        </p:txBody>
      </p:sp>
      <p:sp>
        <p:nvSpPr>
          <p:cNvPr id="32" name="Shape 30"/>
          <p:cNvSpPr/>
          <p:nvPr/>
        </p:nvSpPr>
        <p:spPr>
          <a:xfrm>
            <a:off x="7882128" y="3063240"/>
            <a:ext cx="2331720" cy="0"/>
          </a:xfrm>
          <a:prstGeom prst="line">
            <a:avLst/>
          </a:prstGeom>
          <a:noFill/>
          <a:ln w="13970">
            <a:solidFill>
              <a:srgbClr val="7F9D84"/>
            </a:solidFill>
            <a:prstDash val="solid"/>
          </a:ln>
        </p:spPr>
      </p:sp>
      <p:sp>
        <p:nvSpPr>
          <p:cNvPr id="33" name="Shape 31"/>
          <p:cNvSpPr/>
          <p:nvPr/>
        </p:nvSpPr>
        <p:spPr>
          <a:xfrm>
            <a:off x="7845552" y="2962656"/>
            <a:ext cx="164592" cy="164592"/>
          </a:xfrm>
          <a:prstGeom prst="ellipse">
            <a:avLst/>
          </a:prstGeom>
          <a:solidFill>
            <a:srgbClr val="487052"/>
          </a:solidFill>
          <a:ln w="12700">
            <a:solidFill>
              <a:srgbClr val="FFFFFF"/>
            </a:solidFill>
            <a:prstDash val="solid"/>
          </a:ln>
        </p:spPr>
      </p:sp>
      <p:sp>
        <p:nvSpPr>
          <p:cNvPr id="34" name="Text 32"/>
          <p:cNvSpPr/>
          <p:nvPr/>
        </p:nvSpPr>
        <p:spPr>
          <a:xfrm>
            <a:off x="7754112"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宁德时代在零碳运营上取</a:t>
            </a:r>
            <a:endParaRPr lang="en-US" sz="670" dirty="0"/>
          </a:p>
        </p:txBody>
      </p:sp>
      <p:sp>
        <p:nvSpPr>
          <p:cNvPr id="35" name="Shape 33"/>
          <p:cNvSpPr/>
          <p:nvPr/>
        </p:nvSpPr>
        <p:spPr>
          <a:xfrm>
            <a:off x="8503920" y="2962656"/>
            <a:ext cx="164592" cy="164592"/>
          </a:xfrm>
          <a:prstGeom prst="ellipse">
            <a:avLst/>
          </a:prstGeom>
          <a:solidFill>
            <a:srgbClr val="487052"/>
          </a:solidFill>
          <a:ln w="12700">
            <a:solidFill>
              <a:srgbClr val="FFFFFF"/>
            </a:solidFill>
            <a:prstDash val="solid"/>
          </a:ln>
        </p:spPr>
      </p:sp>
      <p:sp>
        <p:nvSpPr>
          <p:cNvPr id="36" name="Text 34"/>
          <p:cNvSpPr/>
          <p:nvPr/>
        </p:nvSpPr>
        <p:spPr>
          <a:xfrm>
            <a:off x="8412480"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同时，五矿新能等企业发</a:t>
            </a:r>
            <a:endParaRPr lang="en-US" sz="670" dirty="0"/>
          </a:p>
        </p:txBody>
      </p:sp>
      <p:sp>
        <p:nvSpPr>
          <p:cNvPr id="37" name="Shape 35"/>
          <p:cNvSpPr/>
          <p:nvPr/>
        </p:nvSpPr>
        <p:spPr>
          <a:xfrm>
            <a:off x="9162288" y="2962656"/>
            <a:ext cx="164592" cy="164592"/>
          </a:xfrm>
          <a:prstGeom prst="ellipse">
            <a:avLst/>
          </a:prstGeom>
          <a:solidFill>
            <a:srgbClr val="487052"/>
          </a:solidFill>
          <a:ln w="12700">
            <a:solidFill>
              <a:srgbClr val="FFFFFF"/>
            </a:solidFill>
            <a:prstDash val="solid"/>
          </a:ln>
        </p:spPr>
      </p:sp>
      <p:sp>
        <p:nvSpPr>
          <p:cNvPr id="38" name="Text 36"/>
          <p:cNvSpPr/>
          <p:nvPr/>
        </p:nvSpPr>
        <p:spPr>
          <a:xfrm>
            <a:off x="9070848"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美国市场对中国新能源车</a:t>
            </a:r>
            <a:endParaRPr lang="en-US" sz="670" dirty="0"/>
          </a:p>
        </p:txBody>
      </p:sp>
      <p:sp>
        <p:nvSpPr>
          <p:cNvPr id="39" name="Shape 37"/>
          <p:cNvSpPr/>
          <p:nvPr/>
        </p:nvSpPr>
        <p:spPr>
          <a:xfrm>
            <a:off x="9820656" y="2962656"/>
            <a:ext cx="164592" cy="164592"/>
          </a:xfrm>
          <a:prstGeom prst="ellipse">
            <a:avLst/>
          </a:prstGeom>
          <a:solidFill>
            <a:srgbClr val="B85A4A"/>
          </a:solidFill>
          <a:ln w="12700">
            <a:solidFill>
              <a:srgbClr val="FFFFFF"/>
            </a:solidFill>
            <a:prstDash val="solid"/>
          </a:ln>
        </p:spPr>
      </p:sp>
      <p:sp>
        <p:nvSpPr>
          <p:cNvPr id="40" name="Text 38"/>
          <p:cNvSpPr/>
          <p:nvPr/>
        </p:nvSpPr>
        <p:spPr>
          <a:xfrm>
            <a:off x="9729216"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美国市场对中国新能源车</a:t>
            </a:r>
            <a:endParaRPr lang="en-US" sz="670" dirty="0"/>
          </a:p>
        </p:txBody>
      </p:sp>
      <p:sp>
        <p:nvSpPr>
          <p:cNvPr id="41" name="Text 39"/>
          <p:cNvSpPr/>
          <p:nvPr/>
        </p:nvSpPr>
        <p:spPr>
          <a:xfrm>
            <a:off x="7726680" y="4315968"/>
            <a:ext cx="2697480" cy="384048"/>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参考培训 PPT 的阶段路线表达，按事件顺序拆成判断路径。</a:t>
            </a:r>
            <a:endParaRPr lang="en-US" sz="760" dirty="0"/>
          </a:p>
        </p:txBody>
      </p:sp>
      <p:sp>
        <p:nvSpPr>
          <p:cNvPr id="42" name="Shape 40"/>
          <p:cNvSpPr/>
          <p:nvPr/>
        </p:nvSpPr>
        <p:spPr>
          <a:xfrm>
            <a:off x="658368" y="5779008"/>
            <a:ext cx="1463040" cy="292608"/>
          </a:xfrm>
          <a:prstGeom prst="rect">
            <a:avLst/>
          </a:prstGeom>
          <a:solidFill>
            <a:srgbClr val="121212"/>
          </a:solidFill>
          <a:ln w="12700">
            <a:solidFill>
              <a:srgbClr val="121212"/>
            </a:solidFill>
            <a:prstDash val="solid"/>
          </a:ln>
        </p:spPr>
      </p:sp>
      <p:sp>
        <p:nvSpPr>
          <p:cNvPr id="43" name="Text 41"/>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4" name="Text 42"/>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若宁德时代的零碳实践能转化为实际的海外订单和溢价，则可能进一步拉大其与竞争对手的差距</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2026-08-18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机会在于储能需求爆发和回收产业化带来的新增长点；风险在于行业产能过剩和部分企业激进扩产带来的资金链断裂风险；观察点在于价格上行的持续性和政策落地的执行力度。 [1][6][2]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依据：[1][6][2]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中国能建30GWh集采和多个回收项目落地，为行业带来了明确的增长机会。然而，钛能化学的案例警示了产能过剩和资金风险。同时，碳酸锂和磷酸铁锂价格的偏强运行是机会也是风险，需观察其可持续性。政策方面，回收利用和零碳转型是明确的行业趋势，但执行力度和具体细则仍需观察。</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储能集采订单和回收项目能如期落地并贡献利润，则可能为相关企业带来第二增长曲线。需跟踪项目投产和订单交付的进度。若行业产能过剩问题因部分企业扩产受阻而得到缓解，则可能改善行业供需格局，利好价格和盈利。需持续跟踪各企业的产能利用率及在建项目进度。</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机会在于储能需求爆发和回收</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风险在于行业产能过剩和部分</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观察点在于价格上行的持续性</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机会在于储能需求爆发和回收</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若储能集采订单和回收项目能如期落地并贡献利润，则可能为相关企业带来第二增长曲线</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2026-08-18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36企业预中标丨30GWh 中国能建磷酸铁锂电池储能系统集采</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wv_xF-VDnnIPWNPpQFJQsbLySqQN0poNFqXa8Fplpd9lnmCYLPaO4_cmEhW8AF1rjDyGDnngkhUw6G8vOg3zd6Nl797j0nlL5PcrZGeKk9FHi84yB6nE1Tf4rewTwlOU2aQUhtSgO_5tZVrzIF77LVMwwc3XU2fYEzS1hCCvPO1jadXdOn-izxnpQ0Jkx4lsgVWC2o0UBZ7NJQ3a2bchZwYJSSFPgfogQ..&amp;type=2&amp;query=%E7%A3%B7%E9%85%B8%E9%93%81%E9%94%82 %E5%82%A8%E8%83%BD%E7%B3%BB%E7%BB%9F %E9%A1%B9%E7%9B%AE %E4%B8%AD%E6%A0%87&amp;token=5C24023737D9181AB6B0EFFEA55C014FB7FAC0DA6A83B30F</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锂电池主要材料价格行情(碳酸锂与磷酸铁锂偏强运行)</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wv_xF-VDnnIQMcguqOfQH3LySqQN0poNFqXa8Fplpd9YUBvuquu46vmA5_dJDqKDVZPMBXg_SQLxnuMq5H8VEtpGorfdtI-Rnn41A_k4Dzu77ejAHzXpOLFciVZOvLSHX8yzAyEcxShSniaDmKrJlxmA4ztW1xpNTLZtdgJnDR3EIwouIx6jJ_lf9Ki1Zdw_KbxO6VavRH3Urh5eaFqvJS00NVofL2iDw..&amp;type=2&amp;query=%E7%A3%B7%E9%85%B8%E9%93%81%E9%94%82 %E6%AD%A3%E6%9E%81%E6%9D%90%E6%96%99 %E4%BB%B7%E6%A0%BC %E4%BE%9B%E9%9C%80&amp;token=5C240AA2826DACAF02055B4A10025A3A0382543A6A83B310</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中经评论：动力电池回收利用驶入新阶段_观点评论</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http://news.cnfol.com/guandianpinglun/20260818/32337869.shtml</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四川省宜宾市1.25万吨废磷酸铁锂正极片物理法修复回收项目落地 - 财</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https://news.google.com/rss/articles/CBMia0FVX3lxTFAzbV9Pcy04enJqc3JMUXkzOFJVWVV5XzVhMGhXOEdXS1M2MTZ5RFE2cF9IbnhVbERuTUU4QVI0dmlMeWRLbzVPVXd3b2FhWVR1c0phSXhtX1NDWVdPMzNvT21NRDI4SkZEU0ln?oc=5</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苏州启动建设固态方型动力电池中试产线 - 搜狐网</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https://news.google.com/rss/articles/CBMiiAFBVV95cUxOQWtwcEQ3aVQybERITFJYdng5QkpnQmlkTHpJZzRKRGRVRFRPdklvYUp4aFAzOTVuXzVrcEtyWnBvaGg5N3RFNWRlXzFPdGJwWGthM2hyOVlVeXN5ejFYT1VYaTRIRFpsWXBMWGtsOUs0bDdvUFNrQ2V5Q3FEemV0eko3bWZwRXNp?oc=5</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钛能化学110亿扩张背后：磷酸铁产能利用率仅41%再扩产6倍 资金缺口</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https://finance.sina.com.cn/stock/observe/2026-08-17/doc-ininrkkr7816928.shtml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港股概念追踪| 锂矿巨头业绩迎来爆发式增长机构看好行业高盈利周期延续(</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https://cn.investing.com/news/stock-market-news/article-3522228</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宁德时代实现核心运营碳中和 推动零碳实践从企业走向行业</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https://www.fj.chinanews.com.cn/news/2026/2026-08-17/589258.html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宁德时代完成核心运营碳中和，真正的零碳考题在供应链</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http://auto.sina.com.cn/news/2026-08-17/detail-ininruym7772055.shtml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五矿新能(688779):五矿新能源材料（湖南）股份有限公司关于202</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https://cfi.net.cn/p20260817001492.html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美国又爱又恨中国新能源车，车企抢买 3200 辆，为啥挡不住？</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https://k.sina.com.cn/article_7879996653_1d5af34ed02001l5sy.html?from=auto</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【正极材料周报】容百科技磷酸铁锂即将大幅上量！宁德时代枧下窝锂矿仍处于</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https://www.itdcw.com/news/dczk/0Q015H0H026.html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2026-08-18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【正极材料周报】钛能化学/天赐材料扩产磷酸铁锂！湖南裕能/盛新锂能募资</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https://www.itdcw.com/news/dczk/0QG5I362026.html</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磷酸铁锂动力型电池与磷酸铁锂储能型电池的区别分析_电池网</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https://www.itdcw.com/news/dianchibaike/06301359262023.html</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锂电产业链周记 | 海外首次成为储能电芯主战场 宁德时代获海外储能大单</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https://www.jiemian.com/article/14924890.html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关于公开征求《锂离子电池正极材料前驱体单位产品能源消耗限额》等15项行</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https://www.miit.gov.cn/zwgk/wjgs/art/2026/art_7ac0ab73c8a84530ab8fdda120d4a005.html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政策解读</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https://www.miit.gov.cn/zwgk/zcjd/index.html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2026-08-18</dc:title>
  <dc:subject>LFP daily briefing</dc:subject>
  <dc:creator>lifepo4_brief</dc:creator>
  <cp:lastModifiedBy>lifepo4_brief</cp:lastModifiedBy>
  <cp:revision>1</cp:revision>
  <dcterms:created xsi:type="dcterms:W3CDTF">2026-08-18T01:20:06Z</dcterms:created>
  <dcterms:modified xsi:type="dcterms:W3CDTF">2026-08-18T01:20:06Z</dcterms:modified>
</cp:coreProperties>
</file>