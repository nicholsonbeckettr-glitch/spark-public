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核心动态：二代刀片电池上市强化磷酸铁锂技术路线优势，上半年动力电池装机量同比增长16%验证需求韧性。同时，行业掀起新一轮一体化投资潮，湖南裕能、宁德时代等头部企业加码上游资源，万华化学等跨界者入局加剧竞争。需关注产能扩张带来的价格压力与盈利分化。</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今日磷酸铁锂行业核心动态：二代刀片电池上市强化磷酸铁锂技术路线优势，上半年动力电池装机量同比增长16%验证需求韧性。同时，行业掀起新一轮一体化</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今日磷酸铁锂行业核心动态：二代刀片电池上市强化磷酸铁锂技术路线优势，上半年动力电池装机量同比增长16%验证需求韧性。同时，行业掀起新一轮一体化</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2194560"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二代刀片电池上市巩固磷酸铁锂在乘用车市场的技术主导地位，上半年装机量增长16%确认需求端稳健。但湖南裕能240亿、ST司特8.66亿等扩产项目密集落地，叠加万华化学等跨界者入</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[1][2][3][4]</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1316736"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二代刀片电池上市，其技术优势进一步拉大了磷酸铁锂与三元锂电池在安全性和成本上的差距，强化了磷酸铁锂在主流乘用车市场的地位。技术路线之争的天平已明显向磷酸铁锂倾斜。</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[1][5]</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1316736"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行业掀起新一轮一体化扩产潮。湖南裕能投资240亿、ST司特投资8.66亿加码磷酸铁锂及上游材料。同时，宁德时代开磷矿，万华化学跨界入局，显示行业竞争已从单一产品转向全产业链成</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[6][4]</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877824"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上半年装机量增长16%显示需求韧性，但供给端扩产速度更快，行业面临价格下行压力。一体化布局成为头部企业维持盈利的关键手段，而缺乏资源保障的中小厂商盈利空间将被严重挤压。</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[2]</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今日磷酸铁锂行业核心动态：二代刀片电池上市强化磷酸铁锂技术路线优势，上半年动力电池装机量同比增长16%验证需求韧性。同时，行业掀起新一轮一体化</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4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二代刀片电池上市巩固磷酸铁锂在乘用车市场的技术主导地位，上半年装机量增长16%确认需求端稳健。但湖南裕能240亿、ST司特8.66亿等扩产项目密集落地，叠加万华化学等跨界者入局，行业产能过剩风险加剧。短期价格承压，盈利分化将加速行业洗牌。 [1][2][3][4]</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依据：[1][2][3][4]</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二代刀片电池的技术突破（来源1、3）与上半年334.7GWh的装机量数据（来源2、4）共同验证了磷酸铁锂路线的市场竞争力。然而，湖南裕能240亿一体化投资（来源14）和ST司特8.66亿扩产（来源16）表明，头部企业正通过向上游磷矿、锂矿延伸来构建成本壁垒，这可能导致中小厂商因成本劣势被淘汰。万华化学的跨界入局（来源15）则预示着行业竞争格局将更加复杂。当前需关注这些新增产能的投产节奏与下游需求增速的匹配度。</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湖南裕能、ST司特等新增产能于2027年集中释放，而下游新能源汽车及储能需求增速未能同步提升，则磷酸铁锂行业可能面临阶段性供过于求，产品价格将进一步承压，行业平均毛利率或将收窄。后续需跟踪各企业产能利用率及下游主要客户的订单签约情况。</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关键数据解读</a:t>
            </a:r>
            <a:endParaRPr lang="en-US" sz="1200" dirty="0"/>
          </a:p>
        </p:txBody>
      </p:sp>
      <p:sp>
        <p:nvSpPr>
          <p:cNvPr id="24" name="Shape 22"/>
          <p:cNvSpPr/>
          <p:nvPr/>
        </p:nvSpPr>
        <p:spPr>
          <a:xfrm>
            <a:off x="7772400" y="1993392"/>
            <a:ext cx="2560320" cy="1389888"/>
          </a:xfrm>
          <a:prstGeom prst="roundRect">
            <a:avLst>
              <a:gd name="adj" fmla="val 2632"/>
            </a:avLst>
          </a:prstGeom>
          <a:solidFill>
            <a:srgbClr val="F4FAF6"/>
          </a:solidFill>
          <a:ln w="7620">
            <a:solidFill>
              <a:srgbClr val="DADADA"/>
            </a:solidFill>
            <a:prstDash val="solid"/>
          </a:ln>
        </p:spPr>
      </p:sp>
      <p:sp>
        <p:nvSpPr>
          <p:cNvPr id="25" name="Text 23"/>
          <p:cNvSpPr/>
          <p:nvPr/>
        </p:nvSpPr>
        <p:spPr>
          <a:xfrm>
            <a:off x="7918704" y="2103120"/>
            <a:ext cx="822960" cy="384048"/>
          </a:xfrm>
          <a:prstGeom prst="rect">
            <a:avLst/>
          </a:prstGeom>
          <a:noFill/>
          <a:ln/>
        </p:spPr>
        <p:txBody>
          <a:bodyPr wrap="square" lIns="0" tIns="0" rIns="0" bIns="0" rtlCol="0" anchor="ctr">
            <a:normAutofit/>
          </a:bodyPr>
          <a:lstStyle/>
          <a:p>
            <a:pPr indent="0" marL="0">
              <a:buNone/>
            </a:pPr>
            <a:r>
              <a:rPr lang="en-US" sz="2100" b="1" dirty="0">
                <a:solidFill>
                  <a:srgbClr val="487052"/>
                </a:solidFill>
                <a:latin typeface="Aptos" pitchFamily="34" charset="0"/>
                <a:ea typeface="Aptos" pitchFamily="34" charset="-122"/>
                <a:cs typeface="Aptos" pitchFamily="34" charset="-120"/>
              </a:rPr>
              <a:t>16%</a:t>
            </a:r>
            <a:endParaRPr lang="en-US" sz="2100" dirty="0"/>
          </a:p>
        </p:txBody>
      </p:sp>
      <p:sp>
        <p:nvSpPr>
          <p:cNvPr id="26" name="Text 24"/>
          <p:cNvSpPr/>
          <p:nvPr/>
        </p:nvSpPr>
        <p:spPr>
          <a:xfrm>
            <a:off x="8759952" y="2167128"/>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确认需求端稳健</a:t>
            </a:r>
            <a:endParaRPr lang="en-US" sz="820" dirty="0"/>
          </a:p>
        </p:txBody>
      </p:sp>
      <p:sp>
        <p:nvSpPr>
          <p:cNvPr id="27" name="Text 25"/>
          <p:cNvSpPr/>
          <p:nvPr/>
        </p:nvSpPr>
        <p:spPr>
          <a:xfrm>
            <a:off x="7918704" y="2578608"/>
            <a:ext cx="2176272" cy="512064"/>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公开信息：二代刀片电池上市巩固磷酸铁锂在乘用车市场的技术主导地位，上半年装机量增长16%确认需求端稳健</a:t>
            </a:r>
            <a:endParaRPr lang="en-US" sz="840" dirty="0"/>
          </a:p>
        </p:txBody>
      </p:sp>
      <p:sp>
        <p:nvSpPr>
          <p:cNvPr id="28" name="Text 26"/>
          <p:cNvSpPr/>
          <p:nvPr/>
        </p:nvSpPr>
        <p:spPr>
          <a:xfrm>
            <a:off x="7772400" y="4498848"/>
            <a:ext cx="2560320" cy="384048"/>
          </a:xfrm>
          <a:prstGeom prst="rect">
            <a:avLst/>
          </a:prstGeom>
          <a:noFill/>
          <a:ln/>
        </p:spPr>
        <p:txBody>
          <a:bodyPr wrap="square" lIns="0" tIns="0" rIns="0" bIns="0" rtlCol="0" anchor="t">
            <a:normAutofit/>
          </a:bodyPr>
          <a:lstStyle/>
          <a:p>
            <a:pPr indent="0" marL="0">
              <a:buNone/>
            </a:pPr>
            <a:r>
              <a:rPr lang="en-US" sz="800" dirty="0">
                <a:solidFill>
                  <a:srgbClr val="6D756F"/>
                </a:solidFill>
                <a:latin typeface="Microsoft YaHei" pitchFamily="34" charset="0"/>
                <a:ea typeface="Microsoft YaHei" pitchFamily="34" charset="-122"/>
                <a:cs typeface="Microsoft YaHei" pitchFamily="34" charset="-120"/>
              </a:rPr>
              <a:t>阅读提示：仅按公开报道原文呈现；不同企业、时间和统计范围不可直接横向比较。</a:t>
            </a:r>
            <a:endParaRPr lang="en-US" sz="800" dirty="0"/>
          </a:p>
        </p:txBody>
      </p:sp>
      <p:sp>
        <p:nvSpPr>
          <p:cNvPr id="29" name="Shape 27"/>
          <p:cNvSpPr/>
          <p:nvPr/>
        </p:nvSpPr>
        <p:spPr>
          <a:xfrm>
            <a:off x="658368" y="5779008"/>
            <a:ext cx="1463040" cy="292608"/>
          </a:xfrm>
          <a:prstGeom prst="rect">
            <a:avLst/>
          </a:prstGeom>
          <a:solidFill>
            <a:srgbClr val="121212"/>
          </a:solidFill>
          <a:ln w="12700">
            <a:solidFill>
              <a:srgbClr val="121212"/>
            </a:solidFill>
            <a:prstDash val="solid"/>
          </a:ln>
        </p:spPr>
      </p:sp>
      <p:sp>
        <p:nvSpPr>
          <p:cNvPr id="30" name="Text 2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1" name="Text 2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若湖南裕能、ST司特等新增产能于2027年集中释放，而下游新能源汽车及储能需求增速未能同步提升，则磷酸铁锂行业可能面临阶段性供过于求，产品价格将进一步</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二代刀片电池上市，其技术优势进一步拉大了磷酸铁锂与三元锂电池在安全性和成本上的差距，强化了磷酸铁锂在主流乘用车市场的地位。技术路线之争的天平已明显向磷酸铁锂倾斜。 [1][5]</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依据：[1][5]</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来源1和3的报道指出，二代刀片电池在能量密度和安全性上的提升，使得磷酸铁锂电池在续航和成本上更具竞争力，直接冲击了三元锂电池的市场份额。这一技术迭代不仅巩固了比亚迪的技术护城河，也向全行业释放了磷酸铁锂技术仍有巨大潜力的信号，可能引导更多车企和电池厂将研发资源向磷酸铁锂倾斜。</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二代刀片电池的良率和成本控制达到预期，则可能加速磷酸铁锂对三元锂电池的替代进程，尤其是在20万元以下的主流车型市场。后续需关注其他电池厂商（如宁德时代、中创新航）是否推出类似技术规格的竞品。</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二代刀片电池上市，其技术优</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技术路线之争的天平已明显向</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[1][5] 来源1和3的</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二代刀片电池上市，其技术优</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若二代刀片电池的良率和成本控制达到预期，则可能加速磷酸铁锂对三元锂电池的替代进程，尤其是在20万元以下的主流车型市场</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行业掀起新一轮一体化扩产潮。湖南裕能投资240亿、ST司特投资8.66亿加码磷酸铁锂及上游材料。同时，宁德时代开磷矿，万华化学跨界入局，显示行业竞争已从单一产品转向全产业链成本与资源的比拼。 [6][4]</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依据：[6][4]</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来源14、15、16显示，头部企业正通过向上游磷、锂资源延伸来构建成本优势，这反映了在价格下行周期中，企业寻求通过一体化来锁定利润。万华化学作为化工巨头入局，其成本控制能力和规模化生产经验可能对现有格局形成冲击。这些扩产项目若全部落地，将显著增加行业供给，加剧市场竞争。</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若万华化学的磷酸铁锂项目顺利投产并实现低成本量产，则可能成为行业价格战的新变量，迫使现有厂商进一步压缩利润空间。后续需重点跟踪万华化学的产能爬坡进度、产品送样测试结果及客户导入情况。</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落地链路</a:t>
            </a:r>
            <a:endParaRPr lang="en-US" sz="1200" dirty="0"/>
          </a:p>
        </p:txBody>
      </p:sp>
      <p:sp>
        <p:nvSpPr>
          <p:cNvPr id="24" name="Shape 22"/>
          <p:cNvSpPr/>
          <p:nvPr/>
        </p:nvSpPr>
        <p:spPr>
          <a:xfrm>
            <a:off x="7882128" y="2029968"/>
            <a:ext cx="2377440" cy="365760"/>
          </a:xfrm>
          <a:prstGeom prst="roundRect">
            <a:avLst>
              <a:gd name="adj" fmla="val 10000"/>
            </a:avLst>
          </a:prstGeom>
          <a:solidFill>
            <a:srgbClr val="F4FAF6"/>
          </a:solidFill>
          <a:ln w="8890">
            <a:solidFill>
              <a:srgbClr val="DADADA"/>
            </a:solidFill>
            <a:prstDash val="solid"/>
          </a:ln>
        </p:spPr>
      </p:sp>
      <p:sp>
        <p:nvSpPr>
          <p:cNvPr id="25" name="Text 23"/>
          <p:cNvSpPr/>
          <p:nvPr/>
        </p:nvSpPr>
        <p:spPr>
          <a:xfrm>
            <a:off x="8028432" y="2139696"/>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产能</a:t>
            </a:r>
            <a:endParaRPr lang="en-US" sz="720" dirty="0"/>
          </a:p>
        </p:txBody>
      </p:sp>
      <p:sp>
        <p:nvSpPr>
          <p:cNvPr id="26" name="Text 24"/>
          <p:cNvSpPr/>
          <p:nvPr/>
        </p:nvSpPr>
        <p:spPr>
          <a:xfrm>
            <a:off x="8613648" y="2139696"/>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行业掀起新一轮一体化扩产潮</a:t>
            </a:r>
            <a:endParaRPr lang="en-US" sz="700" dirty="0"/>
          </a:p>
        </p:txBody>
      </p:sp>
      <p:sp>
        <p:nvSpPr>
          <p:cNvPr id="27" name="Shape 25"/>
          <p:cNvSpPr/>
          <p:nvPr/>
        </p:nvSpPr>
        <p:spPr>
          <a:xfrm>
            <a:off x="8979408" y="2441448"/>
            <a:ext cx="164592" cy="146304"/>
          </a:xfrm>
          <a:prstGeom prst="downArrow">
            <a:avLst/>
          </a:prstGeom>
          <a:solidFill>
            <a:srgbClr val="7F9D84"/>
          </a:solidFill>
          <a:ln w="12700">
            <a:solidFill>
              <a:srgbClr val="7F9D84"/>
            </a:solidFill>
            <a:prstDash val="solid"/>
          </a:ln>
        </p:spPr>
      </p:sp>
      <p:sp>
        <p:nvSpPr>
          <p:cNvPr id="28" name="Shape 26"/>
          <p:cNvSpPr/>
          <p:nvPr/>
        </p:nvSpPr>
        <p:spPr>
          <a:xfrm>
            <a:off x="7882128" y="2596896"/>
            <a:ext cx="2377440" cy="365760"/>
          </a:xfrm>
          <a:prstGeom prst="roundRect">
            <a:avLst>
              <a:gd name="adj" fmla="val 10000"/>
            </a:avLst>
          </a:prstGeom>
          <a:solidFill>
            <a:srgbClr val="FFFFFF"/>
          </a:solidFill>
          <a:ln w="8890">
            <a:solidFill>
              <a:srgbClr val="DADADA"/>
            </a:solidFill>
            <a:prstDash val="solid"/>
          </a:ln>
        </p:spPr>
      </p:sp>
      <p:sp>
        <p:nvSpPr>
          <p:cNvPr id="29" name="Text 27"/>
          <p:cNvSpPr/>
          <p:nvPr/>
        </p:nvSpPr>
        <p:spPr>
          <a:xfrm>
            <a:off x="8028432" y="2706624"/>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客户</a:t>
            </a:r>
            <a:endParaRPr lang="en-US" sz="720" dirty="0"/>
          </a:p>
        </p:txBody>
      </p:sp>
      <p:sp>
        <p:nvSpPr>
          <p:cNvPr id="30" name="Text 28"/>
          <p:cNvSpPr/>
          <p:nvPr/>
        </p:nvSpPr>
        <p:spPr>
          <a:xfrm>
            <a:off x="8613648" y="2706624"/>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湖南裕能投资240亿、ST司特投资</a:t>
            </a:r>
            <a:endParaRPr lang="en-US" sz="700" dirty="0"/>
          </a:p>
        </p:txBody>
      </p:sp>
      <p:sp>
        <p:nvSpPr>
          <p:cNvPr id="31" name="Shape 29"/>
          <p:cNvSpPr/>
          <p:nvPr/>
        </p:nvSpPr>
        <p:spPr>
          <a:xfrm>
            <a:off x="8979408" y="3008376"/>
            <a:ext cx="164592" cy="146304"/>
          </a:xfrm>
          <a:prstGeom prst="downArrow">
            <a:avLst/>
          </a:prstGeom>
          <a:solidFill>
            <a:srgbClr val="7F9D84"/>
          </a:solidFill>
          <a:ln w="12700">
            <a:solidFill>
              <a:srgbClr val="7F9D84"/>
            </a:solidFill>
            <a:prstDash val="solid"/>
          </a:ln>
        </p:spPr>
      </p:sp>
      <p:sp>
        <p:nvSpPr>
          <p:cNvPr id="32" name="Shape 30"/>
          <p:cNvSpPr/>
          <p:nvPr/>
        </p:nvSpPr>
        <p:spPr>
          <a:xfrm>
            <a:off x="7882128" y="3163824"/>
            <a:ext cx="2377440" cy="365760"/>
          </a:xfrm>
          <a:prstGeom prst="roundRect">
            <a:avLst>
              <a:gd name="adj" fmla="val 10000"/>
            </a:avLst>
          </a:prstGeom>
          <a:solidFill>
            <a:srgbClr val="F4FAF6"/>
          </a:solidFill>
          <a:ln w="8890">
            <a:solidFill>
              <a:srgbClr val="DADADA"/>
            </a:solidFill>
            <a:prstDash val="solid"/>
          </a:ln>
        </p:spPr>
      </p:sp>
      <p:sp>
        <p:nvSpPr>
          <p:cNvPr id="33" name="Text 31"/>
          <p:cNvSpPr/>
          <p:nvPr/>
        </p:nvSpPr>
        <p:spPr>
          <a:xfrm>
            <a:off x="8028432" y="3273552"/>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落地</a:t>
            </a:r>
            <a:endParaRPr lang="en-US" sz="720" dirty="0"/>
          </a:p>
        </p:txBody>
      </p:sp>
      <p:sp>
        <p:nvSpPr>
          <p:cNvPr id="34" name="Text 32"/>
          <p:cNvSpPr/>
          <p:nvPr/>
        </p:nvSpPr>
        <p:spPr>
          <a:xfrm>
            <a:off x="8613648" y="3273552"/>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同时，宁德时代开磷矿，万华化学跨界</a:t>
            </a:r>
            <a:endParaRPr lang="en-US" sz="700" dirty="0"/>
          </a:p>
        </p:txBody>
      </p:sp>
      <p:sp>
        <p:nvSpPr>
          <p:cNvPr id="35" name="Text 33"/>
          <p:cNvSpPr/>
          <p:nvPr/>
        </p:nvSpPr>
        <p:spPr>
          <a:xfrm>
            <a:off x="7726680" y="4535424"/>
            <a:ext cx="2697480" cy="31089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用企业、项目、产能、客户的链路承接文字结论。</a:t>
            </a:r>
            <a:endParaRPr lang="en-US" sz="760" dirty="0"/>
          </a:p>
        </p:txBody>
      </p:sp>
      <p:sp>
        <p:nvSpPr>
          <p:cNvPr id="36" name="Shape 34"/>
          <p:cNvSpPr/>
          <p:nvPr/>
        </p:nvSpPr>
        <p:spPr>
          <a:xfrm>
            <a:off x="658368" y="5779008"/>
            <a:ext cx="1463040" cy="292608"/>
          </a:xfrm>
          <a:prstGeom prst="rect">
            <a:avLst/>
          </a:prstGeom>
          <a:solidFill>
            <a:srgbClr val="121212"/>
          </a:solidFill>
          <a:ln w="12700">
            <a:solidFill>
              <a:srgbClr val="121212"/>
            </a:solidFill>
            <a:prstDash val="solid"/>
          </a:ln>
        </p:spPr>
      </p:sp>
      <p:sp>
        <p:nvSpPr>
          <p:cNvPr id="37" name="Text 35"/>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8" name="Text 36"/>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若万华化学的磷酸铁锂项目顺利投产并实现低成本量产，则可能成为行业价格战的新变量，迫使现有厂商进一步压缩利润空间</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价格/盈利压力</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1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上半年装机量增长16%显示需求韧性，但供给端扩产速度更快，行业面临价格下行压力。一体化布局成为头部企业维持盈利的关键手段，而缺乏资源保障的中小厂商盈利空间将被严重挤压。 [2]</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依据：[2]</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来源2和4的装机量数据表明下游需求仍在增长，但来源14、15、16所揭示的巨额扩产计划预示着未来供给增速可能超过需求。这种供需失衡的预期将直接反映在价格上。湖南裕能、宁德时代等通过向上游布局（来源14）来对冲价格下跌风险，而万华化学的进入（来源15）则可能凭借其化工行业的成本控制经验，进一步压低行业平均成本线。</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碳酸锂等上游原材料价格保持稳定或下行，则磷酸铁锂正极材料价格可能继续承压，行业平均毛利率或将下滑至10%以下。后续需持续跟踪磷酸铁锂市场报价及头部企业（如湖南裕能、德方纳米）的季度毛利率变化。</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关键数据解读</a:t>
            </a:r>
            <a:endParaRPr lang="en-US" sz="1200" dirty="0"/>
          </a:p>
        </p:txBody>
      </p:sp>
      <p:sp>
        <p:nvSpPr>
          <p:cNvPr id="24" name="Shape 22"/>
          <p:cNvSpPr/>
          <p:nvPr/>
        </p:nvSpPr>
        <p:spPr>
          <a:xfrm>
            <a:off x="7772400" y="1993392"/>
            <a:ext cx="2560320" cy="786384"/>
          </a:xfrm>
          <a:prstGeom prst="roundRect">
            <a:avLst>
              <a:gd name="adj" fmla="val 4651"/>
            </a:avLst>
          </a:prstGeom>
          <a:solidFill>
            <a:srgbClr val="F4FAF6"/>
          </a:solidFill>
          <a:ln w="7620">
            <a:solidFill>
              <a:srgbClr val="DADADA"/>
            </a:solidFill>
            <a:prstDash val="solid"/>
          </a:ln>
        </p:spPr>
      </p:sp>
      <p:sp>
        <p:nvSpPr>
          <p:cNvPr id="25" name="Text 23"/>
          <p:cNvSpPr/>
          <p:nvPr/>
        </p:nvSpPr>
        <p:spPr>
          <a:xfrm>
            <a:off x="7918704" y="2103120"/>
            <a:ext cx="822960" cy="384048"/>
          </a:xfrm>
          <a:prstGeom prst="rect">
            <a:avLst/>
          </a:prstGeom>
          <a:noFill/>
          <a:ln/>
        </p:spPr>
        <p:txBody>
          <a:bodyPr wrap="square" lIns="0" tIns="0" rIns="0" bIns="0" rtlCol="0" anchor="ctr">
            <a:normAutofit/>
          </a:bodyPr>
          <a:lstStyle/>
          <a:p>
            <a:pPr indent="0" marL="0">
              <a:buNone/>
            </a:pPr>
            <a:r>
              <a:rPr lang="en-US" sz="1600" b="1" dirty="0">
                <a:solidFill>
                  <a:srgbClr val="487052"/>
                </a:solidFill>
                <a:latin typeface="Aptos" pitchFamily="34" charset="0"/>
                <a:ea typeface="Aptos" pitchFamily="34" charset="-122"/>
                <a:cs typeface="Aptos" pitchFamily="34" charset="-120"/>
              </a:rPr>
              <a:t>16%</a:t>
            </a:r>
            <a:endParaRPr lang="en-US" sz="1600" dirty="0"/>
          </a:p>
        </p:txBody>
      </p:sp>
      <p:sp>
        <p:nvSpPr>
          <p:cNvPr id="26" name="Text 24"/>
          <p:cNvSpPr/>
          <p:nvPr/>
        </p:nvSpPr>
        <p:spPr>
          <a:xfrm>
            <a:off x="8759952" y="2167128"/>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显示需求韧性</a:t>
            </a:r>
            <a:endParaRPr lang="en-US" sz="820" dirty="0"/>
          </a:p>
        </p:txBody>
      </p:sp>
      <p:sp>
        <p:nvSpPr>
          <p:cNvPr id="27" name="Text 25"/>
          <p:cNvSpPr/>
          <p:nvPr/>
        </p:nvSpPr>
        <p:spPr>
          <a:xfrm>
            <a:off x="7918704" y="2578608"/>
            <a:ext cx="2176272" cy="201168"/>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公开信息：上半年装机量增长16%显示需求韧性，但供给端扩产速度更快，</a:t>
            </a:r>
            <a:endParaRPr lang="en-US" sz="840" dirty="0"/>
          </a:p>
        </p:txBody>
      </p:sp>
      <p:sp>
        <p:nvSpPr>
          <p:cNvPr id="28" name="Shape 26"/>
          <p:cNvSpPr/>
          <p:nvPr/>
        </p:nvSpPr>
        <p:spPr>
          <a:xfrm>
            <a:off x="7772400" y="2926080"/>
            <a:ext cx="2560320" cy="786384"/>
          </a:xfrm>
          <a:prstGeom prst="roundRect">
            <a:avLst>
              <a:gd name="adj" fmla="val 4651"/>
            </a:avLst>
          </a:prstGeom>
          <a:solidFill>
            <a:srgbClr val="FFFFFF"/>
          </a:solidFill>
          <a:ln w="7620">
            <a:solidFill>
              <a:srgbClr val="DADADA"/>
            </a:solidFill>
            <a:prstDash val="solid"/>
          </a:ln>
        </p:spPr>
      </p:sp>
      <p:sp>
        <p:nvSpPr>
          <p:cNvPr id="29" name="Text 27"/>
          <p:cNvSpPr/>
          <p:nvPr/>
        </p:nvSpPr>
        <p:spPr>
          <a:xfrm>
            <a:off x="7918704" y="3035808"/>
            <a:ext cx="822960" cy="384048"/>
          </a:xfrm>
          <a:prstGeom prst="rect">
            <a:avLst/>
          </a:prstGeom>
          <a:noFill/>
          <a:ln/>
        </p:spPr>
        <p:txBody>
          <a:bodyPr wrap="square" lIns="0" tIns="0" rIns="0" bIns="0" rtlCol="0" anchor="ctr">
            <a:normAutofit/>
          </a:bodyPr>
          <a:lstStyle/>
          <a:p>
            <a:pPr indent="0" marL="0">
              <a:buNone/>
            </a:pPr>
            <a:r>
              <a:rPr lang="en-US" sz="1600" b="1" dirty="0">
                <a:solidFill>
                  <a:srgbClr val="487052"/>
                </a:solidFill>
                <a:latin typeface="Aptos" pitchFamily="34" charset="0"/>
                <a:ea typeface="Aptos" pitchFamily="34" charset="-122"/>
                <a:cs typeface="Aptos" pitchFamily="34" charset="-120"/>
              </a:rPr>
              <a:t>10%</a:t>
            </a:r>
            <a:endParaRPr lang="en-US" sz="1600" dirty="0"/>
          </a:p>
        </p:txBody>
      </p:sp>
      <p:sp>
        <p:nvSpPr>
          <p:cNvPr id="30" name="Text 28"/>
          <p:cNvSpPr/>
          <p:nvPr/>
        </p:nvSpPr>
        <p:spPr>
          <a:xfrm>
            <a:off x="8759952" y="3099816"/>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以下</a:t>
            </a:r>
            <a:endParaRPr lang="en-US" sz="820" dirty="0"/>
          </a:p>
        </p:txBody>
      </p:sp>
      <p:sp>
        <p:nvSpPr>
          <p:cNvPr id="31" name="Text 29"/>
          <p:cNvSpPr/>
          <p:nvPr/>
        </p:nvSpPr>
        <p:spPr>
          <a:xfrm>
            <a:off x="7918704" y="3511296"/>
            <a:ext cx="2176272" cy="201168"/>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公开信息：若碳酸锂等上游原材料价格保持稳定或下行，则磷酸铁锂正极材料</a:t>
            </a:r>
            <a:endParaRPr lang="en-US" sz="840" dirty="0"/>
          </a:p>
        </p:txBody>
      </p:sp>
      <p:sp>
        <p:nvSpPr>
          <p:cNvPr id="32" name="Text 30"/>
          <p:cNvSpPr/>
          <p:nvPr/>
        </p:nvSpPr>
        <p:spPr>
          <a:xfrm>
            <a:off x="7772400" y="4498848"/>
            <a:ext cx="2560320" cy="384048"/>
          </a:xfrm>
          <a:prstGeom prst="rect">
            <a:avLst/>
          </a:prstGeom>
          <a:noFill/>
          <a:ln/>
        </p:spPr>
        <p:txBody>
          <a:bodyPr wrap="square" lIns="0" tIns="0" rIns="0" bIns="0" rtlCol="0" anchor="t">
            <a:normAutofit/>
          </a:bodyPr>
          <a:lstStyle/>
          <a:p>
            <a:pPr indent="0" marL="0">
              <a:buNone/>
            </a:pPr>
            <a:r>
              <a:rPr lang="en-US" sz="800" dirty="0">
                <a:solidFill>
                  <a:srgbClr val="6D756F"/>
                </a:solidFill>
                <a:latin typeface="Microsoft YaHei" pitchFamily="34" charset="0"/>
                <a:ea typeface="Microsoft YaHei" pitchFamily="34" charset="-122"/>
                <a:cs typeface="Microsoft YaHei" pitchFamily="34" charset="-120"/>
              </a:rPr>
              <a:t>阅读提示：仅按公开报道原文呈现；不同企业、时间和统计范围不可直接横向比较。</a:t>
            </a:r>
            <a:endParaRPr lang="en-US" sz="80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若碳酸锂等上游原材料价格保持稳定或下行，则磷酸铁锂正极材料价格可能继续承压，行业平均毛利率或将下滑至10%以下</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当前政策环境聚焦于电池回收与行业规范。动力分会调研利元亨，显示对电池制造装备的重视。同时，新能源汽车以旧换新政策推动电池回收产业发展，但相关环保合规要求可能增加企业运营成本。 [7][8]</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依据：[7][8]</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来源5报道动力分会调研利元亨，表明行业组织正关注电池制造装备的国产化与智能化水平，这有助于提升行业整体制造效率。来源12、13关于以旧换新和电池回收的报道，则反映了政策端对电池全生命周期管理的重视。未来，电池回收体系的建立和完善将成为企业必须面对的合规课题，可能增加相关投入成本。</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电池回收政策进一步细化，要求生产企业承担更多回收责任（如生产者责任延伸制度），则可能增加电池厂商的初期投入成本，但长期看有利于掌握回收技术和渠道的企业构建新的利润增长点。后续需关注《锂离子电池行业规范条件》等政策是否对回收利用率提出强制性要求。</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4" name="Shape 22"/>
          <p:cNvSpPr/>
          <p:nvPr/>
        </p:nvSpPr>
        <p:spPr>
          <a:xfrm>
            <a:off x="8503920" y="1975104"/>
            <a:ext cx="1097280" cy="512064"/>
          </a:xfrm>
          <a:prstGeom prst="trapezoid">
            <a:avLst/>
          </a:prstGeom>
          <a:solidFill>
            <a:srgbClr val="B85A4A"/>
          </a:solidFill>
          <a:ln w="8890">
            <a:solidFill>
              <a:srgbClr val="487052"/>
            </a:solidFill>
            <a:prstDash val="solid"/>
          </a:ln>
        </p:spPr>
      </p:sp>
      <p:sp>
        <p:nvSpPr>
          <p:cNvPr id="25" name="Text 23"/>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6" name="Text 24"/>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当前政策环境聚焦于电池回收与行业规范</a:t>
            </a:r>
            <a:endParaRPr lang="en-US" sz="660" dirty="0"/>
          </a:p>
        </p:txBody>
      </p:sp>
      <p:sp>
        <p:nvSpPr>
          <p:cNvPr id="27" name="Shape 25"/>
          <p:cNvSpPr/>
          <p:nvPr/>
        </p:nvSpPr>
        <p:spPr>
          <a:xfrm>
            <a:off x="8183880" y="2615184"/>
            <a:ext cx="1737360" cy="512064"/>
          </a:xfrm>
          <a:prstGeom prst="trapezoid">
            <a:avLst/>
          </a:prstGeom>
          <a:solidFill>
            <a:srgbClr val="DDEBE0"/>
          </a:solidFill>
          <a:ln w="8890">
            <a:solidFill>
              <a:srgbClr val="487052"/>
            </a:solidFill>
            <a:prstDash val="solid"/>
          </a:ln>
        </p:spPr>
      </p:sp>
      <p:sp>
        <p:nvSpPr>
          <p:cNvPr id="28" name="Text 26"/>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29" name="Text 27"/>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动力分会调研利元亨，显示对电池制造</a:t>
            </a:r>
            <a:endParaRPr lang="en-US" sz="660" dirty="0"/>
          </a:p>
        </p:txBody>
      </p:sp>
      <p:sp>
        <p:nvSpPr>
          <p:cNvPr id="30" name="Shape 28"/>
          <p:cNvSpPr/>
          <p:nvPr/>
        </p:nvSpPr>
        <p:spPr>
          <a:xfrm>
            <a:off x="7863840" y="3255264"/>
            <a:ext cx="2377440" cy="512064"/>
          </a:xfrm>
          <a:prstGeom prst="trapezoid">
            <a:avLst/>
          </a:prstGeom>
          <a:solidFill>
            <a:srgbClr val="F4FAF6"/>
          </a:solidFill>
          <a:ln w="8890">
            <a:solidFill>
              <a:srgbClr val="487052"/>
            </a:solidFill>
            <a:prstDash val="solid"/>
          </a:ln>
        </p:spPr>
      </p:sp>
      <p:sp>
        <p:nvSpPr>
          <p:cNvPr id="31" name="Text 29"/>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2" name="Text 30"/>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同时，新能源汽车以旧换新政策推动电</a:t>
            </a:r>
            <a:endParaRPr lang="en-US" sz="66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若电池回收政策进一步细化，要求生产企业承担更多回收责任（如生产者责任延伸制度），则可能增加电池厂商的初期投入成本，但长期看有利于掌握回收技术和渠道的企</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竞品观察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1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万华化学作为化工巨头跨界进入磷酸铁锂领域，凭借其强大的成本控制与规模化能力，成为行业最大“搅局者”。同时，宁德时代、湖南裕能等现有龙头通过一体化投资巩固优势，行业竞争格局面临重塑。 [6]</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依据：[6]</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来源15将万华化学定义为“最大的搅局者”，其化工背景带来的成本优势可能颠覆现有定价体系。来源14显示宁德时代、湖南裕能等通过向上游资源延伸来应对，这本质上是将竞争从产品层面提升至产业链层面。未来，不具备资源或成本优势的企业将面临被边缘化的风险。</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若万华化学的磷酸铁锂产品在成本上比现有主流厂商低10%以上，则可能引发行业新一轮价格战，加速中小产能出清。后续需关注万华化学的客户认证进展、首批产品定价策略以及其一体化项目的实际成本数据。</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关键数据解读</a:t>
            </a:r>
            <a:endParaRPr lang="en-US" sz="1200" dirty="0"/>
          </a:p>
        </p:txBody>
      </p:sp>
      <p:sp>
        <p:nvSpPr>
          <p:cNvPr id="24" name="Shape 22"/>
          <p:cNvSpPr/>
          <p:nvPr/>
        </p:nvSpPr>
        <p:spPr>
          <a:xfrm>
            <a:off x="7772400" y="1993392"/>
            <a:ext cx="2560320" cy="1389888"/>
          </a:xfrm>
          <a:prstGeom prst="roundRect">
            <a:avLst>
              <a:gd name="adj" fmla="val 2632"/>
            </a:avLst>
          </a:prstGeom>
          <a:solidFill>
            <a:srgbClr val="F4FAF6"/>
          </a:solidFill>
          <a:ln w="7620">
            <a:solidFill>
              <a:srgbClr val="DADADA"/>
            </a:solidFill>
            <a:prstDash val="solid"/>
          </a:ln>
        </p:spPr>
      </p:sp>
      <p:sp>
        <p:nvSpPr>
          <p:cNvPr id="25" name="Text 23"/>
          <p:cNvSpPr/>
          <p:nvPr/>
        </p:nvSpPr>
        <p:spPr>
          <a:xfrm>
            <a:off x="7918704" y="2103120"/>
            <a:ext cx="822960" cy="384048"/>
          </a:xfrm>
          <a:prstGeom prst="rect">
            <a:avLst/>
          </a:prstGeom>
          <a:noFill/>
          <a:ln/>
        </p:spPr>
        <p:txBody>
          <a:bodyPr wrap="square" lIns="0" tIns="0" rIns="0" bIns="0" rtlCol="0" anchor="ctr">
            <a:normAutofit/>
          </a:bodyPr>
          <a:lstStyle/>
          <a:p>
            <a:pPr indent="0" marL="0">
              <a:buNone/>
            </a:pPr>
            <a:r>
              <a:rPr lang="en-US" sz="2100" b="1" dirty="0">
                <a:solidFill>
                  <a:srgbClr val="487052"/>
                </a:solidFill>
                <a:latin typeface="Aptos" pitchFamily="34" charset="0"/>
                <a:ea typeface="Aptos" pitchFamily="34" charset="-122"/>
                <a:cs typeface="Aptos" pitchFamily="34" charset="-120"/>
              </a:rPr>
              <a:t>10%</a:t>
            </a:r>
            <a:endParaRPr lang="en-US" sz="2100" dirty="0"/>
          </a:p>
        </p:txBody>
      </p:sp>
      <p:sp>
        <p:nvSpPr>
          <p:cNvPr id="26" name="Text 24"/>
          <p:cNvSpPr/>
          <p:nvPr/>
        </p:nvSpPr>
        <p:spPr>
          <a:xfrm>
            <a:off x="8759952" y="2167128"/>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以上</a:t>
            </a:r>
            <a:endParaRPr lang="en-US" sz="820" dirty="0"/>
          </a:p>
        </p:txBody>
      </p:sp>
      <p:sp>
        <p:nvSpPr>
          <p:cNvPr id="27" name="Text 25"/>
          <p:cNvSpPr/>
          <p:nvPr/>
        </p:nvSpPr>
        <p:spPr>
          <a:xfrm>
            <a:off x="7918704" y="2578608"/>
            <a:ext cx="2176272" cy="512064"/>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公开信息：若万华化学的磷酸铁锂产品在成本上比现有主流厂商低10%以上，则可能引发行业新一轮价格战，加速中小产能出清</a:t>
            </a:r>
            <a:endParaRPr lang="en-US" sz="840" dirty="0"/>
          </a:p>
        </p:txBody>
      </p:sp>
      <p:sp>
        <p:nvSpPr>
          <p:cNvPr id="28" name="Text 26"/>
          <p:cNvSpPr/>
          <p:nvPr/>
        </p:nvSpPr>
        <p:spPr>
          <a:xfrm>
            <a:off x="7772400" y="4498848"/>
            <a:ext cx="2560320" cy="384048"/>
          </a:xfrm>
          <a:prstGeom prst="rect">
            <a:avLst/>
          </a:prstGeom>
          <a:noFill/>
          <a:ln/>
        </p:spPr>
        <p:txBody>
          <a:bodyPr wrap="square" lIns="0" tIns="0" rIns="0" bIns="0" rtlCol="0" anchor="t">
            <a:normAutofit/>
          </a:bodyPr>
          <a:lstStyle/>
          <a:p>
            <a:pPr indent="0" marL="0">
              <a:buNone/>
            </a:pPr>
            <a:r>
              <a:rPr lang="en-US" sz="800" dirty="0">
                <a:solidFill>
                  <a:srgbClr val="6D756F"/>
                </a:solidFill>
                <a:latin typeface="Microsoft YaHei" pitchFamily="34" charset="0"/>
                <a:ea typeface="Microsoft YaHei" pitchFamily="34" charset="-122"/>
                <a:cs typeface="Microsoft YaHei" pitchFamily="34" charset="-120"/>
              </a:rPr>
              <a:t>阅读提示：仅按公开报道原文呈现；不同企业、时间和统计范围不可直接横向比较。</a:t>
            </a:r>
            <a:endParaRPr lang="en-US" sz="800" dirty="0"/>
          </a:p>
        </p:txBody>
      </p:sp>
      <p:sp>
        <p:nvSpPr>
          <p:cNvPr id="29" name="Shape 27"/>
          <p:cNvSpPr/>
          <p:nvPr/>
        </p:nvSpPr>
        <p:spPr>
          <a:xfrm>
            <a:off x="658368" y="5779008"/>
            <a:ext cx="1463040" cy="292608"/>
          </a:xfrm>
          <a:prstGeom prst="rect">
            <a:avLst/>
          </a:prstGeom>
          <a:solidFill>
            <a:srgbClr val="121212"/>
          </a:solidFill>
          <a:ln w="12700">
            <a:solidFill>
              <a:srgbClr val="121212"/>
            </a:solidFill>
            <a:prstDash val="solid"/>
          </a:ln>
        </p:spPr>
      </p:sp>
      <p:sp>
        <p:nvSpPr>
          <p:cNvPr id="30" name="Text 2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1" name="Text 2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若万华化学的磷酸铁锂产品在成本上比现有主流厂商低10%以上，则可能引发行业新一轮价格战，加速中小产能出清</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1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主要风险：产能过剩导致价格战加剧，行业盈利恶化。主要机会：技术迭代（如二代刀片电池）和一体化布局带来的成本优势。核心观察点：万华化学的入局影响、新增产能的释放节奏以及下游需求（尤其是储能）的增速。 [6]</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依据：[6]</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综合以上信息，行业正处于“需求增长但供给更快”的格局中。风险在于，若万华化学等新玩家以低价策略抢占市场，将引发全行业利润下滑。机会在于，掌握核心技术和资源的企业（如比亚迪、湖南裕能）能通过技术领先和成本优势穿越周期。当前最需观察的是万华化学的产能落地情况（来源15）以及下半年储能市场能否接力新能源汽车成为新的增长极。</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下半年储能项目招标量环比增长超过30%，则有望部分消化磷酸铁锂新增产能，缓解价格下行压力。反之，若储能需求不及预期，则行业产能过剩风险将显著放大。后续需重点跟踪国内大型储能项目的中标公告及并网数据。</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关键数据解读</a:t>
            </a:r>
            <a:endParaRPr lang="en-US" sz="1200" dirty="0"/>
          </a:p>
        </p:txBody>
      </p:sp>
      <p:sp>
        <p:nvSpPr>
          <p:cNvPr id="24" name="Shape 22"/>
          <p:cNvSpPr/>
          <p:nvPr/>
        </p:nvSpPr>
        <p:spPr>
          <a:xfrm>
            <a:off x="7772400" y="1993392"/>
            <a:ext cx="2560320" cy="1389888"/>
          </a:xfrm>
          <a:prstGeom prst="roundRect">
            <a:avLst>
              <a:gd name="adj" fmla="val 2632"/>
            </a:avLst>
          </a:prstGeom>
          <a:solidFill>
            <a:srgbClr val="F4FAF6"/>
          </a:solidFill>
          <a:ln w="7620">
            <a:solidFill>
              <a:srgbClr val="DADADA"/>
            </a:solidFill>
            <a:prstDash val="solid"/>
          </a:ln>
        </p:spPr>
      </p:sp>
      <p:sp>
        <p:nvSpPr>
          <p:cNvPr id="25" name="Text 23"/>
          <p:cNvSpPr/>
          <p:nvPr/>
        </p:nvSpPr>
        <p:spPr>
          <a:xfrm>
            <a:off x="7918704" y="2103120"/>
            <a:ext cx="822960" cy="384048"/>
          </a:xfrm>
          <a:prstGeom prst="rect">
            <a:avLst/>
          </a:prstGeom>
          <a:noFill/>
          <a:ln/>
        </p:spPr>
        <p:txBody>
          <a:bodyPr wrap="square" lIns="0" tIns="0" rIns="0" bIns="0" rtlCol="0" anchor="ctr">
            <a:normAutofit/>
          </a:bodyPr>
          <a:lstStyle/>
          <a:p>
            <a:pPr indent="0" marL="0">
              <a:buNone/>
            </a:pPr>
            <a:r>
              <a:rPr lang="en-US" sz="2100" b="1" dirty="0">
                <a:solidFill>
                  <a:srgbClr val="487052"/>
                </a:solidFill>
                <a:latin typeface="Aptos" pitchFamily="34" charset="0"/>
                <a:ea typeface="Aptos" pitchFamily="34" charset="-122"/>
                <a:cs typeface="Aptos" pitchFamily="34" charset="-120"/>
              </a:rPr>
              <a:t>30%</a:t>
            </a:r>
            <a:endParaRPr lang="en-US" sz="2100" dirty="0"/>
          </a:p>
        </p:txBody>
      </p:sp>
      <p:sp>
        <p:nvSpPr>
          <p:cNvPr id="26" name="Text 24"/>
          <p:cNvSpPr/>
          <p:nvPr/>
        </p:nvSpPr>
        <p:spPr>
          <a:xfrm>
            <a:off x="8759952" y="2167128"/>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年储能项目招标量环比增长超过</a:t>
            </a:r>
            <a:endParaRPr lang="en-US" sz="820" dirty="0"/>
          </a:p>
        </p:txBody>
      </p:sp>
      <p:sp>
        <p:nvSpPr>
          <p:cNvPr id="27" name="Text 25"/>
          <p:cNvSpPr/>
          <p:nvPr/>
        </p:nvSpPr>
        <p:spPr>
          <a:xfrm>
            <a:off x="7918704" y="2578608"/>
            <a:ext cx="2176272" cy="512064"/>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公开信息：若下半年储能项目招标量环比增长超过30%，则有望部分消化磷酸铁锂新增产能，缓解价格下行压力</a:t>
            </a:r>
            <a:endParaRPr lang="en-US" sz="840" dirty="0"/>
          </a:p>
        </p:txBody>
      </p:sp>
      <p:sp>
        <p:nvSpPr>
          <p:cNvPr id="28" name="Text 26"/>
          <p:cNvSpPr/>
          <p:nvPr/>
        </p:nvSpPr>
        <p:spPr>
          <a:xfrm>
            <a:off x="7772400" y="4498848"/>
            <a:ext cx="2560320" cy="384048"/>
          </a:xfrm>
          <a:prstGeom prst="rect">
            <a:avLst/>
          </a:prstGeom>
          <a:noFill/>
          <a:ln/>
        </p:spPr>
        <p:txBody>
          <a:bodyPr wrap="square" lIns="0" tIns="0" rIns="0" bIns="0" rtlCol="0" anchor="t">
            <a:normAutofit/>
          </a:bodyPr>
          <a:lstStyle/>
          <a:p>
            <a:pPr indent="0" marL="0">
              <a:buNone/>
            </a:pPr>
            <a:r>
              <a:rPr lang="en-US" sz="800" dirty="0">
                <a:solidFill>
                  <a:srgbClr val="6D756F"/>
                </a:solidFill>
                <a:latin typeface="Microsoft YaHei" pitchFamily="34" charset="0"/>
                <a:ea typeface="Microsoft YaHei" pitchFamily="34" charset="-122"/>
                <a:cs typeface="Microsoft YaHei" pitchFamily="34" charset="-120"/>
              </a:rPr>
              <a:t>阅读提示：仅按公开报道原文呈现；不同企业、时间和统计范围不可直接横向比较。</a:t>
            </a:r>
            <a:endParaRPr lang="en-US" sz="800" dirty="0"/>
          </a:p>
        </p:txBody>
      </p:sp>
      <p:sp>
        <p:nvSpPr>
          <p:cNvPr id="29" name="Shape 27"/>
          <p:cNvSpPr/>
          <p:nvPr/>
        </p:nvSpPr>
        <p:spPr>
          <a:xfrm>
            <a:off x="658368" y="5779008"/>
            <a:ext cx="1463040" cy="292608"/>
          </a:xfrm>
          <a:prstGeom prst="rect">
            <a:avLst/>
          </a:prstGeom>
          <a:solidFill>
            <a:srgbClr val="121212"/>
          </a:solidFill>
          <a:ln w="12700">
            <a:solidFill>
              <a:srgbClr val="121212"/>
            </a:solidFill>
            <a:prstDash val="solid"/>
          </a:ln>
        </p:spPr>
      </p:sp>
      <p:sp>
        <p:nvSpPr>
          <p:cNvPr id="30" name="Text 2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1" name="Text 2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若下半年储能项目招标量环比增长超过30%，则有望部分消化磷酸铁锂新增产能，缓解价格下行压力</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二代刀片电池上市后，磷酸铁锂和三元锂电池胜负已分！ - 汽车之家</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https://news.google.com/rss/articles/CBMiXkFVX3lxTFBXTjdZTXV2dGVRRXlpQXpSQzRhMDltcG9YU0pObDFaX2toMVpxZ1RoMHEyaVJGS0tiYUxYNm01enZpbVM5TWZzRFhQV0RwZ3dOc0p5Vzh5Ym1La2w0SUE?oc=5</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GGII：上半年动力电池装机量约334.7GWh 同比增长16% - </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https://news.google.com/rss/articles/CBMia0FVX3lxTE9ZM2s4SWFCWEh3QVJSTV92S0g0OW1EN1pnXzVOQ3JqUVdlVE5hVUsxbHQxMG53X2FJMlFkakUtWWlpM1Juck9icTZUa01FUlNLLXE4dUdIcWpQRzNvY1l5SFRicUFjYXlUMTE4?oc=5</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宁德开磷矿、湖南裕能投240亿，磷酸铁锂为何又掀起一体化投资？ - f</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https://news.google.com/rss/articles/CBMiiAFBVV95cUxQRjhKelFJaUhUVFBlV2p6YlVENmpOUnBUTlBDR3ZRc2wzZWg2QlhwZnBHZFlVRFZaemRIWXd4allIa25RdURjaDJzVlR6Vk9yWlN3dXZwcHhRNGJqLXlDNUV0THFzUjZvMXNNMGs0bE5QajJKZS1XOWU5U1dTSmFtcE9aeUhXYzlR?oc=5</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磷化工产业链扩产潮起 ST司特拟8.66亿元加码</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https://stock.stockstar.com/IG2026072800005235.shtml</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二代刀片电池上市后，磷酸铁锂和三元锂电池胜负已分！</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https://chejiahao.m.autohome.com.cn/info/25449675</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万华化学：磷酸铁锂行业最大的搅局者？ - Sohu</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https://news.google.com/rss/articles/CBMijAFBVV95cUxOUWxnU21XWHdzWUoyYTdzV0lVXzVXRjJjdG1IeWN2b0FiYUhzNVpBeTFocDA0RnZVUms4cHRiUTFDSjE1dWZPZzNBVFhRdWdSbC03a19yTXpkVEtYS0lNQ25ISTZOZEtOUkw1Ylp3eGF1bmxBcHJtTHRtYmwwMXFPcEtMY2JaV0xTU0FXVw?oc=5</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动力分会调研利元亨</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http://m.cbea.com/djgc/202607/534285.html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以旧换新的实施对环境有哪些影响？</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https://auto.sina.cn/2026-07-27/detail-inikfnpm0718137.d.html?vt=4</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同体积容量击穿行业纪录！多氟多两款大圆柱磷酸铁锂换电方案发布_电池网</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https://www.itdcw.com/news/chanpinxinwen/06251562M2026.html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【正极材料周报】湖南裕能斥资240亿元扩产！正极材料公司中报预告密集出</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https://www.itdcw.com/news/dczk/0H015CU2026.html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【正极材料周报】宁德时代“天价锂矿”采矿规模将达150万吨/年！今年国</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https://www.itdcw.com/news/dczk/0HG5E312026.html</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磷酸铁锂动力型电池与磷酸铁锂储能型电池的区别分析_电池网</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https://www.itdcw.com/news/dianchibaike/06301359262023.html</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磷酸铁锂涨价预期升温 上下游议价博弈进入新阶段</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https://www.stcn.com/article/detail/4043784.html</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三部门关于做好科技型企业孵化器相关政策衔接工作的通知</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http://www.miit.gov.cn/zwgk/zcwj/wjfb/tz/art/2026/art_21446a8c153f4fae86121552fe1e9fd4.html</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第五届通信海缆保护政策宣传周活动正式启动</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https://www.miit.gov.cn/xwfb/gxdt/sjdt/art/2026/art_fb47488a00ee428bb3840cf4771fdb1d.html</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最新政策</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https://www.miit.gov.cn/xwfb/zxzc/index.html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https://www.ndrc.gov.cn/</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https://www.gov.cn/</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云南省省长王予波强调 系统提升固废综合治理能力水平_中华人民共和国生态</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https://www.mee.gov.cn/ywdt/dfnews/202607/t20260708_1161158.shtml</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2026-07-28</dc:title>
  <dc:subject>LFP daily briefing</dc:subject>
  <dc:creator>lifepo4_brief</dc:creator>
  <cp:lastModifiedBy>lifepo4_brief</cp:lastModifiedBy>
  <cp:revision>1</cp:revision>
  <dcterms:created xsi:type="dcterms:W3CDTF">2026-07-28T01:49:01Z</dcterms:created>
  <dcterms:modified xsi:type="dcterms:W3CDTF">2026-07-28T01:49:01Z</dcterms:modified>
</cp:coreProperties>
</file>