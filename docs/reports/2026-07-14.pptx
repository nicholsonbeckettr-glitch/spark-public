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呈现“产能扩张加速、价格承压、技术路线分化”态势。龙蟠科技11万吨高性能磷酸铁锂项目试产，贵州贵阳拟新建60万吨高压实项目，显示头部企业逆势扩产。同时，6月报显示行业供需矛盾加剧，价格压力持续。技术层面，比亚迪混动新车继续搭载磷酸铁锂，而特斯拉在电池回收领域取得90%再生材料利用率进展，对行业长期成本与资源战略构成影响。政策端，新能源车电池“天价”维修问题引发关注，可能推动维修权相关法规完善。</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今日磷酸铁锂行业呈现“产能扩张加速、价格承压、技术路线分化”态势。龙蟠科技11万吨高性能磷酸铁锂项目试产，贵州贵阳拟新建60万吨高压实项目，显</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今日磷酸铁锂行业呈现“产能扩张加速、价格承压、技术路线分化”态势。龙蟠科技11万吨高性能磷酸铁锂项目试产，贵州贵阳拟新建60万吨高压实项目，显</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今日磷酸铁锂行业核心矛盾在于产能高速扩张与价格下行压力并存。龙蟠科技山东锂源11万吨高性能磷酸铁锂项目试产，贵州贵阳拟新建60万吨高压实项目，显示头部企业仍在逆势扩产，加剧供</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[1][2][3][4][5][6]</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2194560"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磷酸铁锂在乘用车领域地位稳固，比亚迪混动新车继续搭载。同时，特斯拉在电池回收技术上取得突破，实现90%再生材料利用率，可能改变行业资源获取模式。此外，长时储能领域全钒液流电池</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[4][5][7]</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产能扩张加速，龙蟠科技旗下山东锂源11万吨高性能磷酸铁锂项目试产，贵州贵阳拟新建60万吨高压实磷酸铁锂项目。6月报显示行业供需分化，材料端面临过剩压力。下游需求方面，比亚迪新</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[1][2][3][4][8]</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2194560"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6月报显示磷酸铁锂材料供需分化，价格承压。光大期货有色金属日报提及市场整体压力，但未单独分析磷酸铁锂。电池“天价”维修问题侧面反映电池成本仍高，但可能更多是售后市场定价问题，</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[3][9][6]</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今日磷酸铁锂行业呈现“产能扩张加速、价格承压、技术路线分化”态势。龙蟠科技11万吨高性能磷酸铁锂项目试产，贵州贵阳拟新建60万吨高压实项目，显</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内容拆分为 4 段，超过合并页容量。</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今日结论 1/4</a:t>
            </a:r>
            <a:endParaRPr lang="en-US" sz="1080" dirty="0"/>
          </a:p>
        </p:txBody>
      </p:sp>
      <p:sp>
        <p:nvSpPr>
          <p:cNvPr id="13" name="Text 11"/>
          <p:cNvSpPr/>
          <p:nvPr/>
        </p:nvSpPr>
        <p:spPr>
          <a:xfrm>
            <a:off x="2487168" y="164592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今日磷酸铁锂行业核心矛盾在于产能高速扩张与价格下行压力并存。龙蟠科技山东锂源11万吨高性能磷酸铁锂项目试产，贵州贵阳拟新建60万吨高压实项目，显示头部企业仍在逆势扩产，加剧供给过剩预期。同时，6月报数据印证行业供需分化，价格承压。技术层面，比亚迪混动新车继续搭载磷酸铁锂，巩固其主流地位；</a:t>
            </a:r>
            <a:endParaRPr lang="en-US" sz="78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依据：[1][2][3][4][5][6]</a:t>
            </a:r>
            <a:endParaRPr lang="en-US" sz="68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今日结论 2/4</a:t>
            </a:r>
            <a:endParaRPr lang="en-US" sz="1080" dirty="0"/>
          </a:p>
        </p:txBody>
      </p:sp>
      <p:sp>
        <p:nvSpPr>
          <p:cNvPr id="17" name="Text 15"/>
          <p:cNvSpPr/>
          <p:nvPr/>
        </p:nvSpPr>
        <p:spPr>
          <a:xfrm>
            <a:off x="2487168" y="310896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特斯拉90%再生材料利用率方案则提示回收技术对长期成本与资源战略的潜在影响。政策端，电池“天价”维修问题引发关注，可能推动维修权法规完善，影响售后市场格局。 [1][2][3][4][5][6] 分析：龙蟠科技11万吨项目试产与贵阳60万吨拟建项目，均指向行业产能持续扩张，</a:t>
            </a:r>
            <a:endParaRPr lang="en-US" sz="780" dirty="0"/>
          </a:p>
        </p:txBody>
      </p:sp>
      <p:sp>
        <p:nvSpPr>
          <p:cNvPr id="18" name="Text 16"/>
          <p:cNvSpPr/>
          <p:nvPr/>
        </p:nvSpPr>
        <p:spPr>
          <a:xfrm>
            <a:off x="2487168" y="389534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依据：[1][2][3][4][5][6]</a:t>
            </a:r>
            <a:endParaRPr lang="en-US" sz="680" dirty="0"/>
          </a:p>
        </p:txBody>
      </p:sp>
      <p:sp>
        <p:nvSpPr>
          <p:cNvPr id="19" name="Shape 17"/>
          <p:cNvSpPr/>
          <p:nvPr/>
        </p:nvSpPr>
        <p:spPr>
          <a:xfrm>
            <a:off x="658368" y="4370832"/>
            <a:ext cx="6510528" cy="1207008"/>
          </a:xfrm>
          <a:prstGeom prst="roundRect">
            <a:avLst>
              <a:gd name="adj" fmla="val 6061"/>
            </a:avLst>
          </a:prstGeom>
          <a:solidFill>
            <a:srgbClr val="F4FAF6"/>
          </a:solidFill>
          <a:ln w="10160">
            <a:solidFill>
              <a:srgbClr val="DADADA"/>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今日结论 3/4</a:t>
            </a:r>
            <a:endParaRPr lang="en-US" sz="1080" dirty="0"/>
          </a:p>
        </p:txBody>
      </p:sp>
      <p:sp>
        <p:nvSpPr>
          <p:cNvPr id="21" name="Text 19"/>
          <p:cNvSpPr/>
          <p:nvPr/>
        </p:nvSpPr>
        <p:spPr>
          <a:xfrm>
            <a:off x="2487168" y="457200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这与6月报中“材料供需分化”的判断一致。比亚迪新车搭载磷酸铁锂，表明其在乘用车领域的主导地位未变，但需关注其与三元、钠电等路线的竞争。特斯拉回收技术进展，若规模化应用，将降低对上游锂资源的依赖，长期可能影响锂价和正极材料成本结构。电池维修问题则可能催生政策变化，利好第三方维修市场，</a:t>
            </a:r>
            <a:endParaRPr lang="en-US" sz="780" dirty="0"/>
          </a:p>
        </p:txBody>
      </p:sp>
      <p:sp>
        <p:nvSpPr>
          <p:cNvPr id="22" name="Text 20"/>
          <p:cNvSpPr/>
          <p:nvPr/>
        </p:nvSpPr>
        <p:spPr>
          <a:xfrm>
            <a:off x="2487168" y="535838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依据：[1][2][3][4][5][6]</a:t>
            </a:r>
            <a:endParaRPr lang="en-US" sz="680" dirty="0"/>
          </a:p>
        </p:txBody>
      </p:sp>
      <p:sp>
        <p:nvSpPr>
          <p:cNvPr id="23" name="Shape 21"/>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4" name="Text 22"/>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指标与口径</a:t>
            </a:r>
            <a:endParaRPr lang="en-US" sz="1200" dirty="0"/>
          </a:p>
        </p:txBody>
      </p:sp>
      <p:sp>
        <p:nvSpPr>
          <p:cNvPr id="25" name="Shape 23"/>
          <p:cNvSpPr/>
          <p:nvPr/>
        </p:nvSpPr>
        <p:spPr>
          <a:xfrm>
            <a:off x="7772400" y="1993392"/>
            <a:ext cx="2560320" cy="457200"/>
          </a:xfrm>
          <a:prstGeom prst="roundRect">
            <a:avLst>
              <a:gd name="adj" fmla="val 8000"/>
            </a:avLst>
          </a:prstGeom>
          <a:solidFill>
            <a:srgbClr val="F4FAF6"/>
          </a:solidFill>
          <a:ln w="7620">
            <a:solidFill>
              <a:srgbClr val="DADADA"/>
            </a:solidFill>
            <a:prstDash val="solid"/>
          </a:ln>
        </p:spPr>
      </p:sp>
      <p:sp>
        <p:nvSpPr>
          <p:cNvPr id="26" name="Text 24"/>
          <p:cNvSpPr/>
          <p:nvPr/>
        </p:nvSpPr>
        <p:spPr>
          <a:xfrm>
            <a:off x="7900416" y="2084832"/>
            <a:ext cx="2240280" cy="118872"/>
          </a:xfrm>
          <a:prstGeom prst="rect">
            <a:avLst/>
          </a:prstGeom>
          <a:noFill/>
          <a:ln/>
        </p:spPr>
        <p:txBody>
          <a:bodyPr wrap="square" lIns="0" tIns="0" rIns="0" bIns="0" rtlCol="0" anchor="ctr">
            <a:normAutofit/>
          </a:bodyPr>
          <a:lstStyle/>
          <a:p>
            <a:pPr indent="0" marL="0">
              <a:buNone/>
            </a:pPr>
            <a:r>
              <a:rPr lang="en-US" sz="730" b="1" dirty="0">
                <a:solidFill>
                  <a:srgbClr val="487052"/>
                </a:solidFill>
                <a:latin typeface="Microsoft YaHei" pitchFamily="34" charset="0"/>
                <a:ea typeface="Microsoft YaHei" pitchFamily="34" charset="-122"/>
                <a:cs typeface="Microsoft YaHei" pitchFamily="34" charset="-120"/>
              </a:rPr>
              <a:t>指标：特斯拉  90%</a:t>
            </a:r>
            <a:endParaRPr lang="en-US" sz="730" dirty="0"/>
          </a:p>
        </p:txBody>
      </p:sp>
      <p:sp>
        <p:nvSpPr>
          <p:cNvPr id="27" name="Text 25"/>
          <p:cNvSpPr/>
          <p:nvPr/>
        </p:nvSpPr>
        <p:spPr>
          <a:xfrm>
            <a:off x="7900416" y="2258568"/>
            <a:ext cx="2240280" cy="109728"/>
          </a:xfrm>
          <a:prstGeom prst="rect">
            <a:avLst/>
          </a:prstGeom>
          <a:noFill/>
          <a:ln/>
        </p:spPr>
        <p:txBody>
          <a:bodyPr wrap="square" lIns="0" tIns="0" rIns="0" bIns="0" rtlCol="0" anchor="ctr">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口径：特斯拉90%</a:t>
            </a:r>
            <a:endParaRPr lang="en-US" sz="670" dirty="0"/>
          </a:p>
        </p:txBody>
      </p:sp>
      <p:sp>
        <p:nvSpPr>
          <p:cNvPr id="28" name="Shape 26"/>
          <p:cNvSpPr/>
          <p:nvPr/>
        </p:nvSpPr>
        <p:spPr>
          <a:xfrm>
            <a:off x="658368" y="5779008"/>
            <a:ext cx="1463040" cy="292608"/>
          </a:xfrm>
          <a:prstGeom prst="rect">
            <a:avLst/>
          </a:prstGeom>
          <a:solidFill>
            <a:srgbClr val="121212"/>
          </a:solidFill>
          <a:ln w="12700">
            <a:solidFill>
              <a:srgbClr val="121212"/>
            </a:solidFill>
            <a:prstDash val="solid"/>
          </a:ln>
        </p:spPr>
      </p:sp>
      <p:sp>
        <p:nvSpPr>
          <p:cNvPr id="29" name="Text 2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扩展依据</a:t>
            </a:r>
            <a:endParaRPr lang="en-US" sz="780" dirty="0"/>
          </a:p>
        </p:txBody>
      </p:sp>
      <p:sp>
        <p:nvSpPr>
          <p:cNvPr id="30" name="Text 2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内容拆分为 4 段，超过合并页容量。；本模块第 1/2 页</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内容拆分为 4 段，超过合并页容量。</a:t>
            </a:r>
            <a:endParaRPr lang="en-US" sz="860" dirty="0"/>
          </a:p>
        </p:txBody>
      </p:sp>
      <p:sp>
        <p:nvSpPr>
          <p:cNvPr id="11" name="Shape 9"/>
          <p:cNvSpPr/>
          <p:nvPr/>
        </p:nvSpPr>
        <p:spPr>
          <a:xfrm>
            <a:off x="658368" y="1444752"/>
            <a:ext cx="6510528" cy="1627632"/>
          </a:xfrm>
          <a:prstGeom prst="roundRect">
            <a:avLst>
              <a:gd name="adj" fmla="val 4494"/>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今日结论 4/4</a:t>
            </a:r>
            <a:endParaRPr lang="en-US" sz="1080" dirty="0"/>
          </a:p>
        </p:txBody>
      </p:sp>
      <p:sp>
        <p:nvSpPr>
          <p:cNvPr id="13" name="Text 11"/>
          <p:cNvSpPr/>
          <p:nvPr/>
        </p:nvSpPr>
        <p:spPr>
          <a:xfrm>
            <a:off x="2487168" y="1645920"/>
            <a:ext cx="4315968" cy="91440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但可能冲击车企售后利润。当前信息缺乏对扩产项目实际投产节奏、下游需求增速的量化对比，需 推测：未使用推测</a:t>
            </a:r>
            <a:endParaRPr lang="en-US" sz="960" dirty="0"/>
          </a:p>
        </p:txBody>
      </p:sp>
      <p:sp>
        <p:nvSpPr>
          <p:cNvPr id="14" name="Text 12"/>
          <p:cNvSpPr/>
          <p:nvPr/>
        </p:nvSpPr>
        <p:spPr>
          <a:xfrm>
            <a:off x="2487168" y="2852928"/>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依据：[1][2][3][4][5][6]</a:t>
            </a:r>
            <a:endParaRPr lang="en-US" sz="680" dirty="0"/>
          </a:p>
        </p:txBody>
      </p:sp>
      <p:sp>
        <p:nvSpPr>
          <p:cNvPr id="15" name="Shape 13"/>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16" name="Text 14"/>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指标与口径</a:t>
            </a:r>
            <a:endParaRPr lang="en-US" sz="1200" dirty="0"/>
          </a:p>
        </p:txBody>
      </p:sp>
      <p:sp>
        <p:nvSpPr>
          <p:cNvPr id="17" name="Shape 15"/>
          <p:cNvSpPr/>
          <p:nvPr/>
        </p:nvSpPr>
        <p:spPr>
          <a:xfrm>
            <a:off x="7772400" y="1993392"/>
            <a:ext cx="2560320" cy="457200"/>
          </a:xfrm>
          <a:prstGeom prst="roundRect">
            <a:avLst>
              <a:gd name="adj" fmla="val 8000"/>
            </a:avLst>
          </a:prstGeom>
          <a:solidFill>
            <a:srgbClr val="F4FAF6"/>
          </a:solidFill>
          <a:ln w="7620">
            <a:solidFill>
              <a:srgbClr val="DADADA"/>
            </a:solidFill>
            <a:prstDash val="solid"/>
          </a:ln>
        </p:spPr>
      </p:sp>
      <p:sp>
        <p:nvSpPr>
          <p:cNvPr id="18" name="Text 16"/>
          <p:cNvSpPr/>
          <p:nvPr/>
        </p:nvSpPr>
        <p:spPr>
          <a:xfrm>
            <a:off x="7900416" y="2084832"/>
            <a:ext cx="2240280" cy="118872"/>
          </a:xfrm>
          <a:prstGeom prst="rect">
            <a:avLst/>
          </a:prstGeom>
          <a:noFill/>
          <a:ln/>
        </p:spPr>
        <p:txBody>
          <a:bodyPr wrap="square" lIns="0" tIns="0" rIns="0" bIns="0" rtlCol="0" anchor="ctr">
            <a:normAutofit/>
          </a:bodyPr>
          <a:lstStyle/>
          <a:p>
            <a:pPr indent="0" marL="0">
              <a:buNone/>
            </a:pPr>
            <a:r>
              <a:rPr lang="en-US" sz="730" b="1" dirty="0">
                <a:solidFill>
                  <a:srgbClr val="487052"/>
                </a:solidFill>
                <a:latin typeface="Microsoft YaHei" pitchFamily="34" charset="0"/>
                <a:ea typeface="Microsoft YaHei" pitchFamily="34" charset="-122"/>
                <a:cs typeface="Microsoft YaHei" pitchFamily="34" charset="-120"/>
              </a:rPr>
              <a:t>指标：特斯拉  90%</a:t>
            </a:r>
            <a:endParaRPr lang="en-US" sz="730" dirty="0"/>
          </a:p>
        </p:txBody>
      </p:sp>
      <p:sp>
        <p:nvSpPr>
          <p:cNvPr id="19" name="Text 17"/>
          <p:cNvSpPr/>
          <p:nvPr/>
        </p:nvSpPr>
        <p:spPr>
          <a:xfrm>
            <a:off x="7900416" y="2258568"/>
            <a:ext cx="2240280" cy="109728"/>
          </a:xfrm>
          <a:prstGeom prst="rect">
            <a:avLst/>
          </a:prstGeom>
          <a:noFill/>
          <a:ln/>
        </p:spPr>
        <p:txBody>
          <a:bodyPr wrap="square" lIns="0" tIns="0" rIns="0" bIns="0" rtlCol="0" anchor="ctr">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口径：特斯拉90%</a:t>
            </a:r>
            <a:endParaRPr lang="en-US" sz="670" dirty="0"/>
          </a:p>
        </p:txBody>
      </p:sp>
      <p:sp>
        <p:nvSpPr>
          <p:cNvPr id="20" name="Shape 18"/>
          <p:cNvSpPr/>
          <p:nvPr/>
        </p:nvSpPr>
        <p:spPr>
          <a:xfrm>
            <a:off x="658368" y="5779008"/>
            <a:ext cx="1463040" cy="292608"/>
          </a:xfrm>
          <a:prstGeom prst="rect">
            <a:avLst/>
          </a:prstGeom>
          <a:solidFill>
            <a:srgbClr val="121212"/>
          </a:solidFill>
          <a:ln w="12700">
            <a:solidFill>
              <a:srgbClr val="121212"/>
            </a:solidFill>
            <a:prstDash val="solid"/>
          </a:ln>
        </p:spPr>
      </p:sp>
      <p:sp>
        <p:nvSpPr>
          <p:cNvPr id="21" name="Text 1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扩展依据</a:t>
            </a:r>
            <a:endParaRPr lang="en-US" sz="780" dirty="0"/>
          </a:p>
        </p:txBody>
      </p:sp>
      <p:sp>
        <p:nvSpPr>
          <p:cNvPr id="22" name="Text 2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内容拆分为 4 段，超过合并页容量。；本模块第 2/2 页</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高优先模块且内容拆分为 3 段，独立成页。</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技术/产品路线 1/3</a:t>
            </a:r>
            <a:endParaRPr lang="en-US" sz="1080" dirty="0"/>
          </a:p>
        </p:txBody>
      </p:sp>
      <p:sp>
        <p:nvSpPr>
          <p:cNvPr id="13" name="Text 11"/>
          <p:cNvSpPr/>
          <p:nvPr/>
        </p:nvSpPr>
        <p:spPr>
          <a:xfrm>
            <a:off x="2487168" y="164592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磷酸铁锂在乘用车领域地位稳固，比亚迪混动新车继续搭载。同时，特斯拉在电池回收技术上取得突破，实现90%再生材料利用率，可能改变行业资源获取模式。此外，长时储能领域全钒液流电池进入规模化爆发前夜，对磷酸铁锂在储能市场的份额构成潜在竞争。 [4][5][7] 分析：比亚迪新车搭载磷酸铁锂，</a:t>
            </a:r>
            <a:endParaRPr lang="en-US" sz="78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依据：[4][5][7]</a:t>
            </a:r>
            <a:endParaRPr lang="en-US" sz="68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技术/产品路线 2/3</a:t>
            </a:r>
            <a:endParaRPr lang="en-US" sz="1080" dirty="0"/>
          </a:p>
        </p:txBody>
      </p:sp>
      <p:sp>
        <p:nvSpPr>
          <p:cNvPr id="17" name="Text 15"/>
          <p:cNvSpPr/>
          <p:nvPr/>
        </p:nvSpPr>
        <p:spPr>
          <a:xfrm>
            <a:off x="2487168" y="310896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验证了其在混动市场的成本与安全优势。特斯拉回收技术进展，若规模化，将降低对上游锂、磷资源的依赖，长期可能影响正极材料成本曲线。全钒液流电池的崛起，提示磷酸铁锂在储能领域需应对技术路线竞争。当前信息缺乏对特斯拉回收技术具体成本、量产时间表，以及全钒液流电池与磷酸铁锂储能系统全生命周期成本对比的详细数据，</a:t>
            </a:r>
            <a:endParaRPr lang="en-US" sz="780" dirty="0"/>
          </a:p>
        </p:txBody>
      </p:sp>
      <p:sp>
        <p:nvSpPr>
          <p:cNvPr id="18" name="Text 16"/>
          <p:cNvSpPr/>
          <p:nvPr/>
        </p:nvSpPr>
        <p:spPr>
          <a:xfrm>
            <a:off x="2487168" y="389534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依据：[4][5][7]</a:t>
            </a:r>
            <a:endParaRPr lang="en-US" sz="680" dirty="0"/>
          </a:p>
        </p:txBody>
      </p:sp>
      <p:sp>
        <p:nvSpPr>
          <p:cNvPr id="19" name="Shape 17"/>
          <p:cNvSpPr/>
          <p:nvPr/>
        </p:nvSpPr>
        <p:spPr>
          <a:xfrm>
            <a:off x="658368" y="4370832"/>
            <a:ext cx="6510528" cy="1207008"/>
          </a:xfrm>
          <a:prstGeom prst="roundRect">
            <a:avLst>
              <a:gd name="adj" fmla="val 6061"/>
            </a:avLst>
          </a:prstGeom>
          <a:solidFill>
            <a:srgbClr val="F4FAF6"/>
          </a:solidFill>
          <a:ln w="10160">
            <a:solidFill>
              <a:srgbClr val="DADADA"/>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技术/产品路线 3/3</a:t>
            </a:r>
            <a:endParaRPr lang="en-US" sz="1080" dirty="0"/>
          </a:p>
        </p:txBody>
      </p:sp>
      <p:sp>
        <p:nvSpPr>
          <p:cNvPr id="21" name="Text 19"/>
          <p:cNvSpPr/>
          <p:nvPr/>
        </p:nvSpPr>
        <p:spPr>
          <a:xfrm>
            <a:off x="2487168" y="457200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需持续跟踪。 推测：未使用推测</a:t>
            </a:r>
            <a:endParaRPr lang="en-US" sz="780" dirty="0"/>
          </a:p>
        </p:txBody>
      </p:sp>
      <p:sp>
        <p:nvSpPr>
          <p:cNvPr id="22" name="Text 20"/>
          <p:cNvSpPr/>
          <p:nvPr/>
        </p:nvSpPr>
        <p:spPr>
          <a:xfrm>
            <a:off x="2487168" y="535838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依据：[4][5][7]</a:t>
            </a:r>
            <a:endParaRPr lang="en-US" sz="680" dirty="0"/>
          </a:p>
        </p:txBody>
      </p:sp>
      <p:sp>
        <p:nvSpPr>
          <p:cNvPr id="23" name="Shape 21"/>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4" name="Text 22"/>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指标与口径</a:t>
            </a:r>
            <a:endParaRPr lang="en-US" sz="1200" dirty="0"/>
          </a:p>
        </p:txBody>
      </p:sp>
      <p:sp>
        <p:nvSpPr>
          <p:cNvPr id="25" name="Shape 23"/>
          <p:cNvSpPr/>
          <p:nvPr/>
        </p:nvSpPr>
        <p:spPr>
          <a:xfrm>
            <a:off x="7772400" y="1993392"/>
            <a:ext cx="2560320" cy="457200"/>
          </a:xfrm>
          <a:prstGeom prst="roundRect">
            <a:avLst>
              <a:gd name="adj" fmla="val 8000"/>
            </a:avLst>
          </a:prstGeom>
          <a:solidFill>
            <a:srgbClr val="F4FAF6"/>
          </a:solidFill>
          <a:ln w="7620">
            <a:solidFill>
              <a:srgbClr val="DADADA"/>
            </a:solidFill>
            <a:prstDash val="solid"/>
          </a:ln>
        </p:spPr>
      </p:sp>
      <p:sp>
        <p:nvSpPr>
          <p:cNvPr id="26" name="Text 24"/>
          <p:cNvSpPr/>
          <p:nvPr/>
        </p:nvSpPr>
        <p:spPr>
          <a:xfrm>
            <a:off x="7900416" y="2084832"/>
            <a:ext cx="2240280" cy="118872"/>
          </a:xfrm>
          <a:prstGeom prst="rect">
            <a:avLst/>
          </a:prstGeom>
          <a:noFill/>
          <a:ln/>
        </p:spPr>
        <p:txBody>
          <a:bodyPr wrap="square" lIns="0" tIns="0" rIns="0" bIns="0" rtlCol="0" anchor="ctr">
            <a:normAutofit/>
          </a:bodyPr>
          <a:lstStyle/>
          <a:p>
            <a:pPr indent="0" marL="0">
              <a:buNone/>
            </a:pPr>
            <a:r>
              <a:rPr lang="en-US" sz="730" b="1" dirty="0">
                <a:solidFill>
                  <a:srgbClr val="487052"/>
                </a:solidFill>
                <a:latin typeface="Microsoft YaHei" pitchFamily="34" charset="0"/>
                <a:ea typeface="Microsoft YaHei" pitchFamily="34" charset="-122"/>
                <a:cs typeface="Microsoft YaHei" pitchFamily="34" charset="-120"/>
              </a:rPr>
              <a:t>指标：实现  90%</a:t>
            </a:r>
            <a:endParaRPr lang="en-US" sz="730" dirty="0"/>
          </a:p>
        </p:txBody>
      </p:sp>
      <p:sp>
        <p:nvSpPr>
          <p:cNvPr id="27" name="Text 25"/>
          <p:cNvSpPr/>
          <p:nvPr/>
        </p:nvSpPr>
        <p:spPr>
          <a:xfrm>
            <a:off x="7900416" y="2258568"/>
            <a:ext cx="2240280" cy="109728"/>
          </a:xfrm>
          <a:prstGeom prst="rect">
            <a:avLst/>
          </a:prstGeom>
          <a:noFill/>
          <a:ln/>
        </p:spPr>
        <p:txBody>
          <a:bodyPr wrap="square" lIns="0" tIns="0" rIns="0" bIns="0" rtlCol="0" anchor="ctr">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口径：实现90%</a:t>
            </a:r>
            <a:endParaRPr lang="en-US" sz="670" dirty="0"/>
          </a:p>
        </p:txBody>
      </p:sp>
      <p:sp>
        <p:nvSpPr>
          <p:cNvPr id="28" name="Shape 26"/>
          <p:cNvSpPr/>
          <p:nvPr/>
        </p:nvSpPr>
        <p:spPr>
          <a:xfrm>
            <a:off x="658368" y="5779008"/>
            <a:ext cx="1463040" cy="292608"/>
          </a:xfrm>
          <a:prstGeom prst="rect">
            <a:avLst/>
          </a:prstGeom>
          <a:solidFill>
            <a:srgbClr val="121212"/>
          </a:solidFill>
          <a:ln w="12700">
            <a:solidFill>
              <a:srgbClr val="121212"/>
            </a:solidFill>
            <a:prstDash val="solid"/>
          </a:ln>
        </p:spPr>
      </p:sp>
      <p:sp>
        <p:nvSpPr>
          <p:cNvPr id="29" name="Text 2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扩展依据</a:t>
            </a:r>
            <a:endParaRPr lang="en-US" sz="780" dirty="0"/>
          </a:p>
        </p:txBody>
      </p:sp>
      <p:sp>
        <p:nvSpPr>
          <p:cNvPr id="30" name="Text 2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高优先模块且内容拆分为 3 段，独立成页。</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高优先模块且内容拆分为 3 段，独立成页。</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产能/客户/订单 1/3</a:t>
            </a:r>
            <a:endParaRPr lang="en-US" sz="1080" dirty="0"/>
          </a:p>
        </p:txBody>
      </p:sp>
      <p:sp>
        <p:nvSpPr>
          <p:cNvPr id="13" name="Text 11"/>
          <p:cNvSpPr/>
          <p:nvPr/>
        </p:nvSpPr>
        <p:spPr>
          <a:xfrm>
            <a:off x="2487168" y="164592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产能扩张加速，龙蟠科技旗下山东锂源11万吨高性能磷酸铁锂项目试产，贵州贵阳拟新建60万吨高压实磷酸铁锂项目。6月报显示行业供需分化，材料端面临过剩压力。下游需求方面，比亚迪新车申报、福田纯电动货车申报，显示商用车和乘用车领域需求仍在，但增速可能放缓。</a:t>
            </a:r>
            <a:endParaRPr lang="en-US" sz="78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依据：[1][2][3][4][8]</a:t>
            </a:r>
            <a:endParaRPr lang="en-US" sz="68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产能/客户/订单 2/3</a:t>
            </a:r>
            <a:endParaRPr lang="en-US" sz="1080" dirty="0"/>
          </a:p>
        </p:txBody>
      </p:sp>
      <p:sp>
        <p:nvSpPr>
          <p:cNvPr id="17" name="Text 15"/>
          <p:cNvSpPr/>
          <p:nvPr/>
        </p:nvSpPr>
        <p:spPr>
          <a:xfrm>
            <a:off x="2487168" y="310896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[1][2][3][4][8] 分析：龙蟠科技项目试产和贵阳项目规划，是行业产能持续扩张的缩影，与6月报中“材料供需分化”的判断吻合。这些新产能释放将进一步加剧市场竞争，对中小厂商形成压力。下游比亚迪和福田的新车申报，表明需求端仍有支撑，但需关注整车销量增速能否消化新增产能。</a:t>
            </a:r>
            <a:endParaRPr lang="en-US" sz="780" dirty="0"/>
          </a:p>
        </p:txBody>
      </p:sp>
      <p:sp>
        <p:nvSpPr>
          <p:cNvPr id="18" name="Text 16"/>
          <p:cNvSpPr/>
          <p:nvPr/>
        </p:nvSpPr>
        <p:spPr>
          <a:xfrm>
            <a:off x="2487168" y="389534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依据：[1][2][3][4][8]</a:t>
            </a:r>
            <a:endParaRPr lang="en-US" sz="680" dirty="0"/>
          </a:p>
        </p:txBody>
      </p:sp>
      <p:sp>
        <p:nvSpPr>
          <p:cNvPr id="19" name="Shape 17"/>
          <p:cNvSpPr/>
          <p:nvPr/>
        </p:nvSpPr>
        <p:spPr>
          <a:xfrm>
            <a:off x="658368" y="4370832"/>
            <a:ext cx="6510528" cy="1207008"/>
          </a:xfrm>
          <a:prstGeom prst="roundRect">
            <a:avLst>
              <a:gd name="adj" fmla="val 6061"/>
            </a:avLst>
          </a:prstGeom>
          <a:solidFill>
            <a:srgbClr val="F4FAF6"/>
          </a:solidFill>
          <a:ln w="10160">
            <a:solidFill>
              <a:srgbClr val="DADADA"/>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产能/客户/订单 3/3</a:t>
            </a:r>
            <a:endParaRPr lang="en-US" sz="1080" dirty="0"/>
          </a:p>
        </p:txBody>
      </p:sp>
      <p:sp>
        <p:nvSpPr>
          <p:cNvPr id="21" name="Text 19"/>
          <p:cNvSpPr/>
          <p:nvPr/>
        </p:nvSpPr>
        <p:spPr>
          <a:xfrm>
            <a:off x="2487168" y="457200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当前信息缺乏对龙蟠项目具体投产节奏、贵阳项目投资方及建设周期、以及下游主要客户订单变化的量化数据，需进一步调研。 推测：未使用推测</a:t>
            </a:r>
            <a:endParaRPr lang="en-US" sz="780" dirty="0"/>
          </a:p>
        </p:txBody>
      </p:sp>
      <p:sp>
        <p:nvSpPr>
          <p:cNvPr id="22" name="Text 20"/>
          <p:cNvSpPr/>
          <p:nvPr/>
        </p:nvSpPr>
        <p:spPr>
          <a:xfrm>
            <a:off x="2487168" y="535838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依据：[1][2][3][4][8]</a:t>
            </a:r>
            <a:endParaRPr lang="en-US" sz="680" dirty="0"/>
          </a:p>
        </p:txBody>
      </p:sp>
      <p:sp>
        <p:nvSpPr>
          <p:cNvPr id="23" name="Shape 21"/>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4" name="Text 22"/>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5" name="Shape 23"/>
          <p:cNvSpPr/>
          <p:nvPr/>
        </p:nvSpPr>
        <p:spPr>
          <a:xfrm>
            <a:off x="7818120" y="2176272"/>
            <a:ext cx="2487168" cy="1609344"/>
          </a:xfrm>
          <a:prstGeom prst="rect">
            <a:avLst/>
          </a:prstGeom>
          <a:solidFill>
            <a:srgbClr val="FFFFFF"/>
          </a:solidFill>
          <a:ln w="10160">
            <a:solidFill>
              <a:srgbClr val="DADADA"/>
            </a:solidFill>
            <a:prstDash val="solid"/>
          </a:ln>
        </p:spPr>
      </p:sp>
      <p:sp>
        <p:nvSpPr>
          <p:cNvPr id="26" name="Shape 24"/>
          <p:cNvSpPr/>
          <p:nvPr/>
        </p:nvSpPr>
        <p:spPr>
          <a:xfrm>
            <a:off x="9061704" y="2176272"/>
            <a:ext cx="0" cy="1609344"/>
          </a:xfrm>
          <a:prstGeom prst="line">
            <a:avLst/>
          </a:prstGeom>
          <a:noFill/>
          <a:ln w="8890">
            <a:solidFill>
              <a:srgbClr val="DADADA"/>
            </a:solidFill>
            <a:prstDash val="solid"/>
          </a:ln>
        </p:spPr>
      </p:sp>
      <p:sp>
        <p:nvSpPr>
          <p:cNvPr id="27" name="Shape 25"/>
          <p:cNvSpPr/>
          <p:nvPr/>
        </p:nvSpPr>
        <p:spPr>
          <a:xfrm>
            <a:off x="7818120" y="2980944"/>
            <a:ext cx="2487168" cy="0"/>
          </a:xfrm>
          <a:prstGeom prst="line">
            <a:avLst/>
          </a:prstGeom>
          <a:noFill/>
          <a:ln w="8890">
            <a:solidFill>
              <a:srgbClr val="DADADA"/>
            </a:solidFill>
            <a:prstDash val="solid"/>
          </a:ln>
        </p:spPr>
      </p:sp>
      <p:sp>
        <p:nvSpPr>
          <p:cNvPr id="28" name="Shape 26"/>
          <p:cNvSpPr/>
          <p:nvPr/>
        </p:nvSpPr>
        <p:spPr>
          <a:xfrm>
            <a:off x="7818120" y="2176272"/>
            <a:ext cx="1243584" cy="804672"/>
          </a:xfrm>
          <a:prstGeom prst="rect">
            <a:avLst/>
          </a:prstGeom>
          <a:solidFill>
            <a:srgbClr val="DDEBE0"/>
          </a:solidFill>
          <a:ln w="3810">
            <a:solidFill>
              <a:srgbClr val="DADADA"/>
            </a:solidFill>
            <a:prstDash val="solid"/>
          </a:ln>
        </p:spPr>
      </p:sp>
      <p:sp>
        <p:nvSpPr>
          <p:cNvPr id="29" name="Text 27"/>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30" name="Text 28"/>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产能扩张加速，龙蟠科技旗下</a:t>
            </a:r>
            <a:endParaRPr lang="en-US" sz="670" dirty="0"/>
          </a:p>
        </p:txBody>
      </p:sp>
      <p:sp>
        <p:nvSpPr>
          <p:cNvPr id="31" name="Shape 29"/>
          <p:cNvSpPr/>
          <p:nvPr/>
        </p:nvSpPr>
        <p:spPr>
          <a:xfrm>
            <a:off x="9061704" y="2176272"/>
            <a:ext cx="1243584" cy="804672"/>
          </a:xfrm>
          <a:prstGeom prst="rect">
            <a:avLst/>
          </a:prstGeom>
          <a:solidFill>
            <a:srgbClr val="FFFFFF"/>
          </a:solidFill>
          <a:ln w="3810">
            <a:solidFill>
              <a:srgbClr val="DADADA"/>
            </a:solidFill>
            <a:prstDash val="solid"/>
          </a:ln>
        </p:spPr>
      </p:sp>
      <p:sp>
        <p:nvSpPr>
          <p:cNvPr id="32" name="Text 30"/>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3" name="Text 31"/>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6月报显示行业供需分化，材</a:t>
            </a:r>
            <a:endParaRPr lang="en-US" sz="670" dirty="0"/>
          </a:p>
        </p:txBody>
      </p:sp>
      <p:sp>
        <p:nvSpPr>
          <p:cNvPr id="34" name="Shape 32"/>
          <p:cNvSpPr/>
          <p:nvPr/>
        </p:nvSpPr>
        <p:spPr>
          <a:xfrm>
            <a:off x="7818120" y="2980944"/>
            <a:ext cx="1243584" cy="804672"/>
          </a:xfrm>
          <a:prstGeom prst="rect">
            <a:avLst/>
          </a:prstGeom>
          <a:solidFill>
            <a:srgbClr val="FFFFFF"/>
          </a:solidFill>
          <a:ln w="3810">
            <a:solidFill>
              <a:srgbClr val="DADADA"/>
            </a:solidFill>
            <a:prstDash val="solid"/>
          </a:ln>
        </p:spPr>
      </p:sp>
      <p:sp>
        <p:nvSpPr>
          <p:cNvPr id="35" name="Text 33"/>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6" name="Text 34"/>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下游需求方面，比亚迪新车申</a:t>
            </a:r>
            <a:endParaRPr lang="en-US" sz="670" dirty="0"/>
          </a:p>
        </p:txBody>
      </p:sp>
      <p:sp>
        <p:nvSpPr>
          <p:cNvPr id="37" name="Shape 35"/>
          <p:cNvSpPr/>
          <p:nvPr/>
        </p:nvSpPr>
        <p:spPr>
          <a:xfrm>
            <a:off x="9061704" y="2980944"/>
            <a:ext cx="1243584" cy="804672"/>
          </a:xfrm>
          <a:prstGeom prst="rect">
            <a:avLst/>
          </a:prstGeom>
          <a:solidFill>
            <a:srgbClr val="F4FAF6"/>
          </a:solidFill>
          <a:ln w="3810">
            <a:solidFill>
              <a:srgbClr val="DADADA"/>
            </a:solidFill>
            <a:prstDash val="solid"/>
          </a:ln>
        </p:spPr>
      </p:sp>
      <p:sp>
        <p:nvSpPr>
          <p:cNvPr id="38" name="Text 36"/>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9" name="Text 37"/>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产能扩张加速，龙蟠科技旗下</a:t>
            </a:r>
            <a:endParaRPr lang="en-US" sz="670" dirty="0"/>
          </a:p>
        </p:txBody>
      </p:sp>
      <p:sp>
        <p:nvSpPr>
          <p:cNvPr id="40" name="Text 38"/>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1" name="Shape 39"/>
          <p:cNvSpPr/>
          <p:nvPr/>
        </p:nvSpPr>
        <p:spPr>
          <a:xfrm>
            <a:off x="658368" y="5779008"/>
            <a:ext cx="1463040" cy="292608"/>
          </a:xfrm>
          <a:prstGeom prst="rect">
            <a:avLst/>
          </a:prstGeom>
          <a:solidFill>
            <a:srgbClr val="121212"/>
          </a:solidFill>
          <a:ln w="12700">
            <a:solidFill>
              <a:srgbClr val="121212"/>
            </a:solidFill>
            <a:prstDash val="solid"/>
          </a:ln>
        </p:spPr>
      </p:sp>
      <p:sp>
        <p:nvSpPr>
          <p:cNvPr id="42" name="Text 40"/>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扩展依据</a:t>
            </a:r>
            <a:endParaRPr lang="en-US" sz="780" dirty="0"/>
          </a:p>
        </p:txBody>
      </p:sp>
      <p:sp>
        <p:nvSpPr>
          <p:cNvPr id="43" name="Text 41"/>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高优先模块且内容拆分为 3 段，独立成页。</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内容拆分为 3 段，超过合并页容量。</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价格/盈利压力 1/3</a:t>
            </a:r>
            <a:endParaRPr lang="en-US" sz="1080" dirty="0"/>
          </a:p>
        </p:txBody>
      </p:sp>
      <p:sp>
        <p:nvSpPr>
          <p:cNvPr id="13" name="Text 11"/>
          <p:cNvSpPr/>
          <p:nvPr/>
        </p:nvSpPr>
        <p:spPr>
          <a:xfrm>
            <a:off x="2487168" y="164592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6月报显示磷酸铁锂材料供需分化，价格承压。光大期货有色金属日报提及市场整体压力，但未单独分析磷酸铁锂。电池“天价”维修问题侧面反映电池成本仍高，但可能更多是售后市场定价问题，而非材料端价格。整体看，行业盈利空间受产能过剩和价格竞争挤压。 [3][9][6] 分析：6月报“材料供需分化”的表述，</a:t>
            </a:r>
            <a:endParaRPr lang="en-US" sz="78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依据：[3][9][6]</a:t>
            </a:r>
            <a:endParaRPr lang="en-US" sz="68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价格/盈利压力 2/3</a:t>
            </a:r>
            <a:endParaRPr lang="en-US" sz="1080" dirty="0"/>
          </a:p>
        </p:txBody>
      </p:sp>
      <p:sp>
        <p:nvSpPr>
          <p:cNvPr id="17" name="Text 15"/>
          <p:cNvSpPr/>
          <p:nvPr/>
        </p:nvSpPr>
        <p:spPr>
          <a:xfrm>
            <a:off x="2487168" y="310896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结合龙蟠科技、贵阳项目等扩产信息，强化了供给过剩预期，价格下行压力是当前主要矛盾。光大期货日报虽未直接分析磷酸铁锂，但有色金属整体压力也间接反映上游成本端可能松动。电池维修“天价”问题，更多是售后市场垄断和定价机制问题，与材料端价格关联度不高，但可能引发政策干预，影响电池包整体成本结构。</a:t>
            </a:r>
            <a:endParaRPr lang="en-US" sz="780" dirty="0"/>
          </a:p>
        </p:txBody>
      </p:sp>
      <p:sp>
        <p:nvSpPr>
          <p:cNvPr id="18" name="Text 16"/>
          <p:cNvSpPr/>
          <p:nvPr/>
        </p:nvSpPr>
        <p:spPr>
          <a:xfrm>
            <a:off x="2487168" y="389534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依据：[3][9][6]</a:t>
            </a:r>
            <a:endParaRPr lang="en-US" sz="680" dirty="0"/>
          </a:p>
        </p:txBody>
      </p:sp>
      <p:sp>
        <p:nvSpPr>
          <p:cNvPr id="19" name="Shape 17"/>
          <p:cNvSpPr/>
          <p:nvPr/>
        </p:nvSpPr>
        <p:spPr>
          <a:xfrm>
            <a:off x="658368" y="4370832"/>
            <a:ext cx="6510528" cy="1207008"/>
          </a:xfrm>
          <a:prstGeom prst="roundRect">
            <a:avLst>
              <a:gd name="adj" fmla="val 6061"/>
            </a:avLst>
          </a:prstGeom>
          <a:solidFill>
            <a:srgbClr val="F4FAF6"/>
          </a:solidFill>
          <a:ln w="10160">
            <a:solidFill>
              <a:srgbClr val="DADADA"/>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价格/盈利压力 3/3</a:t>
            </a:r>
            <a:endParaRPr lang="en-US" sz="1080" dirty="0"/>
          </a:p>
        </p:txBody>
      </p:sp>
      <p:sp>
        <p:nvSpPr>
          <p:cNvPr id="21" name="Text 19"/>
          <p:cNvSpPr/>
          <p:nvPr/>
        </p:nvSpPr>
        <p:spPr>
          <a:xfrm>
            <a:off x="2487168" y="457200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当前信息缺乏对磷酸铁锂最新市场报价、龙头企业毛利率变化等具体数据，需持续跟踪。 推测：未使用推测</a:t>
            </a:r>
            <a:endParaRPr lang="en-US" sz="780" dirty="0"/>
          </a:p>
        </p:txBody>
      </p:sp>
      <p:sp>
        <p:nvSpPr>
          <p:cNvPr id="22" name="Text 20"/>
          <p:cNvSpPr/>
          <p:nvPr/>
        </p:nvSpPr>
        <p:spPr>
          <a:xfrm>
            <a:off x="2487168" y="535838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依据：[3][9][6]</a:t>
            </a:r>
            <a:endParaRPr lang="en-US" sz="680" dirty="0"/>
          </a:p>
        </p:txBody>
      </p:sp>
      <p:sp>
        <p:nvSpPr>
          <p:cNvPr id="23" name="Shape 21"/>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4" name="Text 22"/>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5" name="Shape 23"/>
          <p:cNvSpPr/>
          <p:nvPr/>
        </p:nvSpPr>
        <p:spPr>
          <a:xfrm>
            <a:off x="7818120" y="2176272"/>
            <a:ext cx="2487168" cy="1609344"/>
          </a:xfrm>
          <a:prstGeom prst="rect">
            <a:avLst/>
          </a:prstGeom>
          <a:solidFill>
            <a:srgbClr val="FFFFFF"/>
          </a:solidFill>
          <a:ln w="10160">
            <a:solidFill>
              <a:srgbClr val="DADADA"/>
            </a:solidFill>
            <a:prstDash val="solid"/>
          </a:ln>
        </p:spPr>
      </p:sp>
      <p:sp>
        <p:nvSpPr>
          <p:cNvPr id="26" name="Shape 24"/>
          <p:cNvSpPr/>
          <p:nvPr/>
        </p:nvSpPr>
        <p:spPr>
          <a:xfrm>
            <a:off x="9061704" y="2176272"/>
            <a:ext cx="0" cy="1609344"/>
          </a:xfrm>
          <a:prstGeom prst="line">
            <a:avLst/>
          </a:prstGeom>
          <a:noFill/>
          <a:ln w="8890">
            <a:solidFill>
              <a:srgbClr val="DADADA"/>
            </a:solidFill>
            <a:prstDash val="solid"/>
          </a:ln>
        </p:spPr>
      </p:sp>
      <p:sp>
        <p:nvSpPr>
          <p:cNvPr id="27" name="Shape 25"/>
          <p:cNvSpPr/>
          <p:nvPr/>
        </p:nvSpPr>
        <p:spPr>
          <a:xfrm>
            <a:off x="7818120" y="2980944"/>
            <a:ext cx="2487168" cy="0"/>
          </a:xfrm>
          <a:prstGeom prst="line">
            <a:avLst/>
          </a:prstGeom>
          <a:noFill/>
          <a:ln w="8890">
            <a:solidFill>
              <a:srgbClr val="DADADA"/>
            </a:solidFill>
            <a:prstDash val="solid"/>
          </a:ln>
        </p:spPr>
      </p:sp>
      <p:sp>
        <p:nvSpPr>
          <p:cNvPr id="28" name="Shape 26"/>
          <p:cNvSpPr/>
          <p:nvPr/>
        </p:nvSpPr>
        <p:spPr>
          <a:xfrm>
            <a:off x="7818120" y="2176272"/>
            <a:ext cx="1243584" cy="804672"/>
          </a:xfrm>
          <a:prstGeom prst="rect">
            <a:avLst/>
          </a:prstGeom>
          <a:solidFill>
            <a:srgbClr val="DDEBE0"/>
          </a:solidFill>
          <a:ln w="3810">
            <a:solidFill>
              <a:srgbClr val="DADADA"/>
            </a:solidFill>
            <a:prstDash val="solid"/>
          </a:ln>
        </p:spPr>
      </p:sp>
      <p:sp>
        <p:nvSpPr>
          <p:cNvPr id="29" name="Text 27"/>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30" name="Text 28"/>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6月报显示磷酸铁锂材料供需</a:t>
            </a:r>
            <a:endParaRPr lang="en-US" sz="670" dirty="0"/>
          </a:p>
        </p:txBody>
      </p:sp>
      <p:sp>
        <p:nvSpPr>
          <p:cNvPr id="31" name="Shape 29"/>
          <p:cNvSpPr/>
          <p:nvPr/>
        </p:nvSpPr>
        <p:spPr>
          <a:xfrm>
            <a:off x="9061704" y="2176272"/>
            <a:ext cx="1243584" cy="804672"/>
          </a:xfrm>
          <a:prstGeom prst="rect">
            <a:avLst/>
          </a:prstGeom>
          <a:solidFill>
            <a:srgbClr val="FFFFFF"/>
          </a:solidFill>
          <a:ln w="3810">
            <a:solidFill>
              <a:srgbClr val="DADADA"/>
            </a:solidFill>
            <a:prstDash val="solid"/>
          </a:ln>
        </p:spPr>
      </p:sp>
      <p:sp>
        <p:nvSpPr>
          <p:cNvPr id="32" name="Text 30"/>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3" name="Text 31"/>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光大期货有色金属日报提及市</a:t>
            </a:r>
            <a:endParaRPr lang="en-US" sz="670" dirty="0"/>
          </a:p>
        </p:txBody>
      </p:sp>
      <p:sp>
        <p:nvSpPr>
          <p:cNvPr id="34" name="Shape 32"/>
          <p:cNvSpPr/>
          <p:nvPr/>
        </p:nvSpPr>
        <p:spPr>
          <a:xfrm>
            <a:off x="7818120" y="2980944"/>
            <a:ext cx="1243584" cy="804672"/>
          </a:xfrm>
          <a:prstGeom prst="rect">
            <a:avLst/>
          </a:prstGeom>
          <a:solidFill>
            <a:srgbClr val="FFFFFF"/>
          </a:solidFill>
          <a:ln w="3810">
            <a:solidFill>
              <a:srgbClr val="DADADA"/>
            </a:solidFill>
            <a:prstDash val="solid"/>
          </a:ln>
        </p:spPr>
      </p:sp>
      <p:sp>
        <p:nvSpPr>
          <p:cNvPr id="35" name="Text 33"/>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6" name="Text 34"/>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电池“天价”维修问题侧面反</a:t>
            </a:r>
            <a:endParaRPr lang="en-US" sz="670" dirty="0"/>
          </a:p>
        </p:txBody>
      </p:sp>
      <p:sp>
        <p:nvSpPr>
          <p:cNvPr id="37" name="Shape 35"/>
          <p:cNvSpPr/>
          <p:nvPr/>
        </p:nvSpPr>
        <p:spPr>
          <a:xfrm>
            <a:off x="9061704" y="2980944"/>
            <a:ext cx="1243584" cy="804672"/>
          </a:xfrm>
          <a:prstGeom prst="rect">
            <a:avLst/>
          </a:prstGeom>
          <a:solidFill>
            <a:srgbClr val="F4FAF6"/>
          </a:solidFill>
          <a:ln w="3810">
            <a:solidFill>
              <a:srgbClr val="DADADA"/>
            </a:solidFill>
            <a:prstDash val="solid"/>
          </a:ln>
        </p:spPr>
      </p:sp>
      <p:sp>
        <p:nvSpPr>
          <p:cNvPr id="38" name="Text 36"/>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9" name="Text 37"/>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6月报显示磷酸铁锂材料供需</a:t>
            </a:r>
            <a:endParaRPr lang="en-US" sz="670" dirty="0"/>
          </a:p>
        </p:txBody>
      </p:sp>
      <p:sp>
        <p:nvSpPr>
          <p:cNvPr id="40" name="Text 38"/>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1" name="Shape 39"/>
          <p:cNvSpPr/>
          <p:nvPr/>
        </p:nvSpPr>
        <p:spPr>
          <a:xfrm>
            <a:off x="658368" y="5779008"/>
            <a:ext cx="1463040" cy="292608"/>
          </a:xfrm>
          <a:prstGeom prst="rect">
            <a:avLst/>
          </a:prstGeom>
          <a:solidFill>
            <a:srgbClr val="121212"/>
          </a:solidFill>
          <a:ln w="12700">
            <a:solidFill>
              <a:srgbClr val="121212"/>
            </a:solidFill>
            <a:prstDash val="solid"/>
          </a:ln>
        </p:spPr>
      </p:sp>
      <p:sp>
        <p:nvSpPr>
          <p:cNvPr id="42" name="Text 40"/>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扩展依据</a:t>
            </a:r>
            <a:endParaRPr lang="en-US" sz="780" dirty="0"/>
          </a:p>
        </p:txBody>
      </p:sp>
      <p:sp>
        <p:nvSpPr>
          <p:cNvPr id="43" name="Text 41"/>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内容拆分为 3 段，超过合并页容量。</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内容拆分为 3 段，超过合并页容量。</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政策/合规风险 1/3</a:t>
            </a:r>
            <a:endParaRPr lang="en-US" sz="1080" dirty="0"/>
          </a:p>
        </p:txBody>
      </p:sp>
      <p:sp>
        <p:nvSpPr>
          <p:cNvPr id="13" name="Text 11"/>
          <p:cNvSpPr/>
          <p:nvPr/>
        </p:nvSpPr>
        <p:spPr>
          <a:xfrm>
            <a:off x="2487168" y="164592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电池回收政策持续受关注，特斯拉90%再生材料利用率方案被解读，可能推动行业回收标准提升。美国FTC与约翰迪尔达成维修权和解，可能影响中国新能源车维修权法规，对电池售后市场产生深远影响。此外，新能源车电池“天价”维修问题已引发媒体关注，可能加速相关监管政策出台。</a:t>
            </a:r>
            <a:endParaRPr lang="en-US" sz="78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依据：[5][10][6]</a:t>
            </a:r>
            <a:endParaRPr lang="en-US" sz="68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政策/合规风险 2/3</a:t>
            </a:r>
            <a:endParaRPr lang="en-US" sz="1080" dirty="0"/>
          </a:p>
        </p:txBody>
      </p:sp>
      <p:sp>
        <p:nvSpPr>
          <p:cNvPr id="17" name="Text 15"/>
          <p:cNvSpPr/>
          <p:nvPr/>
        </p:nvSpPr>
        <p:spPr>
          <a:xfrm>
            <a:off x="2487168" y="310896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[5][10][6] 分析：特斯拉回收技术进展，不仅技术层面，也可能成为政策制定者参考，推动更严格的再生材料使用比例要求。美国维修权和解案例，可能被国内消费者权益组织引用，推动中国版“维修权”立法，这将打破车企对电池维修的垄断，利好第三方维修商，但可能影响车企售后利润和电池包设计。</a:t>
            </a:r>
            <a:endParaRPr lang="en-US" sz="780" dirty="0"/>
          </a:p>
        </p:txBody>
      </p:sp>
      <p:sp>
        <p:nvSpPr>
          <p:cNvPr id="18" name="Text 16"/>
          <p:cNvSpPr/>
          <p:nvPr/>
        </p:nvSpPr>
        <p:spPr>
          <a:xfrm>
            <a:off x="2487168" y="389534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依据：[5][10][6]</a:t>
            </a:r>
            <a:endParaRPr lang="en-US" sz="680" dirty="0"/>
          </a:p>
        </p:txBody>
      </p:sp>
      <p:sp>
        <p:nvSpPr>
          <p:cNvPr id="19" name="Shape 17"/>
          <p:cNvSpPr/>
          <p:nvPr/>
        </p:nvSpPr>
        <p:spPr>
          <a:xfrm>
            <a:off x="658368" y="4370832"/>
            <a:ext cx="6510528" cy="1207008"/>
          </a:xfrm>
          <a:prstGeom prst="roundRect">
            <a:avLst>
              <a:gd name="adj" fmla="val 6061"/>
            </a:avLst>
          </a:prstGeom>
          <a:solidFill>
            <a:srgbClr val="F4FAF6"/>
          </a:solidFill>
          <a:ln w="10160">
            <a:solidFill>
              <a:srgbClr val="DADADA"/>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政策/合规风险 3/3</a:t>
            </a:r>
            <a:endParaRPr lang="en-US" sz="1080" dirty="0"/>
          </a:p>
        </p:txBody>
      </p:sp>
      <p:sp>
        <p:nvSpPr>
          <p:cNvPr id="21" name="Text 19"/>
          <p:cNvSpPr/>
          <p:nvPr/>
        </p:nvSpPr>
        <p:spPr>
          <a:xfrm>
            <a:off x="2487168" y="457200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电池“天价”维修报道，直接反映了当前售后市场痛点，是政策催化剂。当前信息缺乏对国内相关立法进程的具体时间表，以及特斯拉回收技术是否符合中国政策导向的明确信息。 推测：未使用推测</a:t>
            </a:r>
            <a:endParaRPr lang="en-US" sz="780" dirty="0"/>
          </a:p>
        </p:txBody>
      </p:sp>
      <p:sp>
        <p:nvSpPr>
          <p:cNvPr id="22" name="Text 20"/>
          <p:cNvSpPr/>
          <p:nvPr/>
        </p:nvSpPr>
        <p:spPr>
          <a:xfrm>
            <a:off x="2487168" y="535838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依据：[5][10][6]</a:t>
            </a:r>
            <a:endParaRPr lang="en-US" sz="680" dirty="0"/>
          </a:p>
        </p:txBody>
      </p:sp>
      <p:sp>
        <p:nvSpPr>
          <p:cNvPr id="23" name="Shape 21"/>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4" name="Text 22"/>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5" name="Shape 23"/>
          <p:cNvSpPr/>
          <p:nvPr/>
        </p:nvSpPr>
        <p:spPr>
          <a:xfrm>
            <a:off x="8503920" y="1975104"/>
            <a:ext cx="1097280" cy="512064"/>
          </a:xfrm>
          <a:prstGeom prst="trapezoid">
            <a:avLst/>
          </a:prstGeom>
          <a:solidFill>
            <a:srgbClr val="B85A4A"/>
          </a:solidFill>
          <a:ln w="8890">
            <a:solidFill>
              <a:srgbClr val="487052"/>
            </a:solidFill>
            <a:prstDash val="solid"/>
          </a:ln>
        </p:spPr>
      </p:sp>
      <p:sp>
        <p:nvSpPr>
          <p:cNvPr id="26" name="Text 24"/>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7" name="Text 25"/>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电池回收政策持续受关注，特斯拉90</a:t>
            </a:r>
            <a:endParaRPr lang="en-US" sz="660" dirty="0"/>
          </a:p>
        </p:txBody>
      </p:sp>
      <p:sp>
        <p:nvSpPr>
          <p:cNvPr id="28" name="Shape 26"/>
          <p:cNvSpPr/>
          <p:nvPr/>
        </p:nvSpPr>
        <p:spPr>
          <a:xfrm>
            <a:off x="8183880" y="2615184"/>
            <a:ext cx="1737360" cy="512064"/>
          </a:xfrm>
          <a:prstGeom prst="trapezoid">
            <a:avLst/>
          </a:prstGeom>
          <a:solidFill>
            <a:srgbClr val="DDEBE0"/>
          </a:solidFill>
          <a:ln w="8890">
            <a:solidFill>
              <a:srgbClr val="487052"/>
            </a:solidFill>
            <a:prstDash val="solid"/>
          </a:ln>
        </p:spPr>
      </p:sp>
      <p:sp>
        <p:nvSpPr>
          <p:cNvPr id="29" name="Text 27"/>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30" name="Text 28"/>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美国FTC与约翰迪尔达成维修权和解</a:t>
            </a:r>
            <a:endParaRPr lang="en-US" sz="660" dirty="0"/>
          </a:p>
        </p:txBody>
      </p:sp>
      <p:sp>
        <p:nvSpPr>
          <p:cNvPr id="31" name="Shape 29"/>
          <p:cNvSpPr/>
          <p:nvPr/>
        </p:nvSpPr>
        <p:spPr>
          <a:xfrm>
            <a:off x="7863840" y="3255264"/>
            <a:ext cx="2377440" cy="512064"/>
          </a:xfrm>
          <a:prstGeom prst="trapezoid">
            <a:avLst/>
          </a:prstGeom>
          <a:solidFill>
            <a:srgbClr val="F4FAF6"/>
          </a:solidFill>
          <a:ln w="8890">
            <a:solidFill>
              <a:srgbClr val="487052"/>
            </a:solidFill>
            <a:prstDash val="solid"/>
          </a:ln>
        </p:spPr>
      </p:sp>
      <p:sp>
        <p:nvSpPr>
          <p:cNvPr id="32" name="Text 30"/>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3" name="Text 31"/>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此外，新能源车电池“天价”维修问题</a:t>
            </a:r>
            <a:endParaRPr lang="en-US" sz="66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扩展依据</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内容拆分为 3 段，超过合并页容量。</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内容拆分为 3 段，超过合并页容量。</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竞品观察 1/3</a:t>
            </a:r>
            <a:endParaRPr lang="en-US" sz="1080" dirty="0"/>
          </a:p>
        </p:txBody>
      </p:sp>
      <p:sp>
        <p:nvSpPr>
          <p:cNvPr id="13" name="Text 11"/>
          <p:cNvSpPr/>
          <p:nvPr/>
        </p:nvSpPr>
        <p:spPr>
          <a:xfrm>
            <a:off x="2487168" y="164592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三元正极材料方面，2026H1全球出货TOP10榜单发布，显示三元材料市场格局。钠电正极材料方面，安徽六安万吨级项目迎新动态，显示钠电产业化加速。全钒液流电池进入规模化爆发前夜，对磷酸铁锂在储能领域构成竞争。特斯拉在回收技术上的突破，可能改变其自身及行业对正极材料的采购策略。</a:t>
            </a:r>
            <a:endParaRPr lang="en-US" sz="78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依据：[11][2][7][5]</a:t>
            </a:r>
            <a:endParaRPr lang="en-US" sz="68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竞品观察 2/3</a:t>
            </a:r>
            <a:endParaRPr lang="en-US" sz="1080" dirty="0"/>
          </a:p>
        </p:txBody>
      </p:sp>
      <p:sp>
        <p:nvSpPr>
          <p:cNvPr id="17" name="Text 15"/>
          <p:cNvSpPr/>
          <p:nvPr/>
        </p:nvSpPr>
        <p:spPr>
          <a:xfrm>
            <a:off x="2487168" y="310896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[11][2][7][5] 分析：三元材料TOP10榜单，可作为磷酸铁锂市场份额变化的参照。钠电项目进展，表明其正在从实验室走向规模化，未来可能在低端储能和低速电动车领域与磷酸铁锂竞争。全钒液流电池在长时储能领域的优势，可能分流部分磷酸铁锂的储能订单。特斯拉回收技术，若其大规模自产再生材料，</a:t>
            </a:r>
            <a:endParaRPr lang="en-US" sz="780" dirty="0"/>
          </a:p>
        </p:txBody>
      </p:sp>
      <p:sp>
        <p:nvSpPr>
          <p:cNvPr id="18" name="Text 16"/>
          <p:cNvSpPr/>
          <p:nvPr/>
        </p:nvSpPr>
        <p:spPr>
          <a:xfrm>
            <a:off x="2487168" y="389534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依据：[11][2][7][5]</a:t>
            </a:r>
            <a:endParaRPr lang="en-US" sz="680" dirty="0"/>
          </a:p>
        </p:txBody>
      </p:sp>
      <p:sp>
        <p:nvSpPr>
          <p:cNvPr id="19" name="Shape 17"/>
          <p:cNvSpPr/>
          <p:nvPr/>
        </p:nvSpPr>
        <p:spPr>
          <a:xfrm>
            <a:off x="658368" y="4370832"/>
            <a:ext cx="6510528" cy="1207008"/>
          </a:xfrm>
          <a:prstGeom prst="roundRect">
            <a:avLst>
              <a:gd name="adj" fmla="val 6061"/>
            </a:avLst>
          </a:prstGeom>
          <a:solidFill>
            <a:srgbClr val="F4FAF6"/>
          </a:solidFill>
          <a:ln w="10160">
            <a:solidFill>
              <a:srgbClr val="DADADA"/>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竞品观察 3/3</a:t>
            </a:r>
            <a:endParaRPr lang="en-US" sz="1080" dirty="0"/>
          </a:p>
        </p:txBody>
      </p:sp>
      <p:sp>
        <p:nvSpPr>
          <p:cNvPr id="21" name="Text 19"/>
          <p:cNvSpPr/>
          <p:nvPr/>
        </p:nvSpPr>
        <p:spPr>
          <a:xfrm>
            <a:off x="2487168" y="457200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将减少对外部正极材料供应商的依赖，对现有供应链格局产生冲击。当前信息缺乏对三元、钠电、全钒液流电池与磷酸铁锂在具体应用场景下的成本、性能详细对比数据，需进一步调研。 推测：未使用推测</a:t>
            </a:r>
            <a:endParaRPr lang="en-US" sz="780" dirty="0"/>
          </a:p>
        </p:txBody>
      </p:sp>
      <p:sp>
        <p:nvSpPr>
          <p:cNvPr id="22" name="Text 20"/>
          <p:cNvSpPr/>
          <p:nvPr/>
        </p:nvSpPr>
        <p:spPr>
          <a:xfrm>
            <a:off x="2487168" y="535838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依据：[11][2][7][5]</a:t>
            </a:r>
            <a:endParaRPr lang="en-US" sz="680" dirty="0"/>
          </a:p>
        </p:txBody>
      </p:sp>
      <p:sp>
        <p:nvSpPr>
          <p:cNvPr id="23" name="Shape 21"/>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4" name="Text 22"/>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5" name="Shape 23"/>
          <p:cNvSpPr/>
          <p:nvPr/>
        </p:nvSpPr>
        <p:spPr>
          <a:xfrm>
            <a:off x="7818120" y="2176272"/>
            <a:ext cx="2487168" cy="1609344"/>
          </a:xfrm>
          <a:prstGeom prst="rect">
            <a:avLst/>
          </a:prstGeom>
          <a:solidFill>
            <a:srgbClr val="FFFFFF"/>
          </a:solidFill>
          <a:ln w="10160">
            <a:solidFill>
              <a:srgbClr val="DADADA"/>
            </a:solidFill>
            <a:prstDash val="solid"/>
          </a:ln>
        </p:spPr>
      </p:sp>
      <p:sp>
        <p:nvSpPr>
          <p:cNvPr id="26" name="Shape 24"/>
          <p:cNvSpPr/>
          <p:nvPr/>
        </p:nvSpPr>
        <p:spPr>
          <a:xfrm>
            <a:off x="9061704" y="2176272"/>
            <a:ext cx="0" cy="1609344"/>
          </a:xfrm>
          <a:prstGeom prst="line">
            <a:avLst/>
          </a:prstGeom>
          <a:noFill/>
          <a:ln w="8890">
            <a:solidFill>
              <a:srgbClr val="DADADA"/>
            </a:solidFill>
            <a:prstDash val="solid"/>
          </a:ln>
        </p:spPr>
      </p:sp>
      <p:sp>
        <p:nvSpPr>
          <p:cNvPr id="27" name="Shape 25"/>
          <p:cNvSpPr/>
          <p:nvPr/>
        </p:nvSpPr>
        <p:spPr>
          <a:xfrm>
            <a:off x="7818120" y="2980944"/>
            <a:ext cx="2487168" cy="0"/>
          </a:xfrm>
          <a:prstGeom prst="line">
            <a:avLst/>
          </a:prstGeom>
          <a:noFill/>
          <a:ln w="8890">
            <a:solidFill>
              <a:srgbClr val="DADADA"/>
            </a:solidFill>
            <a:prstDash val="solid"/>
          </a:ln>
        </p:spPr>
      </p:sp>
      <p:sp>
        <p:nvSpPr>
          <p:cNvPr id="28" name="Shape 26"/>
          <p:cNvSpPr/>
          <p:nvPr/>
        </p:nvSpPr>
        <p:spPr>
          <a:xfrm>
            <a:off x="7818120" y="2176272"/>
            <a:ext cx="1243584" cy="804672"/>
          </a:xfrm>
          <a:prstGeom prst="rect">
            <a:avLst/>
          </a:prstGeom>
          <a:solidFill>
            <a:srgbClr val="DDEBE0"/>
          </a:solidFill>
          <a:ln w="3810">
            <a:solidFill>
              <a:srgbClr val="DADADA"/>
            </a:solidFill>
            <a:prstDash val="solid"/>
          </a:ln>
        </p:spPr>
      </p:sp>
      <p:sp>
        <p:nvSpPr>
          <p:cNvPr id="29" name="Text 27"/>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30" name="Text 28"/>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三元正极材料方面，2026</a:t>
            </a:r>
            <a:endParaRPr lang="en-US" sz="670" dirty="0"/>
          </a:p>
        </p:txBody>
      </p:sp>
      <p:sp>
        <p:nvSpPr>
          <p:cNvPr id="31" name="Shape 29"/>
          <p:cNvSpPr/>
          <p:nvPr/>
        </p:nvSpPr>
        <p:spPr>
          <a:xfrm>
            <a:off x="9061704" y="2176272"/>
            <a:ext cx="1243584" cy="804672"/>
          </a:xfrm>
          <a:prstGeom prst="rect">
            <a:avLst/>
          </a:prstGeom>
          <a:solidFill>
            <a:srgbClr val="FFFFFF"/>
          </a:solidFill>
          <a:ln w="3810">
            <a:solidFill>
              <a:srgbClr val="DADADA"/>
            </a:solidFill>
            <a:prstDash val="solid"/>
          </a:ln>
        </p:spPr>
      </p:sp>
      <p:sp>
        <p:nvSpPr>
          <p:cNvPr id="32" name="Text 30"/>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3" name="Text 31"/>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钠电正极材料方面，安徽六安</a:t>
            </a:r>
            <a:endParaRPr lang="en-US" sz="670" dirty="0"/>
          </a:p>
        </p:txBody>
      </p:sp>
      <p:sp>
        <p:nvSpPr>
          <p:cNvPr id="34" name="Shape 32"/>
          <p:cNvSpPr/>
          <p:nvPr/>
        </p:nvSpPr>
        <p:spPr>
          <a:xfrm>
            <a:off x="7818120" y="2980944"/>
            <a:ext cx="1243584" cy="804672"/>
          </a:xfrm>
          <a:prstGeom prst="rect">
            <a:avLst/>
          </a:prstGeom>
          <a:solidFill>
            <a:srgbClr val="FFFFFF"/>
          </a:solidFill>
          <a:ln w="3810">
            <a:solidFill>
              <a:srgbClr val="DADADA"/>
            </a:solidFill>
            <a:prstDash val="solid"/>
          </a:ln>
        </p:spPr>
      </p:sp>
      <p:sp>
        <p:nvSpPr>
          <p:cNvPr id="35" name="Text 33"/>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6" name="Text 34"/>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全钒液流电池进入规模化爆发</a:t>
            </a:r>
            <a:endParaRPr lang="en-US" sz="670" dirty="0"/>
          </a:p>
        </p:txBody>
      </p:sp>
      <p:sp>
        <p:nvSpPr>
          <p:cNvPr id="37" name="Shape 35"/>
          <p:cNvSpPr/>
          <p:nvPr/>
        </p:nvSpPr>
        <p:spPr>
          <a:xfrm>
            <a:off x="9061704" y="2980944"/>
            <a:ext cx="1243584" cy="804672"/>
          </a:xfrm>
          <a:prstGeom prst="rect">
            <a:avLst/>
          </a:prstGeom>
          <a:solidFill>
            <a:srgbClr val="F4FAF6"/>
          </a:solidFill>
          <a:ln w="3810">
            <a:solidFill>
              <a:srgbClr val="DADADA"/>
            </a:solidFill>
            <a:prstDash val="solid"/>
          </a:ln>
        </p:spPr>
      </p:sp>
      <p:sp>
        <p:nvSpPr>
          <p:cNvPr id="38" name="Text 36"/>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9" name="Text 37"/>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三元正极材料方面，2026</a:t>
            </a:r>
            <a:endParaRPr lang="en-US" sz="670" dirty="0"/>
          </a:p>
        </p:txBody>
      </p:sp>
      <p:sp>
        <p:nvSpPr>
          <p:cNvPr id="40" name="Text 38"/>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1" name="Shape 39"/>
          <p:cNvSpPr/>
          <p:nvPr/>
        </p:nvSpPr>
        <p:spPr>
          <a:xfrm>
            <a:off x="658368" y="5779008"/>
            <a:ext cx="1463040" cy="292608"/>
          </a:xfrm>
          <a:prstGeom prst="rect">
            <a:avLst/>
          </a:prstGeom>
          <a:solidFill>
            <a:srgbClr val="121212"/>
          </a:solidFill>
          <a:ln w="12700">
            <a:solidFill>
              <a:srgbClr val="121212"/>
            </a:solidFill>
            <a:prstDash val="solid"/>
          </a:ln>
        </p:spPr>
      </p:sp>
      <p:sp>
        <p:nvSpPr>
          <p:cNvPr id="42" name="Text 40"/>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扩展依据</a:t>
            </a:r>
            <a:endParaRPr lang="en-US" sz="780" dirty="0"/>
          </a:p>
        </p:txBody>
      </p:sp>
      <p:sp>
        <p:nvSpPr>
          <p:cNvPr id="43" name="Text 41"/>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内容拆分为 3 段，超过合并页容量。</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内容拆分为 3 段，超过合并页容量。</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风险/机会/观察 1/3</a:t>
            </a:r>
            <a:endParaRPr lang="en-US" sz="1080" dirty="0"/>
          </a:p>
        </p:txBody>
      </p:sp>
      <p:sp>
        <p:nvSpPr>
          <p:cNvPr id="13" name="Text 11"/>
          <p:cNvSpPr/>
          <p:nvPr/>
        </p:nvSpPr>
        <p:spPr>
          <a:xfrm>
            <a:off x="2487168" y="164592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风险：产能过剩加剧价格战，压缩行业利润；回收技术突破可能改变资源需求格局；钠电、全钒液流等替代技术加速。机会：电池回收政策推动，利好具备回收技术和渠道的企业；维修权法规可能催生第三方售后市场；储能市场增长为磷酸铁锂提供增量。观察点：龙蟠科技、贵阳项目投产进度及对市场供需的实际影响；</a:t>
            </a:r>
            <a:endParaRPr lang="en-US" sz="78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依据：[1][2][5][10]</a:t>
            </a:r>
            <a:endParaRPr lang="en-US" sz="68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风险/机会/观察 2/3</a:t>
            </a:r>
            <a:endParaRPr lang="en-US" sz="1080" dirty="0"/>
          </a:p>
        </p:txBody>
      </p:sp>
      <p:sp>
        <p:nvSpPr>
          <p:cNvPr id="17" name="Text 15"/>
          <p:cNvSpPr/>
          <p:nvPr/>
        </p:nvSpPr>
        <p:spPr>
          <a:xfrm>
            <a:off x="2487168" y="310896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特斯拉回收技术量产时间表及成本；国内维修权立法进展。 [1][2][5][10] 分析：当前信息显示，行业处于“扩产竞赛”与“技术路线分化”的关键节点。风险与机会并存：产能过剩是短期主要风险，但回收和维修权可能带来结构性机会。观察点需聚焦于：1）新项目实际投产节奏，若低于预期，价格压力可能缓解；</a:t>
            </a:r>
            <a:endParaRPr lang="en-US" sz="780" dirty="0"/>
          </a:p>
        </p:txBody>
      </p:sp>
      <p:sp>
        <p:nvSpPr>
          <p:cNvPr id="18" name="Text 16"/>
          <p:cNvSpPr/>
          <p:nvPr/>
        </p:nvSpPr>
        <p:spPr>
          <a:xfrm>
            <a:off x="2487168" y="389534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依据：[1][2][5][10]</a:t>
            </a:r>
            <a:endParaRPr lang="en-US" sz="680" dirty="0"/>
          </a:p>
        </p:txBody>
      </p:sp>
      <p:sp>
        <p:nvSpPr>
          <p:cNvPr id="19" name="Shape 17"/>
          <p:cNvSpPr/>
          <p:nvPr/>
        </p:nvSpPr>
        <p:spPr>
          <a:xfrm>
            <a:off x="658368" y="4370832"/>
            <a:ext cx="6510528" cy="1207008"/>
          </a:xfrm>
          <a:prstGeom prst="roundRect">
            <a:avLst>
              <a:gd name="adj" fmla="val 6061"/>
            </a:avLst>
          </a:prstGeom>
          <a:solidFill>
            <a:srgbClr val="F4FAF6"/>
          </a:solidFill>
          <a:ln w="10160">
            <a:solidFill>
              <a:srgbClr val="DADADA"/>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风险/机会/观察 3/3</a:t>
            </a:r>
            <a:endParaRPr lang="en-US" sz="1080" dirty="0"/>
          </a:p>
        </p:txBody>
      </p:sp>
      <p:sp>
        <p:nvSpPr>
          <p:cNvPr id="21" name="Text 19"/>
          <p:cNvSpPr/>
          <p:nvPr/>
        </p:nvSpPr>
        <p:spPr>
          <a:xfrm>
            <a:off x="2487168" y="4572000"/>
            <a:ext cx="4315968" cy="731520"/>
          </a:xfrm>
          <a:prstGeom prst="rect">
            <a:avLst/>
          </a:prstGeom>
          <a:noFill/>
          <a:ln/>
        </p:spPr>
        <p:txBody>
          <a:bodyPr wrap="square" lIns="0" tIns="0" rIns="0" bIns="0" rtlCol="0" anchor="t">
            <a:normAutofit/>
          </a:bodyP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2）特斯拉回收技术若成本过高，短期影响有限；3）维修权立法若快速推进，将重塑售后市场。这些变量将决定行业未来走向。 推测：未使用推测</a:t>
            </a:r>
            <a:endParaRPr lang="en-US" sz="780" dirty="0"/>
          </a:p>
        </p:txBody>
      </p:sp>
      <p:sp>
        <p:nvSpPr>
          <p:cNvPr id="22" name="Text 20"/>
          <p:cNvSpPr/>
          <p:nvPr/>
        </p:nvSpPr>
        <p:spPr>
          <a:xfrm>
            <a:off x="2487168" y="5358384"/>
            <a:ext cx="3931920" cy="128016"/>
          </a:xfrm>
          <a:prstGeom prst="rect">
            <a:avLst/>
          </a:prstGeom>
          <a:noFill/>
          <a:ln/>
        </p:spPr>
        <p:txBody>
          <a:bodyPr wrap="square" lIns="0" tIns="0" rIns="0" bIns="0" rtlCol="0" anchor="ctr">
            <a:normAutofit/>
          </a:bodyPr>
          <a:lstStyle/>
          <a:p>
            <a:pPr indent="0" marL="0">
              <a:buNone/>
            </a:pPr>
            <a:r>
              <a:rPr lang="en-US" sz="680" dirty="0">
                <a:solidFill>
                  <a:srgbClr val="487052"/>
                </a:solidFill>
                <a:latin typeface="Aptos" pitchFamily="34" charset="0"/>
                <a:ea typeface="Aptos" pitchFamily="34" charset="-122"/>
                <a:cs typeface="Aptos" pitchFamily="34" charset="-120"/>
              </a:rPr>
              <a:t>依据：[1][2][5][10]</a:t>
            </a:r>
            <a:endParaRPr lang="en-US" sz="680" dirty="0"/>
          </a:p>
        </p:txBody>
      </p:sp>
      <p:sp>
        <p:nvSpPr>
          <p:cNvPr id="23" name="Shape 21"/>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4" name="Text 22"/>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5" name="Shape 23"/>
          <p:cNvSpPr/>
          <p:nvPr/>
        </p:nvSpPr>
        <p:spPr>
          <a:xfrm>
            <a:off x="7818120" y="2176272"/>
            <a:ext cx="2487168" cy="1609344"/>
          </a:xfrm>
          <a:prstGeom prst="rect">
            <a:avLst/>
          </a:prstGeom>
          <a:solidFill>
            <a:srgbClr val="FFFFFF"/>
          </a:solidFill>
          <a:ln w="10160">
            <a:solidFill>
              <a:srgbClr val="DADADA"/>
            </a:solidFill>
            <a:prstDash val="solid"/>
          </a:ln>
        </p:spPr>
      </p:sp>
      <p:sp>
        <p:nvSpPr>
          <p:cNvPr id="26" name="Shape 24"/>
          <p:cNvSpPr/>
          <p:nvPr/>
        </p:nvSpPr>
        <p:spPr>
          <a:xfrm>
            <a:off x="9061704" y="2176272"/>
            <a:ext cx="0" cy="1609344"/>
          </a:xfrm>
          <a:prstGeom prst="line">
            <a:avLst/>
          </a:prstGeom>
          <a:noFill/>
          <a:ln w="8890">
            <a:solidFill>
              <a:srgbClr val="DADADA"/>
            </a:solidFill>
            <a:prstDash val="solid"/>
          </a:ln>
        </p:spPr>
      </p:sp>
      <p:sp>
        <p:nvSpPr>
          <p:cNvPr id="27" name="Shape 25"/>
          <p:cNvSpPr/>
          <p:nvPr/>
        </p:nvSpPr>
        <p:spPr>
          <a:xfrm>
            <a:off x="7818120" y="2980944"/>
            <a:ext cx="2487168" cy="0"/>
          </a:xfrm>
          <a:prstGeom prst="line">
            <a:avLst/>
          </a:prstGeom>
          <a:noFill/>
          <a:ln w="8890">
            <a:solidFill>
              <a:srgbClr val="DADADA"/>
            </a:solidFill>
            <a:prstDash val="solid"/>
          </a:ln>
        </p:spPr>
      </p:sp>
      <p:sp>
        <p:nvSpPr>
          <p:cNvPr id="28" name="Shape 26"/>
          <p:cNvSpPr/>
          <p:nvPr/>
        </p:nvSpPr>
        <p:spPr>
          <a:xfrm>
            <a:off x="7818120" y="2176272"/>
            <a:ext cx="1243584" cy="804672"/>
          </a:xfrm>
          <a:prstGeom prst="rect">
            <a:avLst/>
          </a:prstGeom>
          <a:solidFill>
            <a:srgbClr val="DDEBE0"/>
          </a:solidFill>
          <a:ln w="3810">
            <a:solidFill>
              <a:srgbClr val="DADADA"/>
            </a:solidFill>
            <a:prstDash val="solid"/>
          </a:ln>
        </p:spPr>
      </p:sp>
      <p:sp>
        <p:nvSpPr>
          <p:cNvPr id="29" name="Text 27"/>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30" name="Text 28"/>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风险：产能过剩加剧价格战，</a:t>
            </a:r>
            <a:endParaRPr lang="en-US" sz="670" dirty="0"/>
          </a:p>
        </p:txBody>
      </p:sp>
      <p:sp>
        <p:nvSpPr>
          <p:cNvPr id="31" name="Shape 29"/>
          <p:cNvSpPr/>
          <p:nvPr/>
        </p:nvSpPr>
        <p:spPr>
          <a:xfrm>
            <a:off x="9061704" y="2176272"/>
            <a:ext cx="1243584" cy="804672"/>
          </a:xfrm>
          <a:prstGeom prst="rect">
            <a:avLst/>
          </a:prstGeom>
          <a:solidFill>
            <a:srgbClr val="FFFFFF"/>
          </a:solidFill>
          <a:ln w="3810">
            <a:solidFill>
              <a:srgbClr val="DADADA"/>
            </a:solidFill>
            <a:prstDash val="solid"/>
          </a:ln>
        </p:spPr>
      </p:sp>
      <p:sp>
        <p:nvSpPr>
          <p:cNvPr id="32" name="Text 30"/>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3" name="Text 31"/>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回收技术突破可能改变资源需</a:t>
            </a:r>
            <a:endParaRPr lang="en-US" sz="670" dirty="0"/>
          </a:p>
        </p:txBody>
      </p:sp>
      <p:sp>
        <p:nvSpPr>
          <p:cNvPr id="34" name="Shape 32"/>
          <p:cNvSpPr/>
          <p:nvPr/>
        </p:nvSpPr>
        <p:spPr>
          <a:xfrm>
            <a:off x="7818120" y="2980944"/>
            <a:ext cx="1243584" cy="804672"/>
          </a:xfrm>
          <a:prstGeom prst="rect">
            <a:avLst/>
          </a:prstGeom>
          <a:solidFill>
            <a:srgbClr val="FFFFFF"/>
          </a:solidFill>
          <a:ln w="3810">
            <a:solidFill>
              <a:srgbClr val="DADADA"/>
            </a:solidFill>
            <a:prstDash val="solid"/>
          </a:ln>
        </p:spPr>
      </p:sp>
      <p:sp>
        <p:nvSpPr>
          <p:cNvPr id="35" name="Text 33"/>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6" name="Text 34"/>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钠电、全钒液流等替代技术加速</a:t>
            </a:r>
            <a:endParaRPr lang="en-US" sz="670" dirty="0"/>
          </a:p>
        </p:txBody>
      </p:sp>
      <p:sp>
        <p:nvSpPr>
          <p:cNvPr id="37" name="Shape 35"/>
          <p:cNvSpPr/>
          <p:nvPr/>
        </p:nvSpPr>
        <p:spPr>
          <a:xfrm>
            <a:off x="9061704" y="2980944"/>
            <a:ext cx="1243584" cy="804672"/>
          </a:xfrm>
          <a:prstGeom prst="rect">
            <a:avLst/>
          </a:prstGeom>
          <a:solidFill>
            <a:srgbClr val="F4FAF6"/>
          </a:solidFill>
          <a:ln w="3810">
            <a:solidFill>
              <a:srgbClr val="DADADA"/>
            </a:solidFill>
            <a:prstDash val="solid"/>
          </a:ln>
        </p:spPr>
      </p:sp>
      <p:sp>
        <p:nvSpPr>
          <p:cNvPr id="38" name="Text 36"/>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9" name="Text 37"/>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风险：产能过剩加剧价格战，</a:t>
            </a:r>
            <a:endParaRPr lang="en-US" sz="670" dirty="0"/>
          </a:p>
        </p:txBody>
      </p:sp>
      <p:sp>
        <p:nvSpPr>
          <p:cNvPr id="40" name="Text 38"/>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1" name="Shape 39"/>
          <p:cNvSpPr/>
          <p:nvPr/>
        </p:nvSpPr>
        <p:spPr>
          <a:xfrm>
            <a:off x="658368" y="5779008"/>
            <a:ext cx="1463040" cy="292608"/>
          </a:xfrm>
          <a:prstGeom prst="rect">
            <a:avLst/>
          </a:prstGeom>
          <a:solidFill>
            <a:srgbClr val="121212"/>
          </a:solidFill>
          <a:ln w="12700">
            <a:solidFill>
              <a:srgbClr val="121212"/>
            </a:solidFill>
            <a:prstDash val="solid"/>
          </a:ln>
        </p:spPr>
      </p:sp>
      <p:sp>
        <p:nvSpPr>
          <p:cNvPr id="42" name="Text 40"/>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扩展依据</a:t>
            </a:r>
            <a:endParaRPr lang="en-US" sz="780" dirty="0"/>
          </a:p>
        </p:txBody>
      </p:sp>
      <p:sp>
        <p:nvSpPr>
          <p:cNvPr id="43" name="Text 41"/>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内容拆分为 3 段，超过合并页容量。</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总投资10亿元 ，龙蟠科技旗下山东锂源11万吨高性能磷酸铁锂试产 - </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https://news.google.com/rss/articles/CBMiYEFVX3lxTE9lLWZHX2hlMDV3WS1Da1JnbnJ6bG9kNFlQZVh4cEJjeXVCUWtGVE52T3NYc0ZSRFRld1dxQzhIYlpKM1lyUkpxYmVwN3dYWWhxb0ZWckhrR1pEdTJRTkNLcA?oc=5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正极材料周报丨贵州贵阳拟新建60万吨高压实磷酸铁锂项目！安徽六安万吨级</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https://news.google.com/rss/articles/CBMihAFBVV95cUxQbG9FamNfSmxzTzRNNE1fU2FWYXREbElQWWlFMXFreDR2X2pIR3V5ZGpzbHkwV1RYckFDRkRwdXFpMUdoa3NLMGZZSU8wblNCaUdPYkRMLVBoZ3JlaXNtWUtmOHdmZ210S2pIQndxYjdhbnVrY1AycnNoMEdpVDBhU2RQYWU?oc=5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电池材料分会——磷酸铁锂6月报！ - 手机网易网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https://news.google.com/rss/articles/CBMiYkFVX3lxTFBuRm82ZFBwc1lCWExGX2J0R0ZZTTFESzZncFh4STRsc1o3Vi04UHBGZzRmSjI3LU1Tdjh5VXltUlF4ZFJfcm81MEhfWWN4WlBPbGFwZHdDYjhoakQxQmRaZ01R?oc=5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比亚迪插电式混动新车申报：搭磷酸铁锂 能否搅动家轿市场？ - 新浪财经</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https://news.google.com/rss/articles/CBMihwFBVV95cUxQdDZLdGNUbXRROGdmVHNFTFh4UTJ6UldDekEwQ1VjNTR2cmtwYzlWeTRwUThkRW4tSFlDZnpRbGIyX2hXTVZoaVQ4MnRxeC0zbnd4RkJDdTlHeENIdWJhNmc2V3lEdm9tNVFyUDhpUnV5NTNTTEh5X3dHXzduQzhNV1VLZVpodkE?oc=5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动力电池回收技术进展，特斯拉90%再生材料利用率方案解读 - 网通社</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https://news.google.com/rss/articles/CBMiW0FVX3lxTE1iSENjMTRjcms5TkNDaHBOUGJDNjlDejB6Qm13d2Ftc2hNWjhBWHI1WjFncjRDNnh6cGQ1alhPZERFN09wNUQ4R29hdWlzSTRGaXppY0g5ZVpBREE?oc=5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起底新能源车电池“天价”维修</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http://m.cyol.com/gb/auto/articles/2026-07/14/content_Ka7J32UzvM.html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长时储能“安全王牌”：全钒液流电池产业进入规模化爆发前夜</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https://www.163.com/dy/article/L1Q8KI3P0518WMF4.html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福田纯电动栏板货车申报：续航实用 能否成城配新选择？</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http://finance.sina.cn/2026-07-13/detail-inihsist7409262.d.html?cre=tianyi&amp;mod=wlocal&amp;loc=7&amp;r=0&amp;rfunc=97&amp;tj=cxvertical_wlocal&amp;tr=1047&amp;pos=362</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光大期货：7月14日有色金属日报</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https://finance.sina.cn/futuremarket/qsyw/2026-07-14/detail-inihtrnk8603088.d.html?vt=4&amp;cid=76576&amp;node_id=76576</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美国FTC与约翰迪尔达成维修权和解，对中国新能源车维修权有何影响？</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https://m.huxiu.com/article/4874889.html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2026H1全球锂电池三元正极材料出货TOP10 - 新浪网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https://news.google.com/rss/articles/CBMickFVX3lxTFBPM3dHOEIxbkZXaC1peTBLLVg2RzEwbS0xUTZ5M0xUTTAxbG83UVVwOW9QSHV0bl9iWmlkM2dVTlp6bVlrRWpxUWkzbk93NUg3VUtqVERpYXpSQW1BU3RQSDFIRU1URzJhVnJBcUFpUFdLUQ?oc=5</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【正极材料周报】贵州毕节百万吨级磷酸铁锂项目刷新进展！宁德时代三元材料</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https://www.itdcw.com/news/dczk/0F61564b2026.html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12</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【正极材料周报】贵州贵阳拟新建60万吨高压实磷酸铁锂项目！安徽六安万吨</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https://www.itdcw.com/news/dczk/0G315B502026.html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三部门关于组织实施2026年首台（套）重大技术装备保险补偿政策的通知</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http://www.miit.gov.cn/zwgk/zcwj/wjfb/tz/art/2026/art_fefca99ac5934ebd905b2232e417e317.html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公开征求《车用动力电池拆解破碎安全要求》等两项强制性国家标准的意见</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https://www.miit.gov.cn/gzcy/yjzj/art/2026/art_6ee188a6acf34735a568af7ebdc507b5.html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2026-07-14</dc:title>
  <dc:subject>LFP daily briefing</dc:subject>
  <dc:creator>lifepo4_brief</dc:creator>
  <cp:lastModifiedBy>lifepo4_brief</cp:lastModifiedBy>
  <cp:revision>1</cp:revision>
  <dcterms:created xsi:type="dcterms:W3CDTF">2026-07-14T06:40:49Z</dcterms:created>
  <dcterms:modified xsi:type="dcterms:W3CDTF">2026-07-14T06:40:49Z</dcterms:modified>
</cp:coreProperties>
</file>