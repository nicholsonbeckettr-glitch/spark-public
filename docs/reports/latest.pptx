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LFP DAILY 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2026-07-07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0080" y="1051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LFP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" y="148132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21762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从公开事件到产业判断的每日工程化筛选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2761488"/>
            <a:ext cx="5715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磷酸铁锂行业呈现“扩产分化、技术升级、政策趋严”三大特征。多氟多发布同体积容量破纪录的大圆柱换电方案，技术路线向高能量密度演进；贵州毕节百万吨级项目一期8月投产，但川发龙蟒10万吨项目被叫停，产能扩张出现分化。碳酸锂期货引入境外交易者，价格波动风险增加。工信部加大固态电池材料攻关，并发布动力电池拆解安全国标征求意见，合规门槛提升。欧盟黑粉出口禁令倒计时，全球回收贸易格局面临重塑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0" y="960120"/>
            <a:ext cx="3886200" cy="4526280"/>
          </a:xfrm>
          <a:prstGeom prst="rect">
            <a:avLst/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07808" y="1188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今日逻辑主线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82128" y="1755648"/>
            <a:ext cx="0" cy="3090672"/>
          </a:xfrm>
          <a:prstGeom prst="line">
            <a:avLst/>
          </a:prstGeom>
          <a:noFill/>
          <a:ln w="15240">
            <a:solidFill>
              <a:srgbClr val="7F9D8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90688" y="1700784"/>
            <a:ext cx="182880" cy="182880"/>
          </a:xfrm>
          <a:prstGeom prst="ellipse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83880" y="1627632"/>
            <a:ext cx="2514600" cy="365760"/>
          </a:xfrm>
          <a:prstGeom prst="rect">
            <a:avLst/>
          </a:prstGeom>
          <a:solidFill>
            <a:srgbClr val="DDEBE0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1709928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技术突破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790688" y="2267712"/>
            <a:ext cx="182880" cy="182880"/>
          </a:xfrm>
          <a:prstGeom prst="ellipse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3880" y="2194560"/>
            <a:ext cx="2514600" cy="365760"/>
          </a:xfrm>
          <a:prstGeom prst="rect">
            <a:avLst/>
          </a:prstGeom>
          <a:solidFill>
            <a:srgbClr val="DDEBE0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2276856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产能变化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7790688" y="2834640"/>
            <a:ext cx="182880" cy="182880"/>
          </a:xfrm>
          <a:prstGeom prst="ellipse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3880" y="2761488"/>
            <a:ext cx="2514600" cy="365760"/>
          </a:xfrm>
          <a:prstGeom prst="rect">
            <a:avLst/>
          </a:prstGeom>
          <a:solidFill>
            <a:srgbClr val="DDEBE0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2843784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政策合规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790688" y="340156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3328416"/>
            <a:ext cx="2514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1040" y="341071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企业信号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7790688" y="3968496"/>
            <a:ext cx="182880" cy="182880"/>
          </a:xfrm>
          <a:prstGeom prst="ellipse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83880" y="3895344"/>
            <a:ext cx="2514600" cy="365760"/>
          </a:xfrm>
          <a:prstGeom prst="rect">
            <a:avLst/>
          </a:prstGeom>
          <a:solidFill>
            <a:srgbClr val="DDEBE0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97764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风险机会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7790688" y="4535424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83880" y="4462272"/>
            <a:ext cx="251460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DADA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4544568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来源索引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今日磷酸铁锂行业呈现“扩产分化、技术升级、政策趋严”三大特征。多氟多发布同体积容量破纪录的大圆柱换电方案，技术路线向高能量密度演进；贵州毕节百</a:t>
            </a:r>
            <a:endParaRPr lang="en-US" sz="10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2026-07-07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今日总览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6656" y="1572768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磷酸铁锂行业呈现“扩产分化、技术升级、政策趋严”三大特征。多氟多发布同体积容量破纪录的大圆柱换电方案，技术路线向高能量密度演进；贵州毕节百万吨级项目一期8月投产，但川发龙蟒10万吨项目被叫停，产能扩张出现分化。碳酸锂期货引入境外交易者，价格波动风险增加。工信部加大固态电池材料攻关，并发布动力电池拆解安全国标征求意见，合规门槛提升。欧盟黑粉出口禁令倒计时，全球回收贸易格局面临重塑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17720" y="1225296"/>
            <a:ext cx="2971800" cy="1481328"/>
          </a:xfrm>
          <a:prstGeom prst="rect">
            <a:avLst/>
          </a:prstGeom>
          <a:solidFill>
            <a:srgbClr val="F4FAF6"/>
          </a:solidFill>
          <a:ln w="8890">
            <a:solidFill>
              <a:srgbClr val="DADA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225296"/>
            <a:ext cx="329184" cy="148132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362456"/>
            <a:ext cx="146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120640" y="136245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今日结论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20640" y="1682496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进入分化期：头部企业如多氟多、协鑫锂电通过技术迭代（大圆柱、高压实）巩固优势，而部分项目（川发龙蟒10万吨）因市场压力被叫停。碳酸锂期货国际化加剧价格波动，企业需强化风险管理。政策端，工信部推动固态电池材料攻关和电池拆解安全标准，欧盟黑粉出口禁令将重塑回收格局。建议关注技术领先和全球化布局的企业，警惕产能过剩和合规风险。 [1][2][3][4][5][6]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120640" y="2368296"/>
            <a:ext cx="1920240" cy="73152"/>
          </a:xfrm>
          <a:prstGeom prst="rect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1225296"/>
            <a:ext cx="2971800" cy="1481328"/>
          </a:xfrm>
          <a:prstGeom prst="rect">
            <a:avLst/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2440" y="1225296"/>
            <a:ext cx="329184" cy="148132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3880" y="1362456"/>
            <a:ext cx="146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595360" y="136245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技术/产品路线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95360" y="1682496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向高能量密度和快充演进。多氟多发布大圆柱磷酸铁锂换电方案，实现同体积容量行业纪录突破，并采用通用化设计。协鑫锂电推出第五代高压实磷酸铁锂C18，主打高压实技术。工信部明确加大固态电池正负极材料、固态电解质攻关，推动下一代技术。磷酸锰铁锂（LMFP）因能量密度提升15%-20%成为热点，中应集团10万吨项目签约辽宁。 [1][7][4][8][9]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2368296"/>
            <a:ext cx="1920240" cy="73152"/>
          </a:xfrm>
          <a:prstGeom prst="rect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17720" y="3273552"/>
            <a:ext cx="2971800" cy="1481328"/>
          </a:xfrm>
          <a:prstGeom prst="rect">
            <a:avLst/>
          </a:prstGeom>
          <a:solidFill>
            <a:srgbClr val="F4FAF6"/>
          </a:solidFill>
          <a:ln w="8890">
            <a:solidFill>
              <a:srgbClr val="DADA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17720" y="3273552"/>
            <a:ext cx="329184" cy="148132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3410712"/>
            <a:ext cx="146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120640" y="341071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产能/客户/订单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20640" y="3730752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扩张出现分化。贵州毕节百万吨级磷酸铁锂项目一期预计8月投产，总投资73.23亿元；金川瑞翔拟募资37.8亿元加码50万吨产能，创业板IPO获受理。但川发龙蟒终止10万吨项目，显示部分企业因市场压力收缩。海外布局加速，厦钨新能拟在马来西亚建1万吨正极材料项目；美国首个车企全资磷酸铁锂电池工厂投产。 [10][11][2][12][13]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120640" y="4416552"/>
            <a:ext cx="1920240" cy="73152"/>
          </a:xfrm>
          <a:prstGeom prst="rect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92440" y="3273552"/>
            <a:ext cx="2971800" cy="1481328"/>
          </a:xfrm>
          <a:prstGeom prst="rect">
            <a:avLst/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3273552"/>
            <a:ext cx="329184" cy="148132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3410712"/>
            <a:ext cx="146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95360" y="341071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价格/盈利压力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595360" y="3730752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酸锂期货国际化（7月3日起引入境外交易者）将加剧价格波动，企业需加强风险管理。机构预测2026年供需紧平衡，产业链价格有回升空间，但二线企业仍普遍亏损。磷酸铁锂企业集体挺价，头部满产但行业整体盈利承压。瑞银大幅上调锂价预测，预计2026年碳酸锂达2.6万美元/吨。 [3][14][15]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595360" y="4416552"/>
            <a:ext cx="1920240" cy="73152"/>
          </a:xfrm>
          <a:prstGeom prst="rect">
            <a:avLst/>
          </a:prstGeom>
          <a:solidFill>
            <a:srgbClr val="487052"/>
          </a:solidFill>
          <a:ln w="12700">
            <a:solidFill>
              <a:srgbClr val="48705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总览结论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今日磷酸铁锂行业呈现“扩产分化、技术升级、政策趋严”三大特征。多氟多发布同体积容量破纪录的大圆柱换电方案，技术路线向高能量密度演进；贵州毕节百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SIGNALS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2026-07-07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重点板块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1371600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5361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今日结论 1/2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788920" y="1536192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进入分化期：头部企业如多氟多、协鑫锂电通过技术迭代（大圆柱、高压实）巩固优势，而部分项目（川发龙蟒10万吨）因市场压力被叫停。碳酸锂期货国际化加剧价格波动，企业需强化风险管理。政策端，工信部推动固态电池材料攻关和电池拆解安全标准，欧盟黑粉出口禁令将重塑回收格局。建议关注技术领先和全球化布局的企业，警惕产能过剩和合规风险。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2788920" y="232257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依据：[1][2][3][4][5][6]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658368" y="2889504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0540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今日结论 2/2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788920" y="3054096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[1][2][3][4][5][6] 推测：未使用推测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2788920" y="384048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依据：[1][2][3][4][5][6]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658368" y="4407408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技术/产品路线 1/2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88920" y="45720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向高能量密度和快充演进。多氟多发布大圆柱磷酸铁锂换电方案，实现同体积容量行业纪录突破，并采用通用化设计。协鑫锂电推出第五代高压实磷酸铁锂C18，主打高压实技术。工信部明确加大固态电池正负极材料、固态电解质攻关，推动下一代技术。磷酸锰铁锂（LMFP）因能量密度提升15%-20%成为热点，中应集团10万吨项目签约辽宁。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2788920" y="5358384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依据：[1][7][4][8][9]</a:t>
            </a:r>
            <a:endParaRPr lang="en-US" sz="740" dirty="0"/>
          </a:p>
        </p:txBody>
      </p:sp>
      <p:sp>
        <p:nvSpPr>
          <p:cNvPr id="22" name="Shape 20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分页规则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信息多的板块会自动拆成续页；正文保留引用编号，完整链接集中在来源索引。</a:t>
            </a:r>
            <a:endParaRPr lang="en-US" sz="1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SIGNALS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2026-07-07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重点板块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1371600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5361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技术/产品路线 2/2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788920" y="1536192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[1][7][4][8][9] 推测：未使用推测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2788920" y="232257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依据：[1][7][4][8][9]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658368" y="2889504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0540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产能/客户/订单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788920" y="3054096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能扩张出现分化。贵州毕节百万吨级磷酸铁锂项目一期预计8月投产，总投资73.23亿元；金川瑞翔拟募资37.8亿元加码50万吨产能，创业板IPO获受理。但川发龙蟒终止10万吨项目，显示部分企业因市场压力收缩。海外布局加速，厦钨新能拟在马来西亚建1万吨正极材料项目；美国首个车企全资磷酸铁锂电池工厂投产。 [10][11][2][12][13] 推测：未使用推测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2788920" y="384048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依据：[10][11][2][12][13]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658368" y="4407408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价格/盈利压力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88920" y="45720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酸锂期货国际化（7月3日起引入境外交易者）将加剧价格波动，企业需加强风险管理。机构预测2026年供需紧平衡，产业链价格有回升空间，但二线企业仍普遍亏损。磷酸铁锂企业集体挺价，头部满产但行业整体盈利承压。瑞银大幅上调锂价预测，预计2026年碳酸锂达2.6万美元/吨。 [3][14][15] 推测：未使用推测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2788920" y="5358384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依据：[3][14][15]</a:t>
            </a:r>
            <a:endParaRPr lang="en-US" sz="740" dirty="0"/>
          </a:p>
        </p:txBody>
      </p:sp>
      <p:sp>
        <p:nvSpPr>
          <p:cNvPr id="22" name="Shape 20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分页规则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信息多的板块会自动拆成续页；正文保留引用编号，完整链接集中在来源索引。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SIGNALS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2026-07-07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重点板块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1371600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5361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政策/合规风险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788920" y="1536192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趋严。工信部发布《车用动力电池拆解破碎安全要求》国标征求意见，提升回收合规门槛。七部门联合启动报废机动车非法回收拆解专项整治，动力电池流向监管升级。欧盟黑粉出口禁令将于2026年11月9日生效，全球锂电回收贸易格局面临重塑。国内2026年设备更新补贴已下达，2027年电池回收补贴备战开始。 [5][16][6][17] 推测：未使用推测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2788920" y="232257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依据：[5][16][6][17]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658368" y="2889504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0540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竞品观察 1/2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788920" y="3054096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企业加速技术迭代和全球化。宁德时代与福特技术授权模式推进美国工厂；赣锋锂电入选BNEF全球一级储能厂商，推出15000次循环电芯；协鑫锂电以“一步物理干法”获技术卓越奖，C18五代高压实产品亮相；当升科技荣登《财富》中国科技50强；万润新能获供应链卓越贡献奖。钠电方面，超威钠电安庆项目投产，NFPP正极技术获关注。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2788920" y="384048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依据：[13][18][19][20][21][22]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658368" y="4407408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竞品观察 2/2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88920" y="45720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[13][18][19][20][21][22] 推测：未使用推测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2788920" y="5358384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依据：[13][18][19][20][21][22]</a:t>
            </a:r>
            <a:endParaRPr lang="en-US" sz="740" dirty="0"/>
          </a:p>
        </p:txBody>
      </p:sp>
      <p:sp>
        <p:nvSpPr>
          <p:cNvPr id="22" name="Shape 20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分页规则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信息多的板块会自动拆成续页；正文保留引用编号，完整链接集中在来源索引。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SIGNALS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2026-07-07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重点板块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1371600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4FAF6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5361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风险/机会/观察 1/2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788920" y="1536192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：产能过剩导致项目叫停（如川发龙蟒）；碳酸锂价格波动加剧；欧盟黑粉出口禁令影响回收企业出海；二线企业持续亏损。机会：高压实、大圆柱等技术升级带来差异化竞争；储能需求爆发（欧盟22国承诺增30-35GW）；电池回收合规化利好龙头；固态电池等下一代技术布局。观察：贵州百万吨级项目投产进度；LMFP产业化放量节奏；海外政策变化。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2788920" y="232257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依据：[2][23][6][24]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658368" y="2889504"/>
            <a:ext cx="1088136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0160">
            <a:solidFill>
              <a:srgbClr val="DADA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0540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4870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风险/机会/观察 2/2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788920" y="3054096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[2][23][6][24] 推测：未使用推测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2788920" y="384048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依据：[2][23][6][24]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分页规则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信息多的板块会自动拆成续页；正文保留引用编号，完整链接集中在来源索引。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INDEX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2026-07-07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来源索引与可追溯性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566928" cy="310896"/>
          </a:xfrm>
          <a:prstGeom prst="rect">
            <a:avLst/>
          </a:prstGeom>
          <a:solidFill>
            <a:srgbClr val="121212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536192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1225296" y="1444752"/>
            <a:ext cx="1234440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1536192"/>
            <a:ext cx="1088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459736" y="1444752"/>
            <a:ext cx="3977640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32888" y="1536192"/>
            <a:ext cx="3831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437376" y="1444752"/>
            <a:ext cx="4645152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1536192"/>
            <a:ext cx="4498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58368" y="1755648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82880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[1]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261872" y="182880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中国电池网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487168" y="182880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同体积容量击穿行业纪录！多氟多两款大圆柱磷酸铁锂换电方案发布_电池网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510528" y="182880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https://www.itdcw.com/news/chanpinxinwen/06251562M2026.html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658368" y="2066544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213969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[2]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1261872" y="213969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公众号：动力电池ZM｜10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2487168" y="213969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公众号：动力电池ZM｜10万吨磷酸铁锂项目被叫停！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6510528" y="213969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https://mp.weixin.qq.com/s/LnH18MJGr6OtkonOTxk4ig</a:t>
            </a:r>
            <a:endParaRPr lang="en-US" sz="580" dirty="0"/>
          </a:p>
        </p:txBody>
      </p:sp>
      <p:sp>
        <p:nvSpPr>
          <p:cNvPr id="28" name="Shape 26"/>
          <p:cNvSpPr/>
          <p:nvPr/>
        </p:nvSpPr>
        <p:spPr>
          <a:xfrm>
            <a:off x="658368" y="2377440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24505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[3]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261872" y="245059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中国电池网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2487168" y="2450592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【正极材料周报】贵州毕节百万吨级磷酸铁锂项目刷新进展！宁德时代三元材料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6510528" y="245059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https://www.itdcw.com/news/dczk/0F61564b2026.html</a:t>
            </a:r>
            <a:endParaRPr lang="en-US" sz="580" dirty="0"/>
          </a:p>
        </p:txBody>
      </p:sp>
      <p:sp>
        <p:nvSpPr>
          <p:cNvPr id="33" name="Shape 31"/>
          <p:cNvSpPr/>
          <p:nvPr/>
        </p:nvSpPr>
        <p:spPr>
          <a:xfrm>
            <a:off x="658368" y="2688336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2761488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[4]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1261872" y="276148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公众号：锂电Plus｜工信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2487168" y="2761488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公众号：锂电Plus｜工信部：加大固态电池正负极材料、固态电解质攻关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6510528" y="276148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https://mp.weixin.qq.com/s/RcAYFnrXHEDsZVMmOY3jUw</a:t>
            </a:r>
            <a:endParaRPr lang="en-US" sz="580" dirty="0"/>
          </a:p>
        </p:txBody>
      </p:sp>
      <p:sp>
        <p:nvSpPr>
          <p:cNvPr id="38" name="Shape 36"/>
          <p:cNvSpPr/>
          <p:nvPr/>
        </p:nvSpPr>
        <p:spPr>
          <a:xfrm>
            <a:off x="658368" y="2999232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808" y="3072384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[5]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1261872" y="307238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工业和信息化部</a:t>
            </a:r>
            <a:endParaRPr lang="en-US" sz="680" dirty="0"/>
          </a:p>
        </p:txBody>
      </p:sp>
      <p:sp>
        <p:nvSpPr>
          <p:cNvPr id="41" name="Text 39"/>
          <p:cNvSpPr/>
          <p:nvPr/>
        </p:nvSpPr>
        <p:spPr>
          <a:xfrm>
            <a:off x="2487168" y="3072384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公开征求《车用动力电池拆解破碎安全要求》等两项强制性国家标准的意见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6510528" y="307238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https://www.miit.gov.cn/gzcy/yjzj/art/2026/art_6ee188a6acf34735a568af7ebdc507b5.html</a:t>
            </a:r>
            <a:endParaRPr lang="en-US" sz="580" dirty="0"/>
          </a:p>
        </p:txBody>
      </p:sp>
      <p:sp>
        <p:nvSpPr>
          <p:cNvPr id="43" name="Shape 41"/>
          <p:cNvSpPr/>
          <p:nvPr/>
        </p:nvSpPr>
        <p:spPr>
          <a:xfrm>
            <a:off x="658368" y="3310128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338328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[6]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1261872" y="338328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公众号：Mysteel动力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2487168" y="338328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公众号：Mysteel动力电池回收｜欧盟黑粉出口禁令倒计时：全球锂电回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6510528" y="338328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https://mp.weixin.qq.com/s/2ViyLHByi8TGnU6oFVn8pw</a:t>
            </a:r>
            <a:endParaRPr lang="en-US" sz="580" dirty="0"/>
          </a:p>
        </p:txBody>
      </p:sp>
      <p:sp>
        <p:nvSpPr>
          <p:cNvPr id="48" name="Shape 46"/>
          <p:cNvSpPr/>
          <p:nvPr/>
        </p:nvSpPr>
        <p:spPr>
          <a:xfrm>
            <a:off x="658368" y="3621024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369417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[7]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1261872" y="369417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公众号：PHY正极材料｜协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2487168" y="369417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公众号：PHY正极材料｜协鑫锂电C18第五代LFP亮相SNEC峰会，释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6510528" y="369417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https://mp.weixin.qq.com/s/TVkyNhi60jozHMXfv6KjUA</a:t>
            </a:r>
            <a:endParaRPr lang="en-US" sz="580" dirty="0"/>
          </a:p>
        </p:txBody>
      </p:sp>
      <p:sp>
        <p:nvSpPr>
          <p:cNvPr id="53" name="Shape 51"/>
          <p:cNvSpPr/>
          <p:nvPr/>
        </p:nvSpPr>
        <p:spPr>
          <a:xfrm>
            <a:off x="658368" y="3931920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400507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[8]</a:t>
            </a:r>
            <a:endParaRPr lang="en-US" sz="680" dirty="0"/>
          </a:p>
        </p:txBody>
      </p:sp>
      <p:sp>
        <p:nvSpPr>
          <p:cNvPr id="55" name="Text 53"/>
          <p:cNvSpPr/>
          <p:nvPr/>
        </p:nvSpPr>
        <p:spPr>
          <a:xfrm>
            <a:off x="1261872" y="400507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公众号：锂电行业动态｜26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2487168" y="4005072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公众号：锂电行业动态｜26亿！年产10万吨磷酸锰铁锂材料项目落户辽宁</a:t>
            </a:r>
            <a:endParaRPr lang="en-US" sz="680" dirty="0"/>
          </a:p>
        </p:txBody>
      </p:sp>
      <p:sp>
        <p:nvSpPr>
          <p:cNvPr id="57" name="Text 55"/>
          <p:cNvSpPr/>
          <p:nvPr/>
        </p:nvSpPr>
        <p:spPr>
          <a:xfrm>
            <a:off x="6510528" y="400507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https://mp.weixin.qq.com/s/LxqnDD8grMuV3aSbUDKgyw</a:t>
            </a:r>
            <a:endParaRPr lang="en-US" sz="580" dirty="0"/>
          </a:p>
        </p:txBody>
      </p:sp>
      <p:sp>
        <p:nvSpPr>
          <p:cNvPr id="58" name="Shape 56"/>
          <p:cNvSpPr/>
          <p:nvPr/>
        </p:nvSpPr>
        <p:spPr>
          <a:xfrm>
            <a:off x="658368" y="4242816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49808" y="4315968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[9]</a:t>
            </a:r>
            <a:endParaRPr lang="en-US" sz="680" dirty="0"/>
          </a:p>
        </p:txBody>
      </p:sp>
      <p:sp>
        <p:nvSpPr>
          <p:cNvPr id="60" name="Text 58"/>
          <p:cNvSpPr/>
          <p:nvPr/>
        </p:nvSpPr>
        <p:spPr>
          <a:xfrm>
            <a:off x="1261872" y="431596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公众号：锂电Plus｜我国</a:t>
            </a:r>
            <a:endParaRPr lang="en-US" sz="680" dirty="0"/>
          </a:p>
        </p:txBody>
      </p:sp>
      <p:sp>
        <p:nvSpPr>
          <p:cNvPr id="61" name="Text 59"/>
          <p:cNvSpPr/>
          <p:nvPr/>
        </p:nvSpPr>
        <p:spPr>
          <a:xfrm>
            <a:off x="2487168" y="4315968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公众号：锂电Plus｜我国磷酸锰铁锂技术专利分析与产业前景展望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6510528" y="431596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https://mp.weixin.qq.com/s/BDLWrLG8jbvba8_mtYKbew</a:t>
            </a:r>
            <a:endParaRPr lang="en-US" sz="580" dirty="0"/>
          </a:p>
        </p:txBody>
      </p:sp>
      <p:sp>
        <p:nvSpPr>
          <p:cNvPr id="63" name="Shape 61"/>
          <p:cNvSpPr/>
          <p:nvPr/>
        </p:nvSpPr>
        <p:spPr>
          <a:xfrm>
            <a:off x="658368" y="4553712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808" y="4626864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[10]</a:t>
            </a:r>
            <a:endParaRPr lang="en-US" sz="680" dirty="0"/>
          </a:p>
        </p:txBody>
      </p:sp>
      <p:sp>
        <p:nvSpPr>
          <p:cNvPr id="65" name="Text 63"/>
          <p:cNvSpPr/>
          <p:nvPr/>
        </p:nvSpPr>
        <p:spPr>
          <a:xfrm>
            <a:off x="1261872" y="462686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公众号：锂电行业动态｜总投</a:t>
            </a:r>
            <a:endParaRPr lang="en-US" sz="680" dirty="0"/>
          </a:p>
        </p:txBody>
      </p:sp>
      <p:sp>
        <p:nvSpPr>
          <p:cNvPr id="66" name="Text 64"/>
          <p:cNvSpPr/>
          <p:nvPr/>
        </p:nvSpPr>
        <p:spPr>
          <a:xfrm>
            <a:off x="2487168" y="4626864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公众号：锂电行业动态｜总投资73.23亿元！贵州毕节百万吨级磷酸铁锂项</a:t>
            </a:r>
            <a:endParaRPr lang="en-US" sz="680" dirty="0"/>
          </a:p>
        </p:txBody>
      </p:sp>
      <p:sp>
        <p:nvSpPr>
          <p:cNvPr id="67" name="Text 65"/>
          <p:cNvSpPr/>
          <p:nvPr/>
        </p:nvSpPr>
        <p:spPr>
          <a:xfrm>
            <a:off x="6510528" y="462686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https://mp.weixin.qq.com/s/T8NoqoIwc4eukgLynjThCA</a:t>
            </a:r>
            <a:endParaRPr lang="en-US" sz="580" dirty="0"/>
          </a:p>
        </p:txBody>
      </p:sp>
      <p:sp>
        <p:nvSpPr>
          <p:cNvPr id="68" name="Shape 66"/>
          <p:cNvSpPr/>
          <p:nvPr/>
        </p:nvSpPr>
        <p:spPr>
          <a:xfrm>
            <a:off x="658368" y="4864608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9808" y="493776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[11]</a:t>
            </a:r>
            <a:endParaRPr lang="en-US" sz="680" dirty="0"/>
          </a:p>
        </p:txBody>
      </p:sp>
      <p:sp>
        <p:nvSpPr>
          <p:cNvPr id="70" name="Text 68"/>
          <p:cNvSpPr/>
          <p:nvPr/>
        </p:nvSpPr>
        <p:spPr>
          <a:xfrm>
            <a:off x="1261872" y="493776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公众号：锂电行业动态｜拟募</a:t>
            </a:r>
            <a:endParaRPr lang="en-US" sz="680" dirty="0"/>
          </a:p>
        </p:txBody>
      </p:sp>
      <p:sp>
        <p:nvSpPr>
          <p:cNvPr id="71" name="Text 69"/>
          <p:cNvSpPr/>
          <p:nvPr/>
        </p:nvSpPr>
        <p:spPr>
          <a:xfrm>
            <a:off x="2487168" y="493776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公众号：锂电行业动态｜拟募资37.8亿元加码50万吨磷酸铁锂产能！金川</a:t>
            </a:r>
            <a:endParaRPr lang="en-US" sz="680" dirty="0"/>
          </a:p>
        </p:txBody>
      </p:sp>
      <p:sp>
        <p:nvSpPr>
          <p:cNvPr id="72" name="Text 70"/>
          <p:cNvSpPr/>
          <p:nvPr/>
        </p:nvSpPr>
        <p:spPr>
          <a:xfrm>
            <a:off x="6510528" y="493776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https://mp.weixin.qq.com/s/Q_ZcGhqARBALMj5u7ZhNNw</a:t>
            </a:r>
            <a:endParaRPr lang="en-US" sz="580" dirty="0"/>
          </a:p>
        </p:txBody>
      </p:sp>
      <p:sp>
        <p:nvSpPr>
          <p:cNvPr id="73" name="Shape 71"/>
          <p:cNvSpPr/>
          <p:nvPr/>
        </p:nvSpPr>
        <p:spPr>
          <a:xfrm>
            <a:off x="658368" y="5175504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49808" y="524865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[12]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1261872" y="524865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公众号：锂电行业动态｜总投</a:t>
            </a:r>
            <a:endParaRPr lang="en-US" sz="680" dirty="0"/>
          </a:p>
        </p:txBody>
      </p:sp>
      <p:sp>
        <p:nvSpPr>
          <p:cNvPr id="76" name="Text 74"/>
          <p:cNvSpPr/>
          <p:nvPr/>
        </p:nvSpPr>
        <p:spPr>
          <a:xfrm>
            <a:off x="2487168" y="524865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公众号：锂电行业动态｜总投资4.5亿元！厦钨新能拟在马来西亚投建年产1</a:t>
            </a:r>
            <a:endParaRPr lang="en-US" sz="680" dirty="0"/>
          </a:p>
        </p:txBody>
      </p:sp>
      <p:sp>
        <p:nvSpPr>
          <p:cNvPr id="77" name="Text 75"/>
          <p:cNvSpPr/>
          <p:nvPr/>
        </p:nvSpPr>
        <p:spPr>
          <a:xfrm>
            <a:off x="6510528" y="524865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https://mp.weixin.qq.com/s/l7syIS-H-T1xvUKY3bqwdw</a:t>
            </a:r>
            <a:endParaRPr lang="en-US" sz="580" dirty="0"/>
          </a:p>
        </p:txBody>
      </p:sp>
      <p:sp>
        <p:nvSpPr>
          <p:cNvPr id="78" name="Shape 76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引用规则</a:t>
            </a:r>
            <a:endParaRPr lang="en-US" sz="780" dirty="0"/>
          </a:p>
        </p:txBody>
      </p:sp>
      <p:sp>
        <p:nvSpPr>
          <p:cNvPr id="80" name="Text 78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正文引用编号与本页来源一一对应，未进入正文的公开来源保留在 JSON 审计记录中。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143000" y="393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INDEX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0287000" y="3931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2026-07-07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10160">
            <a:solidFill>
              <a:srgbClr val="DADA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327648"/>
            <a:ext cx="11201400" cy="0"/>
          </a:xfrm>
          <a:prstGeom prst="line">
            <a:avLst/>
          </a:prstGeom>
          <a:noFill/>
          <a:ln w="8890">
            <a:solidFill>
              <a:srgbClr val="DADA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437376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磷酸铁锂行业早报｜公开来源自动生成｜仅作行业观察，不构成投资建议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1201400" y="641908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3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1143000" y="93268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来源索引与可追溯性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1444752"/>
            <a:ext cx="566928" cy="310896"/>
          </a:xfrm>
          <a:prstGeom prst="rect">
            <a:avLst/>
          </a:prstGeom>
          <a:solidFill>
            <a:srgbClr val="121212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536192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1225296" y="1444752"/>
            <a:ext cx="1234440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1536192"/>
            <a:ext cx="10881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459736" y="1444752"/>
            <a:ext cx="3977640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32888" y="1536192"/>
            <a:ext cx="3831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437376" y="1444752"/>
            <a:ext cx="4645152" cy="310896"/>
          </a:xfrm>
          <a:prstGeom prst="rect">
            <a:avLst/>
          </a:prstGeom>
          <a:solidFill>
            <a:srgbClr val="DDEBE0"/>
          </a:solidFill>
          <a:ln w="6350">
            <a:solidFill>
              <a:srgbClr val="DADA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1536192"/>
            <a:ext cx="4498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58368" y="1755648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82880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[13]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261872" y="182880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公众号：锂电Plus｜美国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487168" y="182880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公众号：锂电Plus｜美国首个由车企全资的磷酸铁锂电池工厂投产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510528" y="182880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https://mp.weixin.qq.com/s/HZGwuCl1muimY8T7K73m_Q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658368" y="2066544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213969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[14]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1261872" y="213969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公众号：新能源材料｜今日锂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2487168" y="213969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公众号：新能源材料｜今日锂电动态综述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6510528" y="213969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https://mp.weixin.qq.com/s/K1uhSOUF-Y-TBPH25L2WAg</a:t>
            </a:r>
            <a:endParaRPr lang="en-US" sz="580" dirty="0"/>
          </a:p>
        </p:txBody>
      </p:sp>
      <p:sp>
        <p:nvSpPr>
          <p:cNvPr id="28" name="Shape 26"/>
          <p:cNvSpPr/>
          <p:nvPr/>
        </p:nvSpPr>
        <p:spPr>
          <a:xfrm>
            <a:off x="658368" y="2377440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24505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[15]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261872" y="245059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公众号：磷酸铁钠NFPP电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2487168" y="2450592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公众号：磷酸铁钠NFPP电池产业基地｜磷酸铁锂“半壁江山”集体挺价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6510528" y="245059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https://mp.weixin.qq.com/s/SQxrgkUv1sAUSTlEY38rvA</a:t>
            </a:r>
            <a:endParaRPr lang="en-US" sz="580" dirty="0"/>
          </a:p>
        </p:txBody>
      </p:sp>
      <p:sp>
        <p:nvSpPr>
          <p:cNvPr id="33" name="Shape 31"/>
          <p:cNvSpPr/>
          <p:nvPr/>
        </p:nvSpPr>
        <p:spPr>
          <a:xfrm>
            <a:off x="658368" y="2688336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2761488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[16]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1261872" y="276148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公众号：动力电池ZM｜七部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2487168" y="2761488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公众号：动力电池ZM｜七部门联合出手！报废机动车非法回收拆解专项整治启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6510528" y="276148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https://mp.weixin.qq.com/s/O0DHCEfWX6GID9tg_PtaeA</a:t>
            </a:r>
            <a:endParaRPr lang="en-US" sz="580" dirty="0"/>
          </a:p>
        </p:txBody>
      </p:sp>
      <p:sp>
        <p:nvSpPr>
          <p:cNvPr id="38" name="Shape 36"/>
          <p:cNvSpPr/>
          <p:nvPr/>
        </p:nvSpPr>
        <p:spPr>
          <a:xfrm>
            <a:off x="658368" y="2999232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808" y="3072384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[17]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1261872" y="307238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公众号：Mysteel动力</a:t>
            </a:r>
            <a:endParaRPr lang="en-US" sz="680" dirty="0"/>
          </a:p>
        </p:txBody>
      </p:sp>
      <p:sp>
        <p:nvSpPr>
          <p:cNvPr id="41" name="Text 39"/>
          <p:cNvSpPr/>
          <p:nvPr/>
        </p:nvSpPr>
        <p:spPr>
          <a:xfrm>
            <a:off x="2487168" y="3072384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公众号：Mysteel动力电池回收｜2026年两批资金已全部下达，20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6510528" y="307238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https://mp.weixin.qq.com/s/_Vy09DJoQHdSecG8GIWo4A</a:t>
            </a:r>
            <a:endParaRPr lang="en-US" sz="580" dirty="0"/>
          </a:p>
        </p:txBody>
      </p:sp>
      <p:sp>
        <p:nvSpPr>
          <p:cNvPr id="43" name="Shape 41"/>
          <p:cNvSpPr/>
          <p:nvPr/>
        </p:nvSpPr>
        <p:spPr>
          <a:xfrm>
            <a:off x="658368" y="3310128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338328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[18]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1261872" y="338328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公众号：江西赣锋锂电科技股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2487168" y="338328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公众号：江西赣锋锂电科技股份有限公司｜赣锋锂电入选彭博新能源财经（BN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6510528" y="338328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https://mp.weixin.qq.com/s/Khf4S4AdWTyUQMs6JUR-4A</a:t>
            </a:r>
            <a:endParaRPr lang="en-US" sz="580" dirty="0"/>
          </a:p>
        </p:txBody>
      </p:sp>
      <p:sp>
        <p:nvSpPr>
          <p:cNvPr id="48" name="Shape 46"/>
          <p:cNvSpPr/>
          <p:nvPr/>
        </p:nvSpPr>
        <p:spPr>
          <a:xfrm>
            <a:off x="658368" y="3621024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369417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[19]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1261872" y="369417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公众号：PHY正极材料｜“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2487168" y="369417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公众号：PHY正极材料｜“一步”登顶！协鑫锂电一步物理干法荣膺“技术卓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6510528" y="369417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https://mp.weixin.qq.com/s/YF_FIO3hdrNlCK3l2RAdZg</a:t>
            </a:r>
            <a:endParaRPr lang="en-US" sz="580" dirty="0"/>
          </a:p>
        </p:txBody>
      </p:sp>
      <p:sp>
        <p:nvSpPr>
          <p:cNvPr id="53" name="Shape 51"/>
          <p:cNvSpPr/>
          <p:nvPr/>
        </p:nvSpPr>
        <p:spPr>
          <a:xfrm>
            <a:off x="658368" y="3931920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400507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[20]</a:t>
            </a:r>
            <a:endParaRPr lang="en-US" sz="680" dirty="0"/>
          </a:p>
        </p:txBody>
      </p:sp>
      <p:sp>
        <p:nvSpPr>
          <p:cNvPr id="55" name="Text 53"/>
          <p:cNvSpPr/>
          <p:nvPr/>
        </p:nvSpPr>
        <p:spPr>
          <a:xfrm>
            <a:off x="1261872" y="400507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公众号：当升科技｜矿冶集团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2487168" y="4005072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公众号：当升科技｜矿冶集团当升科技荣登2026年《财富》中国科技50强</a:t>
            </a:r>
            <a:endParaRPr lang="en-US" sz="680" dirty="0"/>
          </a:p>
        </p:txBody>
      </p:sp>
      <p:sp>
        <p:nvSpPr>
          <p:cNvPr id="57" name="Text 55"/>
          <p:cNvSpPr/>
          <p:nvPr/>
        </p:nvSpPr>
        <p:spPr>
          <a:xfrm>
            <a:off x="6510528" y="4005072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https://mp.weixin.qq.com/s/evX4irOq-Q5bdvjiNfiATg</a:t>
            </a:r>
            <a:endParaRPr lang="en-US" sz="580" dirty="0"/>
          </a:p>
        </p:txBody>
      </p:sp>
      <p:sp>
        <p:nvSpPr>
          <p:cNvPr id="58" name="Shape 56"/>
          <p:cNvSpPr/>
          <p:nvPr/>
        </p:nvSpPr>
        <p:spPr>
          <a:xfrm>
            <a:off x="658368" y="4242816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49808" y="4315968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[21]</a:t>
            </a:r>
            <a:endParaRPr lang="en-US" sz="680" dirty="0"/>
          </a:p>
        </p:txBody>
      </p:sp>
      <p:sp>
        <p:nvSpPr>
          <p:cNvPr id="60" name="Text 58"/>
          <p:cNvSpPr/>
          <p:nvPr/>
        </p:nvSpPr>
        <p:spPr>
          <a:xfrm>
            <a:off x="1261872" y="431596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公众号：万润新能源｜万润新</a:t>
            </a:r>
            <a:endParaRPr lang="en-US" sz="680" dirty="0"/>
          </a:p>
        </p:txBody>
      </p:sp>
      <p:sp>
        <p:nvSpPr>
          <p:cNvPr id="61" name="Text 59"/>
          <p:cNvSpPr/>
          <p:nvPr/>
        </p:nvSpPr>
        <p:spPr>
          <a:xfrm>
            <a:off x="2487168" y="4315968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公众号：万润新能源｜万润新能荣获【金锂杯】供应链卓越贡献奖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6510528" y="431596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https://mp.weixin.qq.com/s/xfhknGqQjDY7HFw1IM2few</a:t>
            </a:r>
            <a:endParaRPr lang="en-US" sz="580" dirty="0"/>
          </a:p>
        </p:txBody>
      </p:sp>
      <p:sp>
        <p:nvSpPr>
          <p:cNvPr id="63" name="Shape 61"/>
          <p:cNvSpPr/>
          <p:nvPr/>
        </p:nvSpPr>
        <p:spPr>
          <a:xfrm>
            <a:off x="658368" y="4553712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808" y="4626864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[22]</a:t>
            </a:r>
            <a:endParaRPr lang="en-US" sz="680" dirty="0"/>
          </a:p>
        </p:txBody>
      </p:sp>
      <p:sp>
        <p:nvSpPr>
          <p:cNvPr id="65" name="Text 63"/>
          <p:cNvSpPr/>
          <p:nvPr/>
        </p:nvSpPr>
        <p:spPr>
          <a:xfrm>
            <a:off x="1261872" y="462686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公众号：超威电池｜领跑两轮</a:t>
            </a:r>
            <a:endParaRPr lang="en-US" sz="680" dirty="0"/>
          </a:p>
        </p:txBody>
      </p:sp>
      <p:sp>
        <p:nvSpPr>
          <p:cNvPr id="66" name="Text 64"/>
          <p:cNvSpPr/>
          <p:nvPr/>
        </p:nvSpPr>
        <p:spPr>
          <a:xfrm>
            <a:off x="2487168" y="4626864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公众号：超威电池｜领跑两轮钠电行业新赛道！超威集团安庆钠离子电池一期项</a:t>
            </a:r>
            <a:endParaRPr lang="en-US" sz="680" dirty="0"/>
          </a:p>
        </p:txBody>
      </p:sp>
      <p:sp>
        <p:nvSpPr>
          <p:cNvPr id="67" name="Text 65"/>
          <p:cNvSpPr/>
          <p:nvPr/>
        </p:nvSpPr>
        <p:spPr>
          <a:xfrm>
            <a:off x="6510528" y="4626864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https://mp.weixin.qq.com/s/bkL_Aw5G9ANOdoltQN57Hw</a:t>
            </a:r>
            <a:endParaRPr lang="en-US" sz="580" dirty="0"/>
          </a:p>
        </p:txBody>
      </p:sp>
      <p:sp>
        <p:nvSpPr>
          <p:cNvPr id="68" name="Shape 66"/>
          <p:cNvSpPr/>
          <p:nvPr/>
        </p:nvSpPr>
        <p:spPr>
          <a:xfrm>
            <a:off x="658368" y="4864608"/>
            <a:ext cx="10424160" cy="274320"/>
          </a:xfrm>
          <a:prstGeom prst="rect">
            <a:avLst/>
          </a:prstGeom>
          <a:solidFill>
            <a:srgbClr val="F4FAF6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9808" y="4937760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[23]</a:t>
            </a:r>
            <a:endParaRPr lang="en-US" sz="680" dirty="0"/>
          </a:p>
        </p:txBody>
      </p:sp>
      <p:sp>
        <p:nvSpPr>
          <p:cNvPr id="70" name="Text 68"/>
          <p:cNvSpPr/>
          <p:nvPr/>
        </p:nvSpPr>
        <p:spPr>
          <a:xfrm>
            <a:off x="1261872" y="493776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公众号：锂想之路｜深度解读</a:t>
            </a:r>
            <a:endParaRPr lang="en-US" sz="680" dirty="0"/>
          </a:p>
        </p:txBody>
      </p:sp>
      <p:sp>
        <p:nvSpPr>
          <p:cNvPr id="71" name="Text 69"/>
          <p:cNvSpPr/>
          <p:nvPr/>
        </p:nvSpPr>
        <p:spPr>
          <a:xfrm>
            <a:off x="2487168" y="4937760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公众号：锂想之路｜深度解读欧盟22国承诺储能装机量增加30-35GW</a:t>
            </a:r>
            <a:endParaRPr lang="en-US" sz="680" dirty="0"/>
          </a:p>
        </p:txBody>
      </p:sp>
      <p:sp>
        <p:nvSpPr>
          <p:cNvPr id="72" name="Text 70"/>
          <p:cNvSpPr/>
          <p:nvPr/>
        </p:nvSpPr>
        <p:spPr>
          <a:xfrm>
            <a:off x="6510528" y="4937760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https://mp.weixin.qq.com/s/kZkcCy5ObmDUy-A12QQXqw</a:t>
            </a:r>
            <a:endParaRPr lang="en-US" sz="580" dirty="0"/>
          </a:p>
        </p:txBody>
      </p:sp>
      <p:sp>
        <p:nvSpPr>
          <p:cNvPr id="73" name="Shape 71"/>
          <p:cNvSpPr/>
          <p:nvPr/>
        </p:nvSpPr>
        <p:spPr>
          <a:xfrm>
            <a:off x="658368" y="5175504"/>
            <a:ext cx="1042416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AD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49808" y="5248656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48705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[24]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1261872" y="524865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公众号：Mysteel动力</a:t>
            </a:r>
            <a:endParaRPr lang="en-US" sz="680" dirty="0"/>
          </a:p>
        </p:txBody>
      </p:sp>
      <p:sp>
        <p:nvSpPr>
          <p:cNvPr id="76" name="Text 74"/>
          <p:cNvSpPr/>
          <p:nvPr/>
        </p:nvSpPr>
        <p:spPr>
          <a:xfrm>
            <a:off x="2487168" y="5248656"/>
            <a:ext cx="3749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公众号：Mysteel动力电池回收｜重磅！五部门联合执法！全国废旧动力</a:t>
            </a:r>
            <a:endParaRPr lang="en-US" sz="680" dirty="0"/>
          </a:p>
        </p:txBody>
      </p:sp>
      <p:sp>
        <p:nvSpPr>
          <p:cNvPr id="77" name="Text 75"/>
          <p:cNvSpPr/>
          <p:nvPr/>
        </p:nvSpPr>
        <p:spPr>
          <a:xfrm>
            <a:off x="6510528" y="5248656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6D75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https://mp.weixin.qq.com/s/G9lBBEvE0zdU_xLxQjT2Pw</a:t>
            </a:r>
            <a:endParaRPr lang="en-US" sz="580" dirty="0"/>
          </a:p>
        </p:txBody>
      </p:sp>
      <p:sp>
        <p:nvSpPr>
          <p:cNvPr id="78" name="Shape 76"/>
          <p:cNvSpPr/>
          <p:nvPr/>
        </p:nvSpPr>
        <p:spPr>
          <a:xfrm>
            <a:off x="658368" y="5779008"/>
            <a:ext cx="1463040" cy="292608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4672" y="5870448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引用规则</a:t>
            </a:r>
            <a:endParaRPr lang="en-US" sz="780" dirty="0"/>
          </a:p>
        </p:txBody>
      </p:sp>
      <p:sp>
        <p:nvSpPr>
          <p:cNvPr id="80" name="Text 78"/>
          <p:cNvSpPr/>
          <p:nvPr/>
        </p:nvSpPr>
        <p:spPr>
          <a:xfrm>
            <a:off x="2286000" y="584301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1212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正文引用编号与本页来源一一对应，未进入正文的公开来源保留在 JSON 审计记录中。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lifepo4_brief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磷酸铁锂行业早报 2026-07-07</dc:title>
  <dc:subject>LFP daily briefing</dc:subject>
  <dc:creator>lifepo4_brief</dc:creator>
  <cp:lastModifiedBy>lifepo4_brief</cp:lastModifiedBy>
  <cp:revision>1</cp:revision>
  <dcterms:created xsi:type="dcterms:W3CDTF">2026-07-07T04:37:01Z</dcterms:created>
  <dcterms:modified xsi:type="dcterms:W3CDTF">2026-07-07T04:37:01Z</dcterms:modified>
</cp:coreProperties>
</file>