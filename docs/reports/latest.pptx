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1.</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LFP DAILY BRIEF</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2026-10-27</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01</a:t>
            </a:r>
            <a:endParaRPr lang="en-US" sz="730" dirty="0"/>
          </a:p>
        </p:txBody>
      </p:sp>
      <p:sp>
        <p:nvSpPr>
          <p:cNvPr id="9" name="Text 7"/>
          <p:cNvSpPr/>
          <p:nvPr/>
        </p:nvSpPr>
        <p:spPr>
          <a:xfrm>
            <a:off x="640080" y="1051560"/>
            <a:ext cx="1554480" cy="411480"/>
          </a:xfrm>
          <a:prstGeom prst="rect">
            <a:avLst/>
          </a:prstGeom>
          <a:noFill/>
          <a:ln/>
        </p:spPr>
        <p:txBody>
          <a:bodyPr wrap="square" lIns="0" tIns="0" rIns="0" bIns="0" rtlCol="0" anchor="ctr"/>
          <a:lstStyle/>
          <a:p>
            <a:pPr indent="0" marL="0">
              <a:buNone/>
            </a:pPr>
            <a:r>
              <a:rPr lang="en-US" sz="2400" b="1" dirty="0">
                <a:solidFill>
                  <a:srgbClr val="487052"/>
                </a:solidFill>
                <a:latin typeface="Aptos" pitchFamily="34" charset="0"/>
                <a:ea typeface="Aptos" pitchFamily="34" charset="-122"/>
                <a:cs typeface="Aptos" pitchFamily="34" charset="-120"/>
              </a:rPr>
              <a:t>LFP</a:t>
            </a:r>
            <a:endParaRPr lang="en-US" sz="2400" dirty="0"/>
          </a:p>
        </p:txBody>
      </p:sp>
      <p:sp>
        <p:nvSpPr>
          <p:cNvPr id="10" name="Text 8"/>
          <p:cNvSpPr/>
          <p:nvPr/>
        </p:nvSpPr>
        <p:spPr>
          <a:xfrm>
            <a:off x="621792" y="1481328"/>
            <a:ext cx="6035040" cy="621792"/>
          </a:xfrm>
          <a:prstGeom prst="rect">
            <a:avLst/>
          </a:prstGeom>
          <a:noFill/>
          <a:ln/>
        </p:spPr>
        <p:txBody>
          <a:bodyPr wrap="square" lIns="0" tIns="0" rIns="0" bIns="0" rtlCol="0" anchor="ctr">
            <a:normAutofit/>
          </a:bodyPr>
          <a:lstStyle/>
          <a:p>
            <a:pPr indent="0" marL="0">
              <a:buNone/>
            </a:pPr>
            <a:r>
              <a:rPr lang="en-US" sz="2600" b="1" dirty="0">
                <a:solidFill>
                  <a:srgbClr val="121212"/>
                </a:solidFill>
                <a:latin typeface="Microsoft YaHei" pitchFamily="34" charset="0"/>
                <a:ea typeface="Microsoft YaHei" pitchFamily="34" charset="-122"/>
                <a:cs typeface="Microsoft YaHei" pitchFamily="34" charset="-120"/>
              </a:rPr>
              <a:t>磷酸铁锂行业早报</a:t>
            </a:r>
            <a:endParaRPr lang="en-US" sz="2600" dirty="0"/>
          </a:p>
        </p:txBody>
      </p:sp>
      <p:sp>
        <p:nvSpPr>
          <p:cNvPr id="11" name="Text 9"/>
          <p:cNvSpPr/>
          <p:nvPr/>
        </p:nvSpPr>
        <p:spPr>
          <a:xfrm>
            <a:off x="658368" y="2176272"/>
            <a:ext cx="5852160" cy="310896"/>
          </a:xfrm>
          <a:prstGeom prst="rect">
            <a:avLst/>
          </a:prstGeom>
          <a:noFill/>
          <a:ln/>
        </p:spPr>
        <p:txBody>
          <a:bodyPr wrap="square" lIns="0" tIns="0" rIns="0" bIns="0" rtlCol="0" anchor="ctr"/>
          <a:lstStyle/>
          <a:p>
            <a:pPr indent="0" marL="0">
              <a:buNone/>
            </a:pPr>
            <a:r>
              <a:rPr lang="en-US" sz="1200" dirty="0">
                <a:solidFill>
                  <a:srgbClr val="6D756F"/>
                </a:solidFill>
                <a:latin typeface="Microsoft YaHei" pitchFamily="34" charset="0"/>
                <a:ea typeface="Microsoft YaHei" pitchFamily="34" charset="-122"/>
                <a:cs typeface="Microsoft YaHei" pitchFamily="34" charset="-120"/>
              </a:rPr>
              <a:t>从公开事件到产业判断的每日工程化筛选</a:t>
            </a:r>
            <a:endParaRPr lang="en-US" sz="1200" dirty="0"/>
          </a:p>
        </p:txBody>
      </p:sp>
      <p:sp>
        <p:nvSpPr>
          <p:cNvPr id="12" name="Text 10"/>
          <p:cNvSpPr/>
          <p:nvPr/>
        </p:nvSpPr>
        <p:spPr>
          <a:xfrm>
            <a:off x="658368" y="2761488"/>
            <a:ext cx="5715000" cy="1188720"/>
          </a:xfrm>
          <a:prstGeom prst="rect">
            <a:avLst/>
          </a:prstGeom>
          <a:noFill/>
          <a:ln/>
        </p:spPr>
        <p:txBody>
          <a:bodyPr wrap="square" lIns="0" tIns="0" rIns="0" bIns="0" rtlCol="0" anchor="ctr">
            <a:normAutofit/>
          </a:bodyPr>
          <a:lstStyle/>
          <a:p>
            <a:pPr indent="0" marL="0">
              <a:buNone/>
            </a:pPr>
            <a:r>
              <a:rPr lang="en-US" sz="1400" b="1" dirty="0">
                <a:solidFill>
                  <a:srgbClr val="121212"/>
                </a:solidFill>
                <a:latin typeface="Microsoft YaHei" pitchFamily="34" charset="0"/>
                <a:ea typeface="Microsoft YaHei" pitchFamily="34" charset="-122"/>
                <a:cs typeface="Microsoft YaHei" pitchFamily="34" charset="-120"/>
              </a:rPr>
              <a:t>今日磷酸铁锂行业信号集中在政策收紧与回收压力：国内新能源车政策收紧可能压制短期需求，而动力电池高值化利用被定性为淘汰赛，叠加首批电车脱保潮，回收与梯次利用环节的合规成本上升。供给端，湖南裕能拟20亿元扩产，万华化学二期开工，显示头部企业仍在加码磷酸铁锂正极产能，中期供给压力不减。需求端，零跑与海泰科服合作攻坚前沿电池技术，但未明确磷酸铁锂路线。整体看，政策与回收约束强化，产能扩张延续，行业盈利修复仍需观察需求增速与成本传导。</a:t>
            </a:r>
            <a:endParaRPr lang="en-US" sz="1400" dirty="0"/>
          </a:p>
        </p:txBody>
      </p:sp>
      <p:sp>
        <p:nvSpPr>
          <p:cNvPr id="13" name="Shape 11"/>
          <p:cNvSpPr/>
          <p:nvPr/>
        </p:nvSpPr>
        <p:spPr>
          <a:xfrm>
            <a:off x="7315200" y="960120"/>
            <a:ext cx="3886200" cy="4526280"/>
          </a:xfrm>
          <a:prstGeom prst="rect">
            <a:avLst/>
          </a:prstGeom>
          <a:solidFill>
            <a:srgbClr val="F4FAF6"/>
          </a:solidFill>
          <a:ln w="10160">
            <a:solidFill>
              <a:srgbClr val="DADADA"/>
            </a:solidFill>
            <a:prstDash val="solid"/>
          </a:ln>
        </p:spPr>
      </p:sp>
      <p:sp>
        <p:nvSpPr>
          <p:cNvPr id="14" name="Text 12"/>
          <p:cNvSpPr/>
          <p:nvPr/>
        </p:nvSpPr>
        <p:spPr>
          <a:xfrm>
            <a:off x="7607808" y="1188720"/>
            <a:ext cx="2011680" cy="310896"/>
          </a:xfrm>
          <a:prstGeom prst="rect">
            <a:avLst/>
          </a:prstGeom>
          <a:noFill/>
          <a:ln/>
        </p:spPr>
        <p:txBody>
          <a:bodyPr wrap="square" lIns="0" tIns="0" rIns="0" bIns="0" rtlCol="0" anchor="ctr"/>
          <a:lstStyle/>
          <a:p>
            <a:pPr indent="0" marL="0">
              <a:buNone/>
            </a:pPr>
            <a:r>
              <a:rPr lang="en-US" sz="1300" b="1" dirty="0">
                <a:solidFill>
                  <a:srgbClr val="121212"/>
                </a:solidFill>
                <a:latin typeface="Microsoft YaHei" pitchFamily="34" charset="0"/>
                <a:ea typeface="Microsoft YaHei" pitchFamily="34" charset="-122"/>
                <a:cs typeface="Microsoft YaHei" pitchFamily="34" charset="-120"/>
              </a:rPr>
              <a:t>今日逻辑主线</a:t>
            </a:r>
            <a:endParaRPr lang="en-US" sz="1300" dirty="0"/>
          </a:p>
        </p:txBody>
      </p:sp>
      <p:sp>
        <p:nvSpPr>
          <p:cNvPr id="15" name="Shape 13"/>
          <p:cNvSpPr/>
          <p:nvPr/>
        </p:nvSpPr>
        <p:spPr>
          <a:xfrm>
            <a:off x="7882128" y="1755648"/>
            <a:ext cx="0" cy="3090672"/>
          </a:xfrm>
          <a:prstGeom prst="line">
            <a:avLst/>
          </a:prstGeom>
          <a:noFill/>
          <a:ln w="15240">
            <a:solidFill>
              <a:srgbClr val="7F9D84"/>
            </a:solidFill>
            <a:prstDash val="solid"/>
          </a:ln>
        </p:spPr>
      </p:sp>
      <p:sp>
        <p:nvSpPr>
          <p:cNvPr id="16" name="Shape 14"/>
          <p:cNvSpPr/>
          <p:nvPr/>
        </p:nvSpPr>
        <p:spPr>
          <a:xfrm>
            <a:off x="7790688" y="1700784"/>
            <a:ext cx="182880" cy="182880"/>
          </a:xfrm>
          <a:prstGeom prst="ellipse">
            <a:avLst/>
          </a:prstGeom>
          <a:solidFill>
            <a:srgbClr val="487052"/>
          </a:solidFill>
          <a:ln w="12700">
            <a:solidFill>
              <a:srgbClr val="487052"/>
            </a:solidFill>
            <a:prstDash val="solid"/>
          </a:ln>
        </p:spPr>
      </p:sp>
      <p:sp>
        <p:nvSpPr>
          <p:cNvPr id="17" name="Shape 15"/>
          <p:cNvSpPr/>
          <p:nvPr/>
        </p:nvSpPr>
        <p:spPr>
          <a:xfrm>
            <a:off x="8183880" y="1627632"/>
            <a:ext cx="2514600" cy="365760"/>
          </a:xfrm>
          <a:prstGeom prst="rect">
            <a:avLst/>
          </a:prstGeom>
          <a:solidFill>
            <a:srgbClr val="DDEBE0"/>
          </a:solidFill>
          <a:ln w="7620">
            <a:solidFill>
              <a:srgbClr val="DADADA"/>
            </a:solidFill>
            <a:prstDash val="solid"/>
          </a:ln>
        </p:spPr>
      </p:sp>
      <p:sp>
        <p:nvSpPr>
          <p:cNvPr id="18" name="Text 16"/>
          <p:cNvSpPr/>
          <p:nvPr/>
        </p:nvSpPr>
        <p:spPr>
          <a:xfrm>
            <a:off x="8321040" y="1709928"/>
            <a:ext cx="2240280" cy="164592"/>
          </a:xfrm>
          <a:prstGeom prst="rect">
            <a:avLst/>
          </a:prstGeom>
          <a:noFill/>
          <a:ln/>
        </p:spPr>
        <p:txBody>
          <a:bodyPr wrap="square" lIns="0" tIns="0" rIns="0" bIns="0" rtlCol="0" anchor="ctr">
            <a:normAutofit/>
          </a:bodyPr>
          <a:lstStyle/>
          <a:p>
            <a:pPr indent="0" marL="0">
              <a:buNone/>
            </a:pPr>
            <a:r>
              <a:rPr lang="en-US" sz="880" b="1" dirty="0">
                <a:solidFill>
                  <a:srgbClr val="121212"/>
                </a:solidFill>
                <a:latin typeface="Microsoft YaHei" pitchFamily="34" charset="0"/>
                <a:ea typeface="Microsoft YaHei" pitchFamily="34" charset="-122"/>
                <a:cs typeface="Microsoft YaHei" pitchFamily="34" charset="-120"/>
              </a:rPr>
              <a:t>技术突破</a:t>
            </a:r>
            <a:endParaRPr lang="en-US" sz="880" dirty="0"/>
          </a:p>
        </p:txBody>
      </p:sp>
      <p:sp>
        <p:nvSpPr>
          <p:cNvPr id="19" name="Shape 17"/>
          <p:cNvSpPr/>
          <p:nvPr/>
        </p:nvSpPr>
        <p:spPr>
          <a:xfrm>
            <a:off x="7790688" y="2267712"/>
            <a:ext cx="182880" cy="182880"/>
          </a:xfrm>
          <a:prstGeom prst="ellipse">
            <a:avLst/>
          </a:prstGeom>
          <a:solidFill>
            <a:srgbClr val="487052"/>
          </a:solidFill>
          <a:ln w="12700">
            <a:solidFill>
              <a:srgbClr val="487052"/>
            </a:solidFill>
            <a:prstDash val="solid"/>
          </a:ln>
        </p:spPr>
      </p:sp>
      <p:sp>
        <p:nvSpPr>
          <p:cNvPr id="20" name="Shape 18"/>
          <p:cNvSpPr/>
          <p:nvPr/>
        </p:nvSpPr>
        <p:spPr>
          <a:xfrm>
            <a:off x="8183880" y="2194560"/>
            <a:ext cx="2514600" cy="365760"/>
          </a:xfrm>
          <a:prstGeom prst="rect">
            <a:avLst/>
          </a:prstGeom>
          <a:solidFill>
            <a:srgbClr val="DDEBE0"/>
          </a:solidFill>
          <a:ln w="7620">
            <a:solidFill>
              <a:srgbClr val="DADADA"/>
            </a:solidFill>
            <a:prstDash val="solid"/>
          </a:ln>
        </p:spPr>
      </p:sp>
      <p:sp>
        <p:nvSpPr>
          <p:cNvPr id="21" name="Text 19"/>
          <p:cNvSpPr/>
          <p:nvPr/>
        </p:nvSpPr>
        <p:spPr>
          <a:xfrm>
            <a:off x="8321040" y="2276856"/>
            <a:ext cx="2240280" cy="164592"/>
          </a:xfrm>
          <a:prstGeom prst="rect">
            <a:avLst/>
          </a:prstGeom>
          <a:noFill/>
          <a:ln/>
        </p:spPr>
        <p:txBody>
          <a:bodyPr wrap="square" lIns="0" tIns="0" rIns="0" bIns="0" rtlCol="0" anchor="ctr">
            <a:normAutofit/>
          </a:bodyPr>
          <a:lstStyle/>
          <a:p>
            <a:pPr indent="0" marL="0">
              <a:buNone/>
            </a:pPr>
            <a:r>
              <a:rPr lang="en-US" sz="880" b="1" dirty="0">
                <a:solidFill>
                  <a:srgbClr val="121212"/>
                </a:solidFill>
                <a:latin typeface="Microsoft YaHei" pitchFamily="34" charset="0"/>
                <a:ea typeface="Microsoft YaHei" pitchFamily="34" charset="-122"/>
                <a:cs typeface="Microsoft YaHei" pitchFamily="34" charset="-120"/>
              </a:rPr>
              <a:t>产能变化</a:t>
            </a:r>
            <a:endParaRPr lang="en-US" sz="880" dirty="0"/>
          </a:p>
        </p:txBody>
      </p:sp>
      <p:sp>
        <p:nvSpPr>
          <p:cNvPr id="22" name="Shape 20"/>
          <p:cNvSpPr/>
          <p:nvPr/>
        </p:nvSpPr>
        <p:spPr>
          <a:xfrm>
            <a:off x="7790688" y="2834640"/>
            <a:ext cx="182880" cy="182880"/>
          </a:xfrm>
          <a:prstGeom prst="ellipse">
            <a:avLst/>
          </a:prstGeom>
          <a:solidFill>
            <a:srgbClr val="487052"/>
          </a:solidFill>
          <a:ln w="12700">
            <a:solidFill>
              <a:srgbClr val="487052"/>
            </a:solidFill>
            <a:prstDash val="solid"/>
          </a:ln>
        </p:spPr>
      </p:sp>
      <p:sp>
        <p:nvSpPr>
          <p:cNvPr id="23" name="Shape 21"/>
          <p:cNvSpPr/>
          <p:nvPr/>
        </p:nvSpPr>
        <p:spPr>
          <a:xfrm>
            <a:off x="8183880" y="2761488"/>
            <a:ext cx="2514600" cy="365760"/>
          </a:xfrm>
          <a:prstGeom prst="rect">
            <a:avLst/>
          </a:prstGeom>
          <a:solidFill>
            <a:srgbClr val="DDEBE0"/>
          </a:solidFill>
          <a:ln w="7620">
            <a:solidFill>
              <a:srgbClr val="DADADA"/>
            </a:solidFill>
            <a:prstDash val="solid"/>
          </a:ln>
        </p:spPr>
      </p:sp>
      <p:sp>
        <p:nvSpPr>
          <p:cNvPr id="24" name="Text 22"/>
          <p:cNvSpPr/>
          <p:nvPr/>
        </p:nvSpPr>
        <p:spPr>
          <a:xfrm>
            <a:off x="8321040" y="2843784"/>
            <a:ext cx="2240280" cy="164592"/>
          </a:xfrm>
          <a:prstGeom prst="rect">
            <a:avLst/>
          </a:prstGeom>
          <a:noFill/>
          <a:ln/>
        </p:spPr>
        <p:txBody>
          <a:bodyPr wrap="square" lIns="0" tIns="0" rIns="0" bIns="0" rtlCol="0" anchor="ctr">
            <a:normAutofit/>
          </a:bodyPr>
          <a:lstStyle/>
          <a:p>
            <a:pPr indent="0" marL="0">
              <a:buNone/>
            </a:pPr>
            <a:r>
              <a:rPr lang="en-US" sz="880" b="1" dirty="0">
                <a:solidFill>
                  <a:srgbClr val="121212"/>
                </a:solidFill>
                <a:latin typeface="Microsoft YaHei" pitchFamily="34" charset="0"/>
                <a:ea typeface="Microsoft YaHei" pitchFamily="34" charset="-122"/>
                <a:cs typeface="Microsoft YaHei" pitchFamily="34" charset="-120"/>
              </a:rPr>
              <a:t>政策合规</a:t>
            </a:r>
            <a:endParaRPr lang="en-US" sz="880" dirty="0"/>
          </a:p>
        </p:txBody>
      </p:sp>
      <p:sp>
        <p:nvSpPr>
          <p:cNvPr id="25" name="Shape 23"/>
          <p:cNvSpPr/>
          <p:nvPr/>
        </p:nvSpPr>
        <p:spPr>
          <a:xfrm>
            <a:off x="7790688" y="3401568"/>
            <a:ext cx="182880" cy="182880"/>
          </a:xfrm>
          <a:prstGeom prst="ellipse">
            <a:avLst/>
          </a:prstGeom>
          <a:solidFill>
            <a:srgbClr val="FFFFFF"/>
          </a:solidFill>
          <a:ln w="12700">
            <a:solidFill>
              <a:srgbClr val="487052"/>
            </a:solidFill>
            <a:prstDash val="solid"/>
          </a:ln>
        </p:spPr>
      </p:sp>
      <p:sp>
        <p:nvSpPr>
          <p:cNvPr id="26" name="Shape 24"/>
          <p:cNvSpPr/>
          <p:nvPr/>
        </p:nvSpPr>
        <p:spPr>
          <a:xfrm>
            <a:off x="8183880" y="3328416"/>
            <a:ext cx="2514600" cy="365760"/>
          </a:xfrm>
          <a:prstGeom prst="rect">
            <a:avLst/>
          </a:prstGeom>
          <a:solidFill>
            <a:srgbClr val="FFFFFF"/>
          </a:solidFill>
          <a:ln w="7620">
            <a:solidFill>
              <a:srgbClr val="DADADA"/>
            </a:solidFill>
            <a:prstDash val="solid"/>
          </a:ln>
        </p:spPr>
      </p:sp>
      <p:sp>
        <p:nvSpPr>
          <p:cNvPr id="27" name="Text 25"/>
          <p:cNvSpPr/>
          <p:nvPr/>
        </p:nvSpPr>
        <p:spPr>
          <a:xfrm>
            <a:off x="8321040" y="3410712"/>
            <a:ext cx="2240280" cy="164592"/>
          </a:xfrm>
          <a:prstGeom prst="rect">
            <a:avLst/>
          </a:prstGeom>
          <a:noFill/>
          <a:ln/>
        </p:spPr>
        <p:txBody>
          <a:bodyPr wrap="square" lIns="0" tIns="0" rIns="0" bIns="0" rtlCol="0" anchor="ctr">
            <a:normAutofit/>
          </a:bodyPr>
          <a:lstStyle/>
          <a:p>
            <a:pPr indent="0" marL="0">
              <a:buNone/>
            </a:pPr>
            <a:r>
              <a:rPr lang="en-US" sz="880" dirty="0">
                <a:solidFill>
                  <a:srgbClr val="121212"/>
                </a:solidFill>
                <a:latin typeface="Microsoft YaHei" pitchFamily="34" charset="0"/>
                <a:ea typeface="Microsoft YaHei" pitchFamily="34" charset="-122"/>
                <a:cs typeface="Microsoft YaHei" pitchFamily="34" charset="-120"/>
              </a:rPr>
              <a:t>企业信号</a:t>
            </a:r>
            <a:endParaRPr lang="en-US" sz="880" dirty="0"/>
          </a:p>
        </p:txBody>
      </p:sp>
      <p:sp>
        <p:nvSpPr>
          <p:cNvPr id="28" name="Shape 26"/>
          <p:cNvSpPr/>
          <p:nvPr/>
        </p:nvSpPr>
        <p:spPr>
          <a:xfrm>
            <a:off x="7790688" y="3968496"/>
            <a:ext cx="182880" cy="182880"/>
          </a:xfrm>
          <a:prstGeom prst="ellipse">
            <a:avLst/>
          </a:prstGeom>
          <a:solidFill>
            <a:srgbClr val="487052"/>
          </a:solidFill>
          <a:ln w="12700">
            <a:solidFill>
              <a:srgbClr val="487052"/>
            </a:solidFill>
            <a:prstDash val="solid"/>
          </a:ln>
        </p:spPr>
      </p:sp>
      <p:sp>
        <p:nvSpPr>
          <p:cNvPr id="29" name="Shape 27"/>
          <p:cNvSpPr/>
          <p:nvPr/>
        </p:nvSpPr>
        <p:spPr>
          <a:xfrm>
            <a:off x="8183880" y="3895344"/>
            <a:ext cx="2514600" cy="365760"/>
          </a:xfrm>
          <a:prstGeom prst="rect">
            <a:avLst/>
          </a:prstGeom>
          <a:solidFill>
            <a:srgbClr val="DDEBE0"/>
          </a:solidFill>
          <a:ln w="7620">
            <a:solidFill>
              <a:srgbClr val="DADADA"/>
            </a:solidFill>
            <a:prstDash val="solid"/>
          </a:ln>
        </p:spPr>
      </p:sp>
      <p:sp>
        <p:nvSpPr>
          <p:cNvPr id="30" name="Text 28"/>
          <p:cNvSpPr/>
          <p:nvPr/>
        </p:nvSpPr>
        <p:spPr>
          <a:xfrm>
            <a:off x="8321040" y="3977640"/>
            <a:ext cx="2240280" cy="164592"/>
          </a:xfrm>
          <a:prstGeom prst="rect">
            <a:avLst/>
          </a:prstGeom>
          <a:noFill/>
          <a:ln/>
        </p:spPr>
        <p:txBody>
          <a:bodyPr wrap="square" lIns="0" tIns="0" rIns="0" bIns="0" rtlCol="0" anchor="ctr">
            <a:normAutofit/>
          </a:bodyPr>
          <a:lstStyle/>
          <a:p>
            <a:pPr indent="0" marL="0">
              <a:buNone/>
            </a:pPr>
            <a:r>
              <a:rPr lang="en-US" sz="880" b="1" dirty="0">
                <a:solidFill>
                  <a:srgbClr val="121212"/>
                </a:solidFill>
                <a:latin typeface="Microsoft YaHei" pitchFamily="34" charset="0"/>
                <a:ea typeface="Microsoft YaHei" pitchFamily="34" charset="-122"/>
                <a:cs typeface="Microsoft YaHei" pitchFamily="34" charset="-120"/>
              </a:rPr>
              <a:t>风险机会</a:t>
            </a:r>
            <a:endParaRPr lang="en-US" sz="880" dirty="0"/>
          </a:p>
        </p:txBody>
      </p:sp>
      <p:sp>
        <p:nvSpPr>
          <p:cNvPr id="31" name="Shape 29"/>
          <p:cNvSpPr/>
          <p:nvPr/>
        </p:nvSpPr>
        <p:spPr>
          <a:xfrm>
            <a:off x="7790688" y="4535424"/>
            <a:ext cx="182880" cy="182880"/>
          </a:xfrm>
          <a:prstGeom prst="ellipse">
            <a:avLst/>
          </a:prstGeom>
          <a:solidFill>
            <a:srgbClr val="FFFFFF"/>
          </a:solidFill>
          <a:ln w="12700">
            <a:solidFill>
              <a:srgbClr val="487052"/>
            </a:solidFill>
            <a:prstDash val="solid"/>
          </a:ln>
        </p:spPr>
      </p:sp>
      <p:sp>
        <p:nvSpPr>
          <p:cNvPr id="32" name="Shape 30"/>
          <p:cNvSpPr/>
          <p:nvPr/>
        </p:nvSpPr>
        <p:spPr>
          <a:xfrm>
            <a:off x="8183880" y="4462272"/>
            <a:ext cx="2514600" cy="365760"/>
          </a:xfrm>
          <a:prstGeom prst="rect">
            <a:avLst/>
          </a:prstGeom>
          <a:solidFill>
            <a:srgbClr val="FFFFFF"/>
          </a:solidFill>
          <a:ln w="7620">
            <a:solidFill>
              <a:srgbClr val="DADADA"/>
            </a:solidFill>
            <a:prstDash val="solid"/>
          </a:ln>
        </p:spPr>
      </p:sp>
      <p:sp>
        <p:nvSpPr>
          <p:cNvPr id="33" name="Text 31"/>
          <p:cNvSpPr/>
          <p:nvPr/>
        </p:nvSpPr>
        <p:spPr>
          <a:xfrm>
            <a:off x="8321040" y="4544568"/>
            <a:ext cx="2240280" cy="164592"/>
          </a:xfrm>
          <a:prstGeom prst="rect">
            <a:avLst/>
          </a:prstGeom>
          <a:noFill/>
          <a:ln/>
        </p:spPr>
        <p:txBody>
          <a:bodyPr wrap="square" lIns="0" tIns="0" rIns="0" bIns="0" rtlCol="0" anchor="ctr">
            <a:normAutofit/>
          </a:bodyPr>
          <a:lstStyle/>
          <a:p>
            <a:pPr indent="0" marL="0">
              <a:buNone/>
            </a:pPr>
            <a:r>
              <a:rPr lang="en-US" sz="880" dirty="0">
                <a:solidFill>
                  <a:srgbClr val="121212"/>
                </a:solidFill>
                <a:latin typeface="Microsoft YaHei" pitchFamily="34" charset="0"/>
                <a:ea typeface="Microsoft YaHei" pitchFamily="34" charset="-122"/>
                <a:cs typeface="Microsoft YaHei" pitchFamily="34" charset="-120"/>
              </a:rPr>
              <a:t>来源索引</a:t>
            </a:r>
            <a:endParaRPr lang="en-US" sz="880" dirty="0"/>
          </a:p>
        </p:txBody>
      </p:sp>
      <p:sp>
        <p:nvSpPr>
          <p:cNvPr id="34" name="Shape 32"/>
          <p:cNvSpPr/>
          <p:nvPr/>
        </p:nvSpPr>
        <p:spPr>
          <a:xfrm>
            <a:off x="658368" y="5779008"/>
            <a:ext cx="1463040" cy="292608"/>
          </a:xfrm>
          <a:prstGeom prst="rect">
            <a:avLst/>
          </a:prstGeom>
          <a:solidFill>
            <a:srgbClr val="121212"/>
          </a:solidFill>
          <a:ln w="12700">
            <a:solidFill>
              <a:srgbClr val="121212"/>
            </a:solidFill>
            <a:prstDash val="solid"/>
          </a:ln>
        </p:spPr>
      </p:sp>
      <p:sp>
        <p:nvSpPr>
          <p:cNvPr id="35" name="Text 33"/>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核心判断</a:t>
            </a:r>
            <a:endParaRPr lang="en-US" sz="780" dirty="0"/>
          </a:p>
        </p:txBody>
      </p:sp>
      <p:sp>
        <p:nvSpPr>
          <p:cNvPr id="36" name="Text 34"/>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今日磷酸铁锂行业信号集中在政策收紧与回收压力：国内新能源车政策收紧可能压制短期需求，而动力电池高值化利用被定性为淘汰赛，叠加首批电车脱保潮，回</a:t>
            </a:r>
            <a:endParaRPr lang="en-US" sz="10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2.</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EXECUTIVE BRIEF</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2026-10-27</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02</a:t>
            </a:r>
            <a:endParaRPr lang="en-US" sz="730" dirty="0"/>
          </a:p>
        </p:txBody>
      </p:sp>
      <p:sp>
        <p:nvSpPr>
          <p:cNvPr id="9" name="Text 7"/>
          <p:cNvSpPr/>
          <p:nvPr/>
        </p:nvSpPr>
        <p:spPr>
          <a:xfrm>
            <a:off x="658368" y="932688"/>
            <a:ext cx="2377440" cy="384048"/>
          </a:xfrm>
          <a:prstGeom prst="rect">
            <a:avLst/>
          </a:prstGeom>
          <a:noFill/>
          <a:ln/>
        </p:spPr>
        <p:txBody>
          <a:bodyPr wrap="square" lIns="0" tIns="0" rIns="0" bIns="0" rtlCol="0" anchor="ct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今日总览</a:t>
            </a:r>
            <a:endParaRPr lang="en-US" sz="2000" dirty="0"/>
          </a:p>
        </p:txBody>
      </p:sp>
      <p:sp>
        <p:nvSpPr>
          <p:cNvPr id="10" name="Text 8"/>
          <p:cNvSpPr/>
          <p:nvPr/>
        </p:nvSpPr>
        <p:spPr>
          <a:xfrm>
            <a:off x="2880360" y="996696"/>
            <a:ext cx="8138160" cy="219456"/>
          </a:xfrm>
          <a:prstGeom prst="rect">
            <a:avLst/>
          </a:prstGeom>
          <a:noFill/>
          <a:ln/>
        </p:spPr>
        <p:txBody>
          <a:bodyPr wrap="square" lIns="0" tIns="0" rIns="0" bIns="0" rtlCol="0" anchor="ctr">
            <a:normAutofit/>
          </a:bodyPr>
          <a:lstStyle/>
          <a:p>
            <a:pPr indent="0" marL="0">
              <a:buNone/>
            </a:pPr>
            <a:r>
              <a:rPr lang="en-US" sz="940" dirty="0">
                <a:solidFill>
                  <a:srgbClr val="6D756F"/>
                </a:solidFill>
                <a:latin typeface="Microsoft YaHei" pitchFamily="34" charset="0"/>
                <a:ea typeface="Microsoft YaHei" pitchFamily="34" charset="-122"/>
                <a:cs typeface="Microsoft YaHei" pitchFamily="34" charset="-120"/>
              </a:rPr>
              <a:t>今日磷酸铁锂行业信号集中在政策收紧与回收压力：国内新能源车政策收紧可能压制短期需求，而动力电池高值化利用被定性为淘汰赛，叠加首批电车脱保潮，回</a:t>
            </a:r>
            <a:endParaRPr lang="en-US" sz="940" dirty="0"/>
          </a:p>
        </p:txBody>
      </p:sp>
      <p:sp>
        <p:nvSpPr>
          <p:cNvPr id="11" name="Shape 9"/>
          <p:cNvSpPr/>
          <p:nvPr/>
        </p:nvSpPr>
        <p:spPr>
          <a:xfrm>
            <a:off x="658368" y="1444752"/>
            <a:ext cx="5074920" cy="1737360"/>
          </a:xfrm>
          <a:prstGeom prst="rect">
            <a:avLst/>
          </a:prstGeom>
          <a:solidFill>
            <a:srgbClr val="F4FAF6"/>
          </a:solidFill>
          <a:ln w="8890">
            <a:solidFill>
              <a:srgbClr val="DADADA"/>
            </a:solidFill>
            <a:prstDash val="solid"/>
          </a:ln>
        </p:spPr>
      </p:sp>
      <p:sp>
        <p:nvSpPr>
          <p:cNvPr id="12" name="Shape 10"/>
          <p:cNvSpPr/>
          <p:nvPr/>
        </p:nvSpPr>
        <p:spPr>
          <a:xfrm>
            <a:off x="658368" y="1444752"/>
            <a:ext cx="384048" cy="1737360"/>
          </a:xfrm>
          <a:prstGeom prst="rect">
            <a:avLst/>
          </a:prstGeom>
          <a:solidFill>
            <a:srgbClr val="121212"/>
          </a:solidFill>
          <a:ln w="12700">
            <a:solidFill>
              <a:srgbClr val="121212"/>
            </a:solidFill>
            <a:prstDash val="solid"/>
          </a:ln>
        </p:spPr>
      </p:sp>
      <p:sp>
        <p:nvSpPr>
          <p:cNvPr id="13" name="Text 11"/>
          <p:cNvSpPr/>
          <p:nvPr/>
        </p:nvSpPr>
        <p:spPr>
          <a:xfrm>
            <a:off x="786384" y="1627632"/>
            <a:ext cx="128016" cy="164592"/>
          </a:xfrm>
          <a:prstGeom prst="rect">
            <a:avLst/>
          </a:prstGeom>
          <a:noFill/>
          <a:ln/>
        </p:spPr>
        <p:txBody>
          <a:bodyPr wrap="square" lIns="0" tIns="0" rIns="0" bIns="0" rtlCol="0" anchor="ctr"/>
          <a:lstStyle/>
          <a:p>
            <a:pPr indent="0" marL="0">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14" name="Text 12"/>
          <p:cNvSpPr/>
          <p:nvPr/>
        </p:nvSpPr>
        <p:spPr>
          <a:xfrm>
            <a:off x="1188720" y="1609344"/>
            <a:ext cx="4233672" cy="182880"/>
          </a:xfrm>
          <a:prstGeom prst="rect">
            <a:avLst/>
          </a:prstGeom>
          <a:noFill/>
          <a:ln/>
        </p:spPr>
        <p:txBody>
          <a:bodyPr wrap="square" lIns="0" tIns="0" rIns="0" bIns="0" rtlCol="0" anchor="ctr">
            <a:normAutofit/>
          </a:bodyPr>
          <a:lstStyle/>
          <a:p>
            <a:pPr indent="0" marL="0">
              <a:buNone/>
            </a:pPr>
            <a:r>
              <a:rPr lang="en-US" sz="920" b="1" dirty="0">
                <a:solidFill>
                  <a:srgbClr val="487052"/>
                </a:solidFill>
                <a:latin typeface="Microsoft YaHei" pitchFamily="34" charset="0"/>
                <a:ea typeface="Microsoft YaHei" pitchFamily="34" charset="-122"/>
                <a:cs typeface="Microsoft YaHei" pitchFamily="34" charset="-120"/>
              </a:rPr>
              <a:t>今日结论</a:t>
            </a:r>
            <a:endParaRPr lang="en-US" sz="920" dirty="0"/>
          </a:p>
        </p:txBody>
      </p:sp>
      <p:sp>
        <p:nvSpPr>
          <p:cNvPr id="15" name="Shape 13"/>
          <p:cNvSpPr/>
          <p:nvPr/>
        </p:nvSpPr>
        <p:spPr>
          <a:xfrm>
            <a:off x="1188720" y="1883664"/>
            <a:ext cx="2194560" cy="54864"/>
          </a:xfrm>
          <a:prstGeom prst="rect">
            <a:avLst/>
          </a:prstGeom>
          <a:solidFill>
            <a:srgbClr val="487052"/>
          </a:solidFill>
          <a:ln w="12700">
            <a:solidFill>
              <a:srgbClr val="487052"/>
            </a:solidFill>
            <a:prstDash val="solid"/>
          </a:ln>
        </p:spPr>
      </p:sp>
      <p:sp>
        <p:nvSpPr>
          <p:cNvPr id="16" name="Text 14"/>
          <p:cNvSpPr/>
          <p:nvPr/>
        </p:nvSpPr>
        <p:spPr>
          <a:xfrm>
            <a:off x="1188720" y="2029968"/>
            <a:ext cx="4233672" cy="749808"/>
          </a:xfrm>
          <a:prstGeom prst="rect">
            <a:avLst/>
          </a:prstGeom>
          <a:noFill/>
          <a:ln/>
        </p:spPr>
        <p:txBody>
          <a:bodyPr wrap="square" lIns="0" tIns="0" rIns="0" bIns="0" rtlCol="0" anchor="t">
            <a:normAutofit/>
          </a:bodyPr>
          <a:lstStyle/>
          <a:p>
            <a:pPr indent="0" marL="0">
              <a:buNone/>
            </a:pPr>
            <a:r>
              <a:rPr lang="en-US" sz="920" b="1" dirty="0">
                <a:solidFill>
                  <a:srgbClr val="121212"/>
                </a:solidFill>
                <a:latin typeface="Microsoft YaHei" pitchFamily="34" charset="0"/>
                <a:ea typeface="Microsoft YaHei" pitchFamily="34" charset="-122"/>
                <a:cs typeface="Microsoft YaHei" pitchFamily="34" charset="-120"/>
              </a:rPr>
              <a:t>政策端国内新能源车政策收紧，可能压制四季度磷酸铁锂需求增速；回收端动力电池高值化利用被定性为淘汰赛，叠加脱保潮，合规与回收成本上升。供给端湖南裕能拟20亿元扩产、万华化学二期</a:t>
            </a:r>
            <a:endParaRPr lang="en-US" sz="920" dirty="0"/>
          </a:p>
        </p:txBody>
      </p:sp>
      <p:sp>
        <p:nvSpPr>
          <p:cNvPr id="17" name="Text 15"/>
          <p:cNvSpPr/>
          <p:nvPr/>
        </p:nvSpPr>
        <p:spPr>
          <a:xfrm>
            <a:off x="1188720" y="2862072"/>
            <a:ext cx="4233672" cy="128016"/>
          </a:xfrm>
          <a:prstGeom prst="rect">
            <a:avLst/>
          </a:prstGeom>
          <a:noFill/>
          <a:ln/>
        </p:spPr>
        <p:txBody>
          <a:bodyPr wrap="square" lIns="0" tIns="0" rIns="0" bIns="0" rtlCol="0" anchor="ctr">
            <a:normAutofit/>
          </a:bodyPr>
          <a:lstStyle/>
          <a:p>
            <a:pPr indent="0" marL="0">
              <a:buNone/>
            </a:pPr>
            <a:r>
              <a:rPr lang="en-US" sz="750" dirty="0">
                <a:solidFill>
                  <a:srgbClr val="6D756F"/>
                </a:solidFill>
                <a:latin typeface="Aptos" pitchFamily="34" charset="0"/>
                <a:ea typeface="Aptos" pitchFamily="34" charset="-122"/>
                <a:cs typeface="Aptos" pitchFamily="34" charset="-120"/>
              </a:rPr>
              <a:t>[1][2][3][4]</a:t>
            </a:r>
            <a:endParaRPr lang="en-US" sz="750" dirty="0"/>
          </a:p>
        </p:txBody>
      </p:sp>
      <p:sp>
        <p:nvSpPr>
          <p:cNvPr id="18" name="Shape 16"/>
          <p:cNvSpPr/>
          <p:nvPr/>
        </p:nvSpPr>
        <p:spPr>
          <a:xfrm>
            <a:off x="6236208" y="1444752"/>
            <a:ext cx="5074920" cy="1737360"/>
          </a:xfrm>
          <a:prstGeom prst="rect">
            <a:avLst/>
          </a:prstGeom>
          <a:solidFill>
            <a:srgbClr val="FFFFFF"/>
          </a:solidFill>
          <a:ln w="8890">
            <a:solidFill>
              <a:srgbClr val="DADADA"/>
            </a:solidFill>
            <a:prstDash val="solid"/>
          </a:ln>
        </p:spPr>
      </p:sp>
      <p:sp>
        <p:nvSpPr>
          <p:cNvPr id="19" name="Shape 17"/>
          <p:cNvSpPr/>
          <p:nvPr/>
        </p:nvSpPr>
        <p:spPr>
          <a:xfrm>
            <a:off x="6236208" y="1444752"/>
            <a:ext cx="384048" cy="1737360"/>
          </a:xfrm>
          <a:prstGeom prst="rect">
            <a:avLst/>
          </a:prstGeom>
          <a:solidFill>
            <a:srgbClr val="121212"/>
          </a:solidFill>
          <a:ln w="12700">
            <a:solidFill>
              <a:srgbClr val="121212"/>
            </a:solidFill>
            <a:prstDash val="solid"/>
          </a:ln>
        </p:spPr>
      </p:sp>
      <p:sp>
        <p:nvSpPr>
          <p:cNvPr id="20" name="Text 18"/>
          <p:cNvSpPr/>
          <p:nvPr/>
        </p:nvSpPr>
        <p:spPr>
          <a:xfrm>
            <a:off x="6364224" y="1627632"/>
            <a:ext cx="128016" cy="164592"/>
          </a:xfrm>
          <a:prstGeom prst="rect">
            <a:avLst/>
          </a:prstGeom>
          <a:noFill/>
          <a:ln/>
        </p:spPr>
        <p:txBody>
          <a:bodyPr wrap="square" lIns="0" tIns="0" rIns="0" bIns="0" rtlCol="0" anchor="ctr"/>
          <a:lstStyle/>
          <a:p>
            <a:pPr indent="0" marL="0">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21" name="Text 19"/>
          <p:cNvSpPr/>
          <p:nvPr/>
        </p:nvSpPr>
        <p:spPr>
          <a:xfrm>
            <a:off x="6766560" y="1609344"/>
            <a:ext cx="4233672" cy="182880"/>
          </a:xfrm>
          <a:prstGeom prst="rect">
            <a:avLst/>
          </a:prstGeom>
          <a:noFill/>
          <a:ln/>
        </p:spPr>
        <p:txBody>
          <a:bodyPr wrap="square" lIns="0" tIns="0" rIns="0" bIns="0" rtlCol="0" anchor="ctr">
            <a:normAutofit/>
          </a:bodyPr>
          <a:lstStyle/>
          <a:p>
            <a:pPr indent="0" marL="0">
              <a:buNone/>
            </a:pPr>
            <a:r>
              <a:rPr lang="en-US" sz="920" b="1" dirty="0">
                <a:solidFill>
                  <a:srgbClr val="487052"/>
                </a:solidFill>
                <a:latin typeface="Microsoft YaHei" pitchFamily="34" charset="0"/>
                <a:ea typeface="Microsoft YaHei" pitchFamily="34" charset="-122"/>
                <a:cs typeface="Microsoft YaHei" pitchFamily="34" charset="-120"/>
              </a:rPr>
              <a:t>技术/产品路线</a:t>
            </a:r>
            <a:endParaRPr lang="en-US" sz="920" dirty="0"/>
          </a:p>
        </p:txBody>
      </p:sp>
      <p:sp>
        <p:nvSpPr>
          <p:cNvPr id="22" name="Shape 20"/>
          <p:cNvSpPr/>
          <p:nvPr/>
        </p:nvSpPr>
        <p:spPr>
          <a:xfrm>
            <a:off x="6766560" y="1883664"/>
            <a:ext cx="1316736" cy="54864"/>
          </a:xfrm>
          <a:prstGeom prst="rect">
            <a:avLst/>
          </a:prstGeom>
          <a:solidFill>
            <a:srgbClr val="487052"/>
          </a:solidFill>
          <a:ln w="12700">
            <a:solidFill>
              <a:srgbClr val="487052"/>
            </a:solidFill>
            <a:prstDash val="solid"/>
          </a:ln>
        </p:spPr>
      </p:sp>
      <p:sp>
        <p:nvSpPr>
          <p:cNvPr id="23" name="Text 21"/>
          <p:cNvSpPr/>
          <p:nvPr/>
        </p:nvSpPr>
        <p:spPr>
          <a:xfrm>
            <a:off x="6766560" y="2029968"/>
            <a:ext cx="4233672" cy="749808"/>
          </a:xfrm>
          <a:prstGeom prst="rect">
            <a:avLst/>
          </a:prstGeom>
          <a:noFill/>
          <a:ln/>
        </p:spPr>
        <p:txBody>
          <a:bodyPr wrap="square" lIns="0" tIns="0" rIns="0" bIns="0" rtlCol="0" anchor="t">
            <a:normAutofit/>
          </a:bodyPr>
          <a:lstStyle/>
          <a:p>
            <a:pPr indent="0" marL="0">
              <a:buNone/>
            </a:pPr>
            <a:r>
              <a:rPr lang="en-US" sz="920" b="1" dirty="0">
                <a:solidFill>
                  <a:srgbClr val="121212"/>
                </a:solidFill>
                <a:latin typeface="Microsoft YaHei" pitchFamily="34" charset="0"/>
                <a:ea typeface="Microsoft YaHei" pitchFamily="34" charset="-122"/>
                <a:cs typeface="Microsoft YaHei" pitchFamily="34" charset="-120"/>
              </a:rPr>
              <a:t>零跑与海泰科服投资企业签约攻坚前沿电池技术，但未明确磷酸铁锂路线；江西拓智科技以激光精焊技术守护动力电池安全，属于制造工艺改进。当前磷酸铁锂技术路线仍以成本与安全为核心，前沿</a:t>
            </a:r>
            <a:endParaRPr lang="en-US" sz="920" dirty="0"/>
          </a:p>
        </p:txBody>
      </p:sp>
      <p:sp>
        <p:nvSpPr>
          <p:cNvPr id="24" name="Text 22"/>
          <p:cNvSpPr/>
          <p:nvPr/>
        </p:nvSpPr>
        <p:spPr>
          <a:xfrm>
            <a:off x="6766560" y="2862072"/>
            <a:ext cx="4233672" cy="128016"/>
          </a:xfrm>
          <a:prstGeom prst="rect">
            <a:avLst/>
          </a:prstGeom>
          <a:noFill/>
          <a:ln/>
        </p:spPr>
        <p:txBody>
          <a:bodyPr wrap="square" lIns="0" tIns="0" rIns="0" bIns="0" rtlCol="0" anchor="ctr">
            <a:normAutofit/>
          </a:bodyPr>
          <a:lstStyle/>
          <a:p>
            <a:pPr indent="0" marL="0">
              <a:buNone/>
            </a:pPr>
            <a:r>
              <a:rPr lang="en-US" sz="750" dirty="0">
                <a:solidFill>
                  <a:srgbClr val="6D756F"/>
                </a:solidFill>
                <a:latin typeface="Aptos" pitchFamily="34" charset="0"/>
                <a:ea typeface="Aptos" pitchFamily="34" charset="-122"/>
                <a:cs typeface="Aptos" pitchFamily="34" charset="-120"/>
              </a:rPr>
              <a:t>[5][6]</a:t>
            </a:r>
            <a:endParaRPr lang="en-US" sz="750" dirty="0"/>
          </a:p>
        </p:txBody>
      </p:sp>
      <p:sp>
        <p:nvSpPr>
          <p:cNvPr id="25" name="Shape 23"/>
          <p:cNvSpPr/>
          <p:nvPr/>
        </p:nvSpPr>
        <p:spPr>
          <a:xfrm>
            <a:off x="658368" y="3566160"/>
            <a:ext cx="5074920" cy="1737360"/>
          </a:xfrm>
          <a:prstGeom prst="rect">
            <a:avLst/>
          </a:prstGeom>
          <a:solidFill>
            <a:srgbClr val="F4FAF6"/>
          </a:solidFill>
          <a:ln w="8890">
            <a:solidFill>
              <a:srgbClr val="DADADA"/>
            </a:solidFill>
            <a:prstDash val="solid"/>
          </a:ln>
        </p:spPr>
      </p:sp>
      <p:sp>
        <p:nvSpPr>
          <p:cNvPr id="26" name="Shape 24"/>
          <p:cNvSpPr/>
          <p:nvPr/>
        </p:nvSpPr>
        <p:spPr>
          <a:xfrm>
            <a:off x="658368" y="3566160"/>
            <a:ext cx="384048" cy="1737360"/>
          </a:xfrm>
          <a:prstGeom prst="rect">
            <a:avLst/>
          </a:prstGeom>
          <a:solidFill>
            <a:srgbClr val="121212"/>
          </a:solidFill>
          <a:ln w="12700">
            <a:solidFill>
              <a:srgbClr val="121212"/>
            </a:solidFill>
            <a:prstDash val="solid"/>
          </a:ln>
        </p:spPr>
      </p:sp>
      <p:sp>
        <p:nvSpPr>
          <p:cNvPr id="27" name="Text 25"/>
          <p:cNvSpPr/>
          <p:nvPr/>
        </p:nvSpPr>
        <p:spPr>
          <a:xfrm>
            <a:off x="786384" y="3749040"/>
            <a:ext cx="128016" cy="164592"/>
          </a:xfrm>
          <a:prstGeom prst="rect">
            <a:avLst/>
          </a:prstGeom>
          <a:noFill/>
          <a:ln/>
        </p:spPr>
        <p:txBody>
          <a:bodyPr wrap="square" lIns="0" tIns="0" rIns="0" bIns="0" rtlCol="0" anchor="ctr"/>
          <a:lstStyle/>
          <a:p>
            <a:pPr indent="0" marL="0">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28" name="Text 26"/>
          <p:cNvSpPr/>
          <p:nvPr/>
        </p:nvSpPr>
        <p:spPr>
          <a:xfrm>
            <a:off x="1188720" y="3730752"/>
            <a:ext cx="4233672" cy="182880"/>
          </a:xfrm>
          <a:prstGeom prst="rect">
            <a:avLst/>
          </a:prstGeom>
          <a:noFill/>
          <a:ln/>
        </p:spPr>
        <p:txBody>
          <a:bodyPr wrap="square" lIns="0" tIns="0" rIns="0" bIns="0" rtlCol="0" anchor="ctr">
            <a:normAutofit/>
          </a:bodyPr>
          <a:lstStyle/>
          <a:p>
            <a:pPr indent="0" marL="0">
              <a:buNone/>
            </a:pPr>
            <a:r>
              <a:rPr lang="en-US" sz="920" b="1" dirty="0">
                <a:solidFill>
                  <a:srgbClr val="487052"/>
                </a:solidFill>
                <a:latin typeface="Microsoft YaHei" pitchFamily="34" charset="0"/>
                <a:ea typeface="Microsoft YaHei" pitchFamily="34" charset="-122"/>
                <a:cs typeface="Microsoft YaHei" pitchFamily="34" charset="-120"/>
              </a:rPr>
              <a:t>产能/客户/订单</a:t>
            </a:r>
            <a:endParaRPr lang="en-US" sz="920" dirty="0"/>
          </a:p>
        </p:txBody>
      </p:sp>
      <p:sp>
        <p:nvSpPr>
          <p:cNvPr id="29" name="Shape 27"/>
          <p:cNvSpPr/>
          <p:nvPr/>
        </p:nvSpPr>
        <p:spPr>
          <a:xfrm>
            <a:off x="1188720" y="4005072"/>
            <a:ext cx="877824" cy="54864"/>
          </a:xfrm>
          <a:prstGeom prst="rect">
            <a:avLst/>
          </a:prstGeom>
          <a:solidFill>
            <a:srgbClr val="487052"/>
          </a:solidFill>
          <a:ln w="12700">
            <a:solidFill>
              <a:srgbClr val="487052"/>
            </a:solidFill>
            <a:prstDash val="solid"/>
          </a:ln>
        </p:spPr>
      </p:sp>
      <p:sp>
        <p:nvSpPr>
          <p:cNvPr id="30" name="Text 28"/>
          <p:cNvSpPr/>
          <p:nvPr/>
        </p:nvSpPr>
        <p:spPr>
          <a:xfrm>
            <a:off x="1188720" y="4151376"/>
            <a:ext cx="4233672" cy="749808"/>
          </a:xfrm>
          <a:prstGeom prst="rect">
            <a:avLst/>
          </a:prstGeom>
          <a:noFill/>
          <a:ln/>
        </p:spPr>
        <p:txBody>
          <a:bodyPr wrap="square" lIns="0" tIns="0" rIns="0" bIns="0" rtlCol="0" anchor="t">
            <a:normAutofit/>
          </a:bodyPr>
          <a:lstStyle/>
          <a:p>
            <a:pPr indent="0" marL="0">
              <a:buNone/>
            </a:pPr>
            <a:r>
              <a:rPr lang="en-US" sz="920" b="1" dirty="0">
                <a:solidFill>
                  <a:srgbClr val="121212"/>
                </a:solidFill>
                <a:latin typeface="Microsoft YaHei" pitchFamily="34" charset="0"/>
                <a:ea typeface="Microsoft YaHei" pitchFamily="34" charset="-122"/>
                <a:cs typeface="Microsoft YaHei" pitchFamily="34" charset="-120"/>
              </a:rPr>
              <a:t>湖南裕能拟20亿元在湖南湘潭再建厂，万华化学山东莱州项目二期开工，头部磷酸铁锂正极产能继续扩张。供给端增量明确，若需求增速不能同步匹配，中期行业开工率与加工费可能承压。客户与</a:t>
            </a:r>
            <a:endParaRPr lang="en-US" sz="920" dirty="0"/>
          </a:p>
        </p:txBody>
      </p:sp>
      <p:sp>
        <p:nvSpPr>
          <p:cNvPr id="31" name="Text 29"/>
          <p:cNvSpPr/>
          <p:nvPr/>
        </p:nvSpPr>
        <p:spPr>
          <a:xfrm>
            <a:off x="1188720" y="4983480"/>
            <a:ext cx="4233672" cy="128016"/>
          </a:xfrm>
          <a:prstGeom prst="rect">
            <a:avLst/>
          </a:prstGeom>
          <a:noFill/>
          <a:ln/>
        </p:spPr>
        <p:txBody>
          <a:bodyPr wrap="square" lIns="0" tIns="0" rIns="0" bIns="0" rtlCol="0" anchor="ctr">
            <a:normAutofit/>
          </a:bodyPr>
          <a:lstStyle/>
          <a:p>
            <a:pPr indent="0" marL="0">
              <a:buNone/>
            </a:pPr>
            <a:r>
              <a:rPr lang="en-US" sz="750" dirty="0">
                <a:solidFill>
                  <a:srgbClr val="6D756F"/>
                </a:solidFill>
                <a:latin typeface="Aptos" pitchFamily="34" charset="0"/>
                <a:ea typeface="Aptos" pitchFamily="34" charset="-122"/>
                <a:cs typeface="Aptos" pitchFamily="34" charset="-120"/>
              </a:rPr>
              <a:t>[4]</a:t>
            </a:r>
            <a:endParaRPr lang="en-US" sz="750" dirty="0"/>
          </a:p>
        </p:txBody>
      </p:sp>
      <p:sp>
        <p:nvSpPr>
          <p:cNvPr id="32" name="Shape 30"/>
          <p:cNvSpPr/>
          <p:nvPr/>
        </p:nvSpPr>
        <p:spPr>
          <a:xfrm>
            <a:off x="6236208" y="3566160"/>
            <a:ext cx="5074920" cy="1737360"/>
          </a:xfrm>
          <a:prstGeom prst="rect">
            <a:avLst/>
          </a:prstGeom>
          <a:solidFill>
            <a:srgbClr val="FFFFFF"/>
          </a:solidFill>
          <a:ln w="8890">
            <a:solidFill>
              <a:srgbClr val="DADADA"/>
            </a:solidFill>
            <a:prstDash val="solid"/>
          </a:ln>
        </p:spPr>
      </p:sp>
      <p:sp>
        <p:nvSpPr>
          <p:cNvPr id="33" name="Shape 31"/>
          <p:cNvSpPr/>
          <p:nvPr/>
        </p:nvSpPr>
        <p:spPr>
          <a:xfrm>
            <a:off x="6236208" y="3566160"/>
            <a:ext cx="384048" cy="1737360"/>
          </a:xfrm>
          <a:prstGeom prst="rect">
            <a:avLst/>
          </a:prstGeom>
          <a:solidFill>
            <a:srgbClr val="121212"/>
          </a:solidFill>
          <a:ln w="12700">
            <a:solidFill>
              <a:srgbClr val="121212"/>
            </a:solidFill>
            <a:prstDash val="solid"/>
          </a:ln>
        </p:spPr>
      </p:sp>
      <p:sp>
        <p:nvSpPr>
          <p:cNvPr id="34" name="Text 32"/>
          <p:cNvSpPr/>
          <p:nvPr/>
        </p:nvSpPr>
        <p:spPr>
          <a:xfrm>
            <a:off x="6364224" y="3749040"/>
            <a:ext cx="128016" cy="164592"/>
          </a:xfrm>
          <a:prstGeom prst="rect">
            <a:avLst/>
          </a:prstGeom>
          <a:noFill/>
          <a:ln/>
        </p:spPr>
        <p:txBody>
          <a:bodyPr wrap="square" lIns="0" tIns="0" rIns="0" bIns="0" rtlCol="0" anchor="ctr"/>
          <a:lstStyle/>
          <a:p>
            <a:pPr indent="0" marL="0">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35" name="Text 33"/>
          <p:cNvSpPr/>
          <p:nvPr/>
        </p:nvSpPr>
        <p:spPr>
          <a:xfrm>
            <a:off x="6766560" y="3730752"/>
            <a:ext cx="4233672" cy="182880"/>
          </a:xfrm>
          <a:prstGeom prst="rect">
            <a:avLst/>
          </a:prstGeom>
          <a:noFill/>
          <a:ln/>
        </p:spPr>
        <p:txBody>
          <a:bodyPr wrap="square" lIns="0" tIns="0" rIns="0" bIns="0" rtlCol="0" anchor="ctr">
            <a:normAutofit/>
          </a:bodyPr>
          <a:lstStyle/>
          <a:p>
            <a:pPr indent="0" marL="0">
              <a:buNone/>
            </a:pPr>
            <a:r>
              <a:rPr lang="en-US" sz="920" b="1" dirty="0">
                <a:solidFill>
                  <a:srgbClr val="487052"/>
                </a:solidFill>
                <a:latin typeface="Microsoft YaHei" pitchFamily="34" charset="0"/>
                <a:ea typeface="Microsoft YaHei" pitchFamily="34" charset="-122"/>
                <a:cs typeface="Microsoft YaHei" pitchFamily="34" charset="-120"/>
              </a:rPr>
              <a:t>价格/盈利压力</a:t>
            </a:r>
            <a:endParaRPr lang="en-US" sz="920" dirty="0"/>
          </a:p>
        </p:txBody>
      </p:sp>
      <p:sp>
        <p:nvSpPr>
          <p:cNvPr id="36" name="Shape 34"/>
          <p:cNvSpPr/>
          <p:nvPr/>
        </p:nvSpPr>
        <p:spPr>
          <a:xfrm>
            <a:off x="6766560" y="4005072"/>
            <a:ext cx="2194560" cy="54864"/>
          </a:xfrm>
          <a:prstGeom prst="rect">
            <a:avLst/>
          </a:prstGeom>
          <a:solidFill>
            <a:srgbClr val="487052"/>
          </a:solidFill>
          <a:ln w="12700">
            <a:solidFill>
              <a:srgbClr val="487052"/>
            </a:solidFill>
            <a:prstDash val="solid"/>
          </a:ln>
        </p:spPr>
      </p:sp>
      <p:sp>
        <p:nvSpPr>
          <p:cNvPr id="37" name="Text 35"/>
          <p:cNvSpPr/>
          <p:nvPr/>
        </p:nvSpPr>
        <p:spPr>
          <a:xfrm>
            <a:off x="6766560" y="4151376"/>
            <a:ext cx="4233672" cy="749808"/>
          </a:xfrm>
          <a:prstGeom prst="rect">
            <a:avLst/>
          </a:prstGeom>
          <a:noFill/>
          <a:ln/>
        </p:spPr>
        <p:txBody>
          <a:bodyPr wrap="square" lIns="0" tIns="0" rIns="0" bIns="0" rtlCol="0" anchor="t">
            <a:normAutofit/>
          </a:bodyPr>
          <a:lstStyle/>
          <a:p>
            <a:pPr indent="0" marL="0">
              <a:buNone/>
            </a:pPr>
            <a:r>
              <a:rPr lang="en-US" sz="920" b="1" dirty="0">
                <a:solidFill>
                  <a:srgbClr val="121212"/>
                </a:solidFill>
                <a:latin typeface="Microsoft YaHei" pitchFamily="34" charset="0"/>
                <a:ea typeface="Microsoft YaHei" pitchFamily="34" charset="-122"/>
                <a:cs typeface="Microsoft YaHei" pitchFamily="34" charset="-120"/>
              </a:rPr>
              <a:t>今日无直接磷酸铁锂价格报价，但政策收紧与产能扩张信号叠加，价格与盈利压力偏向下行。国内新能源车政策收紧可能削弱需求端对正极材料的拉动力，而裕能、万华扩产增加供给，供需天平向买</a:t>
            </a:r>
            <a:endParaRPr lang="en-US" sz="920" dirty="0"/>
          </a:p>
        </p:txBody>
      </p:sp>
      <p:sp>
        <p:nvSpPr>
          <p:cNvPr id="38" name="Text 36"/>
          <p:cNvSpPr/>
          <p:nvPr/>
        </p:nvSpPr>
        <p:spPr>
          <a:xfrm>
            <a:off x="6766560" y="4983480"/>
            <a:ext cx="4233672" cy="128016"/>
          </a:xfrm>
          <a:prstGeom prst="rect">
            <a:avLst/>
          </a:prstGeom>
          <a:noFill/>
          <a:ln/>
        </p:spPr>
        <p:txBody>
          <a:bodyPr wrap="square" lIns="0" tIns="0" rIns="0" bIns="0" rtlCol="0" anchor="ctr">
            <a:normAutofit/>
          </a:bodyPr>
          <a:lstStyle/>
          <a:p>
            <a:pPr indent="0" marL="0">
              <a:buNone/>
            </a:pPr>
            <a:r>
              <a:rPr lang="en-US" sz="750" dirty="0">
                <a:solidFill>
                  <a:srgbClr val="6D756F"/>
                </a:solidFill>
                <a:latin typeface="Aptos" pitchFamily="34" charset="0"/>
                <a:ea typeface="Aptos" pitchFamily="34" charset="-122"/>
                <a:cs typeface="Aptos" pitchFamily="34" charset="-120"/>
              </a:rPr>
              <a:t>[1][4][3]</a:t>
            </a:r>
            <a:endParaRPr lang="en-US" sz="750" dirty="0"/>
          </a:p>
        </p:txBody>
      </p:sp>
      <p:sp>
        <p:nvSpPr>
          <p:cNvPr id="39" name="Shape 37"/>
          <p:cNvSpPr/>
          <p:nvPr/>
        </p:nvSpPr>
        <p:spPr>
          <a:xfrm>
            <a:off x="658368" y="5779008"/>
            <a:ext cx="1463040" cy="292608"/>
          </a:xfrm>
          <a:prstGeom prst="rect">
            <a:avLst/>
          </a:prstGeom>
          <a:solidFill>
            <a:srgbClr val="121212"/>
          </a:solidFill>
          <a:ln w="12700">
            <a:solidFill>
              <a:srgbClr val="121212"/>
            </a:solidFill>
            <a:prstDash val="solid"/>
          </a:ln>
        </p:spPr>
      </p:sp>
      <p:sp>
        <p:nvSpPr>
          <p:cNvPr id="40" name="Text 38"/>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总览结论</a:t>
            </a:r>
            <a:endParaRPr lang="en-US" sz="780" dirty="0"/>
          </a:p>
        </p:txBody>
      </p:sp>
      <p:sp>
        <p:nvSpPr>
          <p:cNvPr id="41" name="Text 39"/>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今日磷酸铁锂行业信号集中在政策收紧与回收压力：国内新能源车政策收紧可能压制短期需求，而动力电池高值化利用被定性为淘汰赛，叠加首批电车脱保潮，回</a:t>
            </a:r>
            <a:endParaRPr lang="en-US" sz="10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3.</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SECTION DEEP DIVE</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2026-10-27</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03</a:t>
            </a:r>
            <a:endParaRPr lang="en-US" sz="730" dirty="0"/>
          </a:p>
        </p:txBody>
      </p:sp>
      <p:sp>
        <p:nvSpPr>
          <p:cNvPr id="9" name="Text 7"/>
          <p:cNvSpPr/>
          <p:nvPr/>
        </p:nvSpPr>
        <p:spPr>
          <a:xfrm>
            <a:off x="658368" y="914400"/>
            <a:ext cx="3200400" cy="384048"/>
          </a:xfrm>
          <a:prstGeom prst="rect">
            <a:avLst/>
          </a:prstGeom>
          <a:noFill/>
          <a:ln/>
        </p:spPr>
        <p:txBody>
          <a:bodyPr wrap="square" lIns="0" tIns="0" rIns="0" bIns="0" rtlCol="0" anchor="ctr">
            <a:normAutofit/>
          </a:bodyP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今日结论</a:t>
            </a:r>
            <a:endParaRPr lang="en-US" sz="2000" dirty="0"/>
          </a:p>
        </p:txBody>
      </p:sp>
      <p:sp>
        <p:nvSpPr>
          <p:cNvPr id="10" name="Text 8"/>
          <p:cNvSpPr/>
          <p:nvPr/>
        </p:nvSpPr>
        <p:spPr>
          <a:xfrm>
            <a:off x="3749040" y="1005840"/>
            <a:ext cx="7132320" cy="182880"/>
          </a:xfrm>
          <a:prstGeom prst="rect">
            <a:avLst/>
          </a:prstGeom>
          <a:noFill/>
          <a:ln/>
        </p:spPr>
        <p:txBody>
          <a:bodyPr wrap="square" lIns="0" tIns="0" rIns="0" bIns="0" rtlCol="0" anchor="ctr">
            <a:normAutofit/>
          </a:bodyPr>
          <a:lstStyle/>
          <a:p>
            <a:pPr indent="0" marL="0">
              <a:buNone/>
            </a:pPr>
            <a:r>
              <a:rPr lang="en-US" sz="860" dirty="0">
                <a:solidFill>
                  <a:srgbClr val="6D756F"/>
                </a:solidFill>
                <a:latin typeface="Microsoft YaHei" pitchFamily="34" charset="0"/>
                <a:ea typeface="Microsoft YaHei" pitchFamily="34" charset="-122"/>
                <a:cs typeface="Microsoft YaHei" pitchFamily="34" charset="-120"/>
              </a:rPr>
              <a:t>4 条公开来源交叉验证｜事实、影响与后续研判</a:t>
            </a:r>
            <a:endParaRPr lang="en-US" sz="860" dirty="0"/>
          </a:p>
        </p:txBody>
      </p:sp>
      <p:sp>
        <p:nvSpPr>
          <p:cNvPr id="11" name="Shape 9"/>
          <p:cNvSpPr/>
          <p:nvPr/>
        </p:nvSpPr>
        <p:spPr>
          <a:xfrm>
            <a:off x="658368" y="1444752"/>
            <a:ext cx="6510528" cy="1207008"/>
          </a:xfrm>
          <a:prstGeom prst="roundRect">
            <a:avLst>
              <a:gd name="adj" fmla="val 6061"/>
            </a:avLst>
          </a:prstGeom>
          <a:solidFill>
            <a:srgbClr val="F4FAF6"/>
          </a:solidFill>
          <a:ln w="10160">
            <a:solidFill>
              <a:srgbClr val="DADADA"/>
            </a:solidFill>
            <a:prstDash val="solid"/>
          </a:ln>
        </p:spPr>
      </p:sp>
      <p:sp>
        <p:nvSpPr>
          <p:cNvPr id="12" name="Text 10"/>
          <p:cNvSpPr/>
          <p:nvPr/>
        </p:nvSpPr>
        <p:spPr>
          <a:xfrm>
            <a:off x="932688" y="166420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事实判断</a:t>
            </a:r>
            <a:endParaRPr lang="en-US" sz="1080" dirty="0"/>
          </a:p>
        </p:txBody>
      </p:sp>
      <p:sp>
        <p:nvSpPr>
          <p:cNvPr id="13" name="Text 11"/>
          <p:cNvSpPr/>
          <p:nvPr/>
        </p:nvSpPr>
        <p:spPr>
          <a:xfrm>
            <a:off x="2487168" y="1645920"/>
            <a:ext cx="4315968" cy="676656"/>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政策端国内新能源车政策收紧，可能压制四季度磷酸铁锂需求增速；回收端动力电池高值化利用被定性为淘汰赛，叠加脱保潮，合规与回收成本上升。供给端湖南裕能拟20亿元扩产、万华化学二期开工，头部产能继续加码。短期供需矛盾未解，行业盈利修复依赖需求超预期与成本下行。 [1][2][3][4]</a:t>
            </a:r>
            <a:endParaRPr lang="en-US" sz="960" dirty="0"/>
          </a:p>
        </p:txBody>
      </p:sp>
      <p:sp>
        <p:nvSpPr>
          <p:cNvPr id="14" name="Text 12"/>
          <p:cNvSpPr/>
          <p:nvPr/>
        </p:nvSpPr>
        <p:spPr>
          <a:xfrm>
            <a:off x="2487168" y="2432304"/>
            <a:ext cx="3931920" cy="128016"/>
          </a:xfrm>
          <a:prstGeom prst="rect">
            <a:avLst/>
          </a:prstGeom>
          <a:noFill/>
          <a:ln/>
        </p:spPr>
        <p:txBody>
          <a:bodyPr wrap="square" lIns="0" tIns="0" rIns="0" bIns="0" rtlCol="0" anchor="ctr">
            <a:normAutofit/>
          </a:bodyPr>
          <a:lstStyle/>
          <a:p>
            <a:pPr indent="0" marL="0">
              <a:buNone/>
            </a:pPr>
            <a:r>
              <a:rPr lang="en-US" sz="740" dirty="0">
                <a:solidFill>
                  <a:srgbClr val="487052"/>
                </a:solidFill>
                <a:latin typeface="Aptos" pitchFamily="34" charset="0"/>
                <a:ea typeface="Aptos" pitchFamily="34" charset="-122"/>
                <a:cs typeface="Aptos" pitchFamily="34" charset="-120"/>
              </a:rPr>
              <a:t>依据：[1][2][3][4]</a:t>
            </a:r>
            <a:endParaRPr lang="en-US" sz="740" dirty="0"/>
          </a:p>
        </p:txBody>
      </p:sp>
      <p:sp>
        <p:nvSpPr>
          <p:cNvPr id="15" name="Shape 13"/>
          <p:cNvSpPr/>
          <p:nvPr/>
        </p:nvSpPr>
        <p:spPr>
          <a:xfrm>
            <a:off x="658368" y="2907792"/>
            <a:ext cx="6510528" cy="1207008"/>
          </a:xfrm>
          <a:prstGeom prst="roundRect">
            <a:avLst>
              <a:gd name="adj" fmla="val 6061"/>
            </a:avLst>
          </a:prstGeom>
          <a:solidFill>
            <a:srgbClr val="FFFFFF"/>
          </a:solidFill>
          <a:ln w="10160">
            <a:solidFill>
              <a:srgbClr val="DADADA"/>
            </a:solidFill>
            <a:prstDash val="solid"/>
          </a:ln>
        </p:spPr>
      </p:sp>
      <p:sp>
        <p:nvSpPr>
          <p:cNvPr id="16" name="Text 14"/>
          <p:cNvSpPr/>
          <p:nvPr/>
        </p:nvSpPr>
        <p:spPr>
          <a:xfrm>
            <a:off x="932688" y="312724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影响分析</a:t>
            </a:r>
            <a:endParaRPr lang="en-US" sz="1080" dirty="0"/>
          </a:p>
        </p:txBody>
      </p:sp>
      <p:sp>
        <p:nvSpPr>
          <p:cNvPr id="17" name="Text 15"/>
          <p:cNvSpPr/>
          <p:nvPr/>
        </p:nvSpPr>
        <p:spPr>
          <a:xfrm>
            <a:off x="2487168" y="3108960"/>
            <a:ext cx="4315968" cy="822960"/>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电子工程专辑指出国内政策收紧、海外冷热不均，直接影响新能源车销量预期，进而传导至磷酸铁锂正极订单；徐盛明观点与脱保潮报道共同指向回收体系压力，可能推高电池全生命周期成本，间接影响新车定价与磷酸铁锂性价比。裕能扩产与万华二期开工则意味着中期供给增量明确，若需求增速放缓，价格竞争可能加剧。需验证政策收紧的具体力度、回收政策落地节奏及头部企业开工率。</a:t>
            </a:r>
            <a:endParaRPr lang="en-US" sz="960" dirty="0"/>
          </a:p>
        </p:txBody>
      </p:sp>
      <p:sp>
        <p:nvSpPr>
          <p:cNvPr id="18" name="Shape 16"/>
          <p:cNvSpPr/>
          <p:nvPr/>
        </p:nvSpPr>
        <p:spPr>
          <a:xfrm>
            <a:off x="658368" y="4370832"/>
            <a:ext cx="6510528" cy="1207008"/>
          </a:xfrm>
          <a:prstGeom prst="roundRect">
            <a:avLst>
              <a:gd name="adj" fmla="val 6061"/>
            </a:avLst>
          </a:prstGeom>
          <a:solidFill>
            <a:srgbClr val="DDEBE0"/>
          </a:solidFill>
          <a:ln w="13970">
            <a:solidFill>
              <a:srgbClr val="121212"/>
            </a:solidFill>
            <a:prstDash val="solid"/>
          </a:ln>
        </p:spPr>
      </p:sp>
      <p:sp>
        <p:nvSpPr>
          <p:cNvPr id="19" name="Shape 17"/>
          <p:cNvSpPr/>
          <p:nvPr/>
        </p:nvSpPr>
        <p:spPr>
          <a:xfrm>
            <a:off x="658368" y="4370832"/>
            <a:ext cx="109728" cy="1207008"/>
          </a:xfrm>
          <a:prstGeom prst="rect">
            <a:avLst/>
          </a:prstGeom>
          <a:solidFill>
            <a:srgbClr val="121212"/>
          </a:solidFill>
          <a:ln w="12700">
            <a:solidFill>
              <a:srgbClr val="121212"/>
            </a:solidFill>
            <a:prstDash val="solid"/>
          </a:ln>
        </p:spPr>
      </p:sp>
      <p:sp>
        <p:nvSpPr>
          <p:cNvPr id="20" name="Text 18"/>
          <p:cNvSpPr/>
          <p:nvPr/>
        </p:nvSpPr>
        <p:spPr>
          <a:xfrm>
            <a:off x="932688" y="4590288"/>
            <a:ext cx="1417320" cy="256032"/>
          </a:xfrm>
          <a:prstGeom prst="rect">
            <a:avLst/>
          </a:prstGeom>
          <a:noFill/>
          <a:ln/>
        </p:spPr>
        <p:txBody>
          <a:bodyPr wrap="square" lIns="0" tIns="0" rIns="0" bIns="0" rtlCol="0" anchor="ctr">
            <a:normAutofit/>
          </a:bodyPr>
          <a:lstStyle/>
          <a:p>
            <a:pPr indent="0" marL="0">
              <a:buNone/>
            </a:pPr>
            <a:r>
              <a:rPr lang="en-US" sz="1080" b="1" dirty="0">
                <a:solidFill>
                  <a:srgbClr val="121212"/>
                </a:solidFill>
                <a:latin typeface="Microsoft YaHei" pitchFamily="34" charset="0"/>
                <a:ea typeface="Microsoft YaHei" pitchFamily="34" charset="-122"/>
                <a:cs typeface="Microsoft YaHei" pitchFamily="34" charset="-120"/>
              </a:rPr>
              <a:t>后续研判</a:t>
            </a:r>
            <a:endParaRPr lang="en-US" sz="1080" dirty="0"/>
          </a:p>
        </p:txBody>
      </p:sp>
      <p:sp>
        <p:nvSpPr>
          <p:cNvPr id="21" name="Text 19"/>
          <p:cNvSpPr/>
          <p:nvPr/>
        </p:nvSpPr>
        <p:spPr>
          <a:xfrm>
            <a:off x="2487168" y="4572000"/>
            <a:ext cx="4315968" cy="822960"/>
          </a:xfrm>
          <a:prstGeom prst="rect">
            <a:avLst/>
          </a:prstGeom>
          <a:noFill/>
          <a:ln/>
        </p:spPr>
        <p:txBody>
          <a:bodyPr wrap="square" lIns="0" tIns="0" rIns="0" bIns="0" rtlCol="0" anchor="t">
            <a:normAutofit/>
          </a:bodyPr>
          <a:lstStyle/>
          <a:p>
            <a:pPr indent="0" marL="0">
              <a:buNone/>
            </a:pPr>
            <a:r>
              <a:rPr lang="en-US" sz="960" b="1" dirty="0">
                <a:solidFill>
                  <a:srgbClr val="121212"/>
                </a:solidFill>
                <a:latin typeface="Microsoft YaHei" pitchFamily="34" charset="0"/>
                <a:ea typeface="Microsoft YaHei" pitchFamily="34" charset="-122"/>
                <a:cs typeface="Microsoft YaHei" pitchFamily="34" charset="-120"/>
              </a:rPr>
              <a:t>若四季度国内新能源车政策收紧导致销量增速低于预期，则磷酸铁锂正极订单可能环比走弱，加工费承压；若回收政策加速落地，则具备合规回收能力的企业可能获得成本优势。跟踪指标：新能源车月度销量、正极企业开工率、碳酸锂价格、回收白名单企业数量。证据边界：政策细则尚未公布，扩产项目投产时间不确定。</a:t>
            </a:r>
            <a:endParaRPr lang="en-US" sz="960" dirty="0"/>
          </a:p>
        </p:txBody>
      </p:sp>
      <p:sp>
        <p:nvSpPr>
          <p:cNvPr id="22" name="Shape 20"/>
          <p:cNvSpPr/>
          <p:nvPr/>
        </p:nvSpPr>
        <p:spPr>
          <a:xfrm>
            <a:off x="7479792" y="1444752"/>
            <a:ext cx="3273552" cy="3730752"/>
          </a:xfrm>
          <a:prstGeom prst="roundRect">
            <a:avLst>
              <a:gd name="adj" fmla="val 2235"/>
            </a:avLst>
          </a:prstGeom>
          <a:solidFill>
            <a:srgbClr val="FFFFFF"/>
          </a:solidFill>
          <a:ln w="10160">
            <a:solidFill>
              <a:srgbClr val="DADADA"/>
            </a:solidFill>
            <a:prstDash val="solid"/>
          </a:ln>
        </p:spPr>
      </p:sp>
      <p:sp>
        <p:nvSpPr>
          <p:cNvPr id="23" name="Text 21"/>
          <p:cNvSpPr/>
          <p:nvPr/>
        </p:nvSpPr>
        <p:spPr>
          <a:xfrm>
            <a:off x="7726680" y="1700784"/>
            <a:ext cx="2286000" cy="219456"/>
          </a:xfrm>
          <a:prstGeom prst="rect">
            <a:avLst/>
          </a:prstGeom>
          <a:noFill/>
          <a:ln/>
        </p:spPr>
        <p:txBody>
          <a:bodyPr wrap="square" lIns="0" tIns="0" rIns="0" bIns="0" rtlCol="0" anchor="ctr">
            <a:normAutofit/>
          </a:bodyPr>
          <a:lstStyle/>
          <a:p>
            <a:pPr indent="0" marL="0">
              <a:buNone/>
            </a:pPr>
            <a:r>
              <a:rPr lang="en-US" sz="1200" b="1" dirty="0">
                <a:solidFill>
                  <a:srgbClr val="487052"/>
                </a:solidFill>
                <a:latin typeface="Microsoft YaHei" pitchFamily="34" charset="0"/>
                <a:ea typeface="Microsoft YaHei" pitchFamily="34" charset="-122"/>
                <a:cs typeface="Microsoft YaHei" pitchFamily="34" charset="-120"/>
              </a:rPr>
              <a:t>对比矩阵</a:t>
            </a:r>
            <a:endParaRPr lang="en-US" sz="1200" dirty="0"/>
          </a:p>
        </p:txBody>
      </p:sp>
      <p:sp>
        <p:nvSpPr>
          <p:cNvPr id="24" name="Shape 22"/>
          <p:cNvSpPr/>
          <p:nvPr/>
        </p:nvSpPr>
        <p:spPr>
          <a:xfrm>
            <a:off x="7818120" y="2176272"/>
            <a:ext cx="2487168" cy="1609344"/>
          </a:xfrm>
          <a:prstGeom prst="rect">
            <a:avLst/>
          </a:prstGeom>
          <a:solidFill>
            <a:srgbClr val="FFFFFF"/>
          </a:solidFill>
          <a:ln w="10160">
            <a:solidFill>
              <a:srgbClr val="DADADA"/>
            </a:solidFill>
            <a:prstDash val="solid"/>
          </a:ln>
        </p:spPr>
      </p:sp>
      <p:sp>
        <p:nvSpPr>
          <p:cNvPr id="25" name="Shape 23"/>
          <p:cNvSpPr/>
          <p:nvPr/>
        </p:nvSpPr>
        <p:spPr>
          <a:xfrm>
            <a:off x="9061704" y="2176272"/>
            <a:ext cx="0" cy="1609344"/>
          </a:xfrm>
          <a:prstGeom prst="line">
            <a:avLst/>
          </a:prstGeom>
          <a:noFill/>
          <a:ln w="8890">
            <a:solidFill>
              <a:srgbClr val="DADADA"/>
            </a:solidFill>
            <a:prstDash val="solid"/>
          </a:ln>
        </p:spPr>
      </p:sp>
      <p:sp>
        <p:nvSpPr>
          <p:cNvPr id="26" name="Shape 24"/>
          <p:cNvSpPr/>
          <p:nvPr/>
        </p:nvSpPr>
        <p:spPr>
          <a:xfrm>
            <a:off x="7818120" y="2980944"/>
            <a:ext cx="2487168" cy="0"/>
          </a:xfrm>
          <a:prstGeom prst="line">
            <a:avLst/>
          </a:prstGeom>
          <a:noFill/>
          <a:ln w="8890">
            <a:solidFill>
              <a:srgbClr val="DADADA"/>
            </a:solidFill>
            <a:prstDash val="solid"/>
          </a:ln>
        </p:spPr>
      </p:sp>
      <p:sp>
        <p:nvSpPr>
          <p:cNvPr id="27" name="Shape 25"/>
          <p:cNvSpPr/>
          <p:nvPr/>
        </p:nvSpPr>
        <p:spPr>
          <a:xfrm>
            <a:off x="7818120" y="2176272"/>
            <a:ext cx="1243584" cy="804672"/>
          </a:xfrm>
          <a:prstGeom prst="rect">
            <a:avLst/>
          </a:prstGeom>
          <a:solidFill>
            <a:srgbClr val="DDEBE0"/>
          </a:solidFill>
          <a:ln w="3810">
            <a:solidFill>
              <a:srgbClr val="DADADA"/>
            </a:solidFill>
            <a:prstDash val="solid"/>
          </a:ln>
        </p:spPr>
      </p:sp>
      <p:sp>
        <p:nvSpPr>
          <p:cNvPr id="28" name="Text 26"/>
          <p:cNvSpPr/>
          <p:nvPr/>
        </p:nvSpPr>
        <p:spPr>
          <a:xfrm>
            <a:off x="7891272" y="2286000"/>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路线A</a:t>
            </a:r>
            <a:endParaRPr lang="en-US" sz="710" dirty="0"/>
          </a:p>
        </p:txBody>
      </p:sp>
      <p:sp>
        <p:nvSpPr>
          <p:cNvPr id="29" name="Text 27"/>
          <p:cNvSpPr/>
          <p:nvPr/>
        </p:nvSpPr>
        <p:spPr>
          <a:xfrm>
            <a:off x="7891272" y="2505456"/>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政策端国内新能源车政策收紧</a:t>
            </a:r>
            <a:endParaRPr lang="en-US" sz="670" dirty="0"/>
          </a:p>
        </p:txBody>
      </p:sp>
      <p:sp>
        <p:nvSpPr>
          <p:cNvPr id="30" name="Shape 28"/>
          <p:cNvSpPr/>
          <p:nvPr/>
        </p:nvSpPr>
        <p:spPr>
          <a:xfrm>
            <a:off x="9061704" y="2176272"/>
            <a:ext cx="1243584" cy="804672"/>
          </a:xfrm>
          <a:prstGeom prst="rect">
            <a:avLst/>
          </a:prstGeom>
          <a:solidFill>
            <a:srgbClr val="FFFFFF"/>
          </a:solidFill>
          <a:ln w="3810">
            <a:solidFill>
              <a:srgbClr val="DADADA"/>
            </a:solidFill>
            <a:prstDash val="solid"/>
          </a:ln>
        </p:spPr>
      </p:sp>
      <p:sp>
        <p:nvSpPr>
          <p:cNvPr id="31" name="Text 29"/>
          <p:cNvSpPr/>
          <p:nvPr/>
        </p:nvSpPr>
        <p:spPr>
          <a:xfrm>
            <a:off x="9134856" y="2286000"/>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路线B</a:t>
            </a:r>
            <a:endParaRPr lang="en-US" sz="710" dirty="0"/>
          </a:p>
        </p:txBody>
      </p:sp>
      <p:sp>
        <p:nvSpPr>
          <p:cNvPr id="32" name="Text 30"/>
          <p:cNvSpPr/>
          <p:nvPr/>
        </p:nvSpPr>
        <p:spPr>
          <a:xfrm>
            <a:off x="9134856" y="2505456"/>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回收端动力电池高值化利用被</a:t>
            </a:r>
            <a:endParaRPr lang="en-US" sz="670" dirty="0"/>
          </a:p>
        </p:txBody>
      </p:sp>
      <p:sp>
        <p:nvSpPr>
          <p:cNvPr id="33" name="Shape 31"/>
          <p:cNvSpPr/>
          <p:nvPr/>
        </p:nvSpPr>
        <p:spPr>
          <a:xfrm>
            <a:off x="7818120" y="2980944"/>
            <a:ext cx="1243584" cy="804672"/>
          </a:xfrm>
          <a:prstGeom prst="rect">
            <a:avLst/>
          </a:prstGeom>
          <a:solidFill>
            <a:srgbClr val="FFFFFF"/>
          </a:solidFill>
          <a:ln w="3810">
            <a:solidFill>
              <a:srgbClr val="DADADA"/>
            </a:solidFill>
            <a:prstDash val="solid"/>
          </a:ln>
        </p:spPr>
      </p:sp>
      <p:sp>
        <p:nvSpPr>
          <p:cNvPr id="34" name="Text 32"/>
          <p:cNvSpPr/>
          <p:nvPr/>
        </p:nvSpPr>
        <p:spPr>
          <a:xfrm>
            <a:off x="7891272" y="3090672"/>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机会</a:t>
            </a:r>
            <a:endParaRPr lang="en-US" sz="710" dirty="0"/>
          </a:p>
        </p:txBody>
      </p:sp>
      <p:sp>
        <p:nvSpPr>
          <p:cNvPr id="35" name="Text 33"/>
          <p:cNvSpPr/>
          <p:nvPr/>
        </p:nvSpPr>
        <p:spPr>
          <a:xfrm>
            <a:off x="7891272" y="3310128"/>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供给端湖南裕能拟20亿元扩</a:t>
            </a:r>
            <a:endParaRPr lang="en-US" sz="670" dirty="0"/>
          </a:p>
        </p:txBody>
      </p:sp>
      <p:sp>
        <p:nvSpPr>
          <p:cNvPr id="36" name="Shape 34"/>
          <p:cNvSpPr/>
          <p:nvPr/>
        </p:nvSpPr>
        <p:spPr>
          <a:xfrm>
            <a:off x="9061704" y="2980944"/>
            <a:ext cx="1243584" cy="804672"/>
          </a:xfrm>
          <a:prstGeom prst="rect">
            <a:avLst/>
          </a:prstGeom>
          <a:solidFill>
            <a:srgbClr val="F4FAF6"/>
          </a:solidFill>
          <a:ln w="3810">
            <a:solidFill>
              <a:srgbClr val="DADADA"/>
            </a:solidFill>
            <a:prstDash val="solid"/>
          </a:ln>
        </p:spPr>
      </p:sp>
      <p:sp>
        <p:nvSpPr>
          <p:cNvPr id="37" name="Text 35"/>
          <p:cNvSpPr/>
          <p:nvPr/>
        </p:nvSpPr>
        <p:spPr>
          <a:xfrm>
            <a:off x="9134856" y="3090672"/>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约束</a:t>
            </a:r>
            <a:endParaRPr lang="en-US" sz="710" dirty="0"/>
          </a:p>
        </p:txBody>
      </p:sp>
      <p:sp>
        <p:nvSpPr>
          <p:cNvPr id="38" name="Text 36"/>
          <p:cNvSpPr/>
          <p:nvPr/>
        </p:nvSpPr>
        <p:spPr>
          <a:xfrm>
            <a:off x="9134856" y="3310128"/>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政策端国内新能源车政策收紧</a:t>
            </a:r>
            <a:endParaRPr lang="en-US" sz="670" dirty="0"/>
          </a:p>
        </p:txBody>
      </p:sp>
      <p:sp>
        <p:nvSpPr>
          <p:cNvPr id="39" name="Text 37"/>
          <p:cNvSpPr/>
          <p:nvPr/>
        </p:nvSpPr>
        <p:spPr>
          <a:xfrm>
            <a:off x="7726680" y="4187952"/>
            <a:ext cx="2697480" cy="493776"/>
          </a:xfrm>
          <a:prstGeom prst="rect">
            <a:avLst/>
          </a:prstGeom>
          <a:noFill/>
          <a:ln/>
        </p:spPr>
        <p:txBody>
          <a:bodyPr wrap="square" lIns="0" tIns="0" rIns="0" bIns="0" rtlCol="0" anchor="t">
            <a:normAutofit/>
          </a:bodyPr>
          <a:lstStyle/>
          <a:p>
            <a:pPr indent="0" marL="0">
              <a:buNone/>
            </a:pPr>
            <a:r>
              <a:rPr lang="en-US" sz="760" dirty="0">
                <a:solidFill>
                  <a:srgbClr val="6D756F"/>
                </a:solidFill>
                <a:latin typeface="Microsoft YaHei" pitchFamily="34" charset="0"/>
                <a:ea typeface="Microsoft YaHei" pitchFamily="34" charset="-122"/>
                <a:cs typeface="Microsoft YaHei" pitchFamily="34" charset="-120"/>
              </a:rPr>
              <a:t>检测到对比/分类信号，用矩阵压缩呈现，不新增外部判断。</a:t>
            </a:r>
            <a:endParaRPr lang="en-US" sz="760" dirty="0"/>
          </a:p>
        </p:txBody>
      </p:sp>
      <p:sp>
        <p:nvSpPr>
          <p:cNvPr id="40" name="Shape 38"/>
          <p:cNvSpPr/>
          <p:nvPr/>
        </p:nvSpPr>
        <p:spPr>
          <a:xfrm>
            <a:off x="658368" y="5779008"/>
            <a:ext cx="1463040" cy="292608"/>
          </a:xfrm>
          <a:prstGeom prst="rect">
            <a:avLst/>
          </a:prstGeom>
          <a:solidFill>
            <a:srgbClr val="121212"/>
          </a:solidFill>
          <a:ln w="12700">
            <a:solidFill>
              <a:srgbClr val="121212"/>
            </a:solidFill>
            <a:prstDash val="solid"/>
          </a:ln>
        </p:spPr>
      </p:sp>
      <p:sp>
        <p:nvSpPr>
          <p:cNvPr id="41" name="Text 39"/>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核心研判</a:t>
            </a:r>
            <a:endParaRPr lang="en-US" sz="780" dirty="0"/>
          </a:p>
        </p:txBody>
      </p:sp>
      <p:sp>
        <p:nvSpPr>
          <p:cNvPr id="42" name="Text 40"/>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若四季度国内新能源车政策收紧导致销量增速低于预期，则磷酸铁锂正极订单可能环比走弱，加工费承压</a:t>
            </a:r>
            <a:endParaRPr lang="en-US" sz="10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4.</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SECTION DEEP DIVE</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2026-10-27</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04</a:t>
            </a:r>
            <a:endParaRPr lang="en-US" sz="730" dirty="0"/>
          </a:p>
        </p:txBody>
      </p:sp>
      <p:sp>
        <p:nvSpPr>
          <p:cNvPr id="9" name="Text 7"/>
          <p:cNvSpPr/>
          <p:nvPr/>
        </p:nvSpPr>
        <p:spPr>
          <a:xfrm>
            <a:off x="658368" y="914400"/>
            <a:ext cx="3200400" cy="384048"/>
          </a:xfrm>
          <a:prstGeom prst="rect">
            <a:avLst/>
          </a:prstGeom>
          <a:noFill/>
          <a:ln/>
        </p:spPr>
        <p:txBody>
          <a:bodyPr wrap="square" lIns="0" tIns="0" rIns="0" bIns="0" rtlCol="0" anchor="ctr">
            <a:normAutofit/>
          </a:bodyP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技术/产品路线</a:t>
            </a:r>
            <a:endParaRPr lang="en-US" sz="2000" dirty="0"/>
          </a:p>
        </p:txBody>
      </p:sp>
      <p:sp>
        <p:nvSpPr>
          <p:cNvPr id="10" name="Text 8"/>
          <p:cNvSpPr/>
          <p:nvPr/>
        </p:nvSpPr>
        <p:spPr>
          <a:xfrm>
            <a:off x="3749040" y="1005840"/>
            <a:ext cx="7132320" cy="182880"/>
          </a:xfrm>
          <a:prstGeom prst="rect">
            <a:avLst/>
          </a:prstGeom>
          <a:noFill/>
          <a:ln/>
        </p:spPr>
        <p:txBody>
          <a:bodyPr wrap="square" lIns="0" tIns="0" rIns="0" bIns="0" rtlCol="0" anchor="ctr">
            <a:normAutofit/>
          </a:bodyPr>
          <a:lstStyle/>
          <a:p>
            <a:pPr indent="0" marL="0">
              <a:buNone/>
            </a:pPr>
            <a:r>
              <a:rPr lang="en-US" sz="860" dirty="0">
                <a:solidFill>
                  <a:srgbClr val="6D756F"/>
                </a:solidFill>
                <a:latin typeface="Microsoft YaHei" pitchFamily="34" charset="0"/>
                <a:ea typeface="Microsoft YaHei" pitchFamily="34" charset="-122"/>
                <a:cs typeface="Microsoft YaHei" pitchFamily="34" charset="-120"/>
              </a:rPr>
              <a:t>2 条公开来源交叉验证｜事实、影响与后续研判</a:t>
            </a:r>
            <a:endParaRPr lang="en-US" sz="860" dirty="0"/>
          </a:p>
        </p:txBody>
      </p:sp>
      <p:sp>
        <p:nvSpPr>
          <p:cNvPr id="11" name="Shape 9"/>
          <p:cNvSpPr/>
          <p:nvPr/>
        </p:nvSpPr>
        <p:spPr>
          <a:xfrm>
            <a:off x="658368" y="1444752"/>
            <a:ext cx="6510528" cy="1207008"/>
          </a:xfrm>
          <a:prstGeom prst="roundRect">
            <a:avLst>
              <a:gd name="adj" fmla="val 6061"/>
            </a:avLst>
          </a:prstGeom>
          <a:solidFill>
            <a:srgbClr val="F4FAF6"/>
          </a:solidFill>
          <a:ln w="10160">
            <a:solidFill>
              <a:srgbClr val="DADADA"/>
            </a:solidFill>
            <a:prstDash val="solid"/>
          </a:ln>
        </p:spPr>
      </p:sp>
      <p:sp>
        <p:nvSpPr>
          <p:cNvPr id="12" name="Text 10"/>
          <p:cNvSpPr/>
          <p:nvPr/>
        </p:nvSpPr>
        <p:spPr>
          <a:xfrm>
            <a:off x="932688" y="166420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事实判断</a:t>
            </a:r>
            <a:endParaRPr lang="en-US" sz="1080" dirty="0"/>
          </a:p>
        </p:txBody>
      </p:sp>
      <p:sp>
        <p:nvSpPr>
          <p:cNvPr id="13" name="Text 11"/>
          <p:cNvSpPr/>
          <p:nvPr/>
        </p:nvSpPr>
        <p:spPr>
          <a:xfrm>
            <a:off x="2487168" y="1645920"/>
            <a:ext cx="4315968" cy="676656"/>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零跑与海泰科服投资企业签约攻坚前沿电池技术，但未明确磷酸铁锂路线；江西拓智科技以激光精焊技术守护动力电池安全，属于制造工艺改进。当前磷酸铁锂技术路线仍以成本与安全为核心，前沿技术合作可能分散对磷酸铁锂的研发资源，但短期影响有限。 [5][6]</a:t>
            </a:r>
            <a:endParaRPr lang="en-US" sz="960" dirty="0"/>
          </a:p>
        </p:txBody>
      </p:sp>
      <p:sp>
        <p:nvSpPr>
          <p:cNvPr id="14" name="Text 12"/>
          <p:cNvSpPr/>
          <p:nvPr/>
        </p:nvSpPr>
        <p:spPr>
          <a:xfrm>
            <a:off x="2487168" y="2432304"/>
            <a:ext cx="3931920" cy="128016"/>
          </a:xfrm>
          <a:prstGeom prst="rect">
            <a:avLst/>
          </a:prstGeom>
          <a:noFill/>
          <a:ln/>
        </p:spPr>
        <p:txBody>
          <a:bodyPr wrap="square" lIns="0" tIns="0" rIns="0" bIns="0" rtlCol="0" anchor="ctr">
            <a:normAutofit/>
          </a:bodyPr>
          <a:lstStyle/>
          <a:p>
            <a:pPr indent="0" marL="0">
              <a:buNone/>
            </a:pPr>
            <a:r>
              <a:rPr lang="en-US" sz="740" dirty="0">
                <a:solidFill>
                  <a:srgbClr val="487052"/>
                </a:solidFill>
                <a:latin typeface="Aptos" pitchFamily="34" charset="0"/>
                <a:ea typeface="Aptos" pitchFamily="34" charset="-122"/>
                <a:cs typeface="Aptos" pitchFamily="34" charset="-120"/>
              </a:rPr>
              <a:t>依据：[5][6]</a:t>
            </a:r>
            <a:endParaRPr lang="en-US" sz="740" dirty="0"/>
          </a:p>
        </p:txBody>
      </p:sp>
      <p:sp>
        <p:nvSpPr>
          <p:cNvPr id="15" name="Shape 13"/>
          <p:cNvSpPr/>
          <p:nvPr/>
        </p:nvSpPr>
        <p:spPr>
          <a:xfrm>
            <a:off x="658368" y="2907792"/>
            <a:ext cx="6510528" cy="1207008"/>
          </a:xfrm>
          <a:prstGeom prst="roundRect">
            <a:avLst>
              <a:gd name="adj" fmla="val 6061"/>
            </a:avLst>
          </a:prstGeom>
          <a:solidFill>
            <a:srgbClr val="FFFFFF"/>
          </a:solidFill>
          <a:ln w="10160">
            <a:solidFill>
              <a:srgbClr val="DADADA"/>
            </a:solidFill>
            <a:prstDash val="solid"/>
          </a:ln>
        </p:spPr>
      </p:sp>
      <p:sp>
        <p:nvSpPr>
          <p:cNvPr id="16" name="Text 14"/>
          <p:cNvSpPr/>
          <p:nvPr/>
        </p:nvSpPr>
        <p:spPr>
          <a:xfrm>
            <a:off x="932688" y="312724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影响分析</a:t>
            </a:r>
            <a:endParaRPr lang="en-US" sz="1080" dirty="0"/>
          </a:p>
        </p:txBody>
      </p:sp>
      <p:sp>
        <p:nvSpPr>
          <p:cNvPr id="17" name="Text 15"/>
          <p:cNvSpPr/>
          <p:nvPr/>
        </p:nvSpPr>
        <p:spPr>
          <a:xfrm>
            <a:off x="2487168" y="3108960"/>
            <a:ext cx="4315968" cy="822960"/>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碳索储能网报道零跑合作聚焦前沿电池技术，若指向固态或高镍路线，可能在中长期削弱磷酸铁锂在部分车型的份额；搜狐网报道的激光精焊技术属于电池制造环节，对磷酸铁锂电池安全性和良率有正面意义，但未改变材料体系竞争格局。需进一步确认零跑合作的技术方向及量产时间表，以及激光精焊在磷酸铁锂产线的渗透率。</a:t>
            </a:r>
            <a:endParaRPr lang="en-US" sz="960" dirty="0"/>
          </a:p>
        </p:txBody>
      </p:sp>
      <p:sp>
        <p:nvSpPr>
          <p:cNvPr id="18" name="Shape 16"/>
          <p:cNvSpPr/>
          <p:nvPr/>
        </p:nvSpPr>
        <p:spPr>
          <a:xfrm>
            <a:off x="658368" y="4370832"/>
            <a:ext cx="6510528" cy="1207008"/>
          </a:xfrm>
          <a:prstGeom prst="roundRect">
            <a:avLst>
              <a:gd name="adj" fmla="val 6061"/>
            </a:avLst>
          </a:prstGeom>
          <a:solidFill>
            <a:srgbClr val="DDEBE0"/>
          </a:solidFill>
          <a:ln w="13970">
            <a:solidFill>
              <a:srgbClr val="121212"/>
            </a:solidFill>
            <a:prstDash val="solid"/>
          </a:ln>
        </p:spPr>
      </p:sp>
      <p:sp>
        <p:nvSpPr>
          <p:cNvPr id="19" name="Shape 17"/>
          <p:cNvSpPr/>
          <p:nvPr/>
        </p:nvSpPr>
        <p:spPr>
          <a:xfrm>
            <a:off x="658368" y="4370832"/>
            <a:ext cx="109728" cy="1207008"/>
          </a:xfrm>
          <a:prstGeom prst="rect">
            <a:avLst/>
          </a:prstGeom>
          <a:solidFill>
            <a:srgbClr val="121212"/>
          </a:solidFill>
          <a:ln w="12700">
            <a:solidFill>
              <a:srgbClr val="121212"/>
            </a:solidFill>
            <a:prstDash val="solid"/>
          </a:ln>
        </p:spPr>
      </p:sp>
      <p:sp>
        <p:nvSpPr>
          <p:cNvPr id="20" name="Text 18"/>
          <p:cNvSpPr/>
          <p:nvPr/>
        </p:nvSpPr>
        <p:spPr>
          <a:xfrm>
            <a:off x="932688" y="4590288"/>
            <a:ext cx="1417320" cy="256032"/>
          </a:xfrm>
          <a:prstGeom prst="rect">
            <a:avLst/>
          </a:prstGeom>
          <a:noFill/>
          <a:ln/>
        </p:spPr>
        <p:txBody>
          <a:bodyPr wrap="square" lIns="0" tIns="0" rIns="0" bIns="0" rtlCol="0" anchor="ctr">
            <a:normAutofit/>
          </a:bodyPr>
          <a:lstStyle/>
          <a:p>
            <a:pPr indent="0" marL="0">
              <a:buNone/>
            </a:pPr>
            <a:r>
              <a:rPr lang="en-US" sz="1080" b="1" dirty="0">
                <a:solidFill>
                  <a:srgbClr val="121212"/>
                </a:solidFill>
                <a:latin typeface="Microsoft YaHei" pitchFamily="34" charset="0"/>
                <a:ea typeface="Microsoft YaHei" pitchFamily="34" charset="-122"/>
                <a:cs typeface="Microsoft YaHei" pitchFamily="34" charset="-120"/>
              </a:rPr>
              <a:t>后续研判</a:t>
            </a:r>
            <a:endParaRPr lang="en-US" sz="1080" dirty="0"/>
          </a:p>
        </p:txBody>
      </p:sp>
      <p:sp>
        <p:nvSpPr>
          <p:cNvPr id="21" name="Text 19"/>
          <p:cNvSpPr/>
          <p:nvPr/>
        </p:nvSpPr>
        <p:spPr>
          <a:xfrm>
            <a:off x="2487168" y="4572000"/>
            <a:ext cx="4315968" cy="822960"/>
          </a:xfrm>
          <a:prstGeom prst="rect">
            <a:avLst/>
          </a:prstGeom>
          <a:noFill/>
          <a:ln/>
        </p:spPr>
        <p:txBody>
          <a:bodyPr wrap="square" lIns="0" tIns="0" rIns="0" bIns="0" rtlCol="0" anchor="t">
            <a:normAutofit/>
          </a:bodyPr>
          <a:lstStyle/>
          <a:p>
            <a:pPr indent="0" marL="0">
              <a:buNone/>
            </a:pPr>
            <a:r>
              <a:rPr lang="en-US" sz="960" b="1" dirty="0">
                <a:solidFill>
                  <a:srgbClr val="121212"/>
                </a:solidFill>
                <a:latin typeface="Microsoft YaHei" pitchFamily="34" charset="0"/>
                <a:ea typeface="Microsoft YaHei" pitchFamily="34" charset="-122"/>
                <a:cs typeface="Microsoft YaHei" pitchFamily="34" charset="-120"/>
              </a:rPr>
              <a:t>若零跑合作技术路线为非磷酸铁锂体系且2027年前量产，则磷酸铁锂在中低端车型的份额可能被部分替代；若激光精焊在磷酸铁锂产线快速推广，则电池安全性能提升可能降低质保成本。跟踪指标：零跑电池技术路线公告、激光精焊设备订单、磷酸铁锂车型占比。证据边界：合作技术细节未披露，量产时间不确定。</a:t>
            </a:r>
            <a:endParaRPr lang="en-US" sz="960" dirty="0"/>
          </a:p>
        </p:txBody>
      </p:sp>
      <p:sp>
        <p:nvSpPr>
          <p:cNvPr id="22" name="Shape 20"/>
          <p:cNvSpPr/>
          <p:nvPr/>
        </p:nvSpPr>
        <p:spPr>
          <a:xfrm>
            <a:off x="7479792" y="1444752"/>
            <a:ext cx="3273552" cy="3730752"/>
          </a:xfrm>
          <a:prstGeom prst="roundRect">
            <a:avLst>
              <a:gd name="adj" fmla="val 2235"/>
            </a:avLst>
          </a:prstGeom>
          <a:solidFill>
            <a:srgbClr val="FFFFFF"/>
          </a:solidFill>
          <a:ln w="10160">
            <a:solidFill>
              <a:srgbClr val="DADADA"/>
            </a:solidFill>
            <a:prstDash val="solid"/>
          </a:ln>
        </p:spPr>
      </p:sp>
      <p:sp>
        <p:nvSpPr>
          <p:cNvPr id="23" name="Text 21"/>
          <p:cNvSpPr/>
          <p:nvPr/>
        </p:nvSpPr>
        <p:spPr>
          <a:xfrm>
            <a:off x="7726680" y="1700784"/>
            <a:ext cx="2286000" cy="219456"/>
          </a:xfrm>
          <a:prstGeom prst="rect">
            <a:avLst/>
          </a:prstGeom>
          <a:noFill/>
          <a:ln/>
        </p:spPr>
        <p:txBody>
          <a:bodyPr wrap="square" lIns="0" tIns="0" rIns="0" bIns="0" rtlCol="0" anchor="ctr">
            <a:normAutofit/>
          </a:bodyPr>
          <a:lstStyle/>
          <a:p>
            <a:pPr indent="0" marL="0">
              <a:buNone/>
            </a:pPr>
            <a:r>
              <a:rPr lang="en-US" sz="1200" b="1" dirty="0">
                <a:solidFill>
                  <a:srgbClr val="487052"/>
                </a:solidFill>
                <a:latin typeface="Microsoft YaHei" pitchFamily="34" charset="0"/>
                <a:ea typeface="Microsoft YaHei" pitchFamily="34" charset="-122"/>
                <a:cs typeface="Microsoft YaHei" pitchFamily="34" charset="-120"/>
              </a:rPr>
              <a:t>对比矩阵</a:t>
            </a:r>
            <a:endParaRPr lang="en-US" sz="1200" dirty="0"/>
          </a:p>
        </p:txBody>
      </p:sp>
      <p:sp>
        <p:nvSpPr>
          <p:cNvPr id="24" name="Shape 22"/>
          <p:cNvSpPr/>
          <p:nvPr/>
        </p:nvSpPr>
        <p:spPr>
          <a:xfrm>
            <a:off x="7818120" y="2176272"/>
            <a:ext cx="2487168" cy="1609344"/>
          </a:xfrm>
          <a:prstGeom prst="rect">
            <a:avLst/>
          </a:prstGeom>
          <a:solidFill>
            <a:srgbClr val="FFFFFF"/>
          </a:solidFill>
          <a:ln w="10160">
            <a:solidFill>
              <a:srgbClr val="DADADA"/>
            </a:solidFill>
            <a:prstDash val="solid"/>
          </a:ln>
        </p:spPr>
      </p:sp>
      <p:sp>
        <p:nvSpPr>
          <p:cNvPr id="25" name="Shape 23"/>
          <p:cNvSpPr/>
          <p:nvPr/>
        </p:nvSpPr>
        <p:spPr>
          <a:xfrm>
            <a:off x="9061704" y="2176272"/>
            <a:ext cx="0" cy="1609344"/>
          </a:xfrm>
          <a:prstGeom prst="line">
            <a:avLst/>
          </a:prstGeom>
          <a:noFill/>
          <a:ln w="8890">
            <a:solidFill>
              <a:srgbClr val="DADADA"/>
            </a:solidFill>
            <a:prstDash val="solid"/>
          </a:ln>
        </p:spPr>
      </p:sp>
      <p:sp>
        <p:nvSpPr>
          <p:cNvPr id="26" name="Shape 24"/>
          <p:cNvSpPr/>
          <p:nvPr/>
        </p:nvSpPr>
        <p:spPr>
          <a:xfrm>
            <a:off x="7818120" y="2980944"/>
            <a:ext cx="2487168" cy="0"/>
          </a:xfrm>
          <a:prstGeom prst="line">
            <a:avLst/>
          </a:prstGeom>
          <a:noFill/>
          <a:ln w="8890">
            <a:solidFill>
              <a:srgbClr val="DADADA"/>
            </a:solidFill>
            <a:prstDash val="solid"/>
          </a:ln>
        </p:spPr>
      </p:sp>
      <p:sp>
        <p:nvSpPr>
          <p:cNvPr id="27" name="Shape 25"/>
          <p:cNvSpPr/>
          <p:nvPr/>
        </p:nvSpPr>
        <p:spPr>
          <a:xfrm>
            <a:off x="7818120" y="2176272"/>
            <a:ext cx="1243584" cy="804672"/>
          </a:xfrm>
          <a:prstGeom prst="rect">
            <a:avLst/>
          </a:prstGeom>
          <a:solidFill>
            <a:srgbClr val="DDEBE0"/>
          </a:solidFill>
          <a:ln w="3810">
            <a:solidFill>
              <a:srgbClr val="DADADA"/>
            </a:solidFill>
            <a:prstDash val="solid"/>
          </a:ln>
        </p:spPr>
      </p:sp>
      <p:sp>
        <p:nvSpPr>
          <p:cNvPr id="28" name="Text 26"/>
          <p:cNvSpPr/>
          <p:nvPr/>
        </p:nvSpPr>
        <p:spPr>
          <a:xfrm>
            <a:off x="7891272" y="2286000"/>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路线A</a:t>
            </a:r>
            <a:endParaRPr lang="en-US" sz="710" dirty="0"/>
          </a:p>
        </p:txBody>
      </p:sp>
      <p:sp>
        <p:nvSpPr>
          <p:cNvPr id="29" name="Text 27"/>
          <p:cNvSpPr/>
          <p:nvPr/>
        </p:nvSpPr>
        <p:spPr>
          <a:xfrm>
            <a:off x="7891272" y="2505456"/>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零跑与海泰科服投资企业签约</a:t>
            </a:r>
            <a:endParaRPr lang="en-US" sz="670" dirty="0"/>
          </a:p>
        </p:txBody>
      </p:sp>
      <p:sp>
        <p:nvSpPr>
          <p:cNvPr id="30" name="Shape 28"/>
          <p:cNvSpPr/>
          <p:nvPr/>
        </p:nvSpPr>
        <p:spPr>
          <a:xfrm>
            <a:off x="9061704" y="2176272"/>
            <a:ext cx="1243584" cy="804672"/>
          </a:xfrm>
          <a:prstGeom prst="rect">
            <a:avLst/>
          </a:prstGeom>
          <a:solidFill>
            <a:srgbClr val="FFFFFF"/>
          </a:solidFill>
          <a:ln w="3810">
            <a:solidFill>
              <a:srgbClr val="DADADA"/>
            </a:solidFill>
            <a:prstDash val="solid"/>
          </a:ln>
        </p:spPr>
      </p:sp>
      <p:sp>
        <p:nvSpPr>
          <p:cNvPr id="31" name="Text 29"/>
          <p:cNvSpPr/>
          <p:nvPr/>
        </p:nvSpPr>
        <p:spPr>
          <a:xfrm>
            <a:off x="9134856" y="2286000"/>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路线B</a:t>
            </a:r>
            <a:endParaRPr lang="en-US" sz="710" dirty="0"/>
          </a:p>
        </p:txBody>
      </p:sp>
      <p:sp>
        <p:nvSpPr>
          <p:cNvPr id="32" name="Text 30"/>
          <p:cNvSpPr/>
          <p:nvPr/>
        </p:nvSpPr>
        <p:spPr>
          <a:xfrm>
            <a:off x="9134856" y="2505456"/>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江西拓智科技以激光精焊技术</a:t>
            </a:r>
            <a:endParaRPr lang="en-US" sz="670" dirty="0"/>
          </a:p>
        </p:txBody>
      </p:sp>
      <p:sp>
        <p:nvSpPr>
          <p:cNvPr id="33" name="Shape 31"/>
          <p:cNvSpPr/>
          <p:nvPr/>
        </p:nvSpPr>
        <p:spPr>
          <a:xfrm>
            <a:off x="7818120" y="2980944"/>
            <a:ext cx="1243584" cy="804672"/>
          </a:xfrm>
          <a:prstGeom prst="rect">
            <a:avLst/>
          </a:prstGeom>
          <a:solidFill>
            <a:srgbClr val="FFFFFF"/>
          </a:solidFill>
          <a:ln w="3810">
            <a:solidFill>
              <a:srgbClr val="DADADA"/>
            </a:solidFill>
            <a:prstDash val="solid"/>
          </a:ln>
        </p:spPr>
      </p:sp>
      <p:sp>
        <p:nvSpPr>
          <p:cNvPr id="34" name="Text 32"/>
          <p:cNvSpPr/>
          <p:nvPr/>
        </p:nvSpPr>
        <p:spPr>
          <a:xfrm>
            <a:off x="7891272" y="3090672"/>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机会</a:t>
            </a:r>
            <a:endParaRPr lang="en-US" sz="710" dirty="0"/>
          </a:p>
        </p:txBody>
      </p:sp>
      <p:sp>
        <p:nvSpPr>
          <p:cNvPr id="35" name="Text 33"/>
          <p:cNvSpPr/>
          <p:nvPr/>
        </p:nvSpPr>
        <p:spPr>
          <a:xfrm>
            <a:off x="7891272" y="3310128"/>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当前磷酸铁锂技术路线仍以成</a:t>
            </a:r>
            <a:endParaRPr lang="en-US" sz="670" dirty="0"/>
          </a:p>
        </p:txBody>
      </p:sp>
      <p:sp>
        <p:nvSpPr>
          <p:cNvPr id="36" name="Shape 34"/>
          <p:cNvSpPr/>
          <p:nvPr/>
        </p:nvSpPr>
        <p:spPr>
          <a:xfrm>
            <a:off x="9061704" y="2980944"/>
            <a:ext cx="1243584" cy="804672"/>
          </a:xfrm>
          <a:prstGeom prst="rect">
            <a:avLst/>
          </a:prstGeom>
          <a:solidFill>
            <a:srgbClr val="F4FAF6"/>
          </a:solidFill>
          <a:ln w="3810">
            <a:solidFill>
              <a:srgbClr val="DADADA"/>
            </a:solidFill>
            <a:prstDash val="solid"/>
          </a:ln>
        </p:spPr>
      </p:sp>
      <p:sp>
        <p:nvSpPr>
          <p:cNvPr id="37" name="Text 35"/>
          <p:cNvSpPr/>
          <p:nvPr/>
        </p:nvSpPr>
        <p:spPr>
          <a:xfrm>
            <a:off x="9134856" y="3090672"/>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约束</a:t>
            </a:r>
            <a:endParaRPr lang="en-US" sz="710" dirty="0"/>
          </a:p>
        </p:txBody>
      </p:sp>
      <p:sp>
        <p:nvSpPr>
          <p:cNvPr id="38" name="Text 36"/>
          <p:cNvSpPr/>
          <p:nvPr/>
        </p:nvSpPr>
        <p:spPr>
          <a:xfrm>
            <a:off x="9134856" y="3310128"/>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零跑与海泰科服投资企业签约</a:t>
            </a:r>
            <a:endParaRPr lang="en-US" sz="670" dirty="0"/>
          </a:p>
        </p:txBody>
      </p:sp>
      <p:sp>
        <p:nvSpPr>
          <p:cNvPr id="39" name="Text 37"/>
          <p:cNvSpPr/>
          <p:nvPr/>
        </p:nvSpPr>
        <p:spPr>
          <a:xfrm>
            <a:off x="7726680" y="4187952"/>
            <a:ext cx="2697480" cy="493776"/>
          </a:xfrm>
          <a:prstGeom prst="rect">
            <a:avLst/>
          </a:prstGeom>
          <a:noFill/>
          <a:ln/>
        </p:spPr>
        <p:txBody>
          <a:bodyPr wrap="square" lIns="0" tIns="0" rIns="0" bIns="0" rtlCol="0" anchor="t">
            <a:normAutofit/>
          </a:bodyPr>
          <a:lstStyle/>
          <a:p>
            <a:pPr indent="0" marL="0">
              <a:buNone/>
            </a:pPr>
            <a:r>
              <a:rPr lang="en-US" sz="760" dirty="0">
                <a:solidFill>
                  <a:srgbClr val="6D756F"/>
                </a:solidFill>
                <a:latin typeface="Microsoft YaHei" pitchFamily="34" charset="0"/>
                <a:ea typeface="Microsoft YaHei" pitchFamily="34" charset="-122"/>
                <a:cs typeface="Microsoft YaHei" pitchFamily="34" charset="-120"/>
              </a:rPr>
              <a:t>检测到对比/分类信号，用矩阵压缩呈现，不新增外部判断。</a:t>
            </a:r>
            <a:endParaRPr lang="en-US" sz="760" dirty="0"/>
          </a:p>
        </p:txBody>
      </p:sp>
      <p:sp>
        <p:nvSpPr>
          <p:cNvPr id="40" name="Shape 38"/>
          <p:cNvSpPr/>
          <p:nvPr/>
        </p:nvSpPr>
        <p:spPr>
          <a:xfrm>
            <a:off x="658368" y="5779008"/>
            <a:ext cx="1463040" cy="292608"/>
          </a:xfrm>
          <a:prstGeom prst="rect">
            <a:avLst/>
          </a:prstGeom>
          <a:solidFill>
            <a:srgbClr val="121212"/>
          </a:solidFill>
          <a:ln w="12700">
            <a:solidFill>
              <a:srgbClr val="121212"/>
            </a:solidFill>
            <a:prstDash val="solid"/>
          </a:ln>
        </p:spPr>
      </p:sp>
      <p:sp>
        <p:nvSpPr>
          <p:cNvPr id="41" name="Text 39"/>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核心研判</a:t>
            </a:r>
            <a:endParaRPr lang="en-US" sz="780" dirty="0"/>
          </a:p>
        </p:txBody>
      </p:sp>
      <p:sp>
        <p:nvSpPr>
          <p:cNvPr id="42" name="Text 40"/>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若零跑合作技术路线为非磷酸铁锂体系且2027年前量产，则磷酸铁锂在中低端车型的份额可能被部分替代</a:t>
            </a:r>
            <a:endParaRPr lang="en-US" sz="10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5.</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SECTION DEEP DIVE</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2026-10-27</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05</a:t>
            </a:r>
            <a:endParaRPr lang="en-US" sz="730" dirty="0"/>
          </a:p>
        </p:txBody>
      </p:sp>
      <p:sp>
        <p:nvSpPr>
          <p:cNvPr id="9" name="Text 7"/>
          <p:cNvSpPr/>
          <p:nvPr/>
        </p:nvSpPr>
        <p:spPr>
          <a:xfrm>
            <a:off x="658368" y="914400"/>
            <a:ext cx="3200400" cy="384048"/>
          </a:xfrm>
          <a:prstGeom prst="rect">
            <a:avLst/>
          </a:prstGeom>
          <a:noFill/>
          <a:ln/>
        </p:spPr>
        <p:txBody>
          <a:bodyPr wrap="square" lIns="0" tIns="0" rIns="0" bIns="0" rtlCol="0" anchor="ctr">
            <a:normAutofit/>
          </a:bodyP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产能/客户/订单</a:t>
            </a:r>
            <a:endParaRPr lang="en-US" sz="2000" dirty="0"/>
          </a:p>
        </p:txBody>
      </p:sp>
      <p:sp>
        <p:nvSpPr>
          <p:cNvPr id="10" name="Text 8"/>
          <p:cNvSpPr/>
          <p:nvPr/>
        </p:nvSpPr>
        <p:spPr>
          <a:xfrm>
            <a:off x="3749040" y="1005840"/>
            <a:ext cx="7132320" cy="182880"/>
          </a:xfrm>
          <a:prstGeom prst="rect">
            <a:avLst/>
          </a:prstGeom>
          <a:noFill/>
          <a:ln/>
        </p:spPr>
        <p:txBody>
          <a:bodyPr wrap="square" lIns="0" tIns="0" rIns="0" bIns="0" rtlCol="0" anchor="ctr">
            <a:normAutofit/>
          </a:bodyPr>
          <a:lstStyle/>
          <a:p>
            <a:pPr indent="0" marL="0">
              <a:buNone/>
            </a:pPr>
            <a:r>
              <a:rPr lang="en-US" sz="860" dirty="0">
                <a:solidFill>
                  <a:srgbClr val="6D756F"/>
                </a:solidFill>
                <a:latin typeface="Microsoft YaHei" pitchFamily="34" charset="0"/>
                <a:ea typeface="Microsoft YaHei" pitchFamily="34" charset="-122"/>
                <a:cs typeface="Microsoft YaHei" pitchFamily="34" charset="-120"/>
              </a:rPr>
              <a:t>1 条公开来源交叉验证｜事实、影响与后续研判</a:t>
            </a:r>
            <a:endParaRPr lang="en-US" sz="860" dirty="0"/>
          </a:p>
        </p:txBody>
      </p:sp>
      <p:sp>
        <p:nvSpPr>
          <p:cNvPr id="11" name="Shape 9"/>
          <p:cNvSpPr/>
          <p:nvPr/>
        </p:nvSpPr>
        <p:spPr>
          <a:xfrm>
            <a:off x="658368" y="1444752"/>
            <a:ext cx="6510528" cy="1207008"/>
          </a:xfrm>
          <a:prstGeom prst="roundRect">
            <a:avLst>
              <a:gd name="adj" fmla="val 6061"/>
            </a:avLst>
          </a:prstGeom>
          <a:solidFill>
            <a:srgbClr val="F4FAF6"/>
          </a:solidFill>
          <a:ln w="10160">
            <a:solidFill>
              <a:srgbClr val="DADADA"/>
            </a:solidFill>
            <a:prstDash val="solid"/>
          </a:ln>
        </p:spPr>
      </p:sp>
      <p:sp>
        <p:nvSpPr>
          <p:cNvPr id="12" name="Text 10"/>
          <p:cNvSpPr/>
          <p:nvPr/>
        </p:nvSpPr>
        <p:spPr>
          <a:xfrm>
            <a:off x="932688" y="166420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事实判断</a:t>
            </a:r>
            <a:endParaRPr lang="en-US" sz="1080" dirty="0"/>
          </a:p>
        </p:txBody>
      </p:sp>
      <p:sp>
        <p:nvSpPr>
          <p:cNvPr id="13" name="Text 11"/>
          <p:cNvSpPr/>
          <p:nvPr/>
        </p:nvSpPr>
        <p:spPr>
          <a:xfrm>
            <a:off x="2487168" y="1645920"/>
            <a:ext cx="4315968" cy="676656"/>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湖南裕能拟20亿元在湖南湘潭再建厂，万华化学山东莱州项目二期开工，头部磷酸铁锂正极产能继续扩张。供给端增量明确，若需求增速不能同步匹配，中期行业开工率与加工费可能承压。客户与订单方面，今日无直接磷酸铁锂大单披露。 [4]</a:t>
            </a:r>
            <a:endParaRPr lang="en-US" sz="960" dirty="0"/>
          </a:p>
        </p:txBody>
      </p:sp>
      <p:sp>
        <p:nvSpPr>
          <p:cNvPr id="14" name="Text 12"/>
          <p:cNvSpPr/>
          <p:nvPr/>
        </p:nvSpPr>
        <p:spPr>
          <a:xfrm>
            <a:off x="2487168" y="2432304"/>
            <a:ext cx="3931920" cy="128016"/>
          </a:xfrm>
          <a:prstGeom prst="rect">
            <a:avLst/>
          </a:prstGeom>
          <a:noFill/>
          <a:ln/>
        </p:spPr>
        <p:txBody>
          <a:bodyPr wrap="square" lIns="0" tIns="0" rIns="0" bIns="0" rtlCol="0" anchor="ctr">
            <a:normAutofit/>
          </a:bodyPr>
          <a:lstStyle/>
          <a:p>
            <a:pPr indent="0" marL="0">
              <a:buNone/>
            </a:pPr>
            <a:r>
              <a:rPr lang="en-US" sz="740" dirty="0">
                <a:solidFill>
                  <a:srgbClr val="487052"/>
                </a:solidFill>
                <a:latin typeface="Aptos" pitchFamily="34" charset="0"/>
                <a:ea typeface="Aptos" pitchFamily="34" charset="-122"/>
                <a:cs typeface="Aptos" pitchFamily="34" charset="-120"/>
              </a:rPr>
              <a:t>依据：[4]</a:t>
            </a:r>
            <a:endParaRPr lang="en-US" sz="740" dirty="0"/>
          </a:p>
        </p:txBody>
      </p:sp>
      <p:sp>
        <p:nvSpPr>
          <p:cNvPr id="15" name="Shape 13"/>
          <p:cNvSpPr/>
          <p:nvPr/>
        </p:nvSpPr>
        <p:spPr>
          <a:xfrm>
            <a:off x="658368" y="2907792"/>
            <a:ext cx="6510528" cy="1207008"/>
          </a:xfrm>
          <a:prstGeom prst="roundRect">
            <a:avLst>
              <a:gd name="adj" fmla="val 6061"/>
            </a:avLst>
          </a:prstGeom>
          <a:solidFill>
            <a:srgbClr val="FFFFFF"/>
          </a:solidFill>
          <a:ln w="10160">
            <a:solidFill>
              <a:srgbClr val="DADADA"/>
            </a:solidFill>
            <a:prstDash val="solid"/>
          </a:ln>
        </p:spPr>
      </p:sp>
      <p:sp>
        <p:nvSpPr>
          <p:cNvPr id="16" name="Text 14"/>
          <p:cNvSpPr/>
          <p:nvPr/>
        </p:nvSpPr>
        <p:spPr>
          <a:xfrm>
            <a:off x="932688" y="312724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影响分析</a:t>
            </a:r>
            <a:endParaRPr lang="en-US" sz="1080" dirty="0"/>
          </a:p>
        </p:txBody>
      </p:sp>
      <p:sp>
        <p:nvSpPr>
          <p:cNvPr id="17" name="Text 15"/>
          <p:cNvSpPr/>
          <p:nvPr/>
        </p:nvSpPr>
        <p:spPr>
          <a:xfrm>
            <a:off x="2487168" y="3108960"/>
            <a:ext cx="4315968" cy="822960"/>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海融网报道裕能扩产与万华二期开工，两者均为磷酸铁锂正极材料环节，显示头部企业对中期需求仍有信心，但也意味着供给竞争加剧。裕能作为龙头，扩产可能巩固其规模成本优势，而万华化学跨界进入则加剧行业分化。需跟踪项目投产时间、产能爬坡节奏以及下游电池厂绑定情况，验证新增产能是否被提前锁定。</a:t>
            </a:r>
            <a:endParaRPr lang="en-US" sz="960" dirty="0"/>
          </a:p>
        </p:txBody>
      </p:sp>
      <p:sp>
        <p:nvSpPr>
          <p:cNvPr id="18" name="Shape 16"/>
          <p:cNvSpPr/>
          <p:nvPr/>
        </p:nvSpPr>
        <p:spPr>
          <a:xfrm>
            <a:off x="658368" y="4370832"/>
            <a:ext cx="6510528" cy="1207008"/>
          </a:xfrm>
          <a:prstGeom prst="roundRect">
            <a:avLst>
              <a:gd name="adj" fmla="val 6061"/>
            </a:avLst>
          </a:prstGeom>
          <a:solidFill>
            <a:srgbClr val="DDEBE0"/>
          </a:solidFill>
          <a:ln w="13970">
            <a:solidFill>
              <a:srgbClr val="121212"/>
            </a:solidFill>
            <a:prstDash val="solid"/>
          </a:ln>
        </p:spPr>
      </p:sp>
      <p:sp>
        <p:nvSpPr>
          <p:cNvPr id="19" name="Shape 17"/>
          <p:cNvSpPr/>
          <p:nvPr/>
        </p:nvSpPr>
        <p:spPr>
          <a:xfrm>
            <a:off x="658368" y="4370832"/>
            <a:ext cx="109728" cy="1207008"/>
          </a:xfrm>
          <a:prstGeom prst="rect">
            <a:avLst/>
          </a:prstGeom>
          <a:solidFill>
            <a:srgbClr val="121212"/>
          </a:solidFill>
          <a:ln w="12700">
            <a:solidFill>
              <a:srgbClr val="121212"/>
            </a:solidFill>
            <a:prstDash val="solid"/>
          </a:ln>
        </p:spPr>
      </p:sp>
      <p:sp>
        <p:nvSpPr>
          <p:cNvPr id="20" name="Text 18"/>
          <p:cNvSpPr/>
          <p:nvPr/>
        </p:nvSpPr>
        <p:spPr>
          <a:xfrm>
            <a:off x="932688" y="4590288"/>
            <a:ext cx="1417320" cy="256032"/>
          </a:xfrm>
          <a:prstGeom prst="rect">
            <a:avLst/>
          </a:prstGeom>
          <a:noFill/>
          <a:ln/>
        </p:spPr>
        <p:txBody>
          <a:bodyPr wrap="square" lIns="0" tIns="0" rIns="0" bIns="0" rtlCol="0" anchor="ctr">
            <a:normAutofit/>
          </a:bodyPr>
          <a:lstStyle/>
          <a:p>
            <a:pPr indent="0" marL="0">
              <a:buNone/>
            </a:pPr>
            <a:r>
              <a:rPr lang="en-US" sz="1080" b="1" dirty="0">
                <a:solidFill>
                  <a:srgbClr val="121212"/>
                </a:solidFill>
                <a:latin typeface="Microsoft YaHei" pitchFamily="34" charset="0"/>
                <a:ea typeface="Microsoft YaHei" pitchFamily="34" charset="-122"/>
                <a:cs typeface="Microsoft YaHei" pitchFamily="34" charset="-120"/>
              </a:rPr>
              <a:t>后续研判</a:t>
            </a:r>
            <a:endParaRPr lang="en-US" sz="1080" dirty="0"/>
          </a:p>
        </p:txBody>
      </p:sp>
      <p:sp>
        <p:nvSpPr>
          <p:cNvPr id="21" name="Text 19"/>
          <p:cNvSpPr/>
          <p:nvPr/>
        </p:nvSpPr>
        <p:spPr>
          <a:xfrm>
            <a:off x="2487168" y="4572000"/>
            <a:ext cx="4315968" cy="822960"/>
          </a:xfrm>
          <a:prstGeom prst="rect">
            <a:avLst/>
          </a:prstGeom>
          <a:noFill/>
          <a:ln/>
        </p:spPr>
        <p:txBody>
          <a:bodyPr wrap="square" lIns="0" tIns="0" rIns="0" bIns="0" rtlCol="0" anchor="t">
            <a:normAutofit/>
          </a:bodyPr>
          <a:lstStyle/>
          <a:p>
            <a:pPr indent="0" marL="0">
              <a:buNone/>
            </a:pPr>
            <a:r>
              <a:rPr lang="en-US" sz="960" b="1" dirty="0">
                <a:solidFill>
                  <a:srgbClr val="121212"/>
                </a:solidFill>
                <a:latin typeface="Microsoft YaHei" pitchFamily="34" charset="0"/>
                <a:ea typeface="Microsoft YaHei" pitchFamily="34" charset="-122"/>
                <a:cs typeface="Microsoft YaHei" pitchFamily="34" charset="-120"/>
              </a:rPr>
              <a:t>若裕能湘潭项目与万华二期在2027年如期投产，则磷酸铁锂正极名义产能进一步过剩，加工费可能维持低位；若下游电池厂提前签订长单锁定产能，则头部企业开工率有支撑。跟踪指标：项目环评/能评进度、设备招标、电池厂长单公告、行业月度开工率。证据边界：项目投产时间及产能利用率尚未披露。</a:t>
            </a:r>
            <a:endParaRPr lang="en-US" sz="960" dirty="0"/>
          </a:p>
        </p:txBody>
      </p:sp>
      <p:sp>
        <p:nvSpPr>
          <p:cNvPr id="22" name="Shape 20"/>
          <p:cNvSpPr/>
          <p:nvPr/>
        </p:nvSpPr>
        <p:spPr>
          <a:xfrm>
            <a:off x="7479792" y="1444752"/>
            <a:ext cx="3273552" cy="3730752"/>
          </a:xfrm>
          <a:prstGeom prst="roundRect">
            <a:avLst>
              <a:gd name="adj" fmla="val 2235"/>
            </a:avLst>
          </a:prstGeom>
          <a:solidFill>
            <a:srgbClr val="FFFFFF"/>
          </a:solidFill>
          <a:ln w="10160">
            <a:solidFill>
              <a:srgbClr val="DADADA"/>
            </a:solidFill>
            <a:prstDash val="solid"/>
          </a:ln>
        </p:spPr>
      </p:sp>
      <p:sp>
        <p:nvSpPr>
          <p:cNvPr id="23" name="Text 21"/>
          <p:cNvSpPr/>
          <p:nvPr/>
        </p:nvSpPr>
        <p:spPr>
          <a:xfrm>
            <a:off x="7726680" y="1700784"/>
            <a:ext cx="2286000" cy="219456"/>
          </a:xfrm>
          <a:prstGeom prst="rect">
            <a:avLst/>
          </a:prstGeom>
          <a:noFill/>
          <a:ln/>
        </p:spPr>
        <p:txBody>
          <a:bodyPr wrap="square" lIns="0" tIns="0" rIns="0" bIns="0" rtlCol="0" anchor="ctr">
            <a:normAutofit/>
          </a:bodyPr>
          <a:lstStyle/>
          <a:p>
            <a:pPr indent="0" marL="0">
              <a:buNone/>
            </a:pPr>
            <a:r>
              <a:rPr lang="en-US" sz="1200" b="1" dirty="0">
                <a:solidFill>
                  <a:srgbClr val="487052"/>
                </a:solidFill>
                <a:latin typeface="Microsoft YaHei" pitchFamily="34" charset="0"/>
                <a:ea typeface="Microsoft YaHei" pitchFamily="34" charset="-122"/>
                <a:cs typeface="Microsoft YaHei" pitchFamily="34" charset="-120"/>
              </a:rPr>
              <a:t>对比矩阵</a:t>
            </a:r>
            <a:endParaRPr lang="en-US" sz="1200" dirty="0"/>
          </a:p>
        </p:txBody>
      </p:sp>
      <p:sp>
        <p:nvSpPr>
          <p:cNvPr id="24" name="Shape 22"/>
          <p:cNvSpPr/>
          <p:nvPr/>
        </p:nvSpPr>
        <p:spPr>
          <a:xfrm>
            <a:off x="7818120" y="2176272"/>
            <a:ext cx="2487168" cy="1609344"/>
          </a:xfrm>
          <a:prstGeom prst="rect">
            <a:avLst/>
          </a:prstGeom>
          <a:solidFill>
            <a:srgbClr val="FFFFFF"/>
          </a:solidFill>
          <a:ln w="10160">
            <a:solidFill>
              <a:srgbClr val="DADADA"/>
            </a:solidFill>
            <a:prstDash val="solid"/>
          </a:ln>
        </p:spPr>
      </p:sp>
      <p:sp>
        <p:nvSpPr>
          <p:cNvPr id="25" name="Shape 23"/>
          <p:cNvSpPr/>
          <p:nvPr/>
        </p:nvSpPr>
        <p:spPr>
          <a:xfrm>
            <a:off x="9061704" y="2176272"/>
            <a:ext cx="0" cy="1609344"/>
          </a:xfrm>
          <a:prstGeom prst="line">
            <a:avLst/>
          </a:prstGeom>
          <a:noFill/>
          <a:ln w="8890">
            <a:solidFill>
              <a:srgbClr val="DADADA"/>
            </a:solidFill>
            <a:prstDash val="solid"/>
          </a:ln>
        </p:spPr>
      </p:sp>
      <p:sp>
        <p:nvSpPr>
          <p:cNvPr id="26" name="Shape 24"/>
          <p:cNvSpPr/>
          <p:nvPr/>
        </p:nvSpPr>
        <p:spPr>
          <a:xfrm>
            <a:off x="7818120" y="2980944"/>
            <a:ext cx="2487168" cy="0"/>
          </a:xfrm>
          <a:prstGeom prst="line">
            <a:avLst/>
          </a:prstGeom>
          <a:noFill/>
          <a:ln w="8890">
            <a:solidFill>
              <a:srgbClr val="DADADA"/>
            </a:solidFill>
            <a:prstDash val="solid"/>
          </a:ln>
        </p:spPr>
      </p:sp>
      <p:sp>
        <p:nvSpPr>
          <p:cNvPr id="27" name="Shape 25"/>
          <p:cNvSpPr/>
          <p:nvPr/>
        </p:nvSpPr>
        <p:spPr>
          <a:xfrm>
            <a:off x="7818120" y="2176272"/>
            <a:ext cx="1243584" cy="804672"/>
          </a:xfrm>
          <a:prstGeom prst="rect">
            <a:avLst/>
          </a:prstGeom>
          <a:solidFill>
            <a:srgbClr val="DDEBE0"/>
          </a:solidFill>
          <a:ln w="3810">
            <a:solidFill>
              <a:srgbClr val="DADADA"/>
            </a:solidFill>
            <a:prstDash val="solid"/>
          </a:ln>
        </p:spPr>
      </p:sp>
      <p:sp>
        <p:nvSpPr>
          <p:cNvPr id="28" name="Text 26"/>
          <p:cNvSpPr/>
          <p:nvPr/>
        </p:nvSpPr>
        <p:spPr>
          <a:xfrm>
            <a:off x="7891272" y="2286000"/>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路线A</a:t>
            </a:r>
            <a:endParaRPr lang="en-US" sz="710" dirty="0"/>
          </a:p>
        </p:txBody>
      </p:sp>
      <p:sp>
        <p:nvSpPr>
          <p:cNvPr id="29" name="Text 27"/>
          <p:cNvSpPr/>
          <p:nvPr/>
        </p:nvSpPr>
        <p:spPr>
          <a:xfrm>
            <a:off x="7891272" y="2505456"/>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湖南裕能拟20亿元在湖南湘</a:t>
            </a:r>
            <a:endParaRPr lang="en-US" sz="670" dirty="0"/>
          </a:p>
        </p:txBody>
      </p:sp>
      <p:sp>
        <p:nvSpPr>
          <p:cNvPr id="30" name="Shape 28"/>
          <p:cNvSpPr/>
          <p:nvPr/>
        </p:nvSpPr>
        <p:spPr>
          <a:xfrm>
            <a:off x="9061704" y="2176272"/>
            <a:ext cx="1243584" cy="804672"/>
          </a:xfrm>
          <a:prstGeom prst="rect">
            <a:avLst/>
          </a:prstGeom>
          <a:solidFill>
            <a:srgbClr val="FFFFFF"/>
          </a:solidFill>
          <a:ln w="3810">
            <a:solidFill>
              <a:srgbClr val="DADADA"/>
            </a:solidFill>
            <a:prstDash val="solid"/>
          </a:ln>
        </p:spPr>
      </p:sp>
      <p:sp>
        <p:nvSpPr>
          <p:cNvPr id="31" name="Text 29"/>
          <p:cNvSpPr/>
          <p:nvPr/>
        </p:nvSpPr>
        <p:spPr>
          <a:xfrm>
            <a:off x="9134856" y="2286000"/>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路线B</a:t>
            </a:r>
            <a:endParaRPr lang="en-US" sz="710" dirty="0"/>
          </a:p>
        </p:txBody>
      </p:sp>
      <p:sp>
        <p:nvSpPr>
          <p:cNvPr id="32" name="Text 30"/>
          <p:cNvSpPr/>
          <p:nvPr/>
        </p:nvSpPr>
        <p:spPr>
          <a:xfrm>
            <a:off x="9134856" y="2505456"/>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供给端增量明确，若需求增速</a:t>
            </a:r>
            <a:endParaRPr lang="en-US" sz="670" dirty="0"/>
          </a:p>
        </p:txBody>
      </p:sp>
      <p:sp>
        <p:nvSpPr>
          <p:cNvPr id="33" name="Shape 31"/>
          <p:cNvSpPr/>
          <p:nvPr/>
        </p:nvSpPr>
        <p:spPr>
          <a:xfrm>
            <a:off x="7818120" y="2980944"/>
            <a:ext cx="1243584" cy="804672"/>
          </a:xfrm>
          <a:prstGeom prst="rect">
            <a:avLst/>
          </a:prstGeom>
          <a:solidFill>
            <a:srgbClr val="FFFFFF"/>
          </a:solidFill>
          <a:ln w="3810">
            <a:solidFill>
              <a:srgbClr val="DADADA"/>
            </a:solidFill>
            <a:prstDash val="solid"/>
          </a:ln>
        </p:spPr>
      </p:sp>
      <p:sp>
        <p:nvSpPr>
          <p:cNvPr id="34" name="Text 32"/>
          <p:cNvSpPr/>
          <p:nvPr/>
        </p:nvSpPr>
        <p:spPr>
          <a:xfrm>
            <a:off x="7891272" y="3090672"/>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机会</a:t>
            </a:r>
            <a:endParaRPr lang="en-US" sz="710" dirty="0"/>
          </a:p>
        </p:txBody>
      </p:sp>
      <p:sp>
        <p:nvSpPr>
          <p:cNvPr id="35" name="Text 33"/>
          <p:cNvSpPr/>
          <p:nvPr/>
        </p:nvSpPr>
        <p:spPr>
          <a:xfrm>
            <a:off x="7891272" y="3310128"/>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客户与订单方面，今日无直接</a:t>
            </a:r>
            <a:endParaRPr lang="en-US" sz="670" dirty="0"/>
          </a:p>
        </p:txBody>
      </p:sp>
      <p:sp>
        <p:nvSpPr>
          <p:cNvPr id="36" name="Shape 34"/>
          <p:cNvSpPr/>
          <p:nvPr/>
        </p:nvSpPr>
        <p:spPr>
          <a:xfrm>
            <a:off x="9061704" y="2980944"/>
            <a:ext cx="1243584" cy="804672"/>
          </a:xfrm>
          <a:prstGeom prst="rect">
            <a:avLst/>
          </a:prstGeom>
          <a:solidFill>
            <a:srgbClr val="F4FAF6"/>
          </a:solidFill>
          <a:ln w="3810">
            <a:solidFill>
              <a:srgbClr val="DADADA"/>
            </a:solidFill>
            <a:prstDash val="solid"/>
          </a:ln>
        </p:spPr>
      </p:sp>
      <p:sp>
        <p:nvSpPr>
          <p:cNvPr id="37" name="Text 35"/>
          <p:cNvSpPr/>
          <p:nvPr/>
        </p:nvSpPr>
        <p:spPr>
          <a:xfrm>
            <a:off x="9134856" y="3090672"/>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约束</a:t>
            </a:r>
            <a:endParaRPr lang="en-US" sz="710" dirty="0"/>
          </a:p>
        </p:txBody>
      </p:sp>
      <p:sp>
        <p:nvSpPr>
          <p:cNvPr id="38" name="Text 36"/>
          <p:cNvSpPr/>
          <p:nvPr/>
        </p:nvSpPr>
        <p:spPr>
          <a:xfrm>
            <a:off x="9134856" y="3310128"/>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湖南裕能拟20亿元在湖南湘</a:t>
            </a:r>
            <a:endParaRPr lang="en-US" sz="670" dirty="0"/>
          </a:p>
        </p:txBody>
      </p:sp>
      <p:sp>
        <p:nvSpPr>
          <p:cNvPr id="39" name="Text 37"/>
          <p:cNvSpPr/>
          <p:nvPr/>
        </p:nvSpPr>
        <p:spPr>
          <a:xfrm>
            <a:off x="7726680" y="4187952"/>
            <a:ext cx="2697480" cy="493776"/>
          </a:xfrm>
          <a:prstGeom prst="rect">
            <a:avLst/>
          </a:prstGeom>
          <a:noFill/>
          <a:ln/>
        </p:spPr>
        <p:txBody>
          <a:bodyPr wrap="square" lIns="0" tIns="0" rIns="0" bIns="0" rtlCol="0" anchor="t">
            <a:normAutofit/>
          </a:bodyPr>
          <a:lstStyle/>
          <a:p>
            <a:pPr indent="0" marL="0">
              <a:buNone/>
            </a:pPr>
            <a:r>
              <a:rPr lang="en-US" sz="760" dirty="0">
                <a:solidFill>
                  <a:srgbClr val="6D756F"/>
                </a:solidFill>
                <a:latin typeface="Microsoft YaHei" pitchFamily="34" charset="0"/>
                <a:ea typeface="Microsoft YaHei" pitchFamily="34" charset="-122"/>
                <a:cs typeface="Microsoft YaHei" pitchFamily="34" charset="-120"/>
              </a:rPr>
              <a:t>检测到对比/分类信号，用矩阵压缩呈现，不新增外部判断。</a:t>
            </a:r>
            <a:endParaRPr lang="en-US" sz="760" dirty="0"/>
          </a:p>
        </p:txBody>
      </p:sp>
      <p:sp>
        <p:nvSpPr>
          <p:cNvPr id="40" name="Shape 38"/>
          <p:cNvSpPr/>
          <p:nvPr/>
        </p:nvSpPr>
        <p:spPr>
          <a:xfrm>
            <a:off x="658368" y="5779008"/>
            <a:ext cx="1463040" cy="292608"/>
          </a:xfrm>
          <a:prstGeom prst="rect">
            <a:avLst/>
          </a:prstGeom>
          <a:solidFill>
            <a:srgbClr val="121212"/>
          </a:solidFill>
          <a:ln w="12700">
            <a:solidFill>
              <a:srgbClr val="121212"/>
            </a:solidFill>
            <a:prstDash val="solid"/>
          </a:ln>
        </p:spPr>
      </p:sp>
      <p:sp>
        <p:nvSpPr>
          <p:cNvPr id="41" name="Text 39"/>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核心研判</a:t>
            </a:r>
            <a:endParaRPr lang="en-US" sz="780" dirty="0"/>
          </a:p>
        </p:txBody>
      </p:sp>
      <p:sp>
        <p:nvSpPr>
          <p:cNvPr id="42" name="Text 40"/>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若裕能湘潭项目与万华二期在2027年如期投产，则磷酸铁锂正极名义产能进一步过剩，加工费可能维持低位</a:t>
            </a:r>
            <a:endParaRPr lang="en-US" sz="10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6.</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SECTION DEEP DIVE</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2026-10-27</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06</a:t>
            </a:r>
            <a:endParaRPr lang="en-US" sz="730" dirty="0"/>
          </a:p>
        </p:txBody>
      </p:sp>
      <p:sp>
        <p:nvSpPr>
          <p:cNvPr id="9" name="Text 7"/>
          <p:cNvSpPr/>
          <p:nvPr/>
        </p:nvSpPr>
        <p:spPr>
          <a:xfrm>
            <a:off x="658368" y="914400"/>
            <a:ext cx="3200400" cy="384048"/>
          </a:xfrm>
          <a:prstGeom prst="rect">
            <a:avLst/>
          </a:prstGeom>
          <a:noFill/>
          <a:ln/>
        </p:spPr>
        <p:txBody>
          <a:bodyPr wrap="square" lIns="0" tIns="0" rIns="0" bIns="0" rtlCol="0" anchor="ctr">
            <a:normAutofit/>
          </a:bodyP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价格/盈利压力</a:t>
            </a:r>
            <a:endParaRPr lang="en-US" sz="2000" dirty="0"/>
          </a:p>
        </p:txBody>
      </p:sp>
      <p:sp>
        <p:nvSpPr>
          <p:cNvPr id="10" name="Text 8"/>
          <p:cNvSpPr/>
          <p:nvPr/>
        </p:nvSpPr>
        <p:spPr>
          <a:xfrm>
            <a:off x="3749040" y="1005840"/>
            <a:ext cx="7132320" cy="182880"/>
          </a:xfrm>
          <a:prstGeom prst="rect">
            <a:avLst/>
          </a:prstGeom>
          <a:noFill/>
          <a:ln/>
        </p:spPr>
        <p:txBody>
          <a:bodyPr wrap="square" lIns="0" tIns="0" rIns="0" bIns="0" rtlCol="0" anchor="ctr">
            <a:normAutofit/>
          </a:bodyPr>
          <a:lstStyle/>
          <a:p>
            <a:pPr indent="0" marL="0">
              <a:buNone/>
            </a:pPr>
            <a:r>
              <a:rPr lang="en-US" sz="860" dirty="0">
                <a:solidFill>
                  <a:srgbClr val="6D756F"/>
                </a:solidFill>
                <a:latin typeface="Microsoft YaHei" pitchFamily="34" charset="0"/>
                <a:ea typeface="Microsoft YaHei" pitchFamily="34" charset="-122"/>
                <a:cs typeface="Microsoft YaHei" pitchFamily="34" charset="-120"/>
              </a:rPr>
              <a:t>3 条公开来源交叉验证｜事实、影响与后续研判</a:t>
            </a:r>
            <a:endParaRPr lang="en-US" sz="860" dirty="0"/>
          </a:p>
        </p:txBody>
      </p:sp>
      <p:sp>
        <p:nvSpPr>
          <p:cNvPr id="11" name="Shape 9"/>
          <p:cNvSpPr/>
          <p:nvPr/>
        </p:nvSpPr>
        <p:spPr>
          <a:xfrm>
            <a:off x="658368" y="1444752"/>
            <a:ext cx="6510528" cy="1207008"/>
          </a:xfrm>
          <a:prstGeom prst="roundRect">
            <a:avLst>
              <a:gd name="adj" fmla="val 6061"/>
            </a:avLst>
          </a:prstGeom>
          <a:solidFill>
            <a:srgbClr val="F4FAF6"/>
          </a:solidFill>
          <a:ln w="10160">
            <a:solidFill>
              <a:srgbClr val="DADADA"/>
            </a:solidFill>
            <a:prstDash val="solid"/>
          </a:ln>
        </p:spPr>
      </p:sp>
      <p:sp>
        <p:nvSpPr>
          <p:cNvPr id="12" name="Text 10"/>
          <p:cNvSpPr/>
          <p:nvPr/>
        </p:nvSpPr>
        <p:spPr>
          <a:xfrm>
            <a:off x="932688" y="166420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事实判断</a:t>
            </a:r>
            <a:endParaRPr lang="en-US" sz="1080" dirty="0"/>
          </a:p>
        </p:txBody>
      </p:sp>
      <p:sp>
        <p:nvSpPr>
          <p:cNvPr id="13" name="Text 11"/>
          <p:cNvSpPr/>
          <p:nvPr/>
        </p:nvSpPr>
        <p:spPr>
          <a:xfrm>
            <a:off x="2487168" y="1645920"/>
            <a:ext cx="4315968" cy="676656"/>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今日无直接磷酸铁锂价格报价，但政策收紧与产能扩张信号叠加，价格与盈利压力偏向下行。国内新能源车政策收紧可能削弱需求端对正极材料的拉动力，而裕能、万华扩产增加供给，供需天平向买方倾斜。回收成本上升可能进一步压缩全产业链利润。 [1][4][3]</a:t>
            </a:r>
            <a:endParaRPr lang="en-US" sz="960" dirty="0"/>
          </a:p>
        </p:txBody>
      </p:sp>
      <p:sp>
        <p:nvSpPr>
          <p:cNvPr id="14" name="Text 12"/>
          <p:cNvSpPr/>
          <p:nvPr/>
        </p:nvSpPr>
        <p:spPr>
          <a:xfrm>
            <a:off x="2487168" y="2432304"/>
            <a:ext cx="3931920" cy="128016"/>
          </a:xfrm>
          <a:prstGeom prst="rect">
            <a:avLst/>
          </a:prstGeom>
          <a:noFill/>
          <a:ln/>
        </p:spPr>
        <p:txBody>
          <a:bodyPr wrap="square" lIns="0" tIns="0" rIns="0" bIns="0" rtlCol="0" anchor="ctr">
            <a:normAutofit/>
          </a:bodyPr>
          <a:lstStyle/>
          <a:p>
            <a:pPr indent="0" marL="0">
              <a:buNone/>
            </a:pPr>
            <a:r>
              <a:rPr lang="en-US" sz="740" dirty="0">
                <a:solidFill>
                  <a:srgbClr val="487052"/>
                </a:solidFill>
                <a:latin typeface="Aptos" pitchFamily="34" charset="0"/>
                <a:ea typeface="Aptos" pitchFamily="34" charset="-122"/>
                <a:cs typeface="Aptos" pitchFamily="34" charset="-120"/>
              </a:rPr>
              <a:t>依据：[1][4][3]</a:t>
            </a:r>
            <a:endParaRPr lang="en-US" sz="740" dirty="0"/>
          </a:p>
        </p:txBody>
      </p:sp>
      <p:sp>
        <p:nvSpPr>
          <p:cNvPr id="15" name="Shape 13"/>
          <p:cNvSpPr/>
          <p:nvPr/>
        </p:nvSpPr>
        <p:spPr>
          <a:xfrm>
            <a:off x="658368" y="2907792"/>
            <a:ext cx="6510528" cy="1207008"/>
          </a:xfrm>
          <a:prstGeom prst="roundRect">
            <a:avLst>
              <a:gd name="adj" fmla="val 6061"/>
            </a:avLst>
          </a:prstGeom>
          <a:solidFill>
            <a:srgbClr val="FFFFFF"/>
          </a:solidFill>
          <a:ln w="10160">
            <a:solidFill>
              <a:srgbClr val="DADADA"/>
            </a:solidFill>
            <a:prstDash val="solid"/>
          </a:ln>
        </p:spPr>
      </p:sp>
      <p:sp>
        <p:nvSpPr>
          <p:cNvPr id="16" name="Text 14"/>
          <p:cNvSpPr/>
          <p:nvPr/>
        </p:nvSpPr>
        <p:spPr>
          <a:xfrm>
            <a:off x="932688" y="312724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影响分析</a:t>
            </a:r>
            <a:endParaRPr lang="en-US" sz="1080" dirty="0"/>
          </a:p>
        </p:txBody>
      </p:sp>
      <p:sp>
        <p:nvSpPr>
          <p:cNvPr id="17" name="Text 15"/>
          <p:cNvSpPr/>
          <p:nvPr/>
        </p:nvSpPr>
        <p:spPr>
          <a:xfrm>
            <a:off x="2487168" y="3108960"/>
            <a:ext cx="4315968" cy="822960"/>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电子工程专辑的政策收紧判断与海融网的扩产报道形成供需两端压力：需求增速可能放缓，供给增量明确，磷酸铁锂正极加工费承压。脱保潮报道则提示电池售后与回收成本上升，可能间接影响电池厂对正极材料的采购定价。需验证碳酸锂价格走势、正极企业库存天数及电池厂压价幅度。</a:t>
            </a:r>
            <a:endParaRPr lang="en-US" sz="960" dirty="0"/>
          </a:p>
        </p:txBody>
      </p:sp>
      <p:sp>
        <p:nvSpPr>
          <p:cNvPr id="18" name="Shape 16"/>
          <p:cNvSpPr/>
          <p:nvPr/>
        </p:nvSpPr>
        <p:spPr>
          <a:xfrm>
            <a:off x="658368" y="4370832"/>
            <a:ext cx="6510528" cy="1207008"/>
          </a:xfrm>
          <a:prstGeom prst="roundRect">
            <a:avLst>
              <a:gd name="adj" fmla="val 6061"/>
            </a:avLst>
          </a:prstGeom>
          <a:solidFill>
            <a:srgbClr val="DDEBE0"/>
          </a:solidFill>
          <a:ln w="13970">
            <a:solidFill>
              <a:srgbClr val="121212"/>
            </a:solidFill>
            <a:prstDash val="solid"/>
          </a:ln>
        </p:spPr>
      </p:sp>
      <p:sp>
        <p:nvSpPr>
          <p:cNvPr id="19" name="Shape 17"/>
          <p:cNvSpPr/>
          <p:nvPr/>
        </p:nvSpPr>
        <p:spPr>
          <a:xfrm>
            <a:off x="658368" y="4370832"/>
            <a:ext cx="109728" cy="1207008"/>
          </a:xfrm>
          <a:prstGeom prst="rect">
            <a:avLst/>
          </a:prstGeom>
          <a:solidFill>
            <a:srgbClr val="121212"/>
          </a:solidFill>
          <a:ln w="12700">
            <a:solidFill>
              <a:srgbClr val="121212"/>
            </a:solidFill>
            <a:prstDash val="solid"/>
          </a:ln>
        </p:spPr>
      </p:sp>
      <p:sp>
        <p:nvSpPr>
          <p:cNvPr id="20" name="Text 18"/>
          <p:cNvSpPr/>
          <p:nvPr/>
        </p:nvSpPr>
        <p:spPr>
          <a:xfrm>
            <a:off x="932688" y="4590288"/>
            <a:ext cx="1417320" cy="256032"/>
          </a:xfrm>
          <a:prstGeom prst="rect">
            <a:avLst/>
          </a:prstGeom>
          <a:noFill/>
          <a:ln/>
        </p:spPr>
        <p:txBody>
          <a:bodyPr wrap="square" lIns="0" tIns="0" rIns="0" bIns="0" rtlCol="0" anchor="ctr">
            <a:normAutofit/>
          </a:bodyPr>
          <a:lstStyle/>
          <a:p>
            <a:pPr indent="0" marL="0">
              <a:buNone/>
            </a:pPr>
            <a:r>
              <a:rPr lang="en-US" sz="1080" b="1" dirty="0">
                <a:solidFill>
                  <a:srgbClr val="121212"/>
                </a:solidFill>
                <a:latin typeface="Microsoft YaHei" pitchFamily="34" charset="0"/>
                <a:ea typeface="Microsoft YaHei" pitchFamily="34" charset="-122"/>
                <a:cs typeface="Microsoft YaHei" pitchFamily="34" charset="-120"/>
              </a:rPr>
              <a:t>后续研判</a:t>
            </a:r>
            <a:endParaRPr lang="en-US" sz="1080" dirty="0"/>
          </a:p>
        </p:txBody>
      </p:sp>
      <p:sp>
        <p:nvSpPr>
          <p:cNvPr id="21" name="Text 19"/>
          <p:cNvSpPr/>
          <p:nvPr/>
        </p:nvSpPr>
        <p:spPr>
          <a:xfrm>
            <a:off x="2487168" y="4572000"/>
            <a:ext cx="4315968" cy="822960"/>
          </a:xfrm>
          <a:prstGeom prst="rect">
            <a:avLst/>
          </a:prstGeom>
          <a:noFill/>
          <a:ln/>
        </p:spPr>
        <p:txBody>
          <a:bodyPr wrap="square" lIns="0" tIns="0" rIns="0" bIns="0" rtlCol="0" anchor="t">
            <a:normAutofit/>
          </a:bodyPr>
          <a:lstStyle/>
          <a:p>
            <a:pPr indent="0" marL="0">
              <a:buNone/>
            </a:pPr>
            <a:r>
              <a:rPr lang="en-US" sz="960" b="1" dirty="0">
                <a:solidFill>
                  <a:srgbClr val="121212"/>
                </a:solidFill>
                <a:latin typeface="Microsoft YaHei" pitchFamily="34" charset="0"/>
                <a:ea typeface="Microsoft YaHei" pitchFamily="34" charset="-122"/>
                <a:cs typeface="Microsoft YaHei" pitchFamily="34" charset="-120"/>
              </a:rPr>
              <a:t>若四季度新能源车销量增速放缓且正极产能利用率下降，则磷酸铁锂加工费可能进一步下探，中小厂商盈利压力加大；若碳酸锂价格企稳反弹，则正极成本支撑增强，加工费下行空间受限。跟踪指标：碳酸锂现货价、正极企业库存周转天数、电池厂采购价、行业开工率。证据边界：今日无实际成交价格数据，需以第三方报价验证。</a:t>
            </a:r>
            <a:endParaRPr lang="en-US" sz="960" dirty="0"/>
          </a:p>
        </p:txBody>
      </p:sp>
      <p:sp>
        <p:nvSpPr>
          <p:cNvPr id="22" name="Shape 20"/>
          <p:cNvSpPr/>
          <p:nvPr/>
        </p:nvSpPr>
        <p:spPr>
          <a:xfrm>
            <a:off x="7479792" y="1444752"/>
            <a:ext cx="3273552" cy="3730752"/>
          </a:xfrm>
          <a:prstGeom prst="roundRect">
            <a:avLst>
              <a:gd name="adj" fmla="val 2235"/>
            </a:avLst>
          </a:prstGeom>
          <a:solidFill>
            <a:srgbClr val="FFFFFF"/>
          </a:solidFill>
          <a:ln w="10160">
            <a:solidFill>
              <a:srgbClr val="DADADA"/>
            </a:solidFill>
            <a:prstDash val="solid"/>
          </a:ln>
        </p:spPr>
      </p:sp>
      <p:sp>
        <p:nvSpPr>
          <p:cNvPr id="23" name="Text 21"/>
          <p:cNvSpPr/>
          <p:nvPr/>
        </p:nvSpPr>
        <p:spPr>
          <a:xfrm>
            <a:off x="7726680" y="1700784"/>
            <a:ext cx="2286000" cy="219456"/>
          </a:xfrm>
          <a:prstGeom prst="rect">
            <a:avLst/>
          </a:prstGeom>
          <a:noFill/>
          <a:ln/>
        </p:spPr>
        <p:txBody>
          <a:bodyPr wrap="square" lIns="0" tIns="0" rIns="0" bIns="0" rtlCol="0" anchor="ctr">
            <a:normAutofit/>
          </a:bodyPr>
          <a:lstStyle/>
          <a:p>
            <a:pPr indent="0" marL="0">
              <a:buNone/>
            </a:pPr>
            <a:r>
              <a:rPr lang="en-US" sz="1200" b="1" dirty="0">
                <a:solidFill>
                  <a:srgbClr val="487052"/>
                </a:solidFill>
                <a:latin typeface="Microsoft YaHei" pitchFamily="34" charset="0"/>
                <a:ea typeface="Microsoft YaHei" pitchFamily="34" charset="-122"/>
                <a:cs typeface="Microsoft YaHei" pitchFamily="34" charset="-120"/>
              </a:rPr>
              <a:t>对比矩阵</a:t>
            </a:r>
            <a:endParaRPr lang="en-US" sz="1200" dirty="0"/>
          </a:p>
        </p:txBody>
      </p:sp>
      <p:sp>
        <p:nvSpPr>
          <p:cNvPr id="24" name="Shape 22"/>
          <p:cNvSpPr/>
          <p:nvPr/>
        </p:nvSpPr>
        <p:spPr>
          <a:xfrm>
            <a:off x="7818120" y="2176272"/>
            <a:ext cx="2487168" cy="1609344"/>
          </a:xfrm>
          <a:prstGeom prst="rect">
            <a:avLst/>
          </a:prstGeom>
          <a:solidFill>
            <a:srgbClr val="FFFFFF"/>
          </a:solidFill>
          <a:ln w="10160">
            <a:solidFill>
              <a:srgbClr val="DADADA"/>
            </a:solidFill>
            <a:prstDash val="solid"/>
          </a:ln>
        </p:spPr>
      </p:sp>
      <p:sp>
        <p:nvSpPr>
          <p:cNvPr id="25" name="Shape 23"/>
          <p:cNvSpPr/>
          <p:nvPr/>
        </p:nvSpPr>
        <p:spPr>
          <a:xfrm>
            <a:off x="9061704" y="2176272"/>
            <a:ext cx="0" cy="1609344"/>
          </a:xfrm>
          <a:prstGeom prst="line">
            <a:avLst/>
          </a:prstGeom>
          <a:noFill/>
          <a:ln w="8890">
            <a:solidFill>
              <a:srgbClr val="DADADA"/>
            </a:solidFill>
            <a:prstDash val="solid"/>
          </a:ln>
        </p:spPr>
      </p:sp>
      <p:sp>
        <p:nvSpPr>
          <p:cNvPr id="26" name="Shape 24"/>
          <p:cNvSpPr/>
          <p:nvPr/>
        </p:nvSpPr>
        <p:spPr>
          <a:xfrm>
            <a:off x="7818120" y="2980944"/>
            <a:ext cx="2487168" cy="0"/>
          </a:xfrm>
          <a:prstGeom prst="line">
            <a:avLst/>
          </a:prstGeom>
          <a:noFill/>
          <a:ln w="8890">
            <a:solidFill>
              <a:srgbClr val="DADADA"/>
            </a:solidFill>
            <a:prstDash val="solid"/>
          </a:ln>
        </p:spPr>
      </p:sp>
      <p:sp>
        <p:nvSpPr>
          <p:cNvPr id="27" name="Shape 25"/>
          <p:cNvSpPr/>
          <p:nvPr/>
        </p:nvSpPr>
        <p:spPr>
          <a:xfrm>
            <a:off x="7818120" y="2176272"/>
            <a:ext cx="1243584" cy="804672"/>
          </a:xfrm>
          <a:prstGeom prst="rect">
            <a:avLst/>
          </a:prstGeom>
          <a:solidFill>
            <a:srgbClr val="DDEBE0"/>
          </a:solidFill>
          <a:ln w="3810">
            <a:solidFill>
              <a:srgbClr val="DADADA"/>
            </a:solidFill>
            <a:prstDash val="solid"/>
          </a:ln>
        </p:spPr>
      </p:sp>
      <p:sp>
        <p:nvSpPr>
          <p:cNvPr id="28" name="Text 26"/>
          <p:cNvSpPr/>
          <p:nvPr/>
        </p:nvSpPr>
        <p:spPr>
          <a:xfrm>
            <a:off x="7891272" y="2286000"/>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路线A</a:t>
            </a:r>
            <a:endParaRPr lang="en-US" sz="710" dirty="0"/>
          </a:p>
        </p:txBody>
      </p:sp>
      <p:sp>
        <p:nvSpPr>
          <p:cNvPr id="29" name="Text 27"/>
          <p:cNvSpPr/>
          <p:nvPr/>
        </p:nvSpPr>
        <p:spPr>
          <a:xfrm>
            <a:off x="7891272" y="2505456"/>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今日无直接磷酸铁锂价格报价</a:t>
            </a:r>
            <a:endParaRPr lang="en-US" sz="670" dirty="0"/>
          </a:p>
        </p:txBody>
      </p:sp>
      <p:sp>
        <p:nvSpPr>
          <p:cNvPr id="30" name="Shape 28"/>
          <p:cNvSpPr/>
          <p:nvPr/>
        </p:nvSpPr>
        <p:spPr>
          <a:xfrm>
            <a:off x="9061704" y="2176272"/>
            <a:ext cx="1243584" cy="804672"/>
          </a:xfrm>
          <a:prstGeom prst="rect">
            <a:avLst/>
          </a:prstGeom>
          <a:solidFill>
            <a:srgbClr val="FFFFFF"/>
          </a:solidFill>
          <a:ln w="3810">
            <a:solidFill>
              <a:srgbClr val="DADADA"/>
            </a:solidFill>
            <a:prstDash val="solid"/>
          </a:ln>
        </p:spPr>
      </p:sp>
      <p:sp>
        <p:nvSpPr>
          <p:cNvPr id="31" name="Text 29"/>
          <p:cNvSpPr/>
          <p:nvPr/>
        </p:nvSpPr>
        <p:spPr>
          <a:xfrm>
            <a:off x="9134856" y="2286000"/>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路线B</a:t>
            </a:r>
            <a:endParaRPr lang="en-US" sz="710" dirty="0"/>
          </a:p>
        </p:txBody>
      </p:sp>
      <p:sp>
        <p:nvSpPr>
          <p:cNvPr id="32" name="Text 30"/>
          <p:cNvSpPr/>
          <p:nvPr/>
        </p:nvSpPr>
        <p:spPr>
          <a:xfrm>
            <a:off x="9134856" y="2505456"/>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国内新能源车政策收紧可能削</a:t>
            </a:r>
            <a:endParaRPr lang="en-US" sz="670" dirty="0"/>
          </a:p>
        </p:txBody>
      </p:sp>
      <p:sp>
        <p:nvSpPr>
          <p:cNvPr id="33" name="Shape 31"/>
          <p:cNvSpPr/>
          <p:nvPr/>
        </p:nvSpPr>
        <p:spPr>
          <a:xfrm>
            <a:off x="7818120" y="2980944"/>
            <a:ext cx="1243584" cy="804672"/>
          </a:xfrm>
          <a:prstGeom prst="rect">
            <a:avLst/>
          </a:prstGeom>
          <a:solidFill>
            <a:srgbClr val="FFFFFF"/>
          </a:solidFill>
          <a:ln w="3810">
            <a:solidFill>
              <a:srgbClr val="DADADA"/>
            </a:solidFill>
            <a:prstDash val="solid"/>
          </a:ln>
        </p:spPr>
      </p:sp>
      <p:sp>
        <p:nvSpPr>
          <p:cNvPr id="34" name="Text 32"/>
          <p:cNvSpPr/>
          <p:nvPr/>
        </p:nvSpPr>
        <p:spPr>
          <a:xfrm>
            <a:off x="7891272" y="3090672"/>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机会</a:t>
            </a:r>
            <a:endParaRPr lang="en-US" sz="710" dirty="0"/>
          </a:p>
        </p:txBody>
      </p:sp>
      <p:sp>
        <p:nvSpPr>
          <p:cNvPr id="35" name="Text 33"/>
          <p:cNvSpPr/>
          <p:nvPr/>
        </p:nvSpPr>
        <p:spPr>
          <a:xfrm>
            <a:off x="7891272" y="3310128"/>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回收成本上升可能进一步压缩</a:t>
            </a:r>
            <a:endParaRPr lang="en-US" sz="670" dirty="0"/>
          </a:p>
        </p:txBody>
      </p:sp>
      <p:sp>
        <p:nvSpPr>
          <p:cNvPr id="36" name="Shape 34"/>
          <p:cNvSpPr/>
          <p:nvPr/>
        </p:nvSpPr>
        <p:spPr>
          <a:xfrm>
            <a:off x="9061704" y="2980944"/>
            <a:ext cx="1243584" cy="804672"/>
          </a:xfrm>
          <a:prstGeom prst="rect">
            <a:avLst/>
          </a:prstGeom>
          <a:solidFill>
            <a:srgbClr val="F4FAF6"/>
          </a:solidFill>
          <a:ln w="3810">
            <a:solidFill>
              <a:srgbClr val="DADADA"/>
            </a:solidFill>
            <a:prstDash val="solid"/>
          </a:ln>
        </p:spPr>
      </p:sp>
      <p:sp>
        <p:nvSpPr>
          <p:cNvPr id="37" name="Text 35"/>
          <p:cNvSpPr/>
          <p:nvPr/>
        </p:nvSpPr>
        <p:spPr>
          <a:xfrm>
            <a:off x="9134856" y="3090672"/>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约束</a:t>
            </a:r>
            <a:endParaRPr lang="en-US" sz="710" dirty="0"/>
          </a:p>
        </p:txBody>
      </p:sp>
      <p:sp>
        <p:nvSpPr>
          <p:cNvPr id="38" name="Text 36"/>
          <p:cNvSpPr/>
          <p:nvPr/>
        </p:nvSpPr>
        <p:spPr>
          <a:xfrm>
            <a:off x="9134856" y="3310128"/>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今日无直接磷酸铁锂价格报价</a:t>
            </a:r>
            <a:endParaRPr lang="en-US" sz="670" dirty="0"/>
          </a:p>
        </p:txBody>
      </p:sp>
      <p:sp>
        <p:nvSpPr>
          <p:cNvPr id="39" name="Text 37"/>
          <p:cNvSpPr/>
          <p:nvPr/>
        </p:nvSpPr>
        <p:spPr>
          <a:xfrm>
            <a:off x="7726680" y="4187952"/>
            <a:ext cx="2697480" cy="493776"/>
          </a:xfrm>
          <a:prstGeom prst="rect">
            <a:avLst/>
          </a:prstGeom>
          <a:noFill/>
          <a:ln/>
        </p:spPr>
        <p:txBody>
          <a:bodyPr wrap="square" lIns="0" tIns="0" rIns="0" bIns="0" rtlCol="0" anchor="t">
            <a:normAutofit/>
          </a:bodyPr>
          <a:lstStyle/>
          <a:p>
            <a:pPr indent="0" marL="0">
              <a:buNone/>
            </a:pPr>
            <a:r>
              <a:rPr lang="en-US" sz="760" dirty="0">
                <a:solidFill>
                  <a:srgbClr val="6D756F"/>
                </a:solidFill>
                <a:latin typeface="Microsoft YaHei" pitchFamily="34" charset="0"/>
                <a:ea typeface="Microsoft YaHei" pitchFamily="34" charset="-122"/>
                <a:cs typeface="Microsoft YaHei" pitchFamily="34" charset="-120"/>
              </a:rPr>
              <a:t>检测到对比/分类信号，用矩阵压缩呈现，不新增外部判断。</a:t>
            </a:r>
            <a:endParaRPr lang="en-US" sz="760" dirty="0"/>
          </a:p>
        </p:txBody>
      </p:sp>
      <p:sp>
        <p:nvSpPr>
          <p:cNvPr id="40" name="Shape 38"/>
          <p:cNvSpPr/>
          <p:nvPr/>
        </p:nvSpPr>
        <p:spPr>
          <a:xfrm>
            <a:off x="658368" y="5779008"/>
            <a:ext cx="1463040" cy="292608"/>
          </a:xfrm>
          <a:prstGeom prst="rect">
            <a:avLst/>
          </a:prstGeom>
          <a:solidFill>
            <a:srgbClr val="121212"/>
          </a:solidFill>
          <a:ln w="12700">
            <a:solidFill>
              <a:srgbClr val="121212"/>
            </a:solidFill>
            <a:prstDash val="solid"/>
          </a:ln>
        </p:spPr>
      </p:sp>
      <p:sp>
        <p:nvSpPr>
          <p:cNvPr id="41" name="Text 39"/>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核心研判</a:t>
            </a:r>
            <a:endParaRPr lang="en-US" sz="780" dirty="0"/>
          </a:p>
        </p:txBody>
      </p:sp>
      <p:sp>
        <p:nvSpPr>
          <p:cNvPr id="42" name="Text 40"/>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若四季度新能源车销量增速放缓且正极产能利用率下降，则磷酸铁锂加工费可能进一步下探，中小厂商盈利压力加大</a:t>
            </a:r>
            <a:endParaRPr lang="en-US" sz="10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7.</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SECTION DEEP DIVE</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2026-10-27</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07</a:t>
            </a:r>
            <a:endParaRPr lang="en-US" sz="730" dirty="0"/>
          </a:p>
        </p:txBody>
      </p:sp>
      <p:sp>
        <p:nvSpPr>
          <p:cNvPr id="9" name="Text 7"/>
          <p:cNvSpPr/>
          <p:nvPr/>
        </p:nvSpPr>
        <p:spPr>
          <a:xfrm>
            <a:off x="658368" y="914400"/>
            <a:ext cx="3200400" cy="384048"/>
          </a:xfrm>
          <a:prstGeom prst="rect">
            <a:avLst/>
          </a:prstGeom>
          <a:noFill/>
          <a:ln/>
        </p:spPr>
        <p:txBody>
          <a:bodyPr wrap="square" lIns="0" tIns="0" rIns="0" bIns="0" rtlCol="0" anchor="ctr">
            <a:normAutofit/>
          </a:bodyP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政策/合规风险</a:t>
            </a:r>
            <a:endParaRPr lang="en-US" sz="2000" dirty="0"/>
          </a:p>
        </p:txBody>
      </p:sp>
      <p:sp>
        <p:nvSpPr>
          <p:cNvPr id="10" name="Text 8"/>
          <p:cNvSpPr/>
          <p:nvPr/>
        </p:nvSpPr>
        <p:spPr>
          <a:xfrm>
            <a:off x="3749040" y="1005840"/>
            <a:ext cx="7132320" cy="182880"/>
          </a:xfrm>
          <a:prstGeom prst="rect">
            <a:avLst/>
          </a:prstGeom>
          <a:noFill/>
          <a:ln/>
        </p:spPr>
        <p:txBody>
          <a:bodyPr wrap="square" lIns="0" tIns="0" rIns="0" bIns="0" rtlCol="0" anchor="ctr">
            <a:normAutofit/>
          </a:bodyPr>
          <a:lstStyle/>
          <a:p>
            <a:pPr indent="0" marL="0">
              <a:buNone/>
            </a:pPr>
            <a:r>
              <a:rPr lang="en-US" sz="860" dirty="0">
                <a:solidFill>
                  <a:srgbClr val="6D756F"/>
                </a:solidFill>
                <a:latin typeface="Microsoft YaHei" pitchFamily="34" charset="0"/>
                <a:ea typeface="Microsoft YaHei" pitchFamily="34" charset="-122"/>
                <a:cs typeface="Microsoft YaHei" pitchFamily="34" charset="-120"/>
              </a:rPr>
              <a:t>4 条公开来源交叉验证｜事实、影响与后续研判</a:t>
            </a:r>
            <a:endParaRPr lang="en-US" sz="860" dirty="0"/>
          </a:p>
        </p:txBody>
      </p:sp>
      <p:sp>
        <p:nvSpPr>
          <p:cNvPr id="11" name="Shape 9"/>
          <p:cNvSpPr/>
          <p:nvPr/>
        </p:nvSpPr>
        <p:spPr>
          <a:xfrm>
            <a:off x="658368" y="1444752"/>
            <a:ext cx="6510528" cy="1207008"/>
          </a:xfrm>
          <a:prstGeom prst="roundRect">
            <a:avLst>
              <a:gd name="adj" fmla="val 6061"/>
            </a:avLst>
          </a:prstGeom>
          <a:solidFill>
            <a:srgbClr val="F4FAF6"/>
          </a:solidFill>
          <a:ln w="10160">
            <a:solidFill>
              <a:srgbClr val="DADADA"/>
            </a:solidFill>
            <a:prstDash val="solid"/>
          </a:ln>
        </p:spPr>
      </p:sp>
      <p:sp>
        <p:nvSpPr>
          <p:cNvPr id="12" name="Text 10"/>
          <p:cNvSpPr/>
          <p:nvPr/>
        </p:nvSpPr>
        <p:spPr>
          <a:xfrm>
            <a:off x="932688" y="166420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事实判断</a:t>
            </a:r>
            <a:endParaRPr lang="en-US" sz="1080" dirty="0"/>
          </a:p>
        </p:txBody>
      </p:sp>
      <p:sp>
        <p:nvSpPr>
          <p:cNvPr id="13" name="Text 11"/>
          <p:cNvSpPr/>
          <p:nvPr/>
        </p:nvSpPr>
        <p:spPr>
          <a:xfrm>
            <a:off x="2487168" y="1645920"/>
            <a:ext cx="4315968" cy="676656"/>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国内新能源车政策收紧，可能提高购车门槛或减少补贴，压制短期需求；动力电池高值化利用被定性为淘汰赛，叠加首批电车脱保潮，回收与梯次利用合规要求趋严。电池回收项目（贵州台江3万吨）推进，显示合规产能建设加速，不合规小作坊面临退出压力。 [1][2][3][7]</a:t>
            </a:r>
            <a:endParaRPr lang="en-US" sz="960" dirty="0"/>
          </a:p>
        </p:txBody>
      </p:sp>
      <p:sp>
        <p:nvSpPr>
          <p:cNvPr id="14" name="Text 12"/>
          <p:cNvSpPr/>
          <p:nvPr/>
        </p:nvSpPr>
        <p:spPr>
          <a:xfrm>
            <a:off x="2487168" y="2432304"/>
            <a:ext cx="3931920" cy="128016"/>
          </a:xfrm>
          <a:prstGeom prst="rect">
            <a:avLst/>
          </a:prstGeom>
          <a:noFill/>
          <a:ln/>
        </p:spPr>
        <p:txBody>
          <a:bodyPr wrap="square" lIns="0" tIns="0" rIns="0" bIns="0" rtlCol="0" anchor="ctr">
            <a:normAutofit/>
          </a:bodyPr>
          <a:lstStyle/>
          <a:p>
            <a:pPr indent="0" marL="0">
              <a:buNone/>
            </a:pPr>
            <a:r>
              <a:rPr lang="en-US" sz="740" dirty="0">
                <a:solidFill>
                  <a:srgbClr val="487052"/>
                </a:solidFill>
                <a:latin typeface="Aptos" pitchFamily="34" charset="0"/>
                <a:ea typeface="Aptos" pitchFamily="34" charset="-122"/>
                <a:cs typeface="Aptos" pitchFamily="34" charset="-120"/>
              </a:rPr>
              <a:t>依据：[1][2][3][7]</a:t>
            </a:r>
            <a:endParaRPr lang="en-US" sz="740" dirty="0"/>
          </a:p>
        </p:txBody>
      </p:sp>
      <p:sp>
        <p:nvSpPr>
          <p:cNvPr id="15" name="Shape 13"/>
          <p:cNvSpPr/>
          <p:nvPr/>
        </p:nvSpPr>
        <p:spPr>
          <a:xfrm>
            <a:off x="658368" y="2907792"/>
            <a:ext cx="6510528" cy="1207008"/>
          </a:xfrm>
          <a:prstGeom prst="roundRect">
            <a:avLst>
              <a:gd name="adj" fmla="val 6061"/>
            </a:avLst>
          </a:prstGeom>
          <a:solidFill>
            <a:srgbClr val="FFFFFF"/>
          </a:solidFill>
          <a:ln w="10160">
            <a:solidFill>
              <a:srgbClr val="DADADA"/>
            </a:solidFill>
            <a:prstDash val="solid"/>
          </a:ln>
        </p:spPr>
      </p:sp>
      <p:sp>
        <p:nvSpPr>
          <p:cNvPr id="16" name="Text 14"/>
          <p:cNvSpPr/>
          <p:nvPr/>
        </p:nvSpPr>
        <p:spPr>
          <a:xfrm>
            <a:off x="932688" y="312724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影响分析</a:t>
            </a:r>
            <a:endParaRPr lang="en-US" sz="1080" dirty="0"/>
          </a:p>
        </p:txBody>
      </p:sp>
      <p:sp>
        <p:nvSpPr>
          <p:cNvPr id="17" name="Text 15"/>
          <p:cNvSpPr/>
          <p:nvPr/>
        </p:nvSpPr>
        <p:spPr>
          <a:xfrm>
            <a:off x="2487168" y="3108960"/>
            <a:ext cx="4315968" cy="822960"/>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电子工程专辑的政策收紧信号直接影响新能源车销量预期，进而传导至磷酸铁锂正极订单；徐盛明观点与脱保潮报道共同指向回收体系压力，可能推高电池全生命周期成本。上海有色金属报道的贵州台江回收项目表明合规回收产能正在落地，但短期难以完全消化脱保电池量。需跟踪政策细则、回收白名单扩容及环保督查力度。</a:t>
            </a:r>
            <a:endParaRPr lang="en-US" sz="960" dirty="0"/>
          </a:p>
        </p:txBody>
      </p:sp>
      <p:sp>
        <p:nvSpPr>
          <p:cNvPr id="18" name="Shape 16"/>
          <p:cNvSpPr/>
          <p:nvPr/>
        </p:nvSpPr>
        <p:spPr>
          <a:xfrm>
            <a:off x="658368" y="4370832"/>
            <a:ext cx="6510528" cy="1207008"/>
          </a:xfrm>
          <a:prstGeom prst="roundRect">
            <a:avLst>
              <a:gd name="adj" fmla="val 6061"/>
            </a:avLst>
          </a:prstGeom>
          <a:solidFill>
            <a:srgbClr val="DDEBE0"/>
          </a:solidFill>
          <a:ln w="13970">
            <a:solidFill>
              <a:srgbClr val="121212"/>
            </a:solidFill>
            <a:prstDash val="solid"/>
          </a:ln>
        </p:spPr>
      </p:sp>
      <p:sp>
        <p:nvSpPr>
          <p:cNvPr id="19" name="Shape 17"/>
          <p:cNvSpPr/>
          <p:nvPr/>
        </p:nvSpPr>
        <p:spPr>
          <a:xfrm>
            <a:off x="658368" y="4370832"/>
            <a:ext cx="109728" cy="1207008"/>
          </a:xfrm>
          <a:prstGeom prst="rect">
            <a:avLst/>
          </a:prstGeom>
          <a:solidFill>
            <a:srgbClr val="121212"/>
          </a:solidFill>
          <a:ln w="12700">
            <a:solidFill>
              <a:srgbClr val="121212"/>
            </a:solidFill>
            <a:prstDash val="solid"/>
          </a:ln>
        </p:spPr>
      </p:sp>
      <p:sp>
        <p:nvSpPr>
          <p:cNvPr id="20" name="Text 18"/>
          <p:cNvSpPr/>
          <p:nvPr/>
        </p:nvSpPr>
        <p:spPr>
          <a:xfrm>
            <a:off x="932688" y="4590288"/>
            <a:ext cx="1417320" cy="256032"/>
          </a:xfrm>
          <a:prstGeom prst="rect">
            <a:avLst/>
          </a:prstGeom>
          <a:noFill/>
          <a:ln/>
        </p:spPr>
        <p:txBody>
          <a:bodyPr wrap="square" lIns="0" tIns="0" rIns="0" bIns="0" rtlCol="0" anchor="ctr">
            <a:normAutofit/>
          </a:bodyPr>
          <a:lstStyle/>
          <a:p>
            <a:pPr indent="0" marL="0">
              <a:buNone/>
            </a:pPr>
            <a:r>
              <a:rPr lang="en-US" sz="1080" b="1" dirty="0">
                <a:solidFill>
                  <a:srgbClr val="121212"/>
                </a:solidFill>
                <a:latin typeface="Microsoft YaHei" pitchFamily="34" charset="0"/>
                <a:ea typeface="Microsoft YaHei" pitchFamily="34" charset="-122"/>
                <a:cs typeface="Microsoft YaHei" pitchFamily="34" charset="-120"/>
              </a:rPr>
              <a:t>后续研判</a:t>
            </a:r>
            <a:endParaRPr lang="en-US" sz="1080" dirty="0"/>
          </a:p>
        </p:txBody>
      </p:sp>
      <p:sp>
        <p:nvSpPr>
          <p:cNvPr id="21" name="Text 19"/>
          <p:cNvSpPr/>
          <p:nvPr/>
        </p:nvSpPr>
        <p:spPr>
          <a:xfrm>
            <a:off x="2487168" y="4572000"/>
            <a:ext cx="4315968" cy="822960"/>
          </a:xfrm>
          <a:prstGeom prst="rect">
            <a:avLst/>
          </a:prstGeom>
          <a:noFill/>
          <a:ln/>
        </p:spPr>
        <p:txBody>
          <a:bodyPr wrap="square" lIns="0" tIns="0" rIns="0" bIns="0" rtlCol="0" anchor="t">
            <a:normAutofit/>
          </a:bodyPr>
          <a:lstStyle/>
          <a:p>
            <a:pPr indent="0" marL="0">
              <a:buNone/>
            </a:pPr>
            <a:r>
              <a:rPr lang="en-US" sz="960" b="1" dirty="0">
                <a:solidFill>
                  <a:srgbClr val="121212"/>
                </a:solidFill>
                <a:latin typeface="Microsoft YaHei" pitchFamily="34" charset="0"/>
                <a:ea typeface="Microsoft YaHei" pitchFamily="34" charset="-122"/>
                <a:cs typeface="Microsoft YaHei" pitchFamily="34" charset="-120"/>
              </a:rPr>
              <a:t>若国内新能源车政策进一步收紧，则四季度磷酸铁锂需求可能不及预期，正极企业排产下调；若回收合规要求加速落地，则具备资质的回收企业可能获得原料成本优势，不合规产能出清。跟踪指标：新能源车补贴政策文件、回收白名单企业数量、环保督查通报、脱保电池流入合规渠道比例。证据边界：政策收紧的具体条款尚未公布，回收项目投产时间不确定。</a:t>
            </a:r>
            <a:endParaRPr lang="en-US" sz="960" dirty="0"/>
          </a:p>
        </p:txBody>
      </p:sp>
      <p:sp>
        <p:nvSpPr>
          <p:cNvPr id="22" name="Shape 20"/>
          <p:cNvSpPr/>
          <p:nvPr/>
        </p:nvSpPr>
        <p:spPr>
          <a:xfrm>
            <a:off x="7479792" y="1444752"/>
            <a:ext cx="3273552" cy="3730752"/>
          </a:xfrm>
          <a:prstGeom prst="roundRect">
            <a:avLst>
              <a:gd name="adj" fmla="val 2235"/>
            </a:avLst>
          </a:prstGeom>
          <a:solidFill>
            <a:srgbClr val="FFFFFF"/>
          </a:solidFill>
          <a:ln w="10160">
            <a:solidFill>
              <a:srgbClr val="DADADA"/>
            </a:solidFill>
            <a:prstDash val="solid"/>
          </a:ln>
        </p:spPr>
      </p:sp>
      <p:sp>
        <p:nvSpPr>
          <p:cNvPr id="23" name="Text 21"/>
          <p:cNvSpPr/>
          <p:nvPr/>
        </p:nvSpPr>
        <p:spPr>
          <a:xfrm>
            <a:off x="7726680" y="1700784"/>
            <a:ext cx="2286000" cy="219456"/>
          </a:xfrm>
          <a:prstGeom prst="rect">
            <a:avLst/>
          </a:prstGeom>
          <a:noFill/>
          <a:ln/>
        </p:spPr>
        <p:txBody>
          <a:bodyPr wrap="square" lIns="0" tIns="0" rIns="0" bIns="0" rtlCol="0" anchor="ctr">
            <a:normAutofit/>
          </a:bodyPr>
          <a:lstStyle/>
          <a:p>
            <a:pPr indent="0" marL="0">
              <a:buNone/>
            </a:pPr>
            <a:r>
              <a:rPr lang="en-US" sz="1200" b="1" dirty="0">
                <a:solidFill>
                  <a:srgbClr val="487052"/>
                </a:solidFill>
                <a:latin typeface="Microsoft YaHei" pitchFamily="34" charset="0"/>
                <a:ea typeface="Microsoft YaHei" pitchFamily="34" charset="-122"/>
                <a:cs typeface="Microsoft YaHei" pitchFamily="34" charset="-120"/>
              </a:rPr>
              <a:t>合规风险金字塔</a:t>
            </a:r>
            <a:endParaRPr lang="en-US" sz="1200" dirty="0"/>
          </a:p>
        </p:txBody>
      </p:sp>
      <p:sp>
        <p:nvSpPr>
          <p:cNvPr id="24" name="Shape 22"/>
          <p:cNvSpPr/>
          <p:nvPr/>
        </p:nvSpPr>
        <p:spPr>
          <a:xfrm>
            <a:off x="8503920" y="1975104"/>
            <a:ext cx="1097280" cy="512064"/>
          </a:xfrm>
          <a:prstGeom prst="trapezoid">
            <a:avLst/>
          </a:prstGeom>
          <a:solidFill>
            <a:srgbClr val="B85A4A"/>
          </a:solidFill>
          <a:ln w="8890">
            <a:solidFill>
              <a:srgbClr val="487052"/>
            </a:solidFill>
            <a:prstDash val="solid"/>
          </a:ln>
        </p:spPr>
      </p:sp>
      <p:sp>
        <p:nvSpPr>
          <p:cNvPr id="25" name="Text 23"/>
          <p:cNvSpPr/>
          <p:nvPr/>
        </p:nvSpPr>
        <p:spPr>
          <a:xfrm>
            <a:off x="8595360" y="2066544"/>
            <a:ext cx="914400" cy="118872"/>
          </a:xfrm>
          <a:prstGeom prst="rect">
            <a:avLst/>
          </a:prstGeom>
          <a:noFill/>
          <a:ln/>
        </p:spPr>
        <p:txBody>
          <a:bodyPr wrap="square" lIns="0" tIns="0" rIns="0" bIns="0" rtlCol="0" anchor="ctr">
            <a:normAutofit/>
          </a:bodyPr>
          <a:lstStyle/>
          <a:p>
            <a:pPr algn="ctr" indent="0" marL="0">
              <a:buNone/>
            </a:pPr>
            <a:r>
              <a:rPr lang="en-US" sz="740" b="1" dirty="0">
                <a:solidFill>
                  <a:srgbClr val="FFFFFF"/>
                </a:solidFill>
                <a:latin typeface="Microsoft YaHei" pitchFamily="34" charset="0"/>
                <a:ea typeface="Microsoft YaHei" pitchFamily="34" charset="-122"/>
                <a:cs typeface="Microsoft YaHei" pitchFamily="34" charset="-120"/>
              </a:rPr>
              <a:t>监管红线</a:t>
            </a:r>
            <a:endParaRPr lang="en-US" sz="740" dirty="0"/>
          </a:p>
        </p:txBody>
      </p:sp>
      <p:sp>
        <p:nvSpPr>
          <p:cNvPr id="26" name="Text 24"/>
          <p:cNvSpPr/>
          <p:nvPr/>
        </p:nvSpPr>
        <p:spPr>
          <a:xfrm>
            <a:off x="7808976" y="2496312"/>
            <a:ext cx="2514600" cy="118872"/>
          </a:xfrm>
          <a:prstGeom prst="rect">
            <a:avLst/>
          </a:prstGeom>
          <a:noFill/>
          <a:ln/>
        </p:spPr>
        <p:txBody>
          <a:bodyPr wrap="square" lIns="0" tIns="0" rIns="0" bIns="0" rtlCol="0" anchor="ctr">
            <a:normAutofit/>
          </a:bodyPr>
          <a:lstStyle/>
          <a:p>
            <a:pPr algn="ctr" indent="0" marL="0">
              <a:buNone/>
            </a:pPr>
            <a:r>
              <a:rPr lang="en-US" sz="660" dirty="0">
                <a:solidFill>
                  <a:srgbClr val="121212"/>
                </a:solidFill>
                <a:latin typeface="Microsoft YaHei" pitchFamily="34" charset="0"/>
                <a:ea typeface="Microsoft YaHei" pitchFamily="34" charset="-122"/>
                <a:cs typeface="Microsoft YaHei" pitchFamily="34" charset="-120"/>
              </a:rPr>
              <a:t>国内新能源车政策收紧，可能提高购车</a:t>
            </a:r>
            <a:endParaRPr lang="en-US" sz="660" dirty="0"/>
          </a:p>
        </p:txBody>
      </p:sp>
      <p:sp>
        <p:nvSpPr>
          <p:cNvPr id="27" name="Shape 25"/>
          <p:cNvSpPr/>
          <p:nvPr/>
        </p:nvSpPr>
        <p:spPr>
          <a:xfrm>
            <a:off x="8183880" y="2615184"/>
            <a:ext cx="1737360" cy="512064"/>
          </a:xfrm>
          <a:prstGeom prst="trapezoid">
            <a:avLst/>
          </a:prstGeom>
          <a:solidFill>
            <a:srgbClr val="DDEBE0"/>
          </a:solidFill>
          <a:ln w="8890">
            <a:solidFill>
              <a:srgbClr val="487052"/>
            </a:solidFill>
            <a:prstDash val="solid"/>
          </a:ln>
        </p:spPr>
      </p:sp>
      <p:sp>
        <p:nvSpPr>
          <p:cNvPr id="28" name="Text 26"/>
          <p:cNvSpPr/>
          <p:nvPr/>
        </p:nvSpPr>
        <p:spPr>
          <a:xfrm>
            <a:off x="8275320" y="2706624"/>
            <a:ext cx="1554480" cy="118872"/>
          </a:xfrm>
          <a:prstGeom prst="rect">
            <a:avLst/>
          </a:prstGeom>
          <a:noFill/>
          <a:ln/>
        </p:spPr>
        <p:txBody>
          <a:bodyPr wrap="square" lIns="0" tIns="0" rIns="0" bIns="0" rtlCol="0" anchor="ctr">
            <a:normAutofit/>
          </a:bodyPr>
          <a:lstStyle/>
          <a:p>
            <a:pPr algn="ctr" indent="0" marL="0">
              <a:buNone/>
            </a:pPr>
            <a:r>
              <a:rPr lang="en-US" sz="740" b="1" dirty="0">
                <a:solidFill>
                  <a:srgbClr val="487052"/>
                </a:solidFill>
                <a:latin typeface="Microsoft YaHei" pitchFamily="34" charset="0"/>
                <a:ea typeface="Microsoft YaHei" pitchFamily="34" charset="-122"/>
                <a:cs typeface="Microsoft YaHei" pitchFamily="34" charset="-120"/>
              </a:rPr>
              <a:t>合规动作</a:t>
            </a:r>
            <a:endParaRPr lang="en-US" sz="740" dirty="0"/>
          </a:p>
        </p:txBody>
      </p:sp>
      <p:sp>
        <p:nvSpPr>
          <p:cNvPr id="29" name="Text 27"/>
          <p:cNvSpPr/>
          <p:nvPr/>
        </p:nvSpPr>
        <p:spPr>
          <a:xfrm>
            <a:off x="7808976" y="3136392"/>
            <a:ext cx="2514600" cy="118872"/>
          </a:xfrm>
          <a:prstGeom prst="rect">
            <a:avLst/>
          </a:prstGeom>
          <a:noFill/>
          <a:ln/>
        </p:spPr>
        <p:txBody>
          <a:bodyPr wrap="square" lIns="0" tIns="0" rIns="0" bIns="0" rtlCol="0" anchor="ctr">
            <a:normAutofit/>
          </a:bodyPr>
          <a:lstStyle/>
          <a:p>
            <a:pPr algn="ctr" indent="0" marL="0">
              <a:buNone/>
            </a:pPr>
            <a:r>
              <a:rPr lang="en-US" sz="660" dirty="0">
                <a:solidFill>
                  <a:srgbClr val="121212"/>
                </a:solidFill>
                <a:latin typeface="Microsoft YaHei" pitchFamily="34" charset="0"/>
                <a:ea typeface="Microsoft YaHei" pitchFamily="34" charset="-122"/>
                <a:cs typeface="Microsoft YaHei" pitchFamily="34" charset="-120"/>
              </a:rPr>
              <a:t>动力电池高值化利用被定性为淘汰赛，</a:t>
            </a:r>
            <a:endParaRPr lang="en-US" sz="660" dirty="0"/>
          </a:p>
        </p:txBody>
      </p:sp>
      <p:sp>
        <p:nvSpPr>
          <p:cNvPr id="30" name="Shape 28"/>
          <p:cNvSpPr/>
          <p:nvPr/>
        </p:nvSpPr>
        <p:spPr>
          <a:xfrm>
            <a:off x="7863840" y="3255264"/>
            <a:ext cx="2377440" cy="512064"/>
          </a:xfrm>
          <a:prstGeom prst="trapezoid">
            <a:avLst/>
          </a:prstGeom>
          <a:solidFill>
            <a:srgbClr val="F4FAF6"/>
          </a:solidFill>
          <a:ln w="8890">
            <a:solidFill>
              <a:srgbClr val="487052"/>
            </a:solidFill>
            <a:prstDash val="solid"/>
          </a:ln>
        </p:spPr>
      </p:sp>
      <p:sp>
        <p:nvSpPr>
          <p:cNvPr id="31" name="Text 29"/>
          <p:cNvSpPr/>
          <p:nvPr/>
        </p:nvSpPr>
        <p:spPr>
          <a:xfrm>
            <a:off x="7955280" y="3346704"/>
            <a:ext cx="2194560" cy="118872"/>
          </a:xfrm>
          <a:prstGeom prst="rect">
            <a:avLst/>
          </a:prstGeom>
          <a:noFill/>
          <a:ln/>
        </p:spPr>
        <p:txBody>
          <a:bodyPr wrap="square" lIns="0" tIns="0" rIns="0" bIns="0" rtlCol="0" anchor="ctr">
            <a:normAutofit/>
          </a:bodyPr>
          <a:lstStyle/>
          <a:p>
            <a:pPr algn="ctr" indent="0" marL="0">
              <a:buNone/>
            </a:pPr>
            <a:r>
              <a:rPr lang="en-US" sz="740" b="1" dirty="0">
                <a:solidFill>
                  <a:srgbClr val="487052"/>
                </a:solidFill>
                <a:latin typeface="Microsoft YaHei" pitchFamily="34" charset="0"/>
                <a:ea typeface="Microsoft YaHei" pitchFamily="34" charset="-122"/>
                <a:cs typeface="Microsoft YaHei" pitchFamily="34" charset="-120"/>
              </a:rPr>
              <a:t>经营影响/观察</a:t>
            </a:r>
            <a:endParaRPr lang="en-US" sz="740" dirty="0"/>
          </a:p>
        </p:txBody>
      </p:sp>
      <p:sp>
        <p:nvSpPr>
          <p:cNvPr id="32" name="Text 30"/>
          <p:cNvSpPr/>
          <p:nvPr/>
        </p:nvSpPr>
        <p:spPr>
          <a:xfrm>
            <a:off x="7808976" y="3776472"/>
            <a:ext cx="2514600" cy="118872"/>
          </a:xfrm>
          <a:prstGeom prst="rect">
            <a:avLst/>
          </a:prstGeom>
          <a:noFill/>
          <a:ln/>
        </p:spPr>
        <p:txBody>
          <a:bodyPr wrap="square" lIns="0" tIns="0" rIns="0" bIns="0" rtlCol="0" anchor="ctr">
            <a:normAutofit/>
          </a:bodyPr>
          <a:lstStyle/>
          <a:p>
            <a:pPr algn="ctr" indent="0" marL="0">
              <a:buNone/>
            </a:pPr>
            <a:r>
              <a:rPr lang="en-US" sz="660" dirty="0">
                <a:solidFill>
                  <a:srgbClr val="121212"/>
                </a:solidFill>
                <a:latin typeface="Microsoft YaHei" pitchFamily="34" charset="0"/>
                <a:ea typeface="Microsoft YaHei" pitchFamily="34" charset="-122"/>
                <a:cs typeface="Microsoft YaHei" pitchFamily="34" charset="-120"/>
              </a:rPr>
              <a:t>电池回收项目（贵州台江3万吨）推进</a:t>
            </a:r>
            <a:endParaRPr lang="en-US" sz="660" dirty="0"/>
          </a:p>
        </p:txBody>
      </p:sp>
      <p:sp>
        <p:nvSpPr>
          <p:cNvPr id="33" name="Shape 31"/>
          <p:cNvSpPr/>
          <p:nvPr/>
        </p:nvSpPr>
        <p:spPr>
          <a:xfrm>
            <a:off x="658368" y="5779008"/>
            <a:ext cx="1463040" cy="292608"/>
          </a:xfrm>
          <a:prstGeom prst="rect">
            <a:avLst/>
          </a:prstGeom>
          <a:solidFill>
            <a:srgbClr val="121212"/>
          </a:solidFill>
          <a:ln w="12700">
            <a:solidFill>
              <a:srgbClr val="121212"/>
            </a:solidFill>
            <a:prstDash val="solid"/>
          </a:ln>
        </p:spPr>
      </p:sp>
      <p:sp>
        <p:nvSpPr>
          <p:cNvPr id="34" name="Text 32"/>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核心研判</a:t>
            </a:r>
            <a:endParaRPr lang="en-US" sz="780" dirty="0"/>
          </a:p>
        </p:txBody>
      </p:sp>
      <p:sp>
        <p:nvSpPr>
          <p:cNvPr id="35" name="Text 33"/>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若国内新能源车政策进一步收紧，则四季度磷酸铁锂需求可能不及预期，正极企业排产下调</a:t>
            </a:r>
            <a:endParaRPr lang="en-US" sz="10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8.</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SECTION DEEP DIVE</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2026-10-27</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08</a:t>
            </a:r>
            <a:endParaRPr lang="en-US" sz="730" dirty="0"/>
          </a:p>
        </p:txBody>
      </p:sp>
      <p:sp>
        <p:nvSpPr>
          <p:cNvPr id="9" name="Text 7"/>
          <p:cNvSpPr/>
          <p:nvPr/>
        </p:nvSpPr>
        <p:spPr>
          <a:xfrm>
            <a:off x="658368" y="914400"/>
            <a:ext cx="3200400" cy="384048"/>
          </a:xfrm>
          <a:prstGeom prst="rect">
            <a:avLst/>
          </a:prstGeom>
          <a:noFill/>
          <a:ln/>
        </p:spPr>
        <p:txBody>
          <a:bodyPr wrap="square" lIns="0" tIns="0" rIns="0" bIns="0" rtlCol="0" anchor="ctr">
            <a:normAutofit/>
          </a:bodyP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竞品观察</a:t>
            </a:r>
            <a:endParaRPr lang="en-US" sz="2000" dirty="0"/>
          </a:p>
        </p:txBody>
      </p:sp>
      <p:sp>
        <p:nvSpPr>
          <p:cNvPr id="10" name="Text 8"/>
          <p:cNvSpPr/>
          <p:nvPr/>
        </p:nvSpPr>
        <p:spPr>
          <a:xfrm>
            <a:off x="3749040" y="1005840"/>
            <a:ext cx="7132320" cy="182880"/>
          </a:xfrm>
          <a:prstGeom prst="rect">
            <a:avLst/>
          </a:prstGeom>
          <a:noFill/>
          <a:ln/>
        </p:spPr>
        <p:txBody>
          <a:bodyPr wrap="square" lIns="0" tIns="0" rIns="0" bIns="0" rtlCol="0" anchor="ctr">
            <a:normAutofit/>
          </a:bodyPr>
          <a:lstStyle/>
          <a:p>
            <a:pPr indent="0" marL="0">
              <a:buNone/>
            </a:pPr>
            <a:r>
              <a:rPr lang="en-US" sz="860" dirty="0">
                <a:solidFill>
                  <a:srgbClr val="6D756F"/>
                </a:solidFill>
                <a:latin typeface="Microsoft YaHei" pitchFamily="34" charset="0"/>
                <a:ea typeface="Microsoft YaHei" pitchFamily="34" charset="-122"/>
                <a:cs typeface="Microsoft YaHei" pitchFamily="34" charset="-120"/>
              </a:rPr>
              <a:t>2 条公开来源交叉验证｜事实、影响与后续研判</a:t>
            </a:r>
            <a:endParaRPr lang="en-US" sz="860" dirty="0"/>
          </a:p>
        </p:txBody>
      </p:sp>
      <p:sp>
        <p:nvSpPr>
          <p:cNvPr id="11" name="Shape 9"/>
          <p:cNvSpPr/>
          <p:nvPr/>
        </p:nvSpPr>
        <p:spPr>
          <a:xfrm>
            <a:off x="658368" y="1444752"/>
            <a:ext cx="6510528" cy="1207008"/>
          </a:xfrm>
          <a:prstGeom prst="roundRect">
            <a:avLst>
              <a:gd name="adj" fmla="val 6061"/>
            </a:avLst>
          </a:prstGeom>
          <a:solidFill>
            <a:srgbClr val="F4FAF6"/>
          </a:solidFill>
          <a:ln w="10160">
            <a:solidFill>
              <a:srgbClr val="DADADA"/>
            </a:solidFill>
            <a:prstDash val="solid"/>
          </a:ln>
        </p:spPr>
      </p:sp>
      <p:sp>
        <p:nvSpPr>
          <p:cNvPr id="12" name="Text 10"/>
          <p:cNvSpPr/>
          <p:nvPr/>
        </p:nvSpPr>
        <p:spPr>
          <a:xfrm>
            <a:off x="932688" y="166420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事实判断</a:t>
            </a:r>
            <a:endParaRPr lang="en-US" sz="1080" dirty="0"/>
          </a:p>
        </p:txBody>
      </p:sp>
      <p:sp>
        <p:nvSpPr>
          <p:cNvPr id="13" name="Text 11"/>
          <p:cNvSpPr/>
          <p:nvPr/>
        </p:nvSpPr>
        <p:spPr>
          <a:xfrm>
            <a:off x="2487168" y="1645920"/>
            <a:ext cx="4315968" cy="676656"/>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零跑与海泰科服投资企业合作攻坚前沿电池技术，可能指向非磷酸铁锂路线，构成潜在竞品威胁；但技术细节未披露，短期对磷酸铁锂份额影响有限。激光精焊技术作为制造工艺改进，对磷酸铁锂安全性能有正面作用，不构成路线替代。 [5][6]</a:t>
            </a:r>
            <a:endParaRPr lang="en-US" sz="960" dirty="0"/>
          </a:p>
        </p:txBody>
      </p:sp>
      <p:sp>
        <p:nvSpPr>
          <p:cNvPr id="14" name="Text 12"/>
          <p:cNvSpPr/>
          <p:nvPr/>
        </p:nvSpPr>
        <p:spPr>
          <a:xfrm>
            <a:off x="2487168" y="2432304"/>
            <a:ext cx="3931920" cy="128016"/>
          </a:xfrm>
          <a:prstGeom prst="rect">
            <a:avLst/>
          </a:prstGeom>
          <a:noFill/>
          <a:ln/>
        </p:spPr>
        <p:txBody>
          <a:bodyPr wrap="square" lIns="0" tIns="0" rIns="0" bIns="0" rtlCol="0" anchor="ctr">
            <a:normAutofit/>
          </a:bodyPr>
          <a:lstStyle/>
          <a:p>
            <a:pPr indent="0" marL="0">
              <a:buNone/>
            </a:pPr>
            <a:r>
              <a:rPr lang="en-US" sz="740" dirty="0">
                <a:solidFill>
                  <a:srgbClr val="487052"/>
                </a:solidFill>
                <a:latin typeface="Aptos" pitchFamily="34" charset="0"/>
                <a:ea typeface="Aptos" pitchFamily="34" charset="-122"/>
                <a:cs typeface="Aptos" pitchFamily="34" charset="-120"/>
              </a:rPr>
              <a:t>依据：[5][6]</a:t>
            </a:r>
            <a:endParaRPr lang="en-US" sz="740" dirty="0"/>
          </a:p>
        </p:txBody>
      </p:sp>
      <p:sp>
        <p:nvSpPr>
          <p:cNvPr id="15" name="Shape 13"/>
          <p:cNvSpPr/>
          <p:nvPr/>
        </p:nvSpPr>
        <p:spPr>
          <a:xfrm>
            <a:off x="658368" y="2907792"/>
            <a:ext cx="6510528" cy="1207008"/>
          </a:xfrm>
          <a:prstGeom prst="roundRect">
            <a:avLst>
              <a:gd name="adj" fmla="val 6061"/>
            </a:avLst>
          </a:prstGeom>
          <a:solidFill>
            <a:srgbClr val="FFFFFF"/>
          </a:solidFill>
          <a:ln w="10160">
            <a:solidFill>
              <a:srgbClr val="DADADA"/>
            </a:solidFill>
            <a:prstDash val="solid"/>
          </a:ln>
        </p:spPr>
      </p:sp>
      <p:sp>
        <p:nvSpPr>
          <p:cNvPr id="16" name="Text 14"/>
          <p:cNvSpPr/>
          <p:nvPr/>
        </p:nvSpPr>
        <p:spPr>
          <a:xfrm>
            <a:off x="932688" y="312724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影响分析</a:t>
            </a:r>
            <a:endParaRPr lang="en-US" sz="1080" dirty="0"/>
          </a:p>
        </p:txBody>
      </p:sp>
      <p:sp>
        <p:nvSpPr>
          <p:cNvPr id="17" name="Text 15"/>
          <p:cNvSpPr/>
          <p:nvPr/>
        </p:nvSpPr>
        <p:spPr>
          <a:xfrm>
            <a:off x="2487168" y="3108960"/>
            <a:ext cx="4315968" cy="822960"/>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碳索储能网报道的零跑合作若涉及固态电池或高镍三元，则在中长期可能分流磷酸铁锂在高端车型的应用；但当前磷酸铁锂凭借成本与安全优势，在中低端车型和储能领域仍占主导。搜狐网报道的激光精焊属于电池制造环节，可提升磷酸铁锂电池良率与安全性，反而增强其竞争力。需确认零跑合作的技术路线及量产节点。</a:t>
            </a:r>
            <a:endParaRPr lang="en-US" sz="960" dirty="0"/>
          </a:p>
        </p:txBody>
      </p:sp>
      <p:sp>
        <p:nvSpPr>
          <p:cNvPr id="18" name="Shape 16"/>
          <p:cNvSpPr/>
          <p:nvPr/>
        </p:nvSpPr>
        <p:spPr>
          <a:xfrm>
            <a:off x="658368" y="4370832"/>
            <a:ext cx="6510528" cy="1207008"/>
          </a:xfrm>
          <a:prstGeom prst="roundRect">
            <a:avLst>
              <a:gd name="adj" fmla="val 6061"/>
            </a:avLst>
          </a:prstGeom>
          <a:solidFill>
            <a:srgbClr val="DDEBE0"/>
          </a:solidFill>
          <a:ln w="13970">
            <a:solidFill>
              <a:srgbClr val="121212"/>
            </a:solidFill>
            <a:prstDash val="solid"/>
          </a:ln>
        </p:spPr>
      </p:sp>
      <p:sp>
        <p:nvSpPr>
          <p:cNvPr id="19" name="Shape 17"/>
          <p:cNvSpPr/>
          <p:nvPr/>
        </p:nvSpPr>
        <p:spPr>
          <a:xfrm>
            <a:off x="658368" y="4370832"/>
            <a:ext cx="109728" cy="1207008"/>
          </a:xfrm>
          <a:prstGeom prst="rect">
            <a:avLst/>
          </a:prstGeom>
          <a:solidFill>
            <a:srgbClr val="121212"/>
          </a:solidFill>
          <a:ln w="12700">
            <a:solidFill>
              <a:srgbClr val="121212"/>
            </a:solidFill>
            <a:prstDash val="solid"/>
          </a:ln>
        </p:spPr>
      </p:sp>
      <p:sp>
        <p:nvSpPr>
          <p:cNvPr id="20" name="Text 18"/>
          <p:cNvSpPr/>
          <p:nvPr/>
        </p:nvSpPr>
        <p:spPr>
          <a:xfrm>
            <a:off x="932688" y="4590288"/>
            <a:ext cx="1417320" cy="256032"/>
          </a:xfrm>
          <a:prstGeom prst="rect">
            <a:avLst/>
          </a:prstGeom>
          <a:noFill/>
          <a:ln/>
        </p:spPr>
        <p:txBody>
          <a:bodyPr wrap="square" lIns="0" tIns="0" rIns="0" bIns="0" rtlCol="0" anchor="ctr">
            <a:normAutofit/>
          </a:bodyPr>
          <a:lstStyle/>
          <a:p>
            <a:pPr indent="0" marL="0">
              <a:buNone/>
            </a:pPr>
            <a:r>
              <a:rPr lang="en-US" sz="1080" b="1" dirty="0">
                <a:solidFill>
                  <a:srgbClr val="121212"/>
                </a:solidFill>
                <a:latin typeface="Microsoft YaHei" pitchFamily="34" charset="0"/>
                <a:ea typeface="Microsoft YaHei" pitchFamily="34" charset="-122"/>
                <a:cs typeface="Microsoft YaHei" pitchFamily="34" charset="-120"/>
              </a:rPr>
              <a:t>后续研判</a:t>
            </a:r>
            <a:endParaRPr lang="en-US" sz="1080" dirty="0"/>
          </a:p>
        </p:txBody>
      </p:sp>
      <p:sp>
        <p:nvSpPr>
          <p:cNvPr id="21" name="Text 19"/>
          <p:cNvSpPr/>
          <p:nvPr/>
        </p:nvSpPr>
        <p:spPr>
          <a:xfrm>
            <a:off x="2487168" y="4572000"/>
            <a:ext cx="4315968" cy="822960"/>
          </a:xfrm>
          <a:prstGeom prst="rect">
            <a:avLst/>
          </a:prstGeom>
          <a:noFill/>
          <a:ln/>
        </p:spPr>
        <p:txBody>
          <a:bodyPr wrap="square" lIns="0" tIns="0" rIns="0" bIns="0" rtlCol="0" anchor="t">
            <a:normAutofit/>
          </a:bodyPr>
          <a:lstStyle/>
          <a:p>
            <a:pPr indent="0" marL="0">
              <a:buNone/>
            </a:pPr>
            <a:r>
              <a:rPr lang="en-US" sz="960" b="1" dirty="0">
                <a:solidFill>
                  <a:srgbClr val="121212"/>
                </a:solidFill>
                <a:latin typeface="Microsoft YaHei" pitchFamily="34" charset="0"/>
                <a:ea typeface="Microsoft YaHei" pitchFamily="34" charset="-122"/>
                <a:cs typeface="Microsoft YaHei" pitchFamily="34" charset="-120"/>
              </a:rPr>
              <a:t>若零跑合作技术路线确认为非磷酸铁锂且计划2027年量产，则磷酸铁锂在零跑车型中的份额可能下降；若该技术仍处于早期研发阶段，则短期影响可忽略。跟踪指标：零跑电池供应商名单、新车型电池类型公告、固态电池量产时间表。证据边界：合作技术方向未公开，量产时间不确定。</a:t>
            </a:r>
            <a:endParaRPr lang="en-US" sz="960" dirty="0"/>
          </a:p>
        </p:txBody>
      </p:sp>
      <p:sp>
        <p:nvSpPr>
          <p:cNvPr id="22" name="Shape 20"/>
          <p:cNvSpPr/>
          <p:nvPr/>
        </p:nvSpPr>
        <p:spPr>
          <a:xfrm>
            <a:off x="7479792" y="1444752"/>
            <a:ext cx="3273552" cy="3730752"/>
          </a:xfrm>
          <a:prstGeom prst="roundRect">
            <a:avLst>
              <a:gd name="adj" fmla="val 2235"/>
            </a:avLst>
          </a:prstGeom>
          <a:solidFill>
            <a:srgbClr val="FFFFFF"/>
          </a:solidFill>
          <a:ln w="10160">
            <a:solidFill>
              <a:srgbClr val="DADADA"/>
            </a:solidFill>
            <a:prstDash val="solid"/>
          </a:ln>
        </p:spPr>
      </p:sp>
      <p:sp>
        <p:nvSpPr>
          <p:cNvPr id="23" name="Text 21"/>
          <p:cNvSpPr/>
          <p:nvPr/>
        </p:nvSpPr>
        <p:spPr>
          <a:xfrm>
            <a:off x="7726680" y="1700784"/>
            <a:ext cx="2286000" cy="219456"/>
          </a:xfrm>
          <a:prstGeom prst="rect">
            <a:avLst/>
          </a:prstGeom>
          <a:noFill/>
          <a:ln/>
        </p:spPr>
        <p:txBody>
          <a:bodyPr wrap="square" lIns="0" tIns="0" rIns="0" bIns="0" rtlCol="0" anchor="ctr">
            <a:normAutofit/>
          </a:bodyPr>
          <a:lstStyle/>
          <a:p>
            <a:pPr indent="0" marL="0">
              <a:buNone/>
            </a:pPr>
            <a:r>
              <a:rPr lang="en-US" sz="1200" b="1" dirty="0">
                <a:solidFill>
                  <a:srgbClr val="487052"/>
                </a:solidFill>
                <a:latin typeface="Microsoft YaHei" pitchFamily="34" charset="0"/>
                <a:ea typeface="Microsoft YaHei" pitchFamily="34" charset="-122"/>
                <a:cs typeface="Microsoft YaHei" pitchFamily="34" charset="-120"/>
              </a:rPr>
              <a:t>对比矩阵</a:t>
            </a:r>
            <a:endParaRPr lang="en-US" sz="1200" dirty="0"/>
          </a:p>
        </p:txBody>
      </p:sp>
      <p:sp>
        <p:nvSpPr>
          <p:cNvPr id="24" name="Shape 22"/>
          <p:cNvSpPr/>
          <p:nvPr/>
        </p:nvSpPr>
        <p:spPr>
          <a:xfrm>
            <a:off x="7818120" y="2176272"/>
            <a:ext cx="2487168" cy="1609344"/>
          </a:xfrm>
          <a:prstGeom prst="rect">
            <a:avLst/>
          </a:prstGeom>
          <a:solidFill>
            <a:srgbClr val="FFFFFF"/>
          </a:solidFill>
          <a:ln w="10160">
            <a:solidFill>
              <a:srgbClr val="DADADA"/>
            </a:solidFill>
            <a:prstDash val="solid"/>
          </a:ln>
        </p:spPr>
      </p:sp>
      <p:sp>
        <p:nvSpPr>
          <p:cNvPr id="25" name="Shape 23"/>
          <p:cNvSpPr/>
          <p:nvPr/>
        </p:nvSpPr>
        <p:spPr>
          <a:xfrm>
            <a:off x="9061704" y="2176272"/>
            <a:ext cx="0" cy="1609344"/>
          </a:xfrm>
          <a:prstGeom prst="line">
            <a:avLst/>
          </a:prstGeom>
          <a:noFill/>
          <a:ln w="8890">
            <a:solidFill>
              <a:srgbClr val="DADADA"/>
            </a:solidFill>
            <a:prstDash val="solid"/>
          </a:ln>
        </p:spPr>
      </p:sp>
      <p:sp>
        <p:nvSpPr>
          <p:cNvPr id="26" name="Shape 24"/>
          <p:cNvSpPr/>
          <p:nvPr/>
        </p:nvSpPr>
        <p:spPr>
          <a:xfrm>
            <a:off x="7818120" y="2980944"/>
            <a:ext cx="2487168" cy="0"/>
          </a:xfrm>
          <a:prstGeom prst="line">
            <a:avLst/>
          </a:prstGeom>
          <a:noFill/>
          <a:ln w="8890">
            <a:solidFill>
              <a:srgbClr val="DADADA"/>
            </a:solidFill>
            <a:prstDash val="solid"/>
          </a:ln>
        </p:spPr>
      </p:sp>
      <p:sp>
        <p:nvSpPr>
          <p:cNvPr id="27" name="Shape 25"/>
          <p:cNvSpPr/>
          <p:nvPr/>
        </p:nvSpPr>
        <p:spPr>
          <a:xfrm>
            <a:off x="7818120" y="2176272"/>
            <a:ext cx="1243584" cy="804672"/>
          </a:xfrm>
          <a:prstGeom prst="rect">
            <a:avLst/>
          </a:prstGeom>
          <a:solidFill>
            <a:srgbClr val="DDEBE0"/>
          </a:solidFill>
          <a:ln w="3810">
            <a:solidFill>
              <a:srgbClr val="DADADA"/>
            </a:solidFill>
            <a:prstDash val="solid"/>
          </a:ln>
        </p:spPr>
      </p:sp>
      <p:sp>
        <p:nvSpPr>
          <p:cNvPr id="28" name="Text 26"/>
          <p:cNvSpPr/>
          <p:nvPr/>
        </p:nvSpPr>
        <p:spPr>
          <a:xfrm>
            <a:off x="7891272" y="2286000"/>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路线A</a:t>
            </a:r>
            <a:endParaRPr lang="en-US" sz="710" dirty="0"/>
          </a:p>
        </p:txBody>
      </p:sp>
      <p:sp>
        <p:nvSpPr>
          <p:cNvPr id="29" name="Text 27"/>
          <p:cNvSpPr/>
          <p:nvPr/>
        </p:nvSpPr>
        <p:spPr>
          <a:xfrm>
            <a:off x="7891272" y="2505456"/>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零跑与海泰科服投资企业合作</a:t>
            </a:r>
            <a:endParaRPr lang="en-US" sz="670" dirty="0"/>
          </a:p>
        </p:txBody>
      </p:sp>
      <p:sp>
        <p:nvSpPr>
          <p:cNvPr id="30" name="Shape 28"/>
          <p:cNvSpPr/>
          <p:nvPr/>
        </p:nvSpPr>
        <p:spPr>
          <a:xfrm>
            <a:off x="9061704" y="2176272"/>
            <a:ext cx="1243584" cy="804672"/>
          </a:xfrm>
          <a:prstGeom prst="rect">
            <a:avLst/>
          </a:prstGeom>
          <a:solidFill>
            <a:srgbClr val="FFFFFF"/>
          </a:solidFill>
          <a:ln w="3810">
            <a:solidFill>
              <a:srgbClr val="DADADA"/>
            </a:solidFill>
            <a:prstDash val="solid"/>
          </a:ln>
        </p:spPr>
      </p:sp>
      <p:sp>
        <p:nvSpPr>
          <p:cNvPr id="31" name="Text 29"/>
          <p:cNvSpPr/>
          <p:nvPr/>
        </p:nvSpPr>
        <p:spPr>
          <a:xfrm>
            <a:off x="9134856" y="2286000"/>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路线B</a:t>
            </a:r>
            <a:endParaRPr lang="en-US" sz="710" dirty="0"/>
          </a:p>
        </p:txBody>
      </p:sp>
      <p:sp>
        <p:nvSpPr>
          <p:cNvPr id="32" name="Text 30"/>
          <p:cNvSpPr/>
          <p:nvPr/>
        </p:nvSpPr>
        <p:spPr>
          <a:xfrm>
            <a:off x="9134856" y="2505456"/>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但技术细节未披露，短期对磷</a:t>
            </a:r>
            <a:endParaRPr lang="en-US" sz="670" dirty="0"/>
          </a:p>
        </p:txBody>
      </p:sp>
      <p:sp>
        <p:nvSpPr>
          <p:cNvPr id="33" name="Shape 31"/>
          <p:cNvSpPr/>
          <p:nvPr/>
        </p:nvSpPr>
        <p:spPr>
          <a:xfrm>
            <a:off x="7818120" y="2980944"/>
            <a:ext cx="1243584" cy="804672"/>
          </a:xfrm>
          <a:prstGeom prst="rect">
            <a:avLst/>
          </a:prstGeom>
          <a:solidFill>
            <a:srgbClr val="FFFFFF"/>
          </a:solidFill>
          <a:ln w="3810">
            <a:solidFill>
              <a:srgbClr val="DADADA"/>
            </a:solidFill>
            <a:prstDash val="solid"/>
          </a:ln>
        </p:spPr>
      </p:sp>
      <p:sp>
        <p:nvSpPr>
          <p:cNvPr id="34" name="Text 32"/>
          <p:cNvSpPr/>
          <p:nvPr/>
        </p:nvSpPr>
        <p:spPr>
          <a:xfrm>
            <a:off x="7891272" y="3090672"/>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机会</a:t>
            </a:r>
            <a:endParaRPr lang="en-US" sz="710" dirty="0"/>
          </a:p>
        </p:txBody>
      </p:sp>
      <p:sp>
        <p:nvSpPr>
          <p:cNvPr id="35" name="Text 33"/>
          <p:cNvSpPr/>
          <p:nvPr/>
        </p:nvSpPr>
        <p:spPr>
          <a:xfrm>
            <a:off x="7891272" y="3310128"/>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激光精焊技术作为制造工艺改</a:t>
            </a:r>
            <a:endParaRPr lang="en-US" sz="670" dirty="0"/>
          </a:p>
        </p:txBody>
      </p:sp>
      <p:sp>
        <p:nvSpPr>
          <p:cNvPr id="36" name="Shape 34"/>
          <p:cNvSpPr/>
          <p:nvPr/>
        </p:nvSpPr>
        <p:spPr>
          <a:xfrm>
            <a:off x="9061704" y="2980944"/>
            <a:ext cx="1243584" cy="804672"/>
          </a:xfrm>
          <a:prstGeom prst="rect">
            <a:avLst/>
          </a:prstGeom>
          <a:solidFill>
            <a:srgbClr val="F4FAF6"/>
          </a:solidFill>
          <a:ln w="3810">
            <a:solidFill>
              <a:srgbClr val="DADADA"/>
            </a:solidFill>
            <a:prstDash val="solid"/>
          </a:ln>
        </p:spPr>
      </p:sp>
      <p:sp>
        <p:nvSpPr>
          <p:cNvPr id="37" name="Text 35"/>
          <p:cNvSpPr/>
          <p:nvPr/>
        </p:nvSpPr>
        <p:spPr>
          <a:xfrm>
            <a:off x="9134856" y="3090672"/>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约束</a:t>
            </a:r>
            <a:endParaRPr lang="en-US" sz="710" dirty="0"/>
          </a:p>
        </p:txBody>
      </p:sp>
      <p:sp>
        <p:nvSpPr>
          <p:cNvPr id="38" name="Text 36"/>
          <p:cNvSpPr/>
          <p:nvPr/>
        </p:nvSpPr>
        <p:spPr>
          <a:xfrm>
            <a:off x="9134856" y="3310128"/>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零跑与海泰科服投资企业合作</a:t>
            </a:r>
            <a:endParaRPr lang="en-US" sz="670" dirty="0"/>
          </a:p>
        </p:txBody>
      </p:sp>
      <p:sp>
        <p:nvSpPr>
          <p:cNvPr id="39" name="Text 37"/>
          <p:cNvSpPr/>
          <p:nvPr/>
        </p:nvSpPr>
        <p:spPr>
          <a:xfrm>
            <a:off x="7726680" y="4187952"/>
            <a:ext cx="2697480" cy="493776"/>
          </a:xfrm>
          <a:prstGeom prst="rect">
            <a:avLst/>
          </a:prstGeom>
          <a:noFill/>
          <a:ln/>
        </p:spPr>
        <p:txBody>
          <a:bodyPr wrap="square" lIns="0" tIns="0" rIns="0" bIns="0" rtlCol="0" anchor="t">
            <a:normAutofit/>
          </a:bodyPr>
          <a:lstStyle/>
          <a:p>
            <a:pPr indent="0" marL="0">
              <a:buNone/>
            </a:pPr>
            <a:r>
              <a:rPr lang="en-US" sz="760" dirty="0">
                <a:solidFill>
                  <a:srgbClr val="6D756F"/>
                </a:solidFill>
                <a:latin typeface="Microsoft YaHei" pitchFamily="34" charset="0"/>
                <a:ea typeface="Microsoft YaHei" pitchFamily="34" charset="-122"/>
                <a:cs typeface="Microsoft YaHei" pitchFamily="34" charset="-120"/>
              </a:rPr>
              <a:t>检测到对比/分类信号，用矩阵压缩呈现，不新增外部判断。</a:t>
            </a:r>
            <a:endParaRPr lang="en-US" sz="760" dirty="0"/>
          </a:p>
        </p:txBody>
      </p:sp>
      <p:sp>
        <p:nvSpPr>
          <p:cNvPr id="40" name="Shape 38"/>
          <p:cNvSpPr/>
          <p:nvPr/>
        </p:nvSpPr>
        <p:spPr>
          <a:xfrm>
            <a:off x="658368" y="5779008"/>
            <a:ext cx="1463040" cy="292608"/>
          </a:xfrm>
          <a:prstGeom prst="rect">
            <a:avLst/>
          </a:prstGeom>
          <a:solidFill>
            <a:srgbClr val="121212"/>
          </a:solidFill>
          <a:ln w="12700">
            <a:solidFill>
              <a:srgbClr val="121212"/>
            </a:solidFill>
            <a:prstDash val="solid"/>
          </a:ln>
        </p:spPr>
      </p:sp>
      <p:sp>
        <p:nvSpPr>
          <p:cNvPr id="41" name="Text 39"/>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核心研判</a:t>
            </a:r>
            <a:endParaRPr lang="en-US" sz="780" dirty="0"/>
          </a:p>
        </p:txBody>
      </p:sp>
      <p:sp>
        <p:nvSpPr>
          <p:cNvPr id="42" name="Text 40"/>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若零跑合作技术路线确认为非磷酸铁锂且计划2027年量产，则磷酸铁锂在零跑车型中的份额可能下降</a:t>
            </a:r>
            <a:endParaRPr lang="en-US" sz="10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9.</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SECTION DEEP DIVE</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2026-10-27</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09</a:t>
            </a:r>
            <a:endParaRPr lang="en-US" sz="730" dirty="0"/>
          </a:p>
        </p:txBody>
      </p:sp>
      <p:sp>
        <p:nvSpPr>
          <p:cNvPr id="9" name="Text 7"/>
          <p:cNvSpPr/>
          <p:nvPr/>
        </p:nvSpPr>
        <p:spPr>
          <a:xfrm>
            <a:off x="658368" y="914400"/>
            <a:ext cx="3200400" cy="384048"/>
          </a:xfrm>
          <a:prstGeom prst="rect">
            <a:avLst/>
          </a:prstGeom>
          <a:noFill/>
          <a:ln/>
        </p:spPr>
        <p:txBody>
          <a:bodyPr wrap="square" lIns="0" tIns="0" rIns="0" bIns="0" rtlCol="0" anchor="ctr">
            <a:normAutofit/>
          </a:bodyP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风险/机会/观察</a:t>
            </a:r>
            <a:endParaRPr lang="en-US" sz="2000" dirty="0"/>
          </a:p>
        </p:txBody>
      </p:sp>
      <p:sp>
        <p:nvSpPr>
          <p:cNvPr id="10" name="Text 8"/>
          <p:cNvSpPr/>
          <p:nvPr/>
        </p:nvSpPr>
        <p:spPr>
          <a:xfrm>
            <a:off x="3749040" y="1005840"/>
            <a:ext cx="7132320" cy="182880"/>
          </a:xfrm>
          <a:prstGeom prst="rect">
            <a:avLst/>
          </a:prstGeom>
          <a:noFill/>
          <a:ln/>
        </p:spPr>
        <p:txBody>
          <a:bodyPr wrap="square" lIns="0" tIns="0" rIns="0" bIns="0" rtlCol="0" anchor="ctr">
            <a:normAutofit/>
          </a:bodyPr>
          <a:lstStyle/>
          <a:p>
            <a:pPr indent="0" marL="0">
              <a:buNone/>
            </a:pPr>
            <a:r>
              <a:rPr lang="en-US" sz="860" dirty="0">
                <a:solidFill>
                  <a:srgbClr val="6D756F"/>
                </a:solidFill>
                <a:latin typeface="Microsoft YaHei" pitchFamily="34" charset="0"/>
                <a:ea typeface="Microsoft YaHei" pitchFamily="34" charset="-122"/>
                <a:cs typeface="Microsoft YaHei" pitchFamily="34" charset="-120"/>
              </a:rPr>
              <a:t>4 条公开来源交叉验证｜事实、影响与后续研判</a:t>
            </a:r>
            <a:endParaRPr lang="en-US" sz="860" dirty="0"/>
          </a:p>
        </p:txBody>
      </p:sp>
      <p:sp>
        <p:nvSpPr>
          <p:cNvPr id="11" name="Shape 9"/>
          <p:cNvSpPr/>
          <p:nvPr/>
        </p:nvSpPr>
        <p:spPr>
          <a:xfrm>
            <a:off x="658368" y="1444752"/>
            <a:ext cx="6510528" cy="1207008"/>
          </a:xfrm>
          <a:prstGeom prst="roundRect">
            <a:avLst>
              <a:gd name="adj" fmla="val 6061"/>
            </a:avLst>
          </a:prstGeom>
          <a:solidFill>
            <a:srgbClr val="F4FAF6"/>
          </a:solidFill>
          <a:ln w="10160">
            <a:solidFill>
              <a:srgbClr val="DADADA"/>
            </a:solidFill>
            <a:prstDash val="solid"/>
          </a:ln>
        </p:spPr>
      </p:sp>
      <p:sp>
        <p:nvSpPr>
          <p:cNvPr id="12" name="Text 10"/>
          <p:cNvSpPr/>
          <p:nvPr/>
        </p:nvSpPr>
        <p:spPr>
          <a:xfrm>
            <a:off x="932688" y="166420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事实判断</a:t>
            </a:r>
            <a:endParaRPr lang="en-US" sz="1080" dirty="0"/>
          </a:p>
        </p:txBody>
      </p:sp>
      <p:sp>
        <p:nvSpPr>
          <p:cNvPr id="13" name="Text 11"/>
          <p:cNvSpPr/>
          <p:nvPr/>
        </p:nvSpPr>
        <p:spPr>
          <a:xfrm>
            <a:off x="2487168" y="1645920"/>
            <a:ext cx="4315968" cy="676656"/>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风险：国内政策收紧压制需求、产能扩张加剧供给过剩、回收合规成本上升。机会：头部企业扩产巩固成本优势、合规回收产能稀缺性凸显、激光精焊等工艺改进提升磷酸铁锂安全竞争力。观察：政策细则、项目投产进度、碳酸锂价格、零跑技术路线。 [1][4][7][5]</a:t>
            </a:r>
            <a:endParaRPr lang="en-US" sz="960" dirty="0"/>
          </a:p>
        </p:txBody>
      </p:sp>
      <p:sp>
        <p:nvSpPr>
          <p:cNvPr id="14" name="Text 12"/>
          <p:cNvSpPr/>
          <p:nvPr/>
        </p:nvSpPr>
        <p:spPr>
          <a:xfrm>
            <a:off x="2487168" y="2432304"/>
            <a:ext cx="3931920" cy="128016"/>
          </a:xfrm>
          <a:prstGeom prst="rect">
            <a:avLst/>
          </a:prstGeom>
          <a:noFill/>
          <a:ln/>
        </p:spPr>
        <p:txBody>
          <a:bodyPr wrap="square" lIns="0" tIns="0" rIns="0" bIns="0" rtlCol="0" anchor="ctr">
            <a:normAutofit/>
          </a:bodyPr>
          <a:lstStyle/>
          <a:p>
            <a:pPr indent="0" marL="0">
              <a:buNone/>
            </a:pPr>
            <a:r>
              <a:rPr lang="en-US" sz="740" dirty="0">
                <a:solidFill>
                  <a:srgbClr val="487052"/>
                </a:solidFill>
                <a:latin typeface="Aptos" pitchFamily="34" charset="0"/>
                <a:ea typeface="Aptos" pitchFamily="34" charset="-122"/>
                <a:cs typeface="Aptos" pitchFamily="34" charset="-120"/>
              </a:rPr>
              <a:t>依据：[1][4][7][5]</a:t>
            </a:r>
            <a:endParaRPr lang="en-US" sz="740" dirty="0"/>
          </a:p>
        </p:txBody>
      </p:sp>
      <p:sp>
        <p:nvSpPr>
          <p:cNvPr id="15" name="Shape 13"/>
          <p:cNvSpPr/>
          <p:nvPr/>
        </p:nvSpPr>
        <p:spPr>
          <a:xfrm>
            <a:off x="658368" y="2907792"/>
            <a:ext cx="6510528" cy="1207008"/>
          </a:xfrm>
          <a:prstGeom prst="roundRect">
            <a:avLst>
              <a:gd name="adj" fmla="val 6061"/>
            </a:avLst>
          </a:prstGeom>
          <a:solidFill>
            <a:srgbClr val="FFFFFF"/>
          </a:solidFill>
          <a:ln w="10160">
            <a:solidFill>
              <a:srgbClr val="DADADA"/>
            </a:solidFill>
            <a:prstDash val="solid"/>
          </a:ln>
        </p:spPr>
      </p:sp>
      <p:sp>
        <p:nvSpPr>
          <p:cNvPr id="16" name="Text 14"/>
          <p:cNvSpPr/>
          <p:nvPr/>
        </p:nvSpPr>
        <p:spPr>
          <a:xfrm>
            <a:off x="932688" y="312724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影响分析</a:t>
            </a:r>
            <a:endParaRPr lang="en-US" sz="1080" dirty="0"/>
          </a:p>
        </p:txBody>
      </p:sp>
      <p:sp>
        <p:nvSpPr>
          <p:cNvPr id="17" name="Text 15"/>
          <p:cNvSpPr/>
          <p:nvPr/>
        </p:nvSpPr>
        <p:spPr>
          <a:xfrm>
            <a:off x="2487168" y="3108960"/>
            <a:ext cx="4315968" cy="822960"/>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综合今日信息，政策与供给两端压力并存，需求端不确定性增加，行业盈利修复需依赖成本下行或需求超预期。裕能、万华扩产显示头部企业对中期需求有信心，但中小厂商面临更大竞争压力。回收领域合规产能建设加速，可能形成新的进入壁垒。需持续跟踪政策落地节奏与项目投产验证。</a:t>
            </a:r>
            <a:endParaRPr lang="en-US" sz="960" dirty="0"/>
          </a:p>
        </p:txBody>
      </p:sp>
      <p:sp>
        <p:nvSpPr>
          <p:cNvPr id="18" name="Shape 16"/>
          <p:cNvSpPr/>
          <p:nvPr/>
        </p:nvSpPr>
        <p:spPr>
          <a:xfrm>
            <a:off x="658368" y="4370832"/>
            <a:ext cx="6510528" cy="1207008"/>
          </a:xfrm>
          <a:prstGeom prst="roundRect">
            <a:avLst>
              <a:gd name="adj" fmla="val 6061"/>
            </a:avLst>
          </a:prstGeom>
          <a:solidFill>
            <a:srgbClr val="DDEBE0"/>
          </a:solidFill>
          <a:ln w="13970">
            <a:solidFill>
              <a:srgbClr val="121212"/>
            </a:solidFill>
            <a:prstDash val="solid"/>
          </a:ln>
        </p:spPr>
      </p:sp>
      <p:sp>
        <p:nvSpPr>
          <p:cNvPr id="19" name="Shape 17"/>
          <p:cNvSpPr/>
          <p:nvPr/>
        </p:nvSpPr>
        <p:spPr>
          <a:xfrm>
            <a:off x="658368" y="4370832"/>
            <a:ext cx="109728" cy="1207008"/>
          </a:xfrm>
          <a:prstGeom prst="rect">
            <a:avLst/>
          </a:prstGeom>
          <a:solidFill>
            <a:srgbClr val="121212"/>
          </a:solidFill>
          <a:ln w="12700">
            <a:solidFill>
              <a:srgbClr val="121212"/>
            </a:solidFill>
            <a:prstDash val="solid"/>
          </a:ln>
        </p:spPr>
      </p:sp>
      <p:sp>
        <p:nvSpPr>
          <p:cNvPr id="20" name="Text 18"/>
          <p:cNvSpPr/>
          <p:nvPr/>
        </p:nvSpPr>
        <p:spPr>
          <a:xfrm>
            <a:off x="932688" y="4590288"/>
            <a:ext cx="1417320" cy="256032"/>
          </a:xfrm>
          <a:prstGeom prst="rect">
            <a:avLst/>
          </a:prstGeom>
          <a:noFill/>
          <a:ln/>
        </p:spPr>
        <p:txBody>
          <a:bodyPr wrap="square" lIns="0" tIns="0" rIns="0" bIns="0" rtlCol="0" anchor="ctr">
            <a:normAutofit/>
          </a:bodyPr>
          <a:lstStyle/>
          <a:p>
            <a:pPr indent="0" marL="0">
              <a:buNone/>
            </a:pPr>
            <a:r>
              <a:rPr lang="en-US" sz="1080" b="1" dirty="0">
                <a:solidFill>
                  <a:srgbClr val="121212"/>
                </a:solidFill>
                <a:latin typeface="Microsoft YaHei" pitchFamily="34" charset="0"/>
                <a:ea typeface="Microsoft YaHei" pitchFamily="34" charset="-122"/>
                <a:cs typeface="Microsoft YaHei" pitchFamily="34" charset="-120"/>
              </a:rPr>
              <a:t>后续研判</a:t>
            </a:r>
            <a:endParaRPr lang="en-US" sz="1080" dirty="0"/>
          </a:p>
        </p:txBody>
      </p:sp>
      <p:sp>
        <p:nvSpPr>
          <p:cNvPr id="21" name="Text 19"/>
          <p:cNvSpPr/>
          <p:nvPr/>
        </p:nvSpPr>
        <p:spPr>
          <a:xfrm>
            <a:off x="2487168" y="4572000"/>
            <a:ext cx="4315968" cy="822960"/>
          </a:xfrm>
          <a:prstGeom prst="rect">
            <a:avLst/>
          </a:prstGeom>
          <a:noFill/>
          <a:ln/>
        </p:spPr>
        <p:txBody>
          <a:bodyPr wrap="square" lIns="0" tIns="0" rIns="0" bIns="0" rtlCol="0" anchor="t">
            <a:normAutofit/>
          </a:bodyPr>
          <a:lstStyle/>
          <a:p>
            <a:pPr indent="0" marL="0">
              <a:buNone/>
            </a:pPr>
            <a:r>
              <a:rPr lang="en-US" sz="960" b="1" dirty="0">
                <a:solidFill>
                  <a:srgbClr val="121212"/>
                </a:solidFill>
                <a:latin typeface="Microsoft YaHei" pitchFamily="34" charset="0"/>
                <a:ea typeface="Microsoft YaHei" pitchFamily="34" charset="-122"/>
                <a:cs typeface="Microsoft YaHei" pitchFamily="34" charset="-120"/>
              </a:rPr>
              <a:t>若政策收紧与产能扩张同时兑现，则磷酸铁锂行业加工费可能进一步下行，中小厂商退出风险上升；若回收合规政策超预期，则具备回收资质的企业可能获得估值溢价。跟踪指标：新能源车月度销量、正极开工率、碳酸锂价格、回收白名单扩容、零跑技术路线公告。证据边界：政策细则与项目投产时间尚未明确，需以官方公告验证。</a:t>
            </a:r>
            <a:endParaRPr lang="en-US" sz="960" dirty="0"/>
          </a:p>
        </p:txBody>
      </p:sp>
      <p:sp>
        <p:nvSpPr>
          <p:cNvPr id="22" name="Shape 20"/>
          <p:cNvSpPr/>
          <p:nvPr/>
        </p:nvSpPr>
        <p:spPr>
          <a:xfrm>
            <a:off x="7479792" y="1444752"/>
            <a:ext cx="3273552" cy="3730752"/>
          </a:xfrm>
          <a:prstGeom prst="roundRect">
            <a:avLst>
              <a:gd name="adj" fmla="val 2235"/>
            </a:avLst>
          </a:prstGeom>
          <a:solidFill>
            <a:srgbClr val="FFFFFF"/>
          </a:solidFill>
          <a:ln w="10160">
            <a:solidFill>
              <a:srgbClr val="DADADA"/>
            </a:solidFill>
            <a:prstDash val="solid"/>
          </a:ln>
        </p:spPr>
      </p:sp>
      <p:sp>
        <p:nvSpPr>
          <p:cNvPr id="23" name="Text 21"/>
          <p:cNvSpPr/>
          <p:nvPr/>
        </p:nvSpPr>
        <p:spPr>
          <a:xfrm>
            <a:off x="7726680" y="1700784"/>
            <a:ext cx="2286000" cy="219456"/>
          </a:xfrm>
          <a:prstGeom prst="rect">
            <a:avLst/>
          </a:prstGeom>
          <a:noFill/>
          <a:ln/>
        </p:spPr>
        <p:txBody>
          <a:bodyPr wrap="square" lIns="0" tIns="0" rIns="0" bIns="0" rtlCol="0" anchor="ctr">
            <a:normAutofit/>
          </a:bodyPr>
          <a:lstStyle/>
          <a:p>
            <a:pPr indent="0" marL="0">
              <a:buNone/>
            </a:pPr>
            <a:r>
              <a:rPr lang="en-US" sz="1200" b="1" dirty="0">
                <a:solidFill>
                  <a:srgbClr val="487052"/>
                </a:solidFill>
                <a:latin typeface="Microsoft YaHei" pitchFamily="34" charset="0"/>
                <a:ea typeface="Microsoft YaHei" pitchFamily="34" charset="-122"/>
                <a:cs typeface="Microsoft YaHei" pitchFamily="34" charset="-120"/>
              </a:rPr>
              <a:t>路线图</a:t>
            </a:r>
            <a:endParaRPr lang="en-US" sz="1200" dirty="0"/>
          </a:p>
        </p:txBody>
      </p:sp>
      <p:sp>
        <p:nvSpPr>
          <p:cNvPr id="24" name="Shape 22"/>
          <p:cNvSpPr/>
          <p:nvPr/>
        </p:nvSpPr>
        <p:spPr>
          <a:xfrm>
            <a:off x="7754112" y="2249424"/>
            <a:ext cx="612648" cy="402336"/>
          </a:xfrm>
          <a:prstGeom prst="chevron">
            <a:avLst/>
          </a:prstGeom>
          <a:solidFill>
            <a:srgbClr val="DDEBE0"/>
          </a:solidFill>
          <a:ln w="13970">
            <a:solidFill>
              <a:srgbClr val="487052"/>
            </a:solidFill>
            <a:prstDash val="solid"/>
          </a:ln>
        </p:spPr>
      </p:sp>
      <p:sp>
        <p:nvSpPr>
          <p:cNvPr id="25" name="Text 23"/>
          <p:cNvSpPr/>
          <p:nvPr/>
        </p:nvSpPr>
        <p:spPr>
          <a:xfrm>
            <a:off x="7827264" y="2386584"/>
            <a:ext cx="448056" cy="109728"/>
          </a:xfrm>
          <a:prstGeom prst="rect">
            <a:avLst/>
          </a:prstGeom>
          <a:noFill/>
          <a:ln/>
        </p:spPr>
        <p:txBody>
          <a:bodyPr wrap="square" lIns="0" tIns="0" rIns="0" bIns="0" rtlCol="0" anchor="ctr">
            <a:normAutofit/>
          </a:bodyPr>
          <a:lstStyle/>
          <a:p>
            <a:pPr algn="ctr" indent="0" marL="0">
              <a:buNone/>
            </a:pPr>
            <a:r>
              <a:rPr lang="en-US" sz="670" b="1" dirty="0">
                <a:solidFill>
                  <a:srgbClr val="121212"/>
                </a:solidFill>
                <a:latin typeface="Microsoft YaHei" pitchFamily="34" charset="0"/>
                <a:ea typeface="Microsoft YaHei" pitchFamily="34" charset="-122"/>
                <a:cs typeface="Microsoft YaHei" pitchFamily="34" charset="-120"/>
              </a:rPr>
              <a:t>技术</a:t>
            </a:r>
            <a:endParaRPr lang="en-US" sz="670" dirty="0"/>
          </a:p>
        </p:txBody>
      </p:sp>
      <p:sp>
        <p:nvSpPr>
          <p:cNvPr id="26" name="Shape 24"/>
          <p:cNvSpPr/>
          <p:nvPr/>
        </p:nvSpPr>
        <p:spPr>
          <a:xfrm>
            <a:off x="8375904" y="2249424"/>
            <a:ext cx="612648" cy="402336"/>
          </a:xfrm>
          <a:prstGeom prst="chevron">
            <a:avLst/>
          </a:prstGeom>
          <a:solidFill>
            <a:srgbClr val="FFFFFF"/>
          </a:solidFill>
          <a:ln w="13970">
            <a:solidFill>
              <a:srgbClr val="487052"/>
            </a:solidFill>
            <a:prstDash val="solid"/>
          </a:ln>
        </p:spPr>
      </p:sp>
      <p:sp>
        <p:nvSpPr>
          <p:cNvPr id="27" name="Text 25"/>
          <p:cNvSpPr/>
          <p:nvPr/>
        </p:nvSpPr>
        <p:spPr>
          <a:xfrm>
            <a:off x="8449056" y="2386584"/>
            <a:ext cx="448056" cy="109728"/>
          </a:xfrm>
          <a:prstGeom prst="rect">
            <a:avLst/>
          </a:prstGeom>
          <a:noFill/>
          <a:ln/>
        </p:spPr>
        <p:txBody>
          <a:bodyPr wrap="square" lIns="0" tIns="0" rIns="0" bIns="0" rtlCol="0" anchor="ctr">
            <a:normAutofit/>
          </a:bodyPr>
          <a:lstStyle/>
          <a:p>
            <a:pPr algn="ctr" indent="0" marL="0">
              <a:buNone/>
            </a:pPr>
            <a:r>
              <a:rPr lang="en-US" sz="670" b="1" dirty="0">
                <a:solidFill>
                  <a:srgbClr val="121212"/>
                </a:solidFill>
                <a:latin typeface="Microsoft YaHei" pitchFamily="34" charset="0"/>
                <a:ea typeface="Microsoft YaHei" pitchFamily="34" charset="-122"/>
                <a:cs typeface="Microsoft YaHei" pitchFamily="34" charset="-120"/>
              </a:rPr>
              <a:t>产品</a:t>
            </a:r>
            <a:endParaRPr lang="en-US" sz="670" dirty="0"/>
          </a:p>
        </p:txBody>
      </p:sp>
      <p:sp>
        <p:nvSpPr>
          <p:cNvPr id="28" name="Shape 26"/>
          <p:cNvSpPr/>
          <p:nvPr/>
        </p:nvSpPr>
        <p:spPr>
          <a:xfrm>
            <a:off x="8997696" y="2249424"/>
            <a:ext cx="612648" cy="402336"/>
          </a:xfrm>
          <a:prstGeom prst="chevron">
            <a:avLst/>
          </a:prstGeom>
          <a:solidFill>
            <a:srgbClr val="FFFFFF"/>
          </a:solidFill>
          <a:ln w="13970">
            <a:solidFill>
              <a:srgbClr val="487052"/>
            </a:solidFill>
            <a:prstDash val="solid"/>
          </a:ln>
        </p:spPr>
      </p:sp>
      <p:sp>
        <p:nvSpPr>
          <p:cNvPr id="29" name="Text 27"/>
          <p:cNvSpPr/>
          <p:nvPr/>
        </p:nvSpPr>
        <p:spPr>
          <a:xfrm>
            <a:off x="9070848" y="2386584"/>
            <a:ext cx="448056" cy="109728"/>
          </a:xfrm>
          <a:prstGeom prst="rect">
            <a:avLst/>
          </a:prstGeom>
          <a:noFill/>
          <a:ln/>
        </p:spPr>
        <p:txBody>
          <a:bodyPr wrap="square" lIns="0" tIns="0" rIns="0" bIns="0" rtlCol="0" anchor="ctr">
            <a:normAutofit/>
          </a:bodyPr>
          <a:lstStyle/>
          <a:p>
            <a:pPr algn="ctr" indent="0" marL="0">
              <a:buNone/>
            </a:pPr>
            <a:r>
              <a:rPr lang="en-US" sz="670" b="1" dirty="0">
                <a:solidFill>
                  <a:srgbClr val="121212"/>
                </a:solidFill>
                <a:latin typeface="Microsoft YaHei" pitchFamily="34" charset="0"/>
                <a:ea typeface="Microsoft YaHei" pitchFamily="34" charset="-122"/>
                <a:cs typeface="Microsoft YaHei" pitchFamily="34" charset="-120"/>
              </a:rPr>
              <a:t>验证</a:t>
            </a:r>
            <a:endParaRPr lang="en-US" sz="670" dirty="0"/>
          </a:p>
        </p:txBody>
      </p:sp>
      <p:sp>
        <p:nvSpPr>
          <p:cNvPr id="30" name="Shape 28"/>
          <p:cNvSpPr/>
          <p:nvPr/>
        </p:nvSpPr>
        <p:spPr>
          <a:xfrm>
            <a:off x="9619488" y="2249424"/>
            <a:ext cx="612648" cy="402336"/>
          </a:xfrm>
          <a:prstGeom prst="chevron">
            <a:avLst/>
          </a:prstGeom>
          <a:solidFill>
            <a:srgbClr val="FFFFFF"/>
          </a:solidFill>
          <a:ln w="13970">
            <a:solidFill>
              <a:srgbClr val="487052"/>
            </a:solidFill>
            <a:prstDash val="solid"/>
          </a:ln>
        </p:spPr>
      </p:sp>
      <p:sp>
        <p:nvSpPr>
          <p:cNvPr id="31" name="Text 29"/>
          <p:cNvSpPr/>
          <p:nvPr/>
        </p:nvSpPr>
        <p:spPr>
          <a:xfrm>
            <a:off x="9692640" y="2386584"/>
            <a:ext cx="448056" cy="109728"/>
          </a:xfrm>
          <a:prstGeom prst="rect">
            <a:avLst/>
          </a:prstGeom>
          <a:noFill/>
          <a:ln/>
        </p:spPr>
        <p:txBody>
          <a:bodyPr wrap="square" lIns="0" tIns="0" rIns="0" bIns="0" rtlCol="0" anchor="ctr">
            <a:normAutofit/>
          </a:bodyPr>
          <a:lstStyle/>
          <a:p>
            <a:pPr algn="ctr" indent="0" marL="0">
              <a:buNone/>
            </a:pPr>
            <a:r>
              <a:rPr lang="en-US" sz="670" b="1" dirty="0">
                <a:solidFill>
                  <a:srgbClr val="121212"/>
                </a:solidFill>
                <a:latin typeface="Microsoft YaHei" pitchFamily="34" charset="0"/>
                <a:ea typeface="Microsoft YaHei" pitchFamily="34" charset="-122"/>
                <a:cs typeface="Microsoft YaHei" pitchFamily="34" charset="-120"/>
              </a:rPr>
              <a:t>量产</a:t>
            </a:r>
            <a:endParaRPr lang="en-US" sz="670" dirty="0"/>
          </a:p>
        </p:txBody>
      </p:sp>
      <p:sp>
        <p:nvSpPr>
          <p:cNvPr id="32" name="Shape 30"/>
          <p:cNvSpPr/>
          <p:nvPr/>
        </p:nvSpPr>
        <p:spPr>
          <a:xfrm>
            <a:off x="7882128" y="3063240"/>
            <a:ext cx="2331720" cy="0"/>
          </a:xfrm>
          <a:prstGeom prst="line">
            <a:avLst/>
          </a:prstGeom>
          <a:noFill/>
          <a:ln w="13970">
            <a:solidFill>
              <a:srgbClr val="7F9D84"/>
            </a:solidFill>
            <a:prstDash val="solid"/>
          </a:ln>
        </p:spPr>
      </p:sp>
      <p:sp>
        <p:nvSpPr>
          <p:cNvPr id="33" name="Shape 31"/>
          <p:cNvSpPr/>
          <p:nvPr/>
        </p:nvSpPr>
        <p:spPr>
          <a:xfrm>
            <a:off x="7845552" y="2962656"/>
            <a:ext cx="164592" cy="164592"/>
          </a:xfrm>
          <a:prstGeom prst="ellipse">
            <a:avLst/>
          </a:prstGeom>
          <a:solidFill>
            <a:srgbClr val="487052"/>
          </a:solidFill>
          <a:ln w="12700">
            <a:solidFill>
              <a:srgbClr val="FFFFFF"/>
            </a:solidFill>
            <a:prstDash val="solid"/>
          </a:ln>
        </p:spPr>
      </p:sp>
      <p:sp>
        <p:nvSpPr>
          <p:cNvPr id="34" name="Text 32"/>
          <p:cNvSpPr/>
          <p:nvPr/>
        </p:nvSpPr>
        <p:spPr>
          <a:xfrm>
            <a:off x="7754112" y="3291840"/>
            <a:ext cx="603504" cy="310896"/>
          </a:xfrm>
          <a:prstGeom prst="rect">
            <a:avLst/>
          </a:prstGeom>
          <a:noFill/>
          <a:ln/>
        </p:spPr>
        <p:txBody>
          <a:bodyPr wrap="square" lIns="0" tIns="0" rIns="0" bIns="0" rtlCol="0" anchor="t">
            <a:normAutofit/>
          </a:bodyPr>
          <a:lstStyle/>
          <a:p>
            <a:pPr algn="ctr" indent="0" marL="0">
              <a:buNone/>
            </a:pPr>
            <a:r>
              <a:rPr lang="en-US" sz="670" dirty="0">
                <a:solidFill>
                  <a:srgbClr val="121212"/>
                </a:solidFill>
                <a:latin typeface="Microsoft YaHei" pitchFamily="34" charset="0"/>
                <a:ea typeface="Microsoft YaHei" pitchFamily="34" charset="-122"/>
                <a:cs typeface="Microsoft YaHei" pitchFamily="34" charset="-120"/>
              </a:rPr>
              <a:t>风险：国内政策收紧压制</a:t>
            </a:r>
            <a:endParaRPr lang="en-US" sz="670" dirty="0"/>
          </a:p>
        </p:txBody>
      </p:sp>
      <p:sp>
        <p:nvSpPr>
          <p:cNvPr id="35" name="Shape 33"/>
          <p:cNvSpPr/>
          <p:nvPr/>
        </p:nvSpPr>
        <p:spPr>
          <a:xfrm>
            <a:off x="8503920" y="2962656"/>
            <a:ext cx="164592" cy="164592"/>
          </a:xfrm>
          <a:prstGeom prst="ellipse">
            <a:avLst/>
          </a:prstGeom>
          <a:solidFill>
            <a:srgbClr val="487052"/>
          </a:solidFill>
          <a:ln w="12700">
            <a:solidFill>
              <a:srgbClr val="FFFFFF"/>
            </a:solidFill>
            <a:prstDash val="solid"/>
          </a:ln>
        </p:spPr>
      </p:sp>
      <p:sp>
        <p:nvSpPr>
          <p:cNvPr id="36" name="Text 34"/>
          <p:cNvSpPr/>
          <p:nvPr/>
        </p:nvSpPr>
        <p:spPr>
          <a:xfrm>
            <a:off x="8412480" y="3291840"/>
            <a:ext cx="603504" cy="310896"/>
          </a:xfrm>
          <a:prstGeom prst="rect">
            <a:avLst/>
          </a:prstGeom>
          <a:noFill/>
          <a:ln/>
        </p:spPr>
        <p:txBody>
          <a:bodyPr wrap="square" lIns="0" tIns="0" rIns="0" bIns="0" rtlCol="0" anchor="t">
            <a:normAutofit/>
          </a:bodyPr>
          <a:lstStyle/>
          <a:p>
            <a:pPr algn="ctr" indent="0" marL="0">
              <a:buNone/>
            </a:pPr>
            <a:r>
              <a:rPr lang="en-US" sz="670" dirty="0">
                <a:solidFill>
                  <a:srgbClr val="121212"/>
                </a:solidFill>
                <a:latin typeface="Microsoft YaHei" pitchFamily="34" charset="0"/>
                <a:ea typeface="Microsoft YaHei" pitchFamily="34" charset="-122"/>
                <a:cs typeface="Microsoft YaHei" pitchFamily="34" charset="-120"/>
              </a:rPr>
              <a:t>机会：头部企业扩产巩固</a:t>
            </a:r>
            <a:endParaRPr lang="en-US" sz="670" dirty="0"/>
          </a:p>
        </p:txBody>
      </p:sp>
      <p:sp>
        <p:nvSpPr>
          <p:cNvPr id="37" name="Shape 35"/>
          <p:cNvSpPr/>
          <p:nvPr/>
        </p:nvSpPr>
        <p:spPr>
          <a:xfrm>
            <a:off x="9162288" y="2962656"/>
            <a:ext cx="164592" cy="164592"/>
          </a:xfrm>
          <a:prstGeom prst="ellipse">
            <a:avLst/>
          </a:prstGeom>
          <a:solidFill>
            <a:srgbClr val="487052"/>
          </a:solidFill>
          <a:ln w="12700">
            <a:solidFill>
              <a:srgbClr val="FFFFFF"/>
            </a:solidFill>
            <a:prstDash val="solid"/>
          </a:ln>
        </p:spPr>
      </p:sp>
      <p:sp>
        <p:nvSpPr>
          <p:cNvPr id="38" name="Text 36"/>
          <p:cNvSpPr/>
          <p:nvPr/>
        </p:nvSpPr>
        <p:spPr>
          <a:xfrm>
            <a:off x="9070848" y="3291840"/>
            <a:ext cx="603504" cy="310896"/>
          </a:xfrm>
          <a:prstGeom prst="rect">
            <a:avLst/>
          </a:prstGeom>
          <a:noFill/>
          <a:ln/>
        </p:spPr>
        <p:txBody>
          <a:bodyPr wrap="square" lIns="0" tIns="0" rIns="0" bIns="0" rtlCol="0" anchor="t">
            <a:normAutofit/>
          </a:bodyPr>
          <a:lstStyle/>
          <a:p>
            <a:pPr algn="ctr" indent="0" marL="0">
              <a:buNone/>
            </a:pPr>
            <a:r>
              <a:rPr lang="en-US" sz="670" dirty="0">
                <a:solidFill>
                  <a:srgbClr val="121212"/>
                </a:solidFill>
                <a:latin typeface="Microsoft YaHei" pitchFamily="34" charset="0"/>
                <a:ea typeface="Microsoft YaHei" pitchFamily="34" charset="-122"/>
                <a:cs typeface="Microsoft YaHei" pitchFamily="34" charset="-120"/>
              </a:rPr>
              <a:t>观察：政策细则、项目投</a:t>
            </a:r>
            <a:endParaRPr lang="en-US" sz="670" dirty="0"/>
          </a:p>
        </p:txBody>
      </p:sp>
      <p:sp>
        <p:nvSpPr>
          <p:cNvPr id="39" name="Shape 37"/>
          <p:cNvSpPr/>
          <p:nvPr/>
        </p:nvSpPr>
        <p:spPr>
          <a:xfrm>
            <a:off x="9820656" y="2962656"/>
            <a:ext cx="164592" cy="164592"/>
          </a:xfrm>
          <a:prstGeom prst="ellipse">
            <a:avLst/>
          </a:prstGeom>
          <a:solidFill>
            <a:srgbClr val="B85A4A"/>
          </a:solidFill>
          <a:ln w="12700">
            <a:solidFill>
              <a:srgbClr val="FFFFFF"/>
            </a:solidFill>
            <a:prstDash val="solid"/>
          </a:ln>
        </p:spPr>
      </p:sp>
      <p:sp>
        <p:nvSpPr>
          <p:cNvPr id="40" name="Text 38"/>
          <p:cNvSpPr/>
          <p:nvPr/>
        </p:nvSpPr>
        <p:spPr>
          <a:xfrm>
            <a:off x="9729216" y="3291840"/>
            <a:ext cx="603504" cy="310896"/>
          </a:xfrm>
          <a:prstGeom prst="rect">
            <a:avLst/>
          </a:prstGeom>
          <a:noFill/>
          <a:ln/>
        </p:spPr>
        <p:txBody>
          <a:bodyPr wrap="square" lIns="0" tIns="0" rIns="0" bIns="0" rtlCol="0" anchor="t">
            <a:normAutofit/>
          </a:bodyPr>
          <a:lstStyle/>
          <a:p>
            <a:pPr algn="ctr" indent="0" marL="0">
              <a:buNone/>
            </a:pPr>
            <a:r>
              <a:rPr lang="en-US" sz="670" dirty="0">
                <a:solidFill>
                  <a:srgbClr val="121212"/>
                </a:solidFill>
                <a:latin typeface="Microsoft YaHei" pitchFamily="34" charset="0"/>
                <a:ea typeface="Microsoft YaHei" pitchFamily="34" charset="-122"/>
                <a:cs typeface="Microsoft YaHei" pitchFamily="34" charset="-120"/>
              </a:rPr>
              <a:t>观察：政策细则、项目投</a:t>
            </a:r>
            <a:endParaRPr lang="en-US" sz="670" dirty="0"/>
          </a:p>
        </p:txBody>
      </p:sp>
      <p:sp>
        <p:nvSpPr>
          <p:cNvPr id="41" name="Text 39"/>
          <p:cNvSpPr/>
          <p:nvPr/>
        </p:nvSpPr>
        <p:spPr>
          <a:xfrm>
            <a:off x="7726680" y="4315968"/>
            <a:ext cx="2697480" cy="384048"/>
          </a:xfrm>
          <a:prstGeom prst="rect">
            <a:avLst/>
          </a:prstGeom>
          <a:noFill/>
          <a:ln/>
        </p:spPr>
        <p:txBody>
          <a:bodyPr wrap="square" lIns="0" tIns="0" rIns="0" bIns="0" rtlCol="0" anchor="t">
            <a:normAutofit/>
          </a:bodyPr>
          <a:lstStyle/>
          <a:p>
            <a:pPr indent="0" marL="0">
              <a:buNone/>
            </a:pPr>
            <a:r>
              <a:rPr lang="en-US" sz="760" dirty="0">
                <a:solidFill>
                  <a:srgbClr val="6D756F"/>
                </a:solidFill>
                <a:latin typeface="Microsoft YaHei" pitchFamily="34" charset="0"/>
                <a:ea typeface="Microsoft YaHei" pitchFamily="34" charset="-122"/>
                <a:cs typeface="Microsoft YaHei" pitchFamily="34" charset="-120"/>
              </a:rPr>
              <a:t>参考培训 PPT 的阶段路线表达，按事件顺序拆成判断路径。</a:t>
            </a:r>
            <a:endParaRPr lang="en-US" sz="760" dirty="0"/>
          </a:p>
        </p:txBody>
      </p:sp>
      <p:sp>
        <p:nvSpPr>
          <p:cNvPr id="42" name="Shape 40"/>
          <p:cNvSpPr/>
          <p:nvPr/>
        </p:nvSpPr>
        <p:spPr>
          <a:xfrm>
            <a:off x="658368" y="5779008"/>
            <a:ext cx="1463040" cy="292608"/>
          </a:xfrm>
          <a:prstGeom prst="rect">
            <a:avLst/>
          </a:prstGeom>
          <a:solidFill>
            <a:srgbClr val="121212"/>
          </a:solidFill>
          <a:ln w="12700">
            <a:solidFill>
              <a:srgbClr val="121212"/>
            </a:solidFill>
            <a:prstDash val="solid"/>
          </a:ln>
        </p:spPr>
      </p:sp>
      <p:sp>
        <p:nvSpPr>
          <p:cNvPr id="43" name="Text 41"/>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核心研判</a:t>
            </a:r>
            <a:endParaRPr lang="en-US" sz="780" dirty="0"/>
          </a:p>
        </p:txBody>
      </p:sp>
      <p:sp>
        <p:nvSpPr>
          <p:cNvPr id="44" name="Text 42"/>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若政策收紧与产能扩张同时兑现，则磷酸铁锂行业加工费可能进一步下行，中小厂商退出风险上升</a:t>
            </a:r>
            <a:endParaRPr lang="en-US" sz="10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10.</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SOURCE INDEX</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2026-10-27</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10</a:t>
            </a:r>
            <a:endParaRPr lang="en-US" sz="730" dirty="0"/>
          </a:p>
        </p:txBody>
      </p:sp>
      <p:sp>
        <p:nvSpPr>
          <p:cNvPr id="9" name="Text 7"/>
          <p:cNvSpPr/>
          <p:nvPr/>
        </p:nvSpPr>
        <p:spPr>
          <a:xfrm>
            <a:off x="1143000" y="932688"/>
            <a:ext cx="4114800" cy="384048"/>
          </a:xfrm>
          <a:prstGeom prst="rect">
            <a:avLst/>
          </a:prstGeom>
          <a:noFill/>
          <a:ln/>
        </p:spPr>
        <p:txBody>
          <a:bodyPr wrap="square" lIns="0" tIns="0" rIns="0" bIns="0" rtlCol="0" anchor="ct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来源索引与可追溯性</a:t>
            </a:r>
            <a:endParaRPr lang="en-US" sz="2000" dirty="0"/>
          </a:p>
        </p:txBody>
      </p:sp>
      <p:sp>
        <p:nvSpPr>
          <p:cNvPr id="10" name="Shape 8"/>
          <p:cNvSpPr/>
          <p:nvPr/>
        </p:nvSpPr>
        <p:spPr>
          <a:xfrm>
            <a:off x="658368" y="1444752"/>
            <a:ext cx="566928" cy="310896"/>
          </a:xfrm>
          <a:prstGeom prst="rect">
            <a:avLst/>
          </a:prstGeom>
          <a:solidFill>
            <a:srgbClr val="121212"/>
          </a:solidFill>
          <a:ln w="6350">
            <a:solidFill>
              <a:srgbClr val="DADADA"/>
            </a:solidFill>
            <a:prstDash val="solid"/>
          </a:ln>
        </p:spPr>
      </p:sp>
      <p:sp>
        <p:nvSpPr>
          <p:cNvPr id="11" name="Text 9"/>
          <p:cNvSpPr/>
          <p:nvPr/>
        </p:nvSpPr>
        <p:spPr>
          <a:xfrm>
            <a:off x="731520" y="1536192"/>
            <a:ext cx="420624" cy="128016"/>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编号</a:t>
            </a:r>
            <a:endParaRPr lang="en-US" sz="780" dirty="0"/>
          </a:p>
        </p:txBody>
      </p:sp>
      <p:sp>
        <p:nvSpPr>
          <p:cNvPr id="12" name="Shape 10"/>
          <p:cNvSpPr/>
          <p:nvPr/>
        </p:nvSpPr>
        <p:spPr>
          <a:xfrm>
            <a:off x="1225296" y="1444752"/>
            <a:ext cx="1234440" cy="310896"/>
          </a:xfrm>
          <a:prstGeom prst="rect">
            <a:avLst/>
          </a:prstGeom>
          <a:solidFill>
            <a:srgbClr val="DDEBE0"/>
          </a:solidFill>
          <a:ln w="6350">
            <a:solidFill>
              <a:srgbClr val="DADADA"/>
            </a:solidFill>
            <a:prstDash val="solid"/>
          </a:ln>
        </p:spPr>
      </p:sp>
      <p:sp>
        <p:nvSpPr>
          <p:cNvPr id="13" name="Text 11"/>
          <p:cNvSpPr/>
          <p:nvPr/>
        </p:nvSpPr>
        <p:spPr>
          <a:xfrm>
            <a:off x="1298448" y="1536192"/>
            <a:ext cx="1088136" cy="128016"/>
          </a:xfrm>
          <a:prstGeom prst="rect">
            <a:avLst/>
          </a:prstGeom>
          <a:noFill/>
          <a:ln/>
        </p:spPr>
        <p:txBody>
          <a:bodyPr wrap="square" lIns="0" tIns="0" rIns="0" bIns="0" rtlCol="0" anchor="ctr"/>
          <a:lstStyle/>
          <a:p>
            <a:pPr indent="0" marL="0">
              <a:buNone/>
            </a:pPr>
            <a:r>
              <a:rPr lang="en-US" sz="780" b="1" dirty="0">
                <a:solidFill>
                  <a:srgbClr val="121212"/>
                </a:solidFill>
                <a:latin typeface="Microsoft YaHei" pitchFamily="34" charset="0"/>
                <a:ea typeface="Microsoft YaHei" pitchFamily="34" charset="-122"/>
                <a:cs typeface="Microsoft YaHei" pitchFamily="34" charset="-120"/>
              </a:rPr>
              <a:t>来源</a:t>
            </a:r>
            <a:endParaRPr lang="en-US" sz="780" dirty="0"/>
          </a:p>
        </p:txBody>
      </p:sp>
      <p:sp>
        <p:nvSpPr>
          <p:cNvPr id="14" name="Shape 12"/>
          <p:cNvSpPr/>
          <p:nvPr/>
        </p:nvSpPr>
        <p:spPr>
          <a:xfrm>
            <a:off x="2459736" y="1444752"/>
            <a:ext cx="3977640" cy="310896"/>
          </a:xfrm>
          <a:prstGeom prst="rect">
            <a:avLst/>
          </a:prstGeom>
          <a:solidFill>
            <a:srgbClr val="DDEBE0"/>
          </a:solidFill>
          <a:ln w="6350">
            <a:solidFill>
              <a:srgbClr val="DADADA"/>
            </a:solidFill>
            <a:prstDash val="solid"/>
          </a:ln>
        </p:spPr>
      </p:sp>
      <p:sp>
        <p:nvSpPr>
          <p:cNvPr id="15" name="Text 13"/>
          <p:cNvSpPr/>
          <p:nvPr/>
        </p:nvSpPr>
        <p:spPr>
          <a:xfrm>
            <a:off x="2532888" y="1536192"/>
            <a:ext cx="3831336" cy="128016"/>
          </a:xfrm>
          <a:prstGeom prst="rect">
            <a:avLst/>
          </a:prstGeom>
          <a:noFill/>
          <a:ln/>
        </p:spPr>
        <p:txBody>
          <a:bodyPr wrap="square" lIns="0" tIns="0" rIns="0" bIns="0" rtlCol="0" anchor="ctr"/>
          <a:lstStyle/>
          <a:p>
            <a:pPr indent="0" marL="0">
              <a:buNone/>
            </a:pPr>
            <a:r>
              <a:rPr lang="en-US" sz="780" b="1" dirty="0">
                <a:solidFill>
                  <a:srgbClr val="121212"/>
                </a:solidFill>
                <a:latin typeface="Microsoft YaHei" pitchFamily="34" charset="0"/>
                <a:ea typeface="Microsoft YaHei" pitchFamily="34" charset="-122"/>
                <a:cs typeface="Microsoft YaHei" pitchFamily="34" charset="-120"/>
              </a:rPr>
              <a:t>标题</a:t>
            </a:r>
            <a:endParaRPr lang="en-US" sz="780" dirty="0"/>
          </a:p>
        </p:txBody>
      </p:sp>
      <p:sp>
        <p:nvSpPr>
          <p:cNvPr id="16" name="Shape 14"/>
          <p:cNvSpPr/>
          <p:nvPr/>
        </p:nvSpPr>
        <p:spPr>
          <a:xfrm>
            <a:off x="6437376" y="1444752"/>
            <a:ext cx="4645152" cy="310896"/>
          </a:xfrm>
          <a:prstGeom prst="rect">
            <a:avLst/>
          </a:prstGeom>
          <a:solidFill>
            <a:srgbClr val="DDEBE0"/>
          </a:solidFill>
          <a:ln w="6350">
            <a:solidFill>
              <a:srgbClr val="DADADA"/>
            </a:solidFill>
            <a:prstDash val="solid"/>
          </a:ln>
        </p:spPr>
      </p:sp>
      <p:sp>
        <p:nvSpPr>
          <p:cNvPr id="17" name="Text 15"/>
          <p:cNvSpPr/>
          <p:nvPr/>
        </p:nvSpPr>
        <p:spPr>
          <a:xfrm>
            <a:off x="6510528" y="1536192"/>
            <a:ext cx="4498848" cy="128016"/>
          </a:xfrm>
          <a:prstGeom prst="rect">
            <a:avLst/>
          </a:prstGeom>
          <a:noFill/>
          <a:ln/>
        </p:spPr>
        <p:txBody>
          <a:bodyPr wrap="square" lIns="0" tIns="0" rIns="0" bIns="0" rtlCol="0" anchor="ctr"/>
          <a:lstStyle/>
          <a:p>
            <a:pPr indent="0" marL="0">
              <a:buNone/>
            </a:pPr>
            <a:r>
              <a:rPr lang="en-US" sz="780" b="1" dirty="0">
                <a:solidFill>
                  <a:srgbClr val="121212"/>
                </a:solidFill>
                <a:latin typeface="Microsoft YaHei" pitchFamily="34" charset="0"/>
                <a:ea typeface="Microsoft YaHei" pitchFamily="34" charset="-122"/>
                <a:cs typeface="Microsoft YaHei" pitchFamily="34" charset="-120"/>
              </a:rPr>
              <a:t>链接</a:t>
            </a:r>
            <a:endParaRPr lang="en-US" sz="780" dirty="0"/>
          </a:p>
        </p:txBody>
      </p:sp>
      <p:sp>
        <p:nvSpPr>
          <p:cNvPr id="18" name="Shape 16"/>
          <p:cNvSpPr/>
          <p:nvPr/>
        </p:nvSpPr>
        <p:spPr>
          <a:xfrm>
            <a:off x="658368" y="1755648"/>
            <a:ext cx="10424160" cy="274320"/>
          </a:xfrm>
          <a:prstGeom prst="rect">
            <a:avLst/>
          </a:prstGeom>
          <a:solidFill>
            <a:srgbClr val="F4FAF6"/>
          </a:solidFill>
          <a:ln w="5080">
            <a:solidFill>
              <a:srgbClr val="DADADA"/>
            </a:solidFill>
            <a:prstDash val="solid"/>
          </a:ln>
        </p:spPr>
      </p:sp>
      <p:sp>
        <p:nvSpPr>
          <p:cNvPr id="19" name="Text 17"/>
          <p:cNvSpPr/>
          <p:nvPr/>
        </p:nvSpPr>
        <p:spPr>
          <a:xfrm>
            <a:off x="749808" y="1828800"/>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a:t>
            </a:r>
            <a:endParaRPr lang="en-US" sz="680" dirty="0"/>
          </a:p>
        </p:txBody>
      </p:sp>
      <p:sp>
        <p:nvSpPr>
          <p:cNvPr id="20" name="Text 18"/>
          <p:cNvSpPr/>
          <p:nvPr/>
        </p:nvSpPr>
        <p:spPr>
          <a:xfrm>
            <a:off x="1261872" y="1828800"/>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中国磷酸铁锂行业官方政策与</a:t>
            </a:r>
            <a:endParaRPr lang="en-US" sz="680" dirty="0"/>
          </a:p>
        </p:txBody>
      </p:sp>
      <p:sp>
        <p:nvSpPr>
          <p:cNvPr id="21" name="Text 19"/>
          <p:cNvSpPr/>
          <p:nvPr/>
        </p:nvSpPr>
        <p:spPr>
          <a:xfrm>
            <a:off x="2487168" y="1828800"/>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2026新能源车第四季度展望：国内政策收紧，海外冷热不均 - 电子工程</a:t>
            </a:r>
            <a:endParaRPr lang="en-US" sz="680" dirty="0"/>
          </a:p>
        </p:txBody>
      </p:sp>
      <p:sp>
        <p:nvSpPr>
          <p:cNvPr id="22" name="Text 20"/>
          <p:cNvSpPr/>
          <p:nvPr/>
        </p:nvSpPr>
        <p:spPr>
          <a:xfrm>
            <a:off x="6510528" y="1828800"/>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https://www.eet-china.com/mp/a534030.html</a:t>
            </a:r>
            <a:endParaRPr lang="en-US" sz="580" dirty="0"/>
          </a:p>
        </p:txBody>
      </p:sp>
      <p:sp>
        <p:nvSpPr>
          <p:cNvPr id="23" name="Shape 21"/>
          <p:cNvSpPr/>
          <p:nvPr/>
        </p:nvSpPr>
        <p:spPr>
          <a:xfrm>
            <a:off x="658368" y="2066544"/>
            <a:ext cx="10424160" cy="274320"/>
          </a:xfrm>
          <a:prstGeom prst="rect">
            <a:avLst/>
          </a:prstGeom>
          <a:solidFill>
            <a:srgbClr val="FFFFFF"/>
          </a:solidFill>
          <a:ln w="5080">
            <a:solidFill>
              <a:srgbClr val="DADADA"/>
            </a:solidFill>
            <a:prstDash val="solid"/>
          </a:ln>
        </p:spPr>
      </p:sp>
      <p:sp>
        <p:nvSpPr>
          <p:cNvPr id="24" name="Text 22"/>
          <p:cNvSpPr/>
          <p:nvPr/>
        </p:nvSpPr>
        <p:spPr>
          <a:xfrm>
            <a:off x="749808" y="2139696"/>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[2]</a:t>
            </a:r>
            <a:endParaRPr lang="en-US" sz="680" dirty="0"/>
          </a:p>
        </p:txBody>
      </p:sp>
      <p:sp>
        <p:nvSpPr>
          <p:cNvPr id="25" name="Text 23"/>
          <p:cNvSpPr/>
          <p:nvPr/>
        </p:nvSpPr>
        <p:spPr>
          <a:xfrm>
            <a:off x="1261872" y="2139696"/>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中国磷酸铁锂行业官方政策与</a:t>
            </a:r>
            <a:endParaRPr lang="en-US" sz="680" dirty="0"/>
          </a:p>
        </p:txBody>
      </p:sp>
      <p:sp>
        <p:nvSpPr>
          <p:cNvPr id="26" name="Text 24"/>
          <p:cNvSpPr/>
          <p:nvPr/>
        </p:nvSpPr>
        <p:spPr>
          <a:xfrm>
            <a:off x="2487168" y="2139696"/>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清华大学教授徐盛明：动力电池高值化利用产业是一场淘汰赛 - Sohu</a:t>
            </a:r>
            <a:endParaRPr lang="en-US" sz="680" dirty="0"/>
          </a:p>
        </p:txBody>
      </p:sp>
      <p:sp>
        <p:nvSpPr>
          <p:cNvPr id="27" name="Text 25"/>
          <p:cNvSpPr/>
          <p:nvPr/>
        </p:nvSpPr>
        <p:spPr>
          <a:xfrm>
            <a:off x="6510528" y="2139696"/>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https://news.google.com/rss/articles/CBMijwFBVV95cUxOZDUyUFNQSDdVMEN4WE5oWUoySHlEb2dWdU1xdGlud29YOUtGUGM1RFZrSV85bHVCUC1hOGVWNGJVN21zUTdfdDRtc1FjNFNSN3ppd28xUGlLR09xQVo4ZHRwOUV2eHZKZVpIdjVWTnpIaGFNSVo2UWluOHctU09vTlZqVi1hdVloX3dyYjRzWQ?oc=5</a:t>
            </a:r>
            <a:endParaRPr lang="en-US" sz="580" dirty="0"/>
          </a:p>
        </p:txBody>
      </p:sp>
      <p:sp>
        <p:nvSpPr>
          <p:cNvPr id="28" name="Shape 26"/>
          <p:cNvSpPr/>
          <p:nvPr/>
        </p:nvSpPr>
        <p:spPr>
          <a:xfrm>
            <a:off x="658368" y="2377440"/>
            <a:ext cx="10424160" cy="274320"/>
          </a:xfrm>
          <a:prstGeom prst="rect">
            <a:avLst/>
          </a:prstGeom>
          <a:solidFill>
            <a:srgbClr val="F4FAF6"/>
          </a:solidFill>
          <a:ln w="5080">
            <a:solidFill>
              <a:srgbClr val="DADADA"/>
            </a:solidFill>
            <a:prstDash val="solid"/>
          </a:ln>
        </p:spPr>
      </p:sp>
      <p:sp>
        <p:nvSpPr>
          <p:cNvPr id="29" name="Text 27"/>
          <p:cNvSpPr/>
          <p:nvPr/>
        </p:nvSpPr>
        <p:spPr>
          <a:xfrm>
            <a:off x="749808" y="2450592"/>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[3]</a:t>
            </a:r>
            <a:endParaRPr lang="en-US" sz="680" dirty="0"/>
          </a:p>
        </p:txBody>
      </p:sp>
      <p:sp>
        <p:nvSpPr>
          <p:cNvPr id="30" name="Text 28"/>
          <p:cNvSpPr/>
          <p:nvPr/>
        </p:nvSpPr>
        <p:spPr>
          <a:xfrm>
            <a:off x="1261872" y="2450592"/>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中国磷酸铁锂行业官方政策与</a:t>
            </a:r>
            <a:endParaRPr lang="en-US" sz="680" dirty="0"/>
          </a:p>
        </p:txBody>
      </p:sp>
      <p:sp>
        <p:nvSpPr>
          <p:cNvPr id="31" name="Text 29"/>
          <p:cNvSpPr/>
          <p:nvPr/>
        </p:nvSpPr>
        <p:spPr>
          <a:xfrm>
            <a:off x="2487168" y="2450592"/>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换电池8万残值仅3万，2000万辆电车脱保潮谁兜底 - 汽车之家</a:t>
            </a:r>
            <a:endParaRPr lang="en-US" sz="680" dirty="0"/>
          </a:p>
        </p:txBody>
      </p:sp>
      <p:sp>
        <p:nvSpPr>
          <p:cNvPr id="32" name="Text 30"/>
          <p:cNvSpPr/>
          <p:nvPr/>
        </p:nvSpPr>
        <p:spPr>
          <a:xfrm>
            <a:off x="6510528" y="2450592"/>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https://chejiahao.autohome.com.cn/info/26742762</a:t>
            </a:r>
            <a:endParaRPr lang="en-US" sz="580" dirty="0"/>
          </a:p>
        </p:txBody>
      </p:sp>
      <p:sp>
        <p:nvSpPr>
          <p:cNvPr id="33" name="Shape 31"/>
          <p:cNvSpPr/>
          <p:nvPr/>
        </p:nvSpPr>
        <p:spPr>
          <a:xfrm>
            <a:off x="658368" y="2688336"/>
            <a:ext cx="10424160" cy="274320"/>
          </a:xfrm>
          <a:prstGeom prst="rect">
            <a:avLst/>
          </a:prstGeom>
          <a:solidFill>
            <a:srgbClr val="FFFFFF"/>
          </a:solidFill>
          <a:ln w="5080">
            <a:solidFill>
              <a:srgbClr val="DADADA"/>
            </a:solidFill>
            <a:prstDash val="solid"/>
          </a:ln>
        </p:spPr>
      </p:sp>
      <p:sp>
        <p:nvSpPr>
          <p:cNvPr id="34" name="Text 32"/>
          <p:cNvSpPr/>
          <p:nvPr/>
        </p:nvSpPr>
        <p:spPr>
          <a:xfrm>
            <a:off x="749808" y="2761488"/>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[4]</a:t>
            </a:r>
            <a:endParaRPr lang="en-US" sz="680" dirty="0"/>
          </a:p>
        </p:txBody>
      </p:sp>
      <p:sp>
        <p:nvSpPr>
          <p:cNvPr id="35" name="Text 33"/>
          <p:cNvSpPr/>
          <p:nvPr/>
        </p:nvSpPr>
        <p:spPr>
          <a:xfrm>
            <a:off x="1261872" y="2761488"/>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中国磷酸铁锂行业官方政策与</a:t>
            </a:r>
            <a:endParaRPr lang="en-US" sz="680" dirty="0"/>
          </a:p>
        </p:txBody>
      </p:sp>
      <p:sp>
        <p:nvSpPr>
          <p:cNvPr id="36" name="Text 34"/>
          <p:cNvSpPr/>
          <p:nvPr/>
        </p:nvSpPr>
        <p:spPr>
          <a:xfrm>
            <a:off x="2487168" y="2761488"/>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【正极材料周报】湖南裕能拟20亿元于湖南湘潭再建厂！万华化学山东莱州项</a:t>
            </a:r>
            <a:endParaRPr lang="en-US" sz="680" dirty="0"/>
          </a:p>
        </p:txBody>
      </p:sp>
      <p:sp>
        <p:nvSpPr>
          <p:cNvPr id="37" name="Text 35"/>
          <p:cNvSpPr/>
          <p:nvPr/>
        </p:nvSpPr>
        <p:spPr>
          <a:xfrm>
            <a:off x="6510528" y="2761488"/>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https://news.google.com/rss/articles/CBMiY0FVX3lxTFBRdENNOG1nNWcwTWZ6V1czSmM3R3BTYlVxX2NZeDZINzltWm9zZllkelJkNVlMMEwxT3FFM1c1eUIyUnJHSzFmSnJFbVhUcjZxVXg2M2xFZmI2bDVYVEx4RlBFYw?oc=5</a:t>
            </a:r>
            <a:endParaRPr lang="en-US" sz="580" dirty="0"/>
          </a:p>
        </p:txBody>
      </p:sp>
      <p:sp>
        <p:nvSpPr>
          <p:cNvPr id="38" name="Shape 36"/>
          <p:cNvSpPr/>
          <p:nvPr/>
        </p:nvSpPr>
        <p:spPr>
          <a:xfrm>
            <a:off x="658368" y="2999232"/>
            <a:ext cx="10424160" cy="274320"/>
          </a:xfrm>
          <a:prstGeom prst="rect">
            <a:avLst/>
          </a:prstGeom>
          <a:solidFill>
            <a:srgbClr val="F4FAF6"/>
          </a:solidFill>
          <a:ln w="5080">
            <a:solidFill>
              <a:srgbClr val="DADADA"/>
            </a:solidFill>
            <a:prstDash val="solid"/>
          </a:ln>
        </p:spPr>
      </p:sp>
      <p:sp>
        <p:nvSpPr>
          <p:cNvPr id="39" name="Text 37"/>
          <p:cNvSpPr/>
          <p:nvPr/>
        </p:nvSpPr>
        <p:spPr>
          <a:xfrm>
            <a:off x="749808" y="3072384"/>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[5]</a:t>
            </a:r>
            <a:endParaRPr lang="en-US" sz="680" dirty="0"/>
          </a:p>
        </p:txBody>
      </p:sp>
      <p:sp>
        <p:nvSpPr>
          <p:cNvPr id="40" name="Text 38"/>
          <p:cNvSpPr/>
          <p:nvPr/>
        </p:nvSpPr>
        <p:spPr>
          <a:xfrm>
            <a:off x="1261872" y="3072384"/>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中国磷酸铁锂行业官方政策与</a:t>
            </a:r>
            <a:endParaRPr lang="en-US" sz="680" dirty="0"/>
          </a:p>
        </p:txBody>
      </p:sp>
      <p:sp>
        <p:nvSpPr>
          <p:cNvPr id="41" name="Text 39"/>
          <p:cNvSpPr/>
          <p:nvPr/>
        </p:nvSpPr>
        <p:spPr>
          <a:xfrm>
            <a:off x="2487168" y="3072384"/>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投资成果｜签约零跑！海泰科服投资企业攻坚前沿电池技术 - 碳索储能网</a:t>
            </a:r>
            <a:endParaRPr lang="en-US" sz="680" dirty="0"/>
          </a:p>
        </p:txBody>
      </p:sp>
      <p:sp>
        <p:nvSpPr>
          <p:cNvPr id="42" name="Text 40"/>
          <p:cNvSpPr/>
          <p:nvPr/>
        </p:nvSpPr>
        <p:spPr>
          <a:xfrm>
            <a:off x="6510528" y="3072384"/>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https://mcn.solarbe.com/news/20261027/50030949.html</a:t>
            </a:r>
            <a:endParaRPr lang="en-US" sz="580" dirty="0"/>
          </a:p>
        </p:txBody>
      </p:sp>
      <p:sp>
        <p:nvSpPr>
          <p:cNvPr id="43" name="Shape 41"/>
          <p:cNvSpPr/>
          <p:nvPr/>
        </p:nvSpPr>
        <p:spPr>
          <a:xfrm>
            <a:off x="658368" y="3310128"/>
            <a:ext cx="10424160" cy="274320"/>
          </a:xfrm>
          <a:prstGeom prst="rect">
            <a:avLst/>
          </a:prstGeom>
          <a:solidFill>
            <a:srgbClr val="FFFFFF"/>
          </a:solidFill>
          <a:ln w="5080">
            <a:solidFill>
              <a:srgbClr val="DADADA"/>
            </a:solidFill>
            <a:prstDash val="solid"/>
          </a:ln>
        </p:spPr>
      </p:sp>
      <p:sp>
        <p:nvSpPr>
          <p:cNvPr id="44" name="Text 42"/>
          <p:cNvSpPr/>
          <p:nvPr/>
        </p:nvSpPr>
        <p:spPr>
          <a:xfrm>
            <a:off x="749808" y="3383280"/>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[6]</a:t>
            </a:r>
            <a:endParaRPr lang="en-US" sz="680" dirty="0"/>
          </a:p>
        </p:txBody>
      </p:sp>
      <p:sp>
        <p:nvSpPr>
          <p:cNvPr id="45" name="Text 43"/>
          <p:cNvSpPr/>
          <p:nvPr/>
        </p:nvSpPr>
        <p:spPr>
          <a:xfrm>
            <a:off x="1261872" y="3383280"/>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中国磷酸铁锂行业官方政策与</a:t>
            </a:r>
            <a:endParaRPr lang="en-US" sz="680" dirty="0"/>
          </a:p>
        </p:txBody>
      </p:sp>
      <p:sp>
        <p:nvSpPr>
          <p:cNvPr id="46" name="Text 44"/>
          <p:cNvSpPr/>
          <p:nvPr/>
        </p:nvSpPr>
        <p:spPr>
          <a:xfrm>
            <a:off x="2487168" y="3383280"/>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江西拓智科技：以激光精焊技术守护动力电池安全防线 - 搜狐网</a:t>
            </a:r>
            <a:endParaRPr lang="en-US" sz="680" dirty="0"/>
          </a:p>
        </p:txBody>
      </p:sp>
      <p:sp>
        <p:nvSpPr>
          <p:cNvPr id="47" name="Text 45"/>
          <p:cNvSpPr/>
          <p:nvPr/>
        </p:nvSpPr>
        <p:spPr>
          <a:xfrm>
            <a:off x="6510528" y="3383280"/>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https://news.google.com/rss/articles/CBMijAFBVV95cUxNWllXMFdycTQwSjV1ZWRTWTk2emh6NmtQUHZGRVJCeEF3RktxU1NENWpJa3V4MGhxZFdnNWtscTNxaFZoQUg5akdlMFhCMF9pVERob3VTY1FXVGwwZjNRXzhrR0JncDJZbEpkMnpKMTVaRzlZRy1BNjVYdnk5eUF5UmhMT2UyYkVHYVYtXw?oc=5</a:t>
            </a:r>
            <a:endParaRPr lang="en-US" sz="580" dirty="0"/>
          </a:p>
        </p:txBody>
      </p:sp>
      <p:sp>
        <p:nvSpPr>
          <p:cNvPr id="48" name="Shape 46"/>
          <p:cNvSpPr/>
          <p:nvPr/>
        </p:nvSpPr>
        <p:spPr>
          <a:xfrm>
            <a:off x="658368" y="3621024"/>
            <a:ext cx="10424160" cy="274320"/>
          </a:xfrm>
          <a:prstGeom prst="rect">
            <a:avLst/>
          </a:prstGeom>
          <a:solidFill>
            <a:srgbClr val="F4FAF6"/>
          </a:solidFill>
          <a:ln w="5080">
            <a:solidFill>
              <a:srgbClr val="DADADA"/>
            </a:solidFill>
            <a:prstDash val="solid"/>
          </a:ln>
        </p:spPr>
      </p:sp>
      <p:sp>
        <p:nvSpPr>
          <p:cNvPr id="49" name="Text 47"/>
          <p:cNvSpPr/>
          <p:nvPr/>
        </p:nvSpPr>
        <p:spPr>
          <a:xfrm>
            <a:off x="749808" y="3694176"/>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[7]</a:t>
            </a:r>
            <a:endParaRPr lang="en-US" sz="680" dirty="0"/>
          </a:p>
        </p:txBody>
      </p:sp>
      <p:sp>
        <p:nvSpPr>
          <p:cNvPr id="50" name="Text 48"/>
          <p:cNvSpPr/>
          <p:nvPr/>
        </p:nvSpPr>
        <p:spPr>
          <a:xfrm>
            <a:off x="1261872" y="3694176"/>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中国磷酸铁锂行业官方政策与</a:t>
            </a:r>
            <a:endParaRPr lang="en-US" sz="680" dirty="0"/>
          </a:p>
        </p:txBody>
      </p:sp>
      <p:sp>
        <p:nvSpPr>
          <p:cNvPr id="51" name="Text 49"/>
          <p:cNvSpPr/>
          <p:nvPr/>
        </p:nvSpPr>
        <p:spPr>
          <a:xfrm>
            <a:off x="2487168" y="3694176"/>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坐标贵州台江！3万吨废旧锂电池回收项目有新进展 - 上海有色金属</a:t>
            </a:r>
            <a:endParaRPr lang="en-US" sz="680" dirty="0"/>
          </a:p>
        </p:txBody>
      </p:sp>
      <p:sp>
        <p:nvSpPr>
          <p:cNvPr id="52" name="Text 50"/>
          <p:cNvSpPr/>
          <p:nvPr/>
        </p:nvSpPr>
        <p:spPr>
          <a:xfrm>
            <a:off x="6510528" y="3694176"/>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https://news.smm.cn/news/104179526</a:t>
            </a:r>
            <a:endParaRPr lang="en-US" sz="580" dirty="0"/>
          </a:p>
        </p:txBody>
      </p:sp>
      <p:sp>
        <p:nvSpPr>
          <p:cNvPr id="53" name="Shape 51"/>
          <p:cNvSpPr/>
          <p:nvPr/>
        </p:nvSpPr>
        <p:spPr>
          <a:xfrm>
            <a:off x="658368" y="3931920"/>
            <a:ext cx="10424160" cy="274320"/>
          </a:xfrm>
          <a:prstGeom prst="rect">
            <a:avLst/>
          </a:prstGeom>
          <a:solidFill>
            <a:srgbClr val="FFFFFF"/>
          </a:solidFill>
          <a:ln w="5080">
            <a:solidFill>
              <a:srgbClr val="DADADA"/>
            </a:solidFill>
            <a:prstDash val="solid"/>
          </a:ln>
        </p:spPr>
      </p:sp>
      <p:sp>
        <p:nvSpPr>
          <p:cNvPr id="54" name="Text 52"/>
          <p:cNvSpPr/>
          <p:nvPr/>
        </p:nvSpPr>
        <p:spPr>
          <a:xfrm>
            <a:off x="749808" y="4005072"/>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[8]</a:t>
            </a:r>
            <a:endParaRPr lang="en-US" sz="680" dirty="0"/>
          </a:p>
        </p:txBody>
      </p:sp>
      <p:sp>
        <p:nvSpPr>
          <p:cNvPr id="55" name="Text 53"/>
          <p:cNvSpPr/>
          <p:nvPr/>
        </p:nvSpPr>
        <p:spPr>
          <a:xfrm>
            <a:off x="1261872" y="4005072"/>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中国电池网</a:t>
            </a:r>
            <a:endParaRPr lang="en-US" sz="680" dirty="0"/>
          </a:p>
        </p:txBody>
      </p:sp>
      <p:sp>
        <p:nvSpPr>
          <p:cNvPr id="56" name="Text 54"/>
          <p:cNvSpPr/>
          <p:nvPr/>
        </p:nvSpPr>
        <p:spPr>
          <a:xfrm>
            <a:off x="2487168" y="4005072"/>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中国电池网</a:t>
            </a:r>
            <a:endParaRPr lang="en-US" sz="680" dirty="0"/>
          </a:p>
        </p:txBody>
      </p:sp>
      <p:sp>
        <p:nvSpPr>
          <p:cNvPr id="57" name="Text 55"/>
          <p:cNvSpPr/>
          <p:nvPr/>
        </p:nvSpPr>
        <p:spPr>
          <a:xfrm>
            <a:off x="6510528" y="4005072"/>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https://www.itdcw.com/</a:t>
            </a:r>
            <a:endParaRPr lang="en-US" sz="580" dirty="0"/>
          </a:p>
        </p:txBody>
      </p:sp>
      <p:sp>
        <p:nvSpPr>
          <p:cNvPr id="58" name="Shape 56"/>
          <p:cNvSpPr/>
          <p:nvPr/>
        </p:nvSpPr>
        <p:spPr>
          <a:xfrm>
            <a:off x="658368" y="4242816"/>
            <a:ext cx="10424160" cy="274320"/>
          </a:xfrm>
          <a:prstGeom prst="rect">
            <a:avLst/>
          </a:prstGeom>
          <a:solidFill>
            <a:srgbClr val="F4FAF6"/>
          </a:solidFill>
          <a:ln w="5080">
            <a:solidFill>
              <a:srgbClr val="DADADA"/>
            </a:solidFill>
            <a:prstDash val="solid"/>
          </a:ln>
        </p:spPr>
      </p:sp>
      <p:sp>
        <p:nvSpPr>
          <p:cNvPr id="59" name="Text 57"/>
          <p:cNvSpPr/>
          <p:nvPr/>
        </p:nvSpPr>
        <p:spPr>
          <a:xfrm>
            <a:off x="749808" y="4315968"/>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[9]</a:t>
            </a:r>
            <a:endParaRPr lang="en-US" sz="680" dirty="0"/>
          </a:p>
        </p:txBody>
      </p:sp>
      <p:sp>
        <p:nvSpPr>
          <p:cNvPr id="60" name="Text 58"/>
          <p:cNvSpPr/>
          <p:nvPr/>
        </p:nvSpPr>
        <p:spPr>
          <a:xfrm>
            <a:off x="1261872" y="4315968"/>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鑫椤锂电</a:t>
            </a:r>
            <a:endParaRPr lang="en-US" sz="680" dirty="0"/>
          </a:p>
        </p:txBody>
      </p:sp>
      <p:sp>
        <p:nvSpPr>
          <p:cNvPr id="61" name="Text 59"/>
          <p:cNvSpPr/>
          <p:nvPr/>
        </p:nvSpPr>
        <p:spPr>
          <a:xfrm>
            <a:off x="2487168" y="4315968"/>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鑫椤锂电</a:t>
            </a:r>
            <a:endParaRPr lang="en-US" sz="680" dirty="0"/>
          </a:p>
        </p:txBody>
      </p:sp>
      <p:sp>
        <p:nvSpPr>
          <p:cNvPr id="62" name="Text 60"/>
          <p:cNvSpPr/>
          <p:nvPr/>
        </p:nvSpPr>
        <p:spPr>
          <a:xfrm>
            <a:off x="6510528" y="4315968"/>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https://www.icbattery.com/</a:t>
            </a:r>
            <a:endParaRPr lang="en-US" sz="580" dirty="0"/>
          </a:p>
        </p:txBody>
      </p:sp>
      <p:sp>
        <p:nvSpPr>
          <p:cNvPr id="63" name="Shape 61"/>
          <p:cNvSpPr/>
          <p:nvPr/>
        </p:nvSpPr>
        <p:spPr>
          <a:xfrm>
            <a:off x="658368" y="4553712"/>
            <a:ext cx="10424160" cy="274320"/>
          </a:xfrm>
          <a:prstGeom prst="rect">
            <a:avLst/>
          </a:prstGeom>
          <a:solidFill>
            <a:srgbClr val="FFFFFF"/>
          </a:solidFill>
          <a:ln w="5080">
            <a:solidFill>
              <a:srgbClr val="DADADA"/>
            </a:solidFill>
            <a:prstDash val="solid"/>
          </a:ln>
        </p:spPr>
      </p:sp>
      <p:sp>
        <p:nvSpPr>
          <p:cNvPr id="64" name="Text 62"/>
          <p:cNvSpPr/>
          <p:nvPr/>
        </p:nvSpPr>
        <p:spPr>
          <a:xfrm>
            <a:off x="749808" y="4626864"/>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[10]</a:t>
            </a:r>
            <a:endParaRPr lang="en-US" sz="680" dirty="0"/>
          </a:p>
        </p:txBody>
      </p:sp>
      <p:sp>
        <p:nvSpPr>
          <p:cNvPr id="65" name="Text 63"/>
          <p:cNvSpPr/>
          <p:nvPr/>
        </p:nvSpPr>
        <p:spPr>
          <a:xfrm>
            <a:off x="1261872" y="4626864"/>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高工锂电</a:t>
            </a:r>
            <a:endParaRPr lang="en-US" sz="680" dirty="0"/>
          </a:p>
        </p:txBody>
      </p:sp>
      <p:sp>
        <p:nvSpPr>
          <p:cNvPr id="66" name="Text 64"/>
          <p:cNvSpPr/>
          <p:nvPr/>
        </p:nvSpPr>
        <p:spPr>
          <a:xfrm>
            <a:off x="2487168" y="4626864"/>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高工锂电</a:t>
            </a:r>
            <a:endParaRPr lang="en-US" sz="680" dirty="0"/>
          </a:p>
        </p:txBody>
      </p:sp>
      <p:sp>
        <p:nvSpPr>
          <p:cNvPr id="67" name="Text 65"/>
          <p:cNvSpPr/>
          <p:nvPr/>
        </p:nvSpPr>
        <p:spPr>
          <a:xfrm>
            <a:off x="6510528" y="4626864"/>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https://www.gg-lb.com/</a:t>
            </a:r>
            <a:endParaRPr lang="en-US" sz="580" dirty="0"/>
          </a:p>
        </p:txBody>
      </p:sp>
      <p:sp>
        <p:nvSpPr>
          <p:cNvPr id="68" name="Shape 66"/>
          <p:cNvSpPr/>
          <p:nvPr/>
        </p:nvSpPr>
        <p:spPr>
          <a:xfrm>
            <a:off x="658368" y="4864608"/>
            <a:ext cx="10424160" cy="274320"/>
          </a:xfrm>
          <a:prstGeom prst="rect">
            <a:avLst/>
          </a:prstGeom>
          <a:solidFill>
            <a:srgbClr val="F4FAF6"/>
          </a:solidFill>
          <a:ln w="5080">
            <a:solidFill>
              <a:srgbClr val="DADADA"/>
            </a:solidFill>
            <a:prstDash val="solid"/>
          </a:ln>
        </p:spPr>
      </p:sp>
      <p:sp>
        <p:nvSpPr>
          <p:cNvPr id="69" name="Text 67"/>
          <p:cNvSpPr/>
          <p:nvPr/>
        </p:nvSpPr>
        <p:spPr>
          <a:xfrm>
            <a:off x="749808" y="4937760"/>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[11]</a:t>
            </a:r>
            <a:endParaRPr lang="en-US" sz="680" dirty="0"/>
          </a:p>
        </p:txBody>
      </p:sp>
      <p:sp>
        <p:nvSpPr>
          <p:cNvPr id="70" name="Text 68"/>
          <p:cNvSpPr/>
          <p:nvPr/>
        </p:nvSpPr>
        <p:spPr>
          <a:xfrm>
            <a:off x="1261872" y="4937760"/>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电池中国</a:t>
            </a:r>
            <a:endParaRPr lang="en-US" sz="680" dirty="0"/>
          </a:p>
        </p:txBody>
      </p:sp>
      <p:sp>
        <p:nvSpPr>
          <p:cNvPr id="71" name="Text 69"/>
          <p:cNvSpPr/>
          <p:nvPr/>
        </p:nvSpPr>
        <p:spPr>
          <a:xfrm>
            <a:off x="2487168" y="4937760"/>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电池中国</a:t>
            </a:r>
            <a:endParaRPr lang="en-US" sz="680" dirty="0"/>
          </a:p>
        </p:txBody>
      </p:sp>
      <p:sp>
        <p:nvSpPr>
          <p:cNvPr id="72" name="Text 70"/>
          <p:cNvSpPr/>
          <p:nvPr/>
        </p:nvSpPr>
        <p:spPr>
          <a:xfrm>
            <a:off x="6510528" y="4937760"/>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https://www.cbea.com/</a:t>
            </a:r>
            <a:endParaRPr lang="en-US" sz="580" dirty="0"/>
          </a:p>
        </p:txBody>
      </p:sp>
      <p:sp>
        <p:nvSpPr>
          <p:cNvPr id="73" name="Shape 71"/>
          <p:cNvSpPr/>
          <p:nvPr/>
        </p:nvSpPr>
        <p:spPr>
          <a:xfrm>
            <a:off x="658368" y="5175504"/>
            <a:ext cx="10424160" cy="274320"/>
          </a:xfrm>
          <a:prstGeom prst="rect">
            <a:avLst/>
          </a:prstGeom>
          <a:solidFill>
            <a:srgbClr val="FFFFFF"/>
          </a:solidFill>
          <a:ln w="5080">
            <a:solidFill>
              <a:srgbClr val="DADADA"/>
            </a:solidFill>
            <a:prstDash val="solid"/>
          </a:ln>
        </p:spPr>
      </p:sp>
      <p:sp>
        <p:nvSpPr>
          <p:cNvPr id="74" name="Text 72"/>
          <p:cNvSpPr/>
          <p:nvPr/>
        </p:nvSpPr>
        <p:spPr>
          <a:xfrm>
            <a:off x="749808" y="5248656"/>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[12]</a:t>
            </a:r>
            <a:endParaRPr lang="en-US" sz="680" dirty="0"/>
          </a:p>
        </p:txBody>
      </p:sp>
      <p:sp>
        <p:nvSpPr>
          <p:cNvPr id="75" name="Text 73"/>
          <p:cNvSpPr/>
          <p:nvPr/>
        </p:nvSpPr>
        <p:spPr>
          <a:xfrm>
            <a:off x="1261872" y="5248656"/>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证券时报</a:t>
            </a:r>
            <a:endParaRPr lang="en-US" sz="680" dirty="0"/>
          </a:p>
        </p:txBody>
      </p:sp>
      <p:sp>
        <p:nvSpPr>
          <p:cNvPr id="76" name="Text 74"/>
          <p:cNvSpPr/>
          <p:nvPr/>
        </p:nvSpPr>
        <p:spPr>
          <a:xfrm>
            <a:off x="2487168" y="5248656"/>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证券时报</a:t>
            </a:r>
            <a:endParaRPr lang="en-US" sz="680" dirty="0"/>
          </a:p>
        </p:txBody>
      </p:sp>
      <p:sp>
        <p:nvSpPr>
          <p:cNvPr id="77" name="Text 75"/>
          <p:cNvSpPr/>
          <p:nvPr/>
        </p:nvSpPr>
        <p:spPr>
          <a:xfrm>
            <a:off x="6510528" y="5248656"/>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https://www.stcn.com/</a:t>
            </a:r>
            <a:endParaRPr lang="en-US" sz="580" dirty="0"/>
          </a:p>
        </p:txBody>
      </p:sp>
      <p:sp>
        <p:nvSpPr>
          <p:cNvPr id="78" name="Shape 76"/>
          <p:cNvSpPr/>
          <p:nvPr/>
        </p:nvSpPr>
        <p:spPr>
          <a:xfrm>
            <a:off x="658368" y="5779008"/>
            <a:ext cx="1463040" cy="292608"/>
          </a:xfrm>
          <a:prstGeom prst="rect">
            <a:avLst/>
          </a:prstGeom>
          <a:solidFill>
            <a:srgbClr val="121212"/>
          </a:solidFill>
          <a:ln w="12700">
            <a:solidFill>
              <a:srgbClr val="121212"/>
            </a:solidFill>
            <a:prstDash val="solid"/>
          </a:ln>
        </p:spPr>
      </p:sp>
      <p:sp>
        <p:nvSpPr>
          <p:cNvPr id="79" name="Text 77"/>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引用规则</a:t>
            </a:r>
            <a:endParaRPr lang="en-US" sz="780" dirty="0"/>
          </a:p>
        </p:txBody>
      </p:sp>
      <p:sp>
        <p:nvSpPr>
          <p:cNvPr id="80" name="Text 78"/>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正文引用编号与本页来源一一对应，未进入正文的公开来源保留在 JSON 审计记录中。</a:t>
            </a:r>
            <a:endParaRPr lang="en-US" sz="10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11.</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SOURCE INDEX</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2026-10-27</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11</a:t>
            </a:r>
            <a:endParaRPr lang="en-US" sz="730" dirty="0"/>
          </a:p>
        </p:txBody>
      </p:sp>
      <p:sp>
        <p:nvSpPr>
          <p:cNvPr id="9" name="Text 7"/>
          <p:cNvSpPr/>
          <p:nvPr/>
        </p:nvSpPr>
        <p:spPr>
          <a:xfrm>
            <a:off x="1143000" y="932688"/>
            <a:ext cx="4114800" cy="384048"/>
          </a:xfrm>
          <a:prstGeom prst="rect">
            <a:avLst/>
          </a:prstGeom>
          <a:noFill/>
          <a:ln/>
        </p:spPr>
        <p:txBody>
          <a:bodyPr wrap="square" lIns="0" tIns="0" rIns="0" bIns="0" rtlCol="0" anchor="ct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来源索引与可追溯性</a:t>
            </a:r>
            <a:endParaRPr lang="en-US" sz="2000" dirty="0"/>
          </a:p>
        </p:txBody>
      </p:sp>
      <p:sp>
        <p:nvSpPr>
          <p:cNvPr id="10" name="Shape 8"/>
          <p:cNvSpPr/>
          <p:nvPr/>
        </p:nvSpPr>
        <p:spPr>
          <a:xfrm>
            <a:off x="658368" y="1444752"/>
            <a:ext cx="566928" cy="310896"/>
          </a:xfrm>
          <a:prstGeom prst="rect">
            <a:avLst/>
          </a:prstGeom>
          <a:solidFill>
            <a:srgbClr val="121212"/>
          </a:solidFill>
          <a:ln w="6350">
            <a:solidFill>
              <a:srgbClr val="DADADA"/>
            </a:solidFill>
            <a:prstDash val="solid"/>
          </a:ln>
        </p:spPr>
      </p:sp>
      <p:sp>
        <p:nvSpPr>
          <p:cNvPr id="11" name="Text 9"/>
          <p:cNvSpPr/>
          <p:nvPr/>
        </p:nvSpPr>
        <p:spPr>
          <a:xfrm>
            <a:off x="731520" y="1536192"/>
            <a:ext cx="420624" cy="128016"/>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编号</a:t>
            </a:r>
            <a:endParaRPr lang="en-US" sz="780" dirty="0"/>
          </a:p>
        </p:txBody>
      </p:sp>
      <p:sp>
        <p:nvSpPr>
          <p:cNvPr id="12" name="Shape 10"/>
          <p:cNvSpPr/>
          <p:nvPr/>
        </p:nvSpPr>
        <p:spPr>
          <a:xfrm>
            <a:off x="1225296" y="1444752"/>
            <a:ext cx="1234440" cy="310896"/>
          </a:xfrm>
          <a:prstGeom prst="rect">
            <a:avLst/>
          </a:prstGeom>
          <a:solidFill>
            <a:srgbClr val="DDEBE0"/>
          </a:solidFill>
          <a:ln w="6350">
            <a:solidFill>
              <a:srgbClr val="DADADA"/>
            </a:solidFill>
            <a:prstDash val="solid"/>
          </a:ln>
        </p:spPr>
      </p:sp>
      <p:sp>
        <p:nvSpPr>
          <p:cNvPr id="13" name="Text 11"/>
          <p:cNvSpPr/>
          <p:nvPr/>
        </p:nvSpPr>
        <p:spPr>
          <a:xfrm>
            <a:off x="1298448" y="1536192"/>
            <a:ext cx="1088136" cy="128016"/>
          </a:xfrm>
          <a:prstGeom prst="rect">
            <a:avLst/>
          </a:prstGeom>
          <a:noFill/>
          <a:ln/>
        </p:spPr>
        <p:txBody>
          <a:bodyPr wrap="square" lIns="0" tIns="0" rIns="0" bIns="0" rtlCol="0" anchor="ctr"/>
          <a:lstStyle/>
          <a:p>
            <a:pPr indent="0" marL="0">
              <a:buNone/>
            </a:pPr>
            <a:r>
              <a:rPr lang="en-US" sz="780" b="1" dirty="0">
                <a:solidFill>
                  <a:srgbClr val="121212"/>
                </a:solidFill>
                <a:latin typeface="Microsoft YaHei" pitchFamily="34" charset="0"/>
                <a:ea typeface="Microsoft YaHei" pitchFamily="34" charset="-122"/>
                <a:cs typeface="Microsoft YaHei" pitchFamily="34" charset="-120"/>
              </a:rPr>
              <a:t>来源</a:t>
            </a:r>
            <a:endParaRPr lang="en-US" sz="780" dirty="0"/>
          </a:p>
        </p:txBody>
      </p:sp>
      <p:sp>
        <p:nvSpPr>
          <p:cNvPr id="14" name="Shape 12"/>
          <p:cNvSpPr/>
          <p:nvPr/>
        </p:nvSpPr>
        <p:spPr>
          <a:xfrm>
            <a:off x="2459736" y="1444752"/>
            <a:ext cx="3977640" cy="310896"/>
          </a:xfrm>
          <a:prstGeom prst="rect">
            <a:avLst/>
          </a:prstGeom>
          <a:solidFill>
            <a:srgbClr val="DDEBE0"/>
          </a:solidFill>
          <a:ln w="6350">
            <a:solidFill>
              <a:srgbClr val="DADADA"/>
            </a:solidFill>
            <a:prstDash val="solid"/>
          </a:ln>
        </p:spPr>
      </p:sp>
      <p:sp>
        <p:nvSpPr>
          <p:cNvPr id="15" name="Text 13"/>
          <p:cNvSpPr/>
          <p:nvPr/>
        </p:nvSpPr>
        <p:spPr>
          <a:xfrm>
            <a:off x="2532888" y="1536192"/>
            <a:ext cx="3831336" cy="128016"/>
          </a:xfrm>
          <a:prstGeom prst="rect">
            <a:avLst/>
          </a:prstGeom>
          <a:noFill/>
          <a:ln/>
        </p:spPr>
        <p:txBody>
          <a:bodyPr wrap="square" lIns="0" tIns="0" rIns="0" bIns="0" rtlCol="0" anchor="ctr"/>
          <a:lstStyle/>
          <a:p>
            <a:pPr indent="0" marL="0">
              <a:buNone/>
            </a:pPr>
            <a:r>
              <a:rPr lang="en-US" sz="780" b="1" dirty="0">
                <a:solidFill>
                  <a:srgbClr val="121212"/>
                </a:solidFill>
                <a:latin typeface="Microsoft YaHei" pitchFamily="34" charset="0"/>
                <a:ea typeface="Microsoft YaHei" pitchFamily="34" charset="-122"/>
                <a:cs typeface="Microsoft YaHei" pitchFamily="34" charset="-120"/>
              </a:rPr>
              <a:t>标题</a:t>
            </a:r>
            <a:endParaRPr lang="en-US" sz="780" dirty="0"/>
          </a:p>
        </p:txBody>
      </p:sp>
      <p:sp>
        <p:nvSpPr>
          <p:cNvPr id="16" name="Shape 14"/>
          <p:cNvSpPr/>
          <p:nvPr/>
        </p:nvSpPr>
        <p:spPr>
          <a:xfrm>
            <a:off x="6437376" y="1444752"/>
            <a:ext cx="4645152" cy="310896"/>
          </a:xfrm>
          <a:prstGeom prst="rect">
            <a:avLst/>
          </a:prstGeom>
          <a:solidFill>
            <a:srgbClr val="DDEBE0"/>
          </a:solidFill>
          <a:ln w="6350">
            <a:solidFill>
              <a:srgbClr val="DADADA"/>
            </a:solidFill>
            <a:prstDash val="solid"/>
          </a:ln>
        </p:spPr>
      </p:sp>
      <p:sp>
        <p:nvSpPr>
          <p:cNvPr id="17" name="Text 15"/>
          <p:cNvSpPr/>
          <p:nvPr/>
        </p:nvSpPr>
        <p:spPr>
          <a:xfrm>
            <a:off x="6510528" y="1536192"/>
            <a:ext cx="4498848" cy="128016"/>
          </a:xfrm>
          <a:prstGeom prst="rect">
            <a:avLst/>
          </a:prstGeom>
          <a:noFill/>
          <a:ln/>
        </p:spPr>
        <p:txBody>
          <a:bodyPr wrap="square" lIns="0" tIns="0" rIns="0" bIns="0" rtlCol="0" anchor="ctr"/>
          <a:lstStyle/>
          <a:p>
            <a:pPr indent="0" marL="0">
              <a:buNone/>
            </a:pPr>
            <a:r>
              <a:rPr lang="en-US" sz="780" b="1" dirty="0">
                <a:solidFill>
                  <a:srgbClr val="121212"/>
                </a:solidFill>
                <a:latin typeface="Microsoft YaHei" pitchFamily="34" charset="0"/>
                <a:ea typeface="Microsoft YaHei" pitchFamily="34" charset="-122"/>
                <a:cs typeface="Microsoft YaHei" pitchFamily="34" charset="-120"/>
              </a:rPr>
              <a:t>链接</a:t>
            </a:r>
            <a:endParaRPr lang="en-US" sz="780" dirty="0"/>
          </a:p>
        </p:txBody>
      </p:sp>
      <p:sp>
        <p:nvSpPr>
          <p:cNvPr id="18" name="Shape 16"/>
          <p:cNvSpPr/>
          <p:nvPr/>
        </p:nvSpPr>
        <p:spPr>
          <a:xfrm>
            <a:off x="658368" y="1755648"/>
            <a:ext cx="10424160" cy="274320"/>
          </a:xfrm>
          <a:prstGeom prst="rect">
            <a:avLst/>
          </a:prstGeom>
          <a:solidFill>
            <a:srgbClr val="F4FAF6"/>
          </a:solidFill>
          <a:ln w="5080">
            <a:solidFill>
              <a:srgbClr val="DADADA"/>
            </a:solidFill>
            <a:prstDash val="solid"/>
          </a:ln>
        </p:spPr>
      </p:sp>
      <p:sp>
        <p:nvSpPr>
          <p:cNvPr id="19" name="Text 17"/>
          <p:cNvSpPr/>
          <p:nvPr/>
        </p:nvSpPr>
        <p:spPr>
          <a:xfrm>
            <a:off x="749808" y="1828800"/>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[13]</a:t>
            </a:r>
            <a:endParaRPr lang="en-US" sz="680" dirty="0"/>
          </a:p>
        </p:txBody>
      </p:sp>
      <p:sp>
        <p:nvSpPr>
          <p:cNvPr id="20" name="Text 18"/>
          <p:cNvSpPr/>
          <p:nvPr/>
        </p:nvSpPr>
        <p:spPr>
          <a:xfrm>
            <a:off x="1261872" y="1828800"/>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界面新闻</a:t>
            </a:r>
            <a:endParaRPr lang="en-US" sz="680" dirty="0"/>
          </a:p>
        </p:txBody>
      </p:sp>
      <p:sp>
        <p:nvSpPr>
          <p:cNvPr id="21" name="Text 19"/>
          <p:cNvSpPr/>
          <p:nvPr/>
        </p:nvSpPr>
        <p:spPr>
          <a:xfrm>
            <a:off x="2487168" y="1828800"/>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界面新闻</a:t>
            </a:r>
            <a:endParaRPr lang="en-US" sz="680" dirty="0"/>
          </a:p>
        </p:txBody>
      </p:sp>
      <p:sp>
        <p:nvSpPr>
          <p:cNvPr id="22" name="Text 20"/>
          <p:cNvSpPr/>
          <p:nvPr/>
        </p:nvSpPr>
        <p:spPr>
          <a:xfrm>
            <a:off x="6510528" y="1828800"/>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https://www.jiemian.com/</a:t>
            </a:r>
            <a:endParaRPr lang="en-US" sz="580" dirty="0"/>
          </a:p>
        </p:txBody>
      </p:sp>
      <p:sp>
        <p:nvSpPr>
          <p:cNvPr id="23" name="Shape 21"/>
          <p:cNvSpPr/>
          <p:nvPr/>
        </p:nvSpPr>
        <p:spPr>
          <a:xfrm>
            <a:off x="658368" y="2066544"/>
            <a:ext cx="10424160" cy="274320"/>
          </a:xfrm>
          <a:prstGeom prst="rect">
            <a:avLst/>
          </a:prstGeom>
          <a:solidFill>
            <a:srgbClr val="FFFFFF"/>
          </a:solidFill>
          <a:ln w="5080">
            <a:solidFill>
              <a:srgbClr val="DADADA"/>
            </a:solidFill>
            <a:prstDash val="solid"/>
          </a:ln>
        </p:spPr>
      </p:sp>
      <p:sp>
        <p:nvSpPr>
          <p:cNvPr id="24" name="Text 22"/>
          <p:cNvSpPr/>
          <p:nvPr/>
        </p:nvSpPr>
        <p:spPr>
          <a:xfrm>
            <a:off x="749808" y="2139696"/>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[14]</a:t>
            </a:r>
            <a:endParaRPr lang="en-US" sz="680" dirty="0"/>
          </a:p>
        </p:txBody>
      </p:sp>
      <p:sp>
        <p:nvSpPr>
          <p:cNvPr id="25" name="Text 23"/>
          <p:cNvSpPr/>
          <p:nvPr/>
        </p:nvSpPr>
        <p:spPr>
          <a:xfrm>
            <a:off x="1261872" y="2139696"/>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工业和信息化部</a:t>
            </a:r>
            <a:endParaRPr lang="en-US" sz="680" dirty="0"/>
          </a:p>
        </p:txBody>
      </p:sp>
      <p:sp>
        <p:nvSpPr>
          <p:cNvPr id="26" name="Text 24"/>
          <p:cNvSpPr/>
          <p:nvPr/>
        </p:nvSpPr>
        <p:spPr>
          <a:xfrm>
            <a:off x="2487168" y="2139696"/>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国新办举行国务院政策例行吹风会 介绍加强中小企业回款难问题治理有关工作</a:t>
            </a:r>
            <a:endParaRPr lang="en-US" sz="680" dirty="0"/>
          </a:p>
        </p:txBody>
      </p:sp>
      <p:sp>
        <p:nvSpPr>
          <p:cNvPr id="27" name="Text 25"/>
          <p:cNvSpPr/>
          <p:nvPr/>
        </p:nvSpPr>
        <p:spPr>
          <a:xfrm>
            <a:off x="6510528" y="2139696"/>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http://www.miit.gov.cn/xwfb/bldhd/art/2026/art_7285ee48244d4f20b0f127c7f013ec11.html</a:t>
            </a:r>
            <a:endParaRPr lang="en-US" sz="580" dirty="0"/>
          </a:p>
        </p:txBody>
      </p:sp>
      <p:sp>
        <p:nvSpPr>
          <p:cNvPr id="28" name="Shape 26"/>
          <p:cNvSpPr/>
          <p:nvPr/>
        </p:nvSpPr>
        <p:spPr>
          <a:xfrm>
            <a:off x="658368" y="2377440"/>
            <a:ext cx="10424160" cy="274320"/>
          </a:xfrm>
          <a:prstGeom prst="rect">
            <a:avLst/>
          </a:prstGeom>
          <a:solidFill>
            <a:srgbClr val="F4FAF6"/>
          </a:solidFill>
          <a:ln w="5080">
            <a:solidFill>
              <a:srgbClr val="DADADA"/>
            </a:solidFill>
            <a:prstDash val="solid"/>
          </a:ln>
        </p:spPr>
      </p:sp>
      <p:sp>
        <p:nvSpPr>
          <p:cNvPr id="29" name="Text 27"/>
          <p:cNvSpPr/>
          <p:nvPr/>
        </p:nvSpPr>
        <p:spPr>
          <a:xfrm>
            <a:off x="749808" y="2450592"/>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[15]</a:t>
            </a:r>
            <a:endParaRPr lang="en-US" sz="680" dirty="0"/>
          </a:p>
        </p:txBody>
      </p:sp>
      <p:sp>
        <p:nvSpPr>
          <p:cNvPr id="30" name="Text 28"/>
          <p:cNvSpPr/>
          <p:nvPr/>
        </p:nvSpPr>
        <p:spPr>
          <a:xfrm>
            <a:off x="1261872" y="2450592"/>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工业和信息化部</a:t>
            </a:r>
            <a:endParaRPr lang="en-US" sz="680" dirty="0"/>
          </a:p>
        </p:txBody>
      </p:sp>
      <p:sp>
        <p:nvSpPr>
          <p:cNvPr id="31" name="Text 29"/>
          <p:cNvSpPr/>
          <p:nvPr/>
        </p:nvSpPr>
        <p:spPr>
          <a:xfrm>
            <a:off x="2487168" y="2450592"/>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四部门关于开展2026年度享受增值税加计抵减政策的集成电路企业清单制定</a:t>
            </a:r>
            <a:endParaRPr lang="en-US" sz="680" dirty="0"/>
          </a:p>
        </p:txBody>
      </p:sp>
      <p:sp>
        <p:nvSpPr>
          <p:cNvPr id="32" name="Text 30"/>
          <p:cNvSpPr/>
          <p:nvPr/>
        </p:nvSpPr>
        <p:spPr>
          <a:xfrm>
            <a:off x="6510528" y="2450592"/>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http://www.miit.gov.cn/zwgk/zcwj/wjfb/tz/art/2026/art_7d2e760b4be94217b8f55caec840b30d.html</a:t>
            </a:r>
            <a:endParaRPr lang="en-US" sz="580" dirty="0"/>
          </a:p>
        </p:txBody>
      </p:sp>
      <p:sp>
        <p:nvSpPr>
          <p:cNvPr id="33" name="Shape 31"/>
          <p:cNvSpPr/>
          <p:nvPr/>
        </p:nvSpPr>
        <p:spPr>
          <a:xfrm>
            <a:off x="658368" y="2688336"/>
            <a:ext cx="10424160" cy="274320"/>
          </a:xfrm>
          <a:prstGeom prst="rect">
            <a:avLst/>
          </a:prstGeom>
          <a:solidFill>
            <a:srgbClr val="FFFFFF"/>
          </a:solidFill>
          <a:ln w="5080">
            <a:solidFill>
              <a:srgbClr val="DADADA"/>
            </a:solidFill>
            <a:prstDash val="solid"/>
          </a:ln>
        </p:spPr>
      </p:sp>
      <p:sp>
        <p:nvSpPr>
          <p:cNvPr id="34" name="Text 32"/>
          <p:cNvSpPr/>
          <p:nvPr/>
        </p:nvSpPr>
        <p:spPr>
          <a:xfrm>
            <a:off x="749808" y="2761488"/>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[16]</a:t>
            </a:r>
            <a:endParaRPr lang="en-US" sz="680" dirty="0"/>
          </a:p>
        </p:txBody>
      </p:sp>
      <p:sp>
        <p:nvSpPr>
          <p:cNvPr id="35" name="Text 33"/>
          <p:cNvSpPr/>
          <p:nvPr/>
        </p:nvSpPr>
        <p:spPr>
          <a:xfrm>
            <a:off x="1261872" y="2761488"/>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工业和信息化部</a:t>
            </a:r>
            <a:endParaRPr lang="en-US" sz="680" dirty="0"/>
          </a:p>
        </p:txBody>
      </p:sp>
      <p:sp>
        <p:nvSpPr>
          <p:cNvPr id="36" name="Text 34"/>
          <p:cNvSpPr/>
          <p:nvPr/>
        </p:nvSpPr>
        <p:spPr>
          <a:xfrm>
            <a:off x="2487168" y="2761488"/>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工业和信息化部政策文件库</a:t>
            </a:r>
            <a:endParaRPr lang="en-US" sz="680" dirty="0"/>
          </a:p>
        </p:txBody>
      </p:sp>
      <p:sp>
        <p:nvSpPr>
          <p:cNvPr id="37" name="Text 35"/>
          <p:cNvSpPr/>
          <p:nvPr/>
        </p:nvSpPr>
        <p:spPr>
          <a:xfrm>
            <a:off x="6510528" y="2761488"/>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https://www.miit.gov.cn/search/zcwjk.html?websiteid=110000000000000&amp;pg=&amp;p=&amp;tpl=14&amp;category=183&amp;q=</a:t>
            </a:r>
            <a:endParaRPr lang="en-US" sz="580" dirty="0"/>
          </a:p>
        </p:txBody>
      </p:sp>
      <p:sp>
        <p:nvSpPr>
          <p:cNvPr id="38" name="Shape 36"/>
          <p:cNvSpPr/>
          <p:nvPr/>
        </p:nvSpPr>
        <p:spPr>
          <a:xfrm>
            <a:off x="658368" y="2999232"/>
            <a:ext cx="10424160" cy="274320"/>
          </a:xfrm>
          <a:prstGeom prst="rect">
            <a:avLst/>
          </a:prstGeom>
          <a:solidFill>
            <a:srgbClr val="F4FAF6"/>
          </a:solidFill>
          <a:ln w="5080">
            <a:solidFill>
              <a:srgbClr val="DADADA"/>
            </a:solidFill>
            <a:prstDash val="solid"/>
          </a:ln>
        </p:spPr>
      </p:sp>
      <p:sp>
        <p:nvSpPr>
          <p:cNvPr id="39" name="Text 37"/>
          <p:cNvSpPr/>
          <p:nvPr/>
        </p:nvSpPr>
        <p:spPr>
          <a:xfrm>
            <a:off x="749808" y="3072384"/>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[17]</a:t>
            </a:r>
            <a:endParaRPr lang="en-US" sz="680" dirty="0"/>
          </a:p>
        </p:txBody>
      </p:sp>
      <p:sp>
        <p:nvSpPr>
          <p:cNvPr id="40" name="Text 38"/>
          <p:cNvSpPr/>
          <p:nvPr/>
        </p:nvSpPr>
        <p:spPr>
          <a:xfrm>
            <a:off x="1261872" y="3072384"/>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工业和信息化部</a:t>
            </a:r>
            <a:endParaRPr lang="en-US" sz="680" dirty="0"/>
          </a:p>
        </p:txBody>
      </p:sp>
      <p:sp>
        <p:nvSpPr>
          <p:cNvPr id="41" name="Text 39"/>
          <p:cNvSpPr/>
          <p:nvPr/>
        </p:nvSpPr>
        <p:spPr>
          <a:xfrm>
            <a:off x="2487168" y="3072384"/>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最新政策</a:t>
            </a:r>
            <a:endParaRPr lang="en-US" sz="680" dirty="0"/>
          </a:p>
        </p:txBody>
      </p:sp>
      <p:sp>
        <p:nvSpPr>
          <p:cNvPr id="42" name="Text 40"/>
          <p:cNvSpPr/>
          <p:nvPr/>
        </p:nvSpPr>
        <p:spPr>
          <a:xfrm>
            <a:off x="6510528" y="3072384"/>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https://www.miit.gov.cn/xwfb/zxzc/index.html</a:t>
            </a:r>
            <a:endParaRPr lang="en-US" sz="580" dirty="0"/>
          </a:p>
        </p:txBody>
      </p:sp>
      <p:sp>
        <p:nvSpPr>
          <p:cNvPr id="43" name="Shape 41"/>
          <p:cNvSpPr/>
          <p:nvPr/>
        </p:nvSpPr>
        <p:spPr>
          <a:xfrm>
            <a:off x="658368" y="3310128"/>
            <a:ext cx="10424160" cy="274320"/>
          </a:xfrm>
          <a:prstGeom prst="rect">
            <a:avLst/>
          </a:prstGeom>
          <a:solidFill>
            <a:srgbClr val="FFFFFF"/>
          </a:solidFill>
          <a:ln w="5080">
            <a:solidFill>
              <a:srgbClr val="DADADA"/>
            </a:solidFill>
            <a:prstDash val="solid"/>
          </a:ln>
        </p:spPr>
      </p:sp>
      <p:sp>
        <p:nvSpPr>
          <p:cNvPr id="44" name="Text 42"/>
          <p:cNvSpPr/>
          <p:nvPr/>
        </p:nvSpPr>
        <p:spPr>
          <a:xfrm>
            <a:off x="749808" y="3383280"/>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[18]</a:t>
            </a:r>
            <a:endParaRPr lang="en-US" sz="680" dirty="0"/>
          </a:p>
        </p:txBody>
      </p:sp>
      <p:sp>
        <p:nvSpPr>
          <p:cNvPr id="45" name="Text 43"/>
          <p:cNvSpPr/>
          <p:nvPr/>
        </p:nvSpPr>
        <p:spPr>
          <a:xfrm>
            <a:off x="1261872" y="3383280"/>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国家发展改革委</a:t>
            </a:r>
            <a:endParaRPr lang="en-US" sz="680" dirty="0"/>
          </a:p>
        </p:txBody>
      </p:sp>
      <p:sp>
        <p:nvSpPr>
          <p:cNvPr id="46" name="Text 44"/>
          <p:cNvSpPr/>
          <p:nvPr/>
        </p:nvSpPr>
        <p:spPr>
          <a:xfrm>
            <a:off x="2487168" y="3383280"/>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国家发展改革委</a:t>
            </a:r>
            <a:endParaRPr lang="en-US" sz="680" dirty="0"/>
          </a:p>
        </p:txBody>
      </p:sp>
      <p:sp>
        <p:nvSpPr>
          <p:cNvPr id="47" name="Text 45"/>
          <p:cNvSpPr/>
          <p:nvPr/>
        </p:nvSpPr>
        <p:spPr>
          <a:xfrm>
            <a:off x="6510528" y="3383280"/>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https://www.ndrc.gov.cn/</a:t>
            </a:r>
            <a:endParaRPr lang="en-US" sz="580" dirty="0"/>
          </a:p>
        </p:txBody>
      </p:sp>
      <p:sp>
        <p:nvSpPr>
          <p:cNvPr id="48" name="Shape 46"/>
          <p:cNvSpPr/>
          <p:nvPr/>
        </p:nvSpPr>
        <p:spPr>
          <a:xfrm>
            <a:off x="658368" y="3621024"/>
            <a:ext cx="10424160" cy="274320"/>
          </a:xfrm>
          <a:prstGeom prst="rect">
            <a:avLst/>
          </a:prstGeom>
          <a:solidFill>
            <a:srgbClr val="F4FAF6"/>
          </a:solidFill>
          <a:ln w="5080">
            <a:solidFill>
              <a:srgbClr val="DADADA"/>
            </a:solidFill>
            <a:prstDash val="solid"/>
          </a:ln>
        </p:spPr>
      </p:sp>
      <p:sp>
        <p:nvSpPr>
          <p:cNvPr id="49" name="Text 47"/>
          <p:cNvSpPr/>
          <p:nvPr/>
        </p:nvSpPr>
        <p:spPr>
          <a:xfrm>
            <a:off x="749808" y="3694176"/>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[19]</a:t>
            </a:r>
            <a:endParaRPr lang="en-US" sz="680" dirty="0"/>
          </a:p>
        </p:txBody>
      </p:sp>
      <p:sp>
        <p:nvSpPr>
          <p:cNvPr id="50" name="Text 48"/>
          <p:cNvSpPr/>
          <p:nvPr/>
        </p:nvSpPr>
        <p:spPr>
          <a:xfrm>
            <a:off x="1261872" y="3694176"/>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中华人民共和国中央人民政府</a:t>
            </a:r>
            <a:endParaRPr lang="en-US" sz="680" dirty="0"/>
          </a:p>
        </p:txBody>
      </p:sp>
      <p:sp>
        <p:nvSpPr>
          <p:cNvPr id="51" name="Text 49"/>
          <p:cNvSpPr/>
          <p:nvPr/>
        </p:nvSpPr>
        <p:spPr>
          <a:xfrm>
            <a:off x="2487168" y="3694176"/>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中华人民共和国中央人民政府</a:t>
            </a:r>
            <a:endParaRPr lang="en-US" sz="680" dirty="0"/>
          </a:p>
        </p:txBody>
      </p:sp>
      <p:sp>
        <p:nvSpPr>
          <p:cNvPr id="52" name="Text 50"/>
          <p:cNvSpPr/>
          <p:nvPr/>
        </p:nvSpPr>
        <p:spPr>
          <a:xfrm>
            <a:off x="6510528" y="3694176"/>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https://www.gov.cn/</a:t>
            </a:r>
            <a:endParaRPr lang="en-US" sz="580" dirty="0"/>
          </a:p>
        </p:txBody>
      </p:sp>
      <p:sp>
        <p:nvSpPr>
          <p:cNvPr id="53" name="Shape 51"/>
          <p:cNvSpPr/>
          <p:nvPr/>
        </p:nvSpPr>
        <p:spPr>
          <a:xfrm>
            <a:off x="658368" y="3931920"/>
            <a:ext cx="10424160" cy="274320"/>
          </a:xfrm>
          <a:prstGeom prst="rect">
            <a:avLst/>
          </a:prstGeom>
          <a:solidFill>
            <a:srgbClr val="FFFFFF"/>
          </a:solidFill>
          <a:ln w="5080">
            <a:solidFill>
              <a:srgbClr val="DADADA"/>
            </a:solidFill>
            <a:prstDash val="solid"/>
          </a:ln>
        </p:spPr>
      </p:sp>
      <p:sp>
        <p:nvSpPr>
          <p:cNvPr id="54" name="Text 52"/>
          <p:cNvSpPr/>
          <p:nvPr/>
        </p:nvSpPr>
        <p:spPr>
          <a:xfrm>
            <a:off x="749808" y="4005072"/>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[20]</a:t>
            </a:r>
            <a:endParaRPr lang="en-US" sz="680" dirty="0"/>
          </a:p>
        </p:txBody>
      </p:sp>
      <p:sp>
        <p:nvSpPr>
          <p:cNvPr id="55" name="Text 53"/>
          <p:cNvSpPr/>
          <p:nvPr/>
        </p:nvSpPr>
        <p:spPr>
          <a:xfrm>
            <a:off x="1261872" y="4005072"/>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生态环境部</a:t>
            </a:r>
            <a:endParaRPr lang="en-US" sz="680" dirty="0"/>
          </a:p>
        </p:txBody>
      </p:sp>
      <p:sp>
        <p:nvSpPr>
          <p:cNvPr id="56" name="Text 54"/>
          <p:cNvSpPr/>
          <p:nvPr/>
        </p:nvSpPr>
        <p:spPr>
          <a:xfrm>
            <a:off x="2487168" y="4005072"/>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生态环境部</a:t>
            </a:r>
            <a:endParaRPr lang="en-US" sz="680" dirty="0"/>
          </a:p>
        </p:txBody>
      </p:sp>
      <p:sp>
        <p:nvSpPr>
          <p:cNvPr id="57" name="Text 55"/>
          <p:cNvSpPr/>
          <p:nvPr/>
        </p:nvSpPr>
        <p:spPr>
          <a:xfrm>
            <a:off x="6510528" y="4005072"/>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https://www.mee.gov.cn/</a:t>
            </a:r>
            <a:endParaRPr lang="en-US" sz="580" dirty="0"/>
          </a:p>
        </p:txBody>
      </p:sp>
      <p:sp>
        <p:nvSpPr>
          <p:cNvPr id="58" name="Shape 56"/>
          <p:cNvSpPr/>
          <p:nvPr/>
        </p:nvSpPr>
        <p:spPr>
          <a:xfrm>
            <a:off x="658368" y="4242816"/>
            <a:ext cx="10424160" cy="274320"/>
          </a:xfrm>
          <a:prstGeom prst="rect">
            <a:avLst/>
          </a:prstGeom>
          <a:solidFill>
            <a:srgbClr val="F4FAF6"/>
          </a:solidFill>
          <a:ln w="5080">
            <a:solidFill>
              <a:srgbClr val="DADADA"/>
            </a:solidFill>
            <a:prstDash val="solid"/>
          </a:ln>
        </p:spPr>
      </p:sp>
      <p:sp>
        <p:nvSpPr>
          <p:cNvPr id="59" name="Text 57"/>
          <p:cNvSpPr/>
          <p:nvPr/>
        </p:nvSpPr>
        <p:spPr>
          <a:xfrm>
            <a:off x="749808" y="4315968"/>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[21]</a:t>
            </a:r>
            <a:endParaRPr lang="en-US" sz="680" dirty="0"/>
          </a:p>
        </p:txBody>
      </p:sp>
      <p:sp>
        <p:nvSpPr>
          <p:cNvPr id="60" name="Text 58"/>
          <p:cNvSpPr/>
          <p:nvPr/>
        </p:nvSpPr>
        <p:spPr>
          <a:xfrm>
            <a:off x="1261872" y="4315968"/>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万润新能源</a:t>
            </a:r>
            <a:endParaRPr lang="en-US" sz="680" dirty="0"/>
          </a:p>
        </p:txBody>
      </p:sp>
      <p:sp>
        <p:nvSpPr>
          <p:cNvPr id="61" name="Text 59"/>
          <p:cNvSpPr/>
          <p:nvPr/>
        </p:nvSpPr>
        <p:spPr>
          <a:xfrm>
            <a:off x="2487168" y="4315968"/>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磷酸铁锂-湖北万润新能源科技股份有限公司_动力电池材料_消费电池材料_</a:t>
            </a:r>
            <a:endParaRPr lang="en-US" sz="680" dirty="0"/>
          </a:p>
        </p:txBody>
      </p:sp>
      <p:sp>
        <p:nvSpPr>
          <p:cNvPr id="62" name="Text 60"/>
          <p:cNvSpPr/>
          <p:nvPr/>
        </p:nvSpPr>
        <p:spPr>
          <a:xfrm>
            <a:off x="6510528" y="4315968"/>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https://www.hbwanrun.com/application_details/1.html</a:t>
            </a:r>
            <a:endParaRPr lang="en-US" sz="580" dirty="0"/>
          </a:p>
        </p:txBody>
      </p:sp>
      <p:sp>
        <p:nvSpPr>
          <p:cNvPr id="63" name="Shape 61"/>
          <p:cNvSpPr/>
          <p:nvPr/>
        </p:nvSpPr>
        <p:spPr>
          <a:xfrm>
            <a:off x="658368" y="4553712"/>
            <a:ext cx="10424160" cy="274320"/>
          </a:xfrm>
          <a:prstGeom prst="rect">
            <a:avLst/>
          </a:prstGeom>
          <a:solidFill>
            <a:srgbClr val="FFFFFF"/>
          </a:solidFill>
          <a:ln w="5080">
            <a:solidFill>
              <a:srgbClr val="DADADA"/>
            </a:solidFill>
            <a:prstDash val="solid"/>
          </a:ln>
        </p:spPr>
      </p:sp>
      <p:sp>
        <p:nvSpPr>
          <p:cNvPr id="64" name="Text 62"/>
          <p:cNvSpPr/>
          <p:nvPr/>
        </p:nvSpPr>
        <p:spPr>
          <a:xfrm>
            <a:off x="749808" y="4626864"/>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[22]</a:t>
            </a:r>
            <a:endParaRPr lang="en-US" sz="680" dirty="0"/>
          </a:p>
        </p:txBody>
      </p:sp>
      <p:sp>
        <p:nvSpPr>
          <p:cNvPr id="65" name="Text 63"/>
          <p:cNvSpPr/>
          <p:nvPr/>
        </p:nvSpPr>
        <p:spPr>
          <a:xfrm>
            <a:off x="1261872" y="4626864"/>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湖南裕能</a:t>
            </a:r>
            <a:endParaRPr lang="en-US" sz="680" dirty="0"/>
          </a:p>
        </p:txBody>
      </p:sp>
      <p:sp>
        <p:nvSpPr>
          <p:cNvPr id="66" name="Text 64"/>
          <p:cNvSpPr/>
          <p:nvPr/>
        </p:nvSpPr>
        <p:spPr>
          <a:xfrm>
            <a:off x="2487168" y="4626864"/>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湖南裕能</a:t>
            </a:r>
            <a:endParaRPr lang="en-US" sz="680" dirty="0"/>
          </a:p>
        </p:txBody>
      </p:sp>
      <p:sp>
        <p:nvSpPr>
          <p:cNvPr id="67" name="Text 65"/>
          <p:cNvSpPr/>
          <p:nvPr/>
        </p:nvSpPr>
        <p:spPr>
          <a:xfrm>
            <a:off x="6510528" y="4626864"/>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https://www.yunengchem.com/</a:t>
            </a:r>
            <a:endParaRPr lang="en-US" sz="580" dirty="0"/>
          </a:p>
        </p:txBody>
      </p:sp>
      <p:sp>
        <p:nvSpPr>
          <p:cNvPr id="68" name="Shape 66"/>
          <p:cNvSpPr/>
          <p:nvPr/>
        </p:nvSpPr>
        <p:spPr>
          <a:xfrm>
            <a:off x="658368" y="4864608"/>
            <a:ext cx="10424160" cy="274320"/>
          </a:xfrm>
          <a:prstGeom prst="rect">
            <a:avLst/>
          </a:prstGeom>
          <a:solidFill>
            <a:srgbClr val="F4FAF6"/>
          </a:solidFill>
          <a:ln w="5080">
            <a:solidFill>
              <a:srgbClr val="DADADA"/>
            </a:solidFill>
            <a:prstDash val="solid"/>
          </a:ln>
        </p:spPr>
      </p:sp>
      <p:sp>
        <p:nvSpPr>
          <p:cNvPr id="69" name="Text 67"/>
          <p:cNvSpPr/>
          <p:nvPr/>
        </p:nvSpPr>
        <p:spPr>
          <a:xfrm>
            <a:off x="749808" y="4937760"/>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[23]</a:t>
            </a:r>
            <a:endParaRPr lang="en-US" sz="680" dirty="0"/>
          </a:p>
        </p:txBody>
      </p:sp>
      <p:sp>
        <p:nvSpPr>
          <p:cNvPr id="70" name="Text 68"/>
          <p:cNvSpPr/>
          <p:nvPr/>
        </p:nvSpPr>
        <p:spPr>
          <a:xfrm>
            <a:off x="1261872" y="4937760"/>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友山科技</a:t>
            </a:r>
            <a:endParaRPr lang="en-US" sz="680" dirty="0"/>
          </a:p>
        </p:txBody>
      </p:sp>
      <p:sp>
        <p:nvSpPr>
          <p:cNvPr id="71" name="Text 69"/>
          <p:cNvSpPr/>
          <p:nvPr/>
        </p:nvSpPr>
        <p:spPr>
          <a:xfrm>
            <a:off x="2487168" y="4937760"/>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友山科技</a:t>
            </a:r>
            <a:endParaRPr lang="en-US" sz="680" dirty="0"/>
          </a:p>
        </p:txBody>
      </p:sp>
      <p:sp>
        <p:nvSpPr>
          <p:cNvPr id="72" name="Text 70"/>
          <p:cNvSpPr/>
          <p:nvPr/>
        </p:nvSpPr>
        <p:spPr>
          <a:xfrm>
            <a:off x="6510528" y="4937760"/>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https://www.youshan-tech.com/</a:t>
            </a:r>
            <a:endParaRPr lang="en-US" sz="580" dirty="0"/>
          </a:p>
        </p:txBody>
      </p:sp>
      <p:sp>
        <p:nvSpPr>
          <p:cNvPr id="73" name="Shape 71"/>
          <p:cNvSpPr/>
          <p:nvPr/>
        </p:nvSpPr>
        <p:spPr>
          <a:xfrm>
            <a:off x="658368" y="5175504"/>
            <a:ext cx="10424160" cy="274320"/>
          </a:xfrm>
          <a:prstGeom prst="rect">
            <a:avLst/>
          </a:prstGeom>
          <a:solidFill>
            <a:srgbClr val="FFFFFF"/>
          </a:solidFill>
          <a:ln w="5080">
            <a:solidFill>
              <a:srgbClr val="DADADA"/>
            </a:solidFill>
            <a:prstDash val="solid"/>
          </a:ln>
        </p:spPr>
      </p:sp>
      <p:sp>
        <p:nvSpPr>
          <p:cNvPr id="74" name="Text 72"/>
          <p:cNvSpPr/>
          <p:nvPr/>
        </p:nvSpPr>
        <p:spPr>
          <a:xfrm>
            <a:off x="749808" y="5248656"/>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[24]</a:t>
            </a:r>
            <a:endParaRPr lang="en-US" sz="680" dirty="0"/>
          </a:p>
        </p:txBody>
      </p:sp>
      <p:sp>
        <p:nvSpPr>
          <p:cNvPr id="75" name="Text 73"/>
          <p:cNvSpPr/>
          <p:nvPr/>
        </p:nvSpPr>
        <p:spPr>
          <a:xfrm>
            <a:off x="1261872" y="5248656"/>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江西升华</a:t>
            </a:r>
            <a:endParaRPr lang="en-US" sz="680" dirty="0"/>
          </a:p>
        </p:txBody>
      </p:sp>
      <p:sp>
        <p:nvSpPr>
          <p:cNvPr id="76" name="Text 74"/>
          <p:cNvSpPr/>
          <p:nvPr/>
        </p:nvSpPr>
        <p:spPr>
          <a:xfrm>
            <a:off x="2487168" y="5248656"/>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江西升华</a:t>
            </a:r>
            <a:endParaRPr lang="en-US" sz="680" dirty="0"/>
          </a:p>
        </p:txBody>
      </p:sp>
      <p:sp>
        <p:nvSpPr>
          <p:cNvPr id="77" name="Text 75"/>
          <p:cNvSpPr/>
          <p:nvPr/>
        </p:nvSpPr>
        <p:spPr>
          <a:xfrm>
            <a:off x="6510528" y="5248656"/>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https://www.shenghuaxc.com/</a:t>
            </a:r>
            <a:endParaRPr lang="en-US" sz="580" dirty="0"/>
          </a:p>
        </p:txBody>
      </p:sp>
      <p:sp>
        <p:nvSpPr>
          <p:cNvPr id="78" name="Shape 76"/>
          <p:cNvSpPr/>
          <p:nvPr/>
        </p:nvSpPr>
        <p:spPr>
          <a:xfrm>
            <a:off x="658368" y="5779008"/>
            <a:ext cx="1463040" cy="292608"/>
          </a:xfrm>
          <a:prstGeom prst="rect">
            <a:avLst/>
          </a:prstGeom>
          <a:solidFill>
            <a:srgbClr val="121212"/>
          </a:solidFill>
          <a:ln w="12700">
            <a:solidFill>
              <a:srgbClr val="121212"/>
            </a:solidFill>
            <a:prstDash val="solid"/>
          </a:ln>
        </p:spPr>
      </p:sp>
      <p:sp>
        <p:nvSpPr>
          <p:cNvPr id="79" name="Text 77"/>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引用规则</a:t>
            </a:r>
            <a:endParaRPr lang="en-US" sz="780" dirty="0"/>
          </a:p>
        </p:txBody>
      </p:sp>
      <p:sp>
        <p:nvSpPr>
          <p:cNvPr id="80" name="Text 78"/>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正文引用编号与本页来源一一对应，未进入正文的公开来源保留在 JSON 审计记录中。</a:t>
            </a:r>
            <a:endParaRPr lang="en-US" sz="10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lifepo4_brief</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磷酸铁锂行业早报 2026-10-27</dc:title>
  <dc:subject>LFP daily briefing</dc:subject>
  <dc:creator>lifepo4_brief</dc:creator>
  <cp:lastModifiedBy>lifepo4_brief</cp:lastModifiedBy>
  <cp:revision>1</cp:revision>
  <dcterms:created xsi:type="dcterms:W3CDTF">2026-10-27T03:03:10Z</dcterms:created>
  <dcterms:modified xsi:type="dcterms:W3CDTF">2026-10-27T03:03:10Z</dcterms:modified>
</cp:coreProperties>
</file>