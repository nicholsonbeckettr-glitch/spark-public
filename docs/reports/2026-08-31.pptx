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聚焦于政策与产能扩张。锂电池9月起开征消费税，珠海企业称成本可控但将倒逼产业升级；中创新航、万华化学等企业继续加码磷酸铁锂材料项目，行业扩产热度不减。同时，动力电池回收与“车电一体”报废监管引发关注，宜宾动力电池产业步入新周期。整体看，行业在政策规范与产能扩张并行下，面临成本与合规双重考验。</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今日磷酸铁锂行业聚焦于政策与产能扩张。锂电池9月起开征消费税，珠海企业称成本可控但将倒逼产业升级；中创新航、万华化学等企业继续加码磷酸铁锂材料</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今日磷酸铁锂行业聚焦于政策与产能扩张。锂电池9月起开征消费税，珠海企业称成本可控但将倒逼产业升级；中创新航、万华化学等企业继续加码磷酸铁锂材料</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锂电池9月开征消费税，珠海企业表示成本可控但将倒逼升级；中创新航33.6亿元落地30万吨磷酸铁锂项目，万华化学等50亿元项目落户四川古蔺，行业扩产持续；动力电池回收监管趋严，</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钠离子电池被锂电大厂布局，可能改写行业格局；磷酸铁锂材料项目持续扩产，技术路线仍以磷酸铁锂为主流。消费税开征或推动技术升级，向高能量密度、低成本方向发展。</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[4][2]</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1316736"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中创新航33.6亿元30万吨磷酸铁锂项目落地，万华化学等50亿元项目落户四川古蔺，天合储能12GWh储能电池项目新增，行业扩产活跃。宜宾动力电池产业规模达千亿，步入新周期。</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[2][5]</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1316736"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锂电池9月开征消费税，珠海企业称成本可控但倒逼升级，显示成本压力可控但长期或影响盈利。行业扩产可能加剧价格竞争，压缩利润空间。</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今日磷酸铁锂行业聚焦于政策与产能扩张。锂电池9月起开征消费税，珠海企业称成本可控但将倒逼产业升级；中创新航、万华化学等企业继续加码磷酸铁锂材料</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锂电池9月开征消费税，珠海企业表示成本可控但将倒逼升级；中创新航33.6亿元落地30万吨磷酸铁锂项目，万华化学等50亿元项目落户四川古蔺，行业扩产持续；动力电池回收监管趋严，“车电一体”报废敲响警钟。政策与产能扩张并行，行业面临成本与合规双重压力。 [1][2][3]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消费税开征直接增加电池生产成本，但珠海企业表态成本可控，显示头部企业具备消化能力，可能加速行业洗牌。中创新航、万华化学等扩产项目表明市场对磷酸铁锂长期需求看好，但产能过剩风险隐现。动力电池回收监管加强，与“车电一体”报废问题关联，可能推动回收体系完善，影响电池全生命周期管理。宜宾产业新周期报道显示区域集群效应增强。需关注消费税实际征收细则及扩产项目投产进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消费税实施细则明确且征收范围扩大，则中小电池企业成本压力上升，可能加速行业整合；若扩产项目按期投产，则磷酸铁锂供应增加，价格竞争或加剧。跟踪指标：消费税征收细则、项目投产公告、电池价格走势。证据边界：当前信息仅基于企业表态和项目公告，实际影响需待政策落地后验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锂电池9月开征消费税，珠海</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中创新航33.6亿元落地3</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动力电池回收监管趋严，“车</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锂电池9月开征消费税，珠海</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若消费税实施细则明确且征收范围扩大，则中小电池企业成本压力上升，可能加速行业整合</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钠离子电池被锂电大厂布局，可能改写行业格局；磷酸铁锂材料项目持续扩产，技术路线仍以磷酸铁锂为主流。消费税开征或推动技术升级，向高能量密度、低成本方向发展。 [4][2]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钠离子电池的布局显示企业寻求多元化技术路线，以应对锂资源成本波动。磷酸铁锂扩产项目（如中创新航30万吨）表明其仍是主流选择。消费税可能促使企业优化工艺，降低单位成本。宜宾动力电池产业新周期报道提及技术迭代，但未具体说明。需关注钠离子电池商业化进展及磷酸铁锂技术改进。</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钠离子电池成本进一步下降，则可能对磷酸铁锂形成补充而非替代；若消费税推高成本，则企业可能加速固态电池等新技术研发。跟踪指标：钠电池量产成本、磷酸铁锂能量密度提升数据。证据边界：当前仅报道布局，无具体技术参数。</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钠离子电池被锂电大厂布局，</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磷酸铁锂材料项目持续扩产，</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消费税开征或推动技术升级，</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钠离子电池被锂电大厂布局，</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若钠离子电池成本进一步下降，则可能对磷酸铁锂形成补充而非替代</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中创新航33.6亿元30万吨磷酸铁锂项目落地，万华化学等50亿元项目落户四川古蔺，天合储能12GWh储能电池项目新增，行业扩产活跃。宜宾动力电池产业规模达千亿，步入新周期。 [2][5]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多个扩产项目显示行业对磷酸铁锂需求信心，但集中扩产可能导致产能过剩。中创新航项目规模大，可能增强其供应链优势。天合储能项目聚焦储能领域，反映储能需求增长。宜宾产业新周期报道显示区域集群效应，可能吸引更多投资。需关注项目投产时间及客户订单匹配情况。</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扩产项目集中投产，则磷酸铁锂供应量大幅增加，可能压低价格；若下游需求增速不及预期，则产能利用率下降。跟踪指标：项目投产进度、电池企业排产计划、储能招标量。证据边界：项目公告为计划，实际投产可能延迟。</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中创新航33.6亿元30万</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宜宾动力电池产业规模达千亿</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[2][5] 多个扩产项目</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中创新航33.6亿元30万</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若扩产项目集中投产，则磷酸铁锂供应量大幅增加，可能压低价格</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锂电池9月开征消费税，珠海企业称成本可控但倒逼升级，显示成本压力可控但长期或影响盈利。行业扩产可能加剧价格竞争，压缩利润空间。 [1][2]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消费税直接增加成本，但企业表态可控，可能通过提价或内部消化。扩产潮可能导致供应过剩，价格战风险上升。宜宾产业新周期报道未提及价格，但千亿规模显示盈利基础。需关注消费税税率及企业成本转嫁能力。</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消费税税率较高且无法转嫁，则企业毛利率下滑；若扩产导致供过于求，则产品价格下跌。跟踪指标：电池价格指数、企业毛利率报告、消费税实施细则。证据边界：当前仅一家企业表态，行业影响需更多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因果图</a:t>
            </a:r>
            <a:endParaRPr lang="en-US" sz="1200" dirty="0"/>
          </a:p>
        </p:txBody>
      </p:sp>
      <p:sp>
        <p:nvSpPr>
          <p:cNvPr id="24" name="Shape 22"/>
          <p:cNvSpPr/>
          <p:nvPr/>
        </p:nvSpPr>
        <p:spPr>
          <a:xfrm>
            <a:off x="7845552" y="3063240"/>
            <a:ext cx="2432304" cy="0"/>
          </a:xfrm>
          <a:prstGeom prst="line">
            <a:avLst/>
          </a:prstGeom>
          <a:noFill/>
          <a:ln w="15240">
            <a:solidFill>
              <a:srgbClr val="487052"/>
            </a:solidFill>
            <a:prstDash val="solid"/>
          </a:ln>
        </p:spPr>
      </p:sp>
      <p:sp>
        <p:nvSpPr>
          <p:cNvPr id="25" name="Shape 23"/>
          <p:cNvSpPr/>
          <p:nvPr/>
        </p:nvSpPr>
        <p:spPr>
          <a:xfrm>
            <a:off x="10012680" y="2889504"/>
            <a:ext cx="384048" cy="347472"/>
          </a:xfrm>
          <a:prstGeom prst="rightArrow">
            <a:avLst/>
          </a:prstGeom>
          <a:solidFill>
            <a:srgbClr val="487052"/>
          </a:solidFill>
          <a:ln w="12700">
            <a:solidFill>
              <a:srgbClr val="487052"/>
            </a:solidFill>
            <a:prstDash val="solid"/>
          </a:ln>
        </p:spPr>
      </p:sp>
      <p:sp>
        <p:nvSpPr>
          <p:cNvPr id="26" name="Text 24"/>
          <p:cNvSpPr/>
          <p:nvPr/>
        </p:nvSpPr>
        <p:spPr>
          <a:xfrm>
            <a:off x="9893808" y="3310128"/>
            <a:ext cx="475488" cy="146304"/>
          </a:xfrm>
          <a:prstGeom prst="rect">
            <a:avLst/>
          </a:prstGeom>
          <a:noFill/>
          <a:ln/>
        </p:spPr>
        <p:txBody>
          <a:bodyPr wrap="square" lIns="0" tIns="0" rIns="0" bIns="0" rtlCol="0" anchor="ct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影响</a:t>
            </a:r>
            <a:endParaRPr lang="en-US" sz="740" dirty="0"/>
          </a:p>
        </p:txBody>
      </p:sp>
      <p:sp>
        <p:nvSpPr>
          <p:cNvPr id="27" name="Shape 25"/>
          <p:cNvSpPr/>
          <p:nvPr/>
        </p:nvSpPr>
        <p:spPr>
          <a:xfrm>
            <a:off x="8028432" y="2359152"/>
            <a:ext cx="402336" cy="704088"/>
          </a:xfrm>
          <a:prstGeom prst="line">
            <a:avLst/>
          </a:prstGeom>
          <a:noFill/>
          <a:ln w="11430">
            <a:solidFill>
              <a:srgbClr val="7F9D84"/>
            </a:solidFill>
            <a:prstDash val="solid"/>
          </a:ln>
        </p:spPr>
      </p:sp>
      <p:sp>
        <p:nvSpPr>
          <p:cNvPr id="28" name="Shape 26"/>
          <p:cNvSpPr/>
          <p:nvPr/>
        </p:nvSpPr>
        <p:spPr>
          <a:xfrm>
            <a:off x="7882128" y="2249424"/>
            <a:ext cx="786384" cy="310896"/>
          </a:xfrm>
          <a:prstGeom prst="roundRect">
            <a:avLst>
              <a:gd name="adj" fmla="val 11765"/>
            </a:avLst>
          </a:prstGeom>
          <a:solidFill>
            <a:srgbClr val="F4FAF6"/>
          </a:solidFill>
          <a:ln w="7620">
            <a:solidFill>
              <a:srgbClr val="DADADA"/>
            </a:solidFill>
            <a:prstDash val="solid"/>
          </a:ln>
        </p:spPr>
      </p:sp>
      <p:sp>
        <p:nvSpPr>
          <p:cNvPr id="29" name="Text 27"/>
          <p:cNvSpPr/>
          <p:nvPr/>
        </p:nvSpPr>
        <p:spPr>
          <a:xfrm>
            <a:off x="7973568"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价格</a:t>
            </a:r>
            <a:endParaRPr lang="en-US" sz="680" dirty="0"/>
          </a:p>
        </p:txBody>
      </p:sp>
      <p:sp>
        <p:nvSpPr>
          <p:cNvPr id="30" name="Text 28"/>
          <p:cNvSpPr/>
          <p:nvPr/>
        </p:nvSpPr>
        <p:spPr>
          <a:xfrm>
            <a:off x="7863840"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锂电池9月开征消费</a:t>
            </a:r>
            <a:endParaRPr lang="en-US" sz="640" dirty="0"/>
          </a:p>
        </p:txBody>
      </p:sp>
      <p:sp>
        <p:nvSpPr>
          <p:cNvPr id="31" name="Shape 29"/>
          <p:cNvSpPr/>
          <p:nvPr/>
        </p:nvSpPr>
        <p:spPr>
          <a:xfrm>
            <a:off x="8686800" y="3063240"/>
            <a:ext cx="402336" cy="685800"/>
          </a:xfrm>
          <a:prstGeom prst="line">
            <a:avLst/>
          </a:prstGeom>
          <a:noFill/>
          <a:ln w="11430">
            <a:solidFill>
              <a:srgbClr val="7F9D84"/>
            </a:solidFill>
            <a:prstDash val="solid"/>
          </a:ln>
        </p:spPr>
      </p:sp>
      <p:sp>
        <p:nvSpPr>
          <p:cNvPr id="32" name="Shape 30"/>
          <p:cNvSpPr/>
          <p:nvPr/>
        </p:nvSpPr>
        <p:spPr>
          <a:xfrm>
            <a:off x="8540496" y="3639312"/>
            <a:ext cx="786384" cy="310896"/>
          </a:xfrm>
          <a:prstGeom prst="roundRect">
            <a:avLst>
              <a:gd name="adj" fmla="val 11765"/>
            </a:avLst>
          </a:prstGeom>
          <a:solidFill>
            <a:srgbClr val="F4FAF6"/>
          </a:solidFill>
          <a:ln w="7620">
            <a:solidFill>
              <a:srgbClr val="DADADA"/>
            </a:solidFill>
            <a:prstDash val="solid"/>
          </a:ln>
        </p:spPr>
      </p:sp>
      <p:sp>
        <p:nvSpPr>
          <p:cNvPr id="33" name="Text 31"/>
          <p:cNvSpPr/>
          <p:nvPr/>
        </p:nvSpPr>
        <p:spPr>
          <a:xfrm>
            <a:off x="8631936" y="3739896"/>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成本</a:t>
            </a:r>
            <a:endParaRPr lang="en-US" sz="680" dirty="0"/>
          </a:p>
        </p:txBody>
      </p:sp>
      <p:sp>
        <p:nvSpPr>
          <p:cNvPr id="34" name="Text 32"/>
          <p:cNvSpPr/>
          <p:nvPr/>
        </p:nvSpPr>
        <p:spPr>
          <a:xfrm>
            <a:off x="8522208" y="4005072"/>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行业扩产可能加剧价</a:t>
            </a:r>
            <a:endParaRPr lang="en-US" sz="640" dirty="0"/>
          </a:p>
        </p:txBody>
      </p:sp>
      <p:sp>
        <p:nvSpPr>
          <p:cNvPr id="35" name="Shape 33"/>
          <p:cNvSpPr/>
          <p:nvPr/>
        </p:nvSpPr>
        <p:spPr>
          <a:xfrm>
            <a:off x="9345168" y="2359152"/>
            <a:ext cx="402336" cy="704088"/>
          </a:xfrm>
          <a:prstGeom prst="line">
            <a:avLst/>
          </a:prstGeom>
          <a:noFill/>
          <a:ln w="11430">
            <a:solidFill>
              <a:srgbClr val="7F9D84"/>
            </a:solidFill>
            <a:prstDash val="solid"/>
          </a:ln>
        </p:spPr>
      </p:sp>
      <p:sp>
        <p:nvSpPr>
          <p:cNvPr id="36" name="Shape 34"/>
          <p:cNvSpPr/>
          <p:nvPr/>
        </p:nvSpPr>
        <p:spPr>
          <a:xfrm>
            <a:off x="9198864" y="2249424"/>
            <a:ext cx="786384" cy="310896"/>
          </a:xfrm>
          <a:prstGeom prst="roundRect">
            <a:avLst>
              <a:gd name="adj" fmla="val 11765"/>
            </a:avLst>
          </a:prstGeom>
          <a:solidFill>
            <a:srgbClr val="F4FAF6"/>
          </a:solidFill>
          <a:ln w="7620">
            <a:solidFill>
              <a:srgbClr val="DADADA"/>
            </a:solidFill>
            <a:prstDash val="solid"/>
          </a:ln>
        </p:spPr>
      </p:sp>
      <p:sp>
        <p:nvSpPr>
          <p:cNvPr id="37" name="Text 35"/>
          <p:cNvSpPr/>
          <p:nvPr/>
        </p:nvSpPr>
        <p:spPr>
          <a:xfrm>
            <a:off x="9290304"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利润</a:t>
            </a:r>
            <a:endParaRPr lang="en-US" sz="680" dirty="0"/>
          </a:p>
        </p:txBody>
      </p:sp>
      <p:sp>
        <p:nvSpPr>
          <p:cNvPr id="38" name="Text 36"/>
          <p:cNvSpPr/>
          <p:nvPr/>
        </p:nvSpPr>
        <p:spPr>
          <a:xfrm>
            <a:off x="9180576"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[1][2] 消费</a:t>
            </a:r>
            <a:endParaRPr lang="en-US" sz="640" dirty="0"/>
          </a:p>
        </p:txBody>
      </p:sp>
      <p:sp>
        <p:nvSpPr>
          <p:cNvPr id="39" name="Text 37"/>
          <p:cNvSpPr/>
          <p:nvPr/>
        </p:nvSpPr>
        <p:spPr>
          <a:xfrm>
            <a:off x="7726680" y="4517136"/>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参考鱼骨图逻辑，只表达来源文本中的原因和影响。</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若消费税税率较高且无法转嫁，则企业毛利率下滑</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锂电池开征消费税是重要政策变化；动力电池回收监管加强，“车电一体”报废敲响警钟；锂离子电池行业规范可能更新。政策环境趋严，合规成本上升。 [1][3][6]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依据：[1][3][6]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消费税政策直接增加成本，回收监管加强要求企业完善回收体系。“车电一体”报废问题涉及安全与环保，可能推动新规出台。行业规范更新可能提高准入门槛。宜宾产业新周期报道未涉及政策，但区域发展需符合国家政策。需关注政策细则及执行力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若消费税征收范围扩大，则行业成本普遍上升；若回收监管细则落地，则企业需增加回收投入。跟踪指标：政策文件发布、企业合规公告。证据边界：当前信息为报道，具体条款未明确。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锂电池开征消费税是重要政策变化</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动力电池回收监管加强，“车电一体”</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锂离子电池行业规范可能更新</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若消费税征收范围扩大，则行业成本普遍上升</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中创新航、万华化学等企业扩产磷酸铁锂，天合储能布局储能电池，钠离子电池企业也在布局，竞争格局多元化。宜宾产业集聚可能增强区域竞争力。 [2][5][4]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依据：[2][5][4]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中创新航和万华化学扩产显示其看好磷酸铁锂市场，可能抢占份额。天合储能聚焦储能，差异化竞争。钠离子电池布局可能形成技术竞争。宜宾千亿产业规模显示集群优势，可能吸引更多企业。需关注各企业产能释放及市场份额变化。</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若中创新航项目快速投产，则其成本优势增强，可能挤压中小厂商；若钠电池商业化加速，则可能分流部分需求。跟踪指标：各企业产能利用率、市场份额数据。证据边界：项目尚在建设，竞争影响需时间显现。</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中创新航、万华化学等企业扩</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宜宾产业集聚可能增强区域竞</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[2][5][4] 中创新</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中创新航、万华化学等企业扩</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若中创新航项目快速投产，则其成本优势增强，可能挤压中小厂商</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DYNAMIC SIGNALS</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1143000" y="932688"/>
            <a:ext cx="256032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重点板块</a:t>
            </a:r>
            <a:endParaRPr lang="en-US" sz="2000" dirty="0"/>
          </a:p>
        </p:txBody>
      </p:sp>
      <p:sp>
        <p:nvSpPr>
          <p:cNvPr id="10" name="Shape 8"/>
          <p:cNvSpPr/>
          <p:nvPr/>
        </p:nvSpPr>
        <p:spPr>
          <a:xfrm>
            <a:off x="658368" y="1371600"/>
            <a:ext cx="10881360" cy="1225296"/>
          </a:xfrm>
          <a:prstGeom prst="roundRect">
            <a:avLst>
              <a:gd name="adj" fmla="val 5970"/>
            </a:avLst>
          </a:prstGeom>
          <a:solidFill>
            <a:srgbClr val="F4FAF6"/>
          </a:solidFill>
          <a:ln w="10160">
            <a:solidFill>
              <a:srgbClr val="DADADA"/>
            </a:solidFill>
            <a:prstDash val="solid"/>
          </a:ln>
        </p:spPr>
      </p:sp>
      <p:sp>
        <p:nvSpPr>
          <p:cNvPr id="11" name="Text 9"/>
          <p:cNvSpPr/>
          <p:nvPr/>
        </p:nvSpPr>
        <p:spPr>
          <a:xfrm>
            <a:off x="932688" y="1536192"/>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风险/机会/观察</a:t>
            </a:r>
            <a:endParaRPr lang="en-US" sz="1250" dirty="0"/>
          </a:p>
        </p:txBody>
      </p:sp>
      <p:sp>
        <p:nvSpPr>
          <p:cNvPr id="12" name="Text 10"/>
          <p:cNvSpPr/>
          <p:nvPr/>
        </p:nvSpPr>
        <p:spPr>
          <a:xfrm>
            <a:off x="2788920" y="1536192"/>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事实判断：风险：消费税增加成本、产能过剩、回收监管趋严；机会：储能需求增长、技术升级、回收产业出海；观察：消费税细则、扩产进度、钠电池进展。 [1][7][8] 影响分析：消费税和扩产是主要风险，可能压缩利润。储能需求增长和回收出海是机会，如锂电池循环产业链接全球。宜宾产业新周期显示区域机会。需持续观察政策落地和项目进展。 后续研判：若消费税细则明确且税率合理，则行业成本可控；若回收政策支持出海，则企业可拓展海外市场。跟踪指标：政策文件、出口数据。证据边界：当前信息为初步报道，需进一步验证。</a:t>
            </a:r>
            <a:endParaRPr lang="en-US" sz="910" dirty="0"/>
          </a:p>
        </p:txBody>
      </p:sp>
      <p:sp>
        <p:nvSpPr>
          <p:cNvPr id="13" name="Text 11"/>
          <p:cNvSpPr/>
          <p:nvPr/>
        </p:nvSpPr>
        <p:spPr>
          <a:xfrm>
            <a:off x="2788920" y="2322576"/>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依据：[1][7][8]</a:t>
            </a:r>
            <a:endParaRPr lang="en-US" sz="740" dirty="0"/>
          </a:p>
        </p:txBody>
      </p:sp>
      <p:sp>
        <p:nvSpPr>
          <p:cNvPr id="14" name="Shape 12"/>
          <p:cNvSpPr/>
          <p:nvPr/>
        </p:nvSpPr>
        <p:spPr>
          <a:xfrm>
            <a:off x="658368" y="5779008"/>
            <a:ext cx="1463040" cy="292608"/>
          </a:xfrm>
          <a:prstGeom prst="rect">
            <a:avLst/>
          </a:prstGeom>
          <a:solidFill>
            <a:srgbClr val="121212"/>
          </a:solidFill>
          <a:ln w="12700">
            <a:solidFill>
              <a:srgbClr val="121212"/>
            </a:solidFill>
            <a:prstDash val="solid"/>
          </a:ln>
        </p:spPr>
      </p:sp>
      <p:sp>
        <p:nvSpPr>
          <p:cNvPr id="15" name="Text 1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页面结论</a:t>
            </a:r>
            <a:endParaRPr lang="en-US" sz="780" dirty="0"/>
          </a:p>
        </p:txBody>
      </p:sp>
      <p:sp>
        <p:nvSpPr>
          <p:cNvPr id="16" name="Text 1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风险/机会/观察是本页重点观察方向，仍需后续公告与经营数据交叉验证。</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锂电池9月开征消费税，珠海企业：成本可控，倒逼升级</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https://pub-zhtb.hizh.cn/a/202608/30/AP6a9411b9e4b0da5acdbcdfa1.html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33.6亿元！中创新航落地30万吨磷酸铁锂材料项目 - 新浪财经</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https://news.google.com/rss/articles/CBMieEFVX3lxTE1RMDJ2Rzg0eVNsMHNzb0FTV2NNTU0wS0lDc0ExWGdvYzRLQnF1eFFySjdHeG5vbUZmZEJael9iSW9Bc29LaTJZWi03MDNZT0FNZlVQUlo5MURuaUFYVHJHOUk2NUtqcWVCNFRESDNSMlBtUHRsYXVmZw?oc=5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“车电一体”报废敲响监管警钟</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https://k.sina.com.cn/article_7517400647_1c0126e47059095a5g.html?from=news</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锂电大厂疯狂布局！钠离子电池全科普，能否改写行业格局？</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https://chejiahao.m.autohome.com.cn/info/25106472</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年产12GWh！天合储能于江苏盐城新增储能电池项目 - 碳索储能网</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https://news.google.com/rss/articles/CBMiYEFVX3lxTFAwMVB0M1lrS181ZGhGRmhHXzFsZEk5RFV0dWNtMmVhVlZXSjJOby0yV3BSUV9kUkl3d3RHdm9NMGtnQTR4b2d6S3BhSGotMEdwRXRMU21mSlpyRDRPTHk3ZQ?oc=5</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中国已有近5000万辆新能源汽车，用过的电池会去哪儿？</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https://k.sina.com.cn/article_5705191799_1540e517702002cgiy.html?from=science</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活力中国调研行丨从设备供应到方案出海 锂电池循环产业链接全球</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https://news.iqilu.com/shandong/yuanchuang/2026/0830/5940121.shtml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千亿产业规模之后，宜宾动力电池产业步入新周期 - 搜狐网</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https://news.google.com/rss/articles/CBMiiAFBVV95cUxQVFZlY3VUT0NvU2ZteXhfemp6T3JDVk54SnkzdVZYQ1hIaDJPSU5QNksxWERiTVVmMVlMeUFCNEF5eTJ2NWF5M0s4cl9pakxQeG9NaWN4eEJXaklkbUJFVDRYekNJMlEwaUJZTl9nRzBYTE5KY3c3dlpKV0dSMHg1c0xiNUFMUVJ2?oc=5</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关于公开征求全国动力电池回收利用标准化技术委员会组建委员名单意见的公示</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https://www.miit.gov.cn/gzcy/yjzj/art/2026/art_e9c023758a2d4dd5aa00fee95a653b90.html</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关于公开征求《锂离子电池正极材料前驱体单位产品能源消耗限额》等15项行</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https://www.miit.gov.cn/zwgk/wjgs/art/2026/art_7ac0ab73c8a84530ab8fdda120d4a005.html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万润新能源</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磷酸铁锂-湖北万润新能源科技股份有限公司_动力电池材料_消费电池材料_</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https://www.hbwanrun.com/application_details/1.html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湖南裕能</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湖南裕能</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https://www.yunengchem.com/</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友山科技</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友山科技</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https://www.youshan-tech.com/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2026-08-31</dc:title>
  <dc:subject>LFP daily briefing</dc:subject>
  <dc:creator>lifepo4_brief</dc:creator>
  <cp:lastModifiedBy>lifepo4_brief</cp:lastModifiedBy>
  <cp:revision>1</cp:revision>
  <dcterms:created xsi:type="dcterms:W3CDTF">2026-08-31T02:32:30Z</dcterms:created>
  <dcterms:modified xsi:type="dcterms:W3CDTF">2026-08-31T02:32:30Z</dcterms:modified>
</cp:coreProperties>
</file>