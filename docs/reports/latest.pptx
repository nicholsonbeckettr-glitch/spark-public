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LFP DAILY 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0080" y="1051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LFP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" y="148132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21762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从公开事件到产业判断的每日工程化筛选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2761488"/>
            <a:ext cx="5715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磷酸铁锂行业信号密集：湖南裕能20万吨纳米磷酸铁锂项目落地，龙蟠科技锁定最高56.78万吨长协，供给端与需求端同步扩张；碳酸锂价格暴跌近90%导致回收行业洗牌，成本端压力与盈利分化加剧；欧盟要求中国自限插混出口，叠加国内19项新质生产力举措，政策博弈升温。整体看，产能扩张与长协锁定并行，但价格下行和贸易壁垒可能压制盈利，需关注项目投产节奏与政策落地细节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0" y="960120"/>
            <a:ext cx="3886200" cy="4526280"/>
          </a:xfrm>
          <a:prstGeom prst="rect">
            <a:avLst/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07808" y="1188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今日逻辑主线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82128" y="1755648"/>
            <a:ext cx="0" cy="3090672"/>
          </a:xfrm>
          <a:prstGeom prst="line">
            <a:avLst/>
          </a:prstGeom>
          <a:noFill/>
          <a:ln w="15240">
            <a:solidFill>
              <a:srgbClr val="7F9D8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90688" y="1700784"/>
            <a:ext cx="182880" cy="182880"/>
          </a:xfrm>
          <a:prstGeom prst="ellipse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83880" y="1627632"/>
            <a:ext cx="2514600" cy="365760"/>
          </a:xfrm>
          <a:prstGeom prst="rect">
            <a:avLst/>
          </a:prstGeom>
          <a:solidFill>
            <a:srgbClr val="DDEBE0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709928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技术突破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790688" y="2267712"/>
            <a:ext cx="182880" cy="182880"/>
          </a:xfrm>
          <a:prstGeom prst="ellipse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3880" y="2194560"/>
            <a:ext cx="2514600" cy="365760"/>
          </a:xfrm>
          <a:prstGeom prst="rect">
            <a:avLst/>
          </a:prstGeom>
          <a:solidFill>
            <a:srgbClr val="DDEBE0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2276856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产能变化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7790688" y="2834640"/>
            <a:ext cx="182880" cy="182880"/>
          </a:xfrm>
          <a:prstGeom prst="ellipse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3880" y="2761488"/>
            <a:ext cx="2514600" cy="365760"/>
          </a:xfrm>
          <a:prstGeom prst="rect">
            <a:avLst/>
          </a:prstGeom>
          <a:solidFill>
            <a:srgbClr val="DDEBE0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2843784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政策合规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790688" y="340156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3328416"/>
            <a:ext cx="2514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1040" y="341071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企业信号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7790688" y="3968496"/>
            <a:ext cx="182880" cy="182880"/>
          </a:xfrm>
          <a:prstGeom prst="ellipse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83880" y="3895344"/>
            <a:ext cx="2514600" cy="365760"/>
          </a:xfrm>
          <a:prstGeom prst="rect">
            <a:avLst/>
          </a:prstGeom>
          <a:solidFill>
            <a:srgbClr val="DDEBE0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97764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风险机会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7790688" y="4535424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83880" y="4462272"/>
            <a:ext cx="2514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4544568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来源索引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今日磷酸铁锂行业信号密集：湖南裕能20万吨纳米磷酸铁锂项目落地，龙蟠科技锁定最高56.78万吨长协，供给端与需求端同步扩张；碳酸锂价格暴跌近9</a:t>
            </a:r>
            <a:endParaRPr lang="en-US" sz="10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58368" y="9326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今日总览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880360" y="9966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今日磷酸铁锂行业信号密集：湖南裕能20万吨纳米磷酸铁锂项目落地，龙蟠科技锁定最高56.78万吨长协，供给端与需求端同步扩张；碳酸锂价格暴跌近9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5074920" cy="1737360"/>
          </a:xfrm>
          <a:prstGeom prst="rect">
            <a:avLst/>
          </a:prstGeom>
          <a:solidFill>
            <a:srgbClr val="F4FAF6"/>
          </a:solidFill>
          <a:ln w="8890">
            <a:solidFill>
              <a:srgbClr val="DADA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444752"/>
            <a:ext cx="384048" cy="173736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1627632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88720" y="1609344"/>
            <a:ext cx="4233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今日结论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1188720" y="1883664"/>
            <a:ext cx="2194560" cy="54864"/>
          </a:xfrm>
          <a:prstGeom prst="rect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2029968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湖南裕能加码20万吨纳米磷酸铁锂项目，龙蟠科技锁定最高56.78万吨长协，供给与需求同步扩张；碳酸锂价格暴跌近90%致回收行业洗牌，成本端压力凸显；欧盟要求中国自限插混出口，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1188720" y="2862072"/>
            <a:ext cx="4233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[1][2][3][4]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236208" y="1444752"/>
            <a:ext cx="5074920" cy="1737360"/>
          </a:xfrm>
          <a:prstGeom prst="rect">
            <a:avLst/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36208" y="1444752"/>
            <a:ext cx="384048" cy="173736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64224" y="1627632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766560" y="1609344"/>
            <a:ext cx="4233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技术/产品路线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766560" y="1883664"/>
            <a:ext cx="1316736" cy="54864"/>
          </a:xfrm>
          <a:prstGeom prst="rect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2029968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湖南裕能投资20亿元加码20万吨纳米磷酸铁锂项目，指向纳米化技术路线受重视；吉利开卖电芯，可能推动磷酸铁锂在车企自供体系中的渗透。纳米磷酸铁锂可提升能量密度和倍率性能，但成本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6766560" y="2862072"/>
            <a:ext cx="4233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[1][5]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58368" y="3566160"/>
            <a:ext cx="5074920" cy="1737360"/>
          </a:xfrm>
          <a:prstGeom prst="rect">
            <a:avLst/>
          </a:prstGeom>
          <a:solidFill>
            <a:srgbClr val="F4FAF6"/>
          </a:solidFill>
          <a:ln w="8890">
            <a:solidFill>
              <a:srgbClr val="DADA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3566160"/>
            <a:ext cx="384048" cy="173736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3749040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88720" y="3730752"/>
            <a:ext cx="4233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产能/客户/订单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1188720" y="4005072"/>
            <a:ext cx="2194560" cy="54864"/>
          </a:xfrm>
          <a:prstGeom prst="rect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88720" y="4151376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龙蟠科技锁定最高56.78万吨磷酸铁锂供货长协，湖南裕能20万吨项目落地，产能与订单同步扩张；华盛锂电差异化权益分派法律意见书发布，资本运作活跃。长协锁定反映下游对供应稳定的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1188720" y="4983480"/>
            <a:ext cx="4233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[2][1][6]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236208" y="3566160"/>
            <a:ext cx="5074920" cy="1737360"/>
          </a:xfrm>
          <a:prstGeom prst="rect">
            <a:avLst/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36208" y="3566160"/>
            <a:ext cx="384048" cy="173736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64224" y="3749040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766560" y="3730752"/>
            <a:ext cx="4233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价格/盈利压力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766560" y="4005072"/>
            <a:ext cx="1316736" cy="54864"/>
          </a:xfrm>
          <a:prstGeom prst="rect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0" y="4151376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碳酸锂价格暴跌近90%，动力电池回收行业进入洗牌深水区；电池板块跌幅居前，反映价格下行压力。成本端坍塌削弱磷酸铁锂价格支撑，回收企业退出可能加速，但上游材料企业盈利分化。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6766560" y="4983480"/>
            <a:ext cx="4233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[3][7]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总览结论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今日磷酸铁锂行业信号密集：湖南裕能20万吨纳米磷酸铁锂项目落地，龙蟠科技锁定最高56.78万吨长协，供给端与需求端同步扩张；碳酸锂价格暴跌近9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DEEP DIVE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58368" y="9144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今日结论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条公开来源交叉验证｜事实、影响与后续研判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6642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事实判断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2487168" y="1645920"/>
            <a:ext cx="4315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加码20万吨纳米磷酸铁锂项目，龙蟠科技锁定最高56.78万吨长协，供给与需求同步扩张；碳酸锂价格暴跌近90%致回收行业洗牌，成本端压力凸显；欧盟要求中国自限插混出口，贸易政策风险升温。行业呈现产能扩张与价格下行并存格局，企业盈利分化可能加剧。 [1][2][3][4]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487168" y="2432304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依据：[1][2][3][4]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58368" y="290779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1272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影响分析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487168" y="310896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扩产与龙蟠科技长协反映磷酸铁锂需求预期仍强，但碳酸锂价格暴跌近90%削弱成本支撑，回收行业洗牌可能向上游传导；欧盟自限出口要求若落地，将影响插混车型对磷酸铁锂的需求。需验证：新项目投产时间、长协实际执行量、欧盟政策具体条款。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58368" y="437083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DDEBE0"/>
          </a:solidFill>
          <a:ln w="13970">
            <a:solidFill>
              <a:srgbClr val="1212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370832"/>
            <a:ext cx="109728" cy="12070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5902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后续研判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2487168" y="457200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碳酸锂价格持续低位，则磷酸铁锂成本支撑进一步弱化，回收企业退出可能加速，行业集中度提升；若欧盟自限出口政策落地，则插混出口受限可能拖累磷酸铁锂需求，需跟踪碳酸锂现货价、欧盟政策细则及龙头开工率。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7479792" y="1444752"/>
            <a:ext cx="3273552" cy="37307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1700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关键数据解读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0" y="1993392"/>
            <a:ext cx="2560320" cy="786384"/>
          </a:xfrm>
          <a:prstGeom prst="roundRect">
            <a:avLst>
              <a:gd name="adj" fmla="val 4651"/>
            </a:avLst>
          </a:prstGeom>
          <a:solidFill>
            <a:srgbClr val="F4FAF6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18704" y="21031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90%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9952" y="21671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致回收行业洗牌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7918704" y="2578608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公开信息：碳酸锂价格暴跌近90%致回收行业洗牌，成本端压力凸显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7772400" y="2926080"/>
            <a:ext cx="2560320" cy="786384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8704" y="303580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90%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759952" y="309981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削弱成本支撑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7918704" y="3511296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公开信息：[1][2][3][4] 湖南裕能扩产与龙蟠科技长协反映磷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7772400" y="44988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阅读提示：仅按公开报道原文呈现；不同企业、时间和统计范围不可直接横向比较。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核心研判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若碳酸锂价格持续低位，则磷酸铁锂成本支撑进一步弱化，回收企业退出可能加速，行业集中度提升</a:t>
            </a:r>
            <a:endParaRPr lang="en-US" sz="1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DEEP DIVE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58368" y="9144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技术/产品路线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条公开来源交叉验证｜事实、影响与后续研判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6642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事实判断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2487168" y="1645920"/>
            <a:ext cx="4315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湖南裕能投资20亿元加码20万吨纳米磷酸铁锂项目，指向纳米化技术路线受重视；吉利开卖电芯，可能推动磷酸铁锂在车企自供体系中的渗透。纳米磷酸铁锂可提升能量密度和倍率性能，但成本控制仍是关键。 [1][5]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487168" y="2432304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依据：[1][5]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58368" y="290779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1272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影响分析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487168" y="310896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湖南裕能扩产纳米磷酸铁锂，反映行业向高性能产品升级；吉利开卖电芯表明车企垂直整合加速，可能改变磷酸铁锂采购格局。需验证：纳米磷酸铁锂量产成本、吉利电芯外供规模及技术参数。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58368" y="437083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DDEBE0"/>
          </a:solidFill>
          <a:ln w="13970">
            <a:solidFill>
              <a:srgbClr val="1212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370832"/>
            <a:ext cx="109728" cy="12070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5902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后续研判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2487168" y="457200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若纳米磷酸铁锂量产成本下降，则高端车型渗透率可能提升；若吉利电芯外供规模扩大，则第三方磷酸铁锂供应商份额可能受挤压。跟踪指标：纳米产品出货占比、吉利电芯客户名单。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7479792" y="1444752"/>
            <a:ext cx="3273552" cy="37307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1700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54112" y="2249424"/>
            <a:ext cx="612648" cy="402336"/>
          </a:xfrm>
          <a:prstGeom prst="chevron">
            <a:avLst/>
          </a:prstGeom>
          <a:solidFill>
            <a:srgbClr val="DDEBE0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27264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</a:t>
            </a:r>
            <a:endParaRPr lang="en-US" sz="670" dirty="0"/>
          </a:p>
        </p:txBody>
      </p:sp>
      <p:sp>
        <p:nvSpPr>
          <p:cNvPr id="26" name="Shape 24"/>
          <p:cNvSpPr/>
          <p:nvPr/>
        </p:nvSpPr>
        <p:spPr>
          <a:xfrm>
            <a:off x="8375904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49056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670" dirty="0"/>
          </a:p>
        </p:txBody>
      </p:sp>
      <p:sp>
        <p:nvSpPr>
          <p:cNvPr id="28" name="Shape 26"/>
          <p:cNvSpPr/>
          <p:nvPr/>
        </p:nvSpPr>
        <p:spPr>
          <a:xfrm>
            <a:off x="8997696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70848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9619488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量产</a:t>
            </a:r>
            <a:endParaRPr lang="en-US" sz="670" dirty="0"/>
          </a:p>
        </p:txBody>
      </p:sp>
      <p:sp>
        <p:nvSpPr>
          <p:cNvPr id="32" name="Shape 30"/>
          <p:cNvSpPr/>
          <p:nvPr/>
        </p:nvSpPr>
        <p:spPr>
          <a:xfrm>
            <a:off x="7882128" y="3063240"/>
            <a:ext cx="2331720" cy="0"/>
          </a:xfrm>
          <a:prstGeom prst="line">
            <a:avLst/>
          </a:prstGeom>
          <a:noFill/>
          <a:ln w="13970">
            <a:solidFill>
              <a:srgbClr val="7F9D8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45552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54112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湖南裕能投资20亿元加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8503920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0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吉利开卖电芯，可能推动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9162288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0848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纳米磷酸铁锂可提升能量</a:t>
            </a:r>
            <a:endParaRPr lang="en-US" sz="670" dirty="0"/>
          </a:p>
        </p:txBody>
      </p:sp>
      <p:sp>
        <p:nvSpPr>
          <p:cNvPr id="39" name="Shape 37"/>
          <p:cNvSpPr/>
          <p:nvPr/>
        </p:nvSpPr>
        <p:spPr>
          <a:xfrm>
            <a:off x="9820656" y="2962656"/>
            <a:ext cx="164592" cy="164592"/>
          </a:xfrm>
          <a:prstGeom prst="ellipse">
            <a:avLst/>
          </a:prstGeom>
          <a:solidFill>
            <a:srgbClr val="B85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29216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纳米磷酸铁锂可提升能量</a:t>
            </a:r>
            <a:endParaRPr lang="en-US" sz="670" dirty="0"/>
          </a:p>
        </p:txBody>
      </p:sp>
      <p:sp>
        <p:nvSpPr>
          <p:cNvPr id="41" name="Text 39"/>
          <p:cNvSpPr/>
          <p:nvPr/>
        </p:nvSpPr>
        <p:spPr>
          <a:xfrm>
            <a:off x="7726680" y="431596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参考培训 PPT 的阶段路线表达，按事件顺序拆成判断路径。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核心研判</a:t>
            </a:r>
            <a:endParaRPr lang="en-US" sz="780" dirty="0"/>
          </a:p>
        </p:txBody>
      </p:sp>
      <p:sp>
        <p:nvSpPr>
          <p:cNvPr id="44" name="Text 42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若纳米磷酸铁锂量产成本下降，则高端车型渗透率可能提升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DEEP DIVE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58368" y="9144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产能/客户/订单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条公开来源交叉验证｜事实、影响与后续研判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6642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事实判断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2487168" y="1645920"/>
            <a:ext cx="4315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蟠科技锁定最高56.78万吨磷酸铁锂供货长协，湖南裕能20万吨项目落地，产能与订单同步扩张；华盛锂电差异化权益分派法律意见书发布，资本运作活跃。长协锁定反映下游对供应稳定的需求，但需关注实际执行率。 [2][1][6]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487168" y="2432304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依据：[2][1][6]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58368" y="290779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1272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影响分析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487168" y="310896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龙蟠科技长协规模较大，若完全执行将显著提升其市场份额；湖南裕能扩产可能加剧供给过剩风险。华盛锂电法律意见书或预示后续资本动作。需验证：长协定价机制、项目投产时间、华盛锂电分派目的。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58368" y="437083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DDEBE0"/>
          </a:solidFill>
          <a:ln w="13970">
            <a:solidFill>
              <a:srgbClr val="1212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370832"/>
            <a:ext cx="109728" cy="12070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5902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后续研判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2487168" y="457200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若长协执行率高于预期，则龙蟠科技营收确定性增强；若湖南裕能项目按期投产，则行业供给压力可能加大。跟踪指标：龙蟠科技季度出货量、湖南裕能项目进度。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7479792" y="1444752"/>
            <a:ext cx="3273552" cy="37307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1700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对比矩阵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818120" y="2176272"/>
            <a:ext cx="2487168" cy="1609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61704" y="2176272"/>
            <a:ext cx="0" cy="1609344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18120" y="2980944"/>
            <a:ext cx="2487168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18120" y="2176272"/>
            <a:ext cx="1243584" cy="804672"/>
          </a:xfrm>
          <a:prstGeom prst="rect">
            <a:avLst/>
          </a:prstGeom>
          <a:solidFill>
            <a:srgbClr val="DDEBE0"/>
          </a:solidFill>
          <a:ln w="3810">
            <a:solidFill>
              <a:srgbClr val="DADA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91272" y="2286000"/>
            <a:ext cx="4389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路线A</a:t>
            </a:r>
            <a:endParaRPr lang="en-US" sz="710" dirty="0"/>
          </a:p>
        </p:txBody>
      </p:sp>
      <p:sp>
        <p:nvSpPr>
          <p:cNvPr id="29" name="Text 27"/>
          <p:cNvSpPr/>
          <p:nvPr/>
        </p:nvSpPr>
        <p:spPr>
          <a:xfrm>
            <a:off x="7891272" y="250545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龙蟠科技锁定最高56.78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9061704" y="2176272"/>
            <a:ext cx="1243584" cy="804672"/>
          </a:xfrm>
          <a:prstGeom prst="rect">
            <a:avLst/>
          </a:prstGeom>
          <a:solidFill>
            <a:srgbClr val="FFFFFF"/>
          </a:solidFill>
          <a:ln w="3810">
            <a:solidFill>
              <a:srgbClr val="DADA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34856" y="2286000"/>
            <a:ext cx="4389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路线B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9134856" y="2505456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华盛锂电差异化权益分派法律</a:t>
            </a:r>
            <a:endParaRPr lang="en-US" sz="670" dirty="0"/>
          </a:p>
        </p:txBody>
      </p:sp>
      <p:sp>
        <p:nvSpPr>
          <p:cNvPr id="33" name="Shape 31"/>
          <p:cNvSpPr/>
          <p:nvPr/>
        </p:nvSpPr>
        <p:spPr>
          <a:xfrm>
            <a:off x="7818120" y="2980944"/>
            <a:ext cx="1243584" cy="804672"/>
          </a:xfrm>
          <a:prstGeom prst="rect">
            <a:avLst/>
          </a:prstGeom>
          <a:solidFill>
            <a:srgbClr val="FFFFFF"/>
          </a:solidFill>
          <a:ln w="3810">
            <a:solidFill>
              <a:srgbClr val="DADA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1272" y="3090672"/>
            <a:ext cx="4389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</a:t>
            </a:r>
            <a:endParaRPr lang="en-US" sz="710" dirty="0"/>
          </a:p>
        </p:txBody>
      </p:sp>
      <p:sp>
        <p:nvSpPr>
          <p:cNvPr id="35" name="Text 33"/>
          <p:cNvSpPr/>
          <p:nvPr/>
        </p:nvSpPr>
        <p:spPr>
          <a:xfrm>
            <a:off x="7891272" y="331012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长协锁定反映下游对供应稳定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9061704" y="2980944"/>
            <a:ext cx="1243584" cy="804672"/>
          </a:xfrm>
          <a:prstGeom prst="rect">
            <a:avLst/>
          </a:prstGeom>
          <a:solidFill>
            <a:srgbClr val="F4FAF6"/>
          </a:solidFill>
          <a:ln w="3810">
            <a:solidFill>
              <a:srgbClr val="DADAD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34856" y="3090672"/>
            <a:ext cx="4389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</a:t>
            </a:r>
            <a:endParaRPr lang="en-US" sz="710" dirty="0"/>
          </a:p>
        </p:txBody>
      </p:sp>
      <p:sp>
        <p:nvSpPr>
          <p:cNvPr id="38" name="Text 36"/>
          <p:cNvSpPr/>
          <p:nvPr/>
        </p:nvSpPr>
        <p:spPr>
          <a:xfrm>
            <a:off x="9134856" y="331012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龙蟠科技锁定最高56.78</a:t>
            </a:r>
            <a:endParaRPr lang="en-US" sz="670" dirty="0"/>
          </a:p>
        </p:txBody>
      </p:sp>
      <p:sp>
        <p:nvSpPr>
          <p:cNvPr id="39" name="Text 37"/>
          <p:cNvSpPr/>
          <p:nvPr/>
        </p:nvSpPr>
        <p:spPr>
          <a:xfrm>
            <a:off x="7726680" y="418795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检测到对比/分类信号，用矩阵压缩呈现，不新增外部判断。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核心研判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若长协执行率高于预期，则龙蟠科技营收确定性增强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DEEP DIVE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58368" y="9144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价格/盈利压力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条公开来源交叉验证｜事实、影响与后续研判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6642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事实判断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2487168" y="1645920"/>
            <a:ext cx="4315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碳酸锂价格暴跌近90%，动力电池回收行业进入洗牌深水区；电池板块跌幅居前，反映价格下行压力。成本端坍塌削弱磷酸铁锂价格支撑，回收企业退出可能加速，但上游材料企业盈利分化。 [3][7]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487168" y="2432304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依据：[3][7]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58368" y="290779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1272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影响分析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487168" y="310896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酸锂价格暴跌直接降低磷酸铁锂生产成本，但产品价格同步下行，企业盈利取决于成本传导能力；回收行业洗牌可能减少再生碳酸锂供应，长期或影响原料结构。需验证：碳酸锂现货价拐点、回收企业退出规模。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58368" y="437083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DDEBE0"/>
          </a:solidFill>
          <a:ln w="13970">
            <a:solidFill>
              <a:srgbClr val="1212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370832"/>
            <a:ext cx="109728" cy="12070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5902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后续研判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2487168" y="457200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若碳酸锂价格继续下跌，则磷酸铁锂价格可能进一步承压，高成本产能或退出；若回收行业洗牌导致再生供应减少，则长期碳酸锂供给结构可能变化。跟踪指标：碳酸锂现货价、回收企业开工率。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7479792" y="1444752"/>
            <a:ext cx="3273552" cy="37307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1700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关键数据解读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0" y="1993392"/>
            <a:ext cx="2560320" cy="1389888"/>
          </a:xfrm>
          <a:prstGeom prst="roundRect">
            <a:avLst>
              <a:gd name="adj" fmla="val 2632"/>
            </a:avLst>
          </a:prstGeom>
          <a:solidFill>
            <a:srgbClr val="F4FAF6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18704" y="21031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90%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8759952" y="216712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碳酸锂价格暴跌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7918704" y="2578608"/>
            <a:ext cx="2176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公开信息：碳酸锂价格暴跌近90%，动力电池回收行业进入洗牌深水区</a:t>
            </a:r>
            <a:endParaRPr lang="en-US" sz="840" dirty="0"/>
          </a:p>
        </p:txBody>
      </p:sp>
      <p:sp>
        <p:nvSpPr>
          <p:cNvPr id="28" name="Text 26"/>
          <p:cNvSpPr/>
          <p:nvPr/>
        </p:nvSpPr>
        <p:spPr>
          <a:xfrm>
            <a:off x="7772400" y="44988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阅读提示：仅按公开报道原文呈现；不同企业、时间和统计范围不可直接横向比较。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核心研判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若碳酸锂价格继续下跌，则磷酸铁锂价格可能进一步承压，高成本产能或退出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DEEP DIVE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58368" y="9144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政策/合规风险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条公开来源交叉验证｜事实、影响与后续研判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6642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事实判断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2487168" y="1645920"/>
            <a:ext cx="4315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欧盟要求中国自限插混出口，贸易政策风险升温；国内出台19项举措推进新质生产力，动力电池政策环境总体支持；法国电池谷争抢中国企业，显示海外本地化需求。政策博弈可能影响磷酸铁锂出口预期。 [4][8][9]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487168" y="2432304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依据：[4][8][9]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58368" y="290779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1272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影响分析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487168" y="310896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盟自限要求若落地，将直接限制插混车型出口，进而影响配套磷酸铁锂电池需求；国内新质生产力举措可能利好技术升级，但海外本地化生产要求增加合规成本。需验证：欧盟政策具体条款、国内政策落地细节。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58368" y="437083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DDEBE0"/>
          </a:solidFill>
          <a:ln w="13970">
            <a:solidFill>
              <a:srgbClr val="1212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370832"/>
            <a:ext cx="109728" cy="12070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5902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后续研判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2487168" y="457200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若欧盟自限政策实施，则插混出口量可能下滑，磷酸铁锂需求受拖累；若国内新质生产力举措加大研发支持，则技术领先企业可能受益。跟踪指标：欧盟政策文本、插混出口数据。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7479792" y="1444752"/>
            <a:ext cx="3273552" cy="37307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1700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合规风险金字塔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1975104"/>
            <a:ext cx="1097280" cy="512064"/>
          </a:xfrm>
          <a:prstGeom prst="trapezoid">
            <a:avLst/>
          </a:prstGeom>
          <a:solidFill>
            <a:srgbClr val="B85A4A"/>
          </a:solidFill>
          <a:ln w="8890">
            <a:solidFill>
              <a:srgbClr val="4870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2066544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监管红线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7808976" y="2496312"/>
            <a:ext cx="2514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欧盟要求中国自限插混出口，贸易政策</a:t>
            </a:r>
            <a:endParaRPr lang="en-US" sz="660" dirty="0"/>
          </a:p>
        </p:txBody>
      </p:sp>
      <p:sp>
        <p:nvSpPr>
          <p:cNvPr id="27" name="Shape 25"/>
          <p:cNvSpPr/>
          <p:nvPr/>
        </p:nvSpPr>
        <p:spPr>
          <a:xfrm>
            <a:off x="8183880" y="2615184"/>
            <a:ext cx="1737360" cy="512064"/>
          </a:xfrm>
          <a:prstGeom prst="trapezoid">
            <a:avLst/>
          </a:prstGeom>
          <a:solidFill>
            <a:srgbClr val="DDEBE0"/>
          </a:solidFill>
          <a:ln w="8890">
            <a:solidFill>
              <a:srgbClr val="4870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2706624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合规动作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808976" y="3136392"/>
            <a:ext cx="2514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国内出台19项举措推进新质生产力，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863840" y="3255264"/>
            <a:ext cx="2377440" cy="512064"/>
          </a:xfrm>
          <a:prstGeom prst="trapezoid">
            <a:avLst/>
          </a:prstGeom>
          <a:solidFill>
            <a:srgbClr val="F4FAF6"/>
          </a:solidFill>
          <a:ln w="8890">
            <a:solidFill>
              <a:srgbClr val="4870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55280" y="3346704"/>
            <a:ext cx="2194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经营影响/观察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7808976" y="3776472"/>
            <a:ext cx="2514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法国电池谷争抢中国企业，显示海外本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核心研判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若欧盟自限政策实施，则插混出口量可能下滑，磷酸铁锂需求受拖累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DEEP DIVE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58368" y="9144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竞品观察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条公开来源交叉验证｜事实、影响与后续研判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6642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事实判断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2487168" y="1645920"/>
            <a:ext cx="4315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吉利开卖电芯，车企自供电池趋势增强，可能挤压第三方磷酸铁锂供应商份额；法国电池谷争抢中国企业，海外竞争加剧。竞品动态显示行业垂直整合与全球化布局并行。 [5][9]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487168" y="2432304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依据：[5][9]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58368" y="290779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1272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影响分析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487168" y="310896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吉利作为车企自供电芯，可能优先采购自家产品，影响外部磷酸铁锂订单；法国电池谷招商反映欧洲本地化生产需求，中国企业出海面临竞争与合作。需验证：吉利电芯技术来源、法国电池谷招商政策。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58368" y="437083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DDEBE0"/>
          </a:solidFill>
          <a:ln w="13970">
            <a:solidFill>
              <a:srgbClr val="1212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370832"/>
            <a:ext cx="109728" cy="12070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5902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后续研判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2487168" y="457200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若吉利电芯大规模外供，则第三方磷酸铁锂企业客户结构可能恶化；若法国电池谷成功吸引中国企业，则海外产能布局可能加速。跟踪指标：吉利电芯外供量、法国电池谷入驻企业名单。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7479792" y="1444752"/>
            <a:ext cx="3273552" cy="37307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1700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54112" y="2249424"/>
            <a:ext cx="612648" cy="402336"/>
          </a:xfrm>
          <a:prstGeom prst="chevron">
            <a:avLst/>
          </a:prstGeom>
          <a:solidFill>
            <a:srgbClr val="DDEBE0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27264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</a:t>
            </a:r>
            <a:endParaRPr lang="en-US" sz="670" dirty="0"/>
          </a:p>
        </p:txBody>
      </p:sp>
      <p:sp>
        <p:nvSpPr>
          <p:cNvPr id="26" name="Shape 24"/>
          <p:cNvSpPr/>
          <p:nvPr/>
        </p:nvSpPr>
        <p:spPr>
          <a:xfrm>
            <a:off x="8375904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49056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670" dirty="0"/>
          </a:p>
        </p:txBody>
      </p:sp>
      <p:sp>
        <p:nvSpPr>
          <p:cNvPr id="28" name="Shape 26"/>
          <p:cNvSpPr/>
          <p:nvPr/>
        </p:nvSpPr>
        <p:spPr>
          <a:xfrm>
            <a:off x="8997696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70848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9619488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量产</a:t>
            </a:r>
            <a:endParaRPr lang="en-US" sz="670" dirty="0"/>
          </a:p>
        </p:txBody>
      </p:sp>
      <p:sp>
        <p:nvSpPr>
          <p:cNvPr id="32" name="Shape 30"/>
          <p:cNvSpPr/>
          <p:nvPr/>
        </p:nvSpPr>
        <p:spPr>
          <a:xfrm>
            <a:off x="7882128" y="3063240"/>
            <a:ext cx="2331720" cy="0"/>
          </a:xfrm>
          <a:prstGeom prst="line">
            <a:avLst/>
          </a:prstGeom>
          <a:noFill/>
          <a:ln w="13970">
            <a:solidFill>
              <a:srgbClr val="7F9D8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45552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54112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吉利开卖电芯，车企自供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8503920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0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法国电池谷争抢中国企业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9162288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0848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竞品动态显示行业垂直整</a:t>
            </a:r>
            <a:endParaRPr lang="en-US" sz="670" dirty="0"/>
          </a:p>
        </p:txBody>
      </p:sp>
      <p:sp>
        <p:nvSpPr>
          <p:cNvPr id="39" name="Shape 37"/>
          <p:cNvSpPr/>
          <p:nvPr/>
        </p:nvSpPr>
        <p:spPr>
          <a:xfrm>
            <a:off x="9820656" y="2962656"/>
            <a:ext cx="164592" cy="164592"/>
          </a:xfrm>
          <a:prstGeom prst="ellipse">
            <a:avLst/>
          </a:prstGeom>
          <a:solidFill>
            <a:srgbClr val="B85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29216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竞品动态显示行业垂直整</a:t>
            </a:r>
            <a:endParaRPr lang="en-US" sz="670" dirty="0"/>
          </a:p>
        </p:txBody>
      </p:sp>
      <p:sp>
        <p:nvSpPr>
          <p:cNvPr id="41" name="Text 39"/>
          <p:cNvSpPr/>
          <p:nvPr/>
        </p:nvSpPr>
        <p:spPr>
          <a:xfrm>
            <a:off x="7726680" y="431596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参考培训 PPT 的阶段路线表达，按事件顺序拆成判断路径。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核心研判</a:t>
            </a:r>
            <a:endParaRPr lang="en-US" sz="780" dirty="0"/>
          </a:p>
        </p:txBody>
      </p:sp>
      <p:sp>
        <p:nvSpPr>
          <p:cNvPr id="44" name="Text 42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若吉利电芯大规模外供，则第三方磷酸铁锂企业客户结构可能恶化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DEEP DIVE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58368" y="9144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风险/机会/观察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条公开来源交叉验证｜事实、影响与后续研判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58368" y="144475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6642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事实判断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2487168" y="1645920"/>
            <a:ext cx="4315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风险：碳酸锂价格暴跌致盈利压力，欧盟自限出口政策压制需求；机会：湖南裕能扩产和龙蟠科技长协显示龙头扩张，国内新质生产力政策支持；观察：华盛锂电资本运作、电池板块股价波动。 [3][4][1][6]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487168" y="2432304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依据：[3][4][1][6]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58368" y="290779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12724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影响分析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487168" y="310896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下行与政策风险是主要压制因素，但龙头扩产和长协锁定表明行业仍具成长性；华盛锂电法律意见书可能预示资本动作，电池板块跌幅居前反映市场情绪。需验证：碳酸锂价格拐点、政策落地节奏、企业资本运作意图。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58368" y="4370832"/>
            <a:ext cx="6510528" cy="1207008"/>
          </a:xfrm>
          <a:prstGeom prst="roundRect">
            <a:avLst>
              <a:gd name="adj" fmla="val 6061"/>
            </a:avLst>
          </a:prstGeom>
          <a:solidFill>
            <a:srgbClr val="DDEBE0"/>
          </a:solidFill>
          <a:ln w="13970">
            <a:solidFill>
              <a:srgbClr val="1212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370832"/>
            <a:ext cx="109728" cy="12070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59028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后续研判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2487168" y="4572000"/>
            <a:ext cx="43159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若碳酸锂价格企稳，则磷酸铁锂盈利可能修复；若欧盟政策放松，则出口需求可能回升。跟踪指标：碳酸锂期货价、欧盟政策动向、华盛锂电公告。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7479792" y="1444752"/>
            <a:ext cx="3273552" cy="37307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1700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54112" y="2249424"/>
            <a:ext cx="612648" cy="402336"/>
          </a:xfrm>
          <a:prstGeom prst="chevron">
            <a:avLst/>
          </a:prstGeom>
          <a:solidFill>
            <a:srgbClr val="DDEBE0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27264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</a:t>
            </a:r>
            <a:endParaRPr lang="en-US" sz="670" dirty="0"/>
          </a:p>
        </p:txBody>
      </p:sp>
      <p:sp>
        <p:nvSpPr>
          <p:cNvPr id="26" name="Shape 24"/>
          <p:cNvSpPr/>
          <p:nvPr/>
        </p:nvSpPr>
        <p:spPr>
          <a:xfrm>
            <a:off x="8375904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49056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670" dirty="0"/>
          </a:p>
        </p:txBody>
      </p:sp>
      <p:sp>
        <p:nvSpPr>
          <p:cNvPr id="28" name="Shape 26"/>
          <p:cNvSpPr/>
          <p:nvPr/>
        </p:nvSpPr>
        <p:spPr>
          <a:xfrm>
            <a:off x="8997696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70848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9619488" y="2249424"/>
            <a:ext cx="612648" cy="402336"/>
          </a:xfrm>
          <a:prstGeom prst="chevron">
            <a:avLst/>
          </a:prstGeom>
          <a:solidFill>
            <a:srgbClr val="FFFFFF"/>
          </a:solidFill>
          <a:ln w="13970">
            <a:solidFill>
              <a:srgbClr val="4870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92640" y="2386584"/>
            <a:ext cx="448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量产</a:t>
            </a:r>
            <a:endParaRPr lang="en-US" sz="670" dirty="0"/>
          </a:p>
        </p:txBody>
      </p:sp>
      <p:sp>
        <p:nvSpPr>
          <p:cNvPr id="32" name="Shape 30"/>
          <p:cNvSpPr/>
          <p:nvPr/>
        </p:nvSpPr>
        <p:spPr>
          <a:xfrm>
            <a:off x="7882128" y="3063240"/>
            <a:ext cx="2331720" cy="0"/>
          </a:xfrm>
          <a:prstGeom prst="line">
            <a:avLst/>
          </a:prstGeom>
          <a:noFill/>
          <a:ln w="13970">
            <a:solidFill>
              <a:srgbClr val="7F9D8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45552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54112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风险：碳酸锂价格暴跌致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8503920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0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机会：湖南裕能扩产和龙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9162288" y="2962656"/>
            <a:ext cx="164592" cy="164592"/>
          </a:xfrm>
          <a:prstGeom prst="ellipse">
            <a:avLst/>
          </a:prstGeom>
          <a:solidFill>
            <a:srgbClr val="48705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0848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观察：华盛锂电资本运作</a:t>
            </a:r>
            <a:endParaRPr lang="en-US" sz="670" dirty="0"/>
          </a:p>
        </p:txBody>
      </p:sp>
      <p:sp>
        <p:nvSpPr>
          <p:cNvPr id="39" name="Shape 37"/>
          <p:cNvSpPr/>
          <p:nvPr/>
        </p:nvSpPr>
        <p:spPr>
          <a:xfrm>
            <a:off x="9820656" y="2962656"/>
            <a:ext cx="164592" cy="164592"/>
          </a:xfrm>
          <a:prstGeom prst="ellipse">
            <a:avLst/>
          </a:prstGeom>
          <a:solidFill>
            <a:srgbClr val="B85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29216" y="3291840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观察：华盛锂电资本运作</a:t>
            </a:r>
            <a:endParaRPr lang="en-US" sz="670" dirty="0"/>
          </a:p>
        </p:txBody>
      </p:sp>
      <p:sp>
        <p:nvSpPr>
          <p:cNvPr id="41" name="Text 39"/>
          <p:cNvSpPr/>
          <p:nvPr/>
        </p:nvSpPr>
        <p:spPr>
          <a:xfrm>
            <a:off x="7726680" y="431596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参考培训 PPT 的阶段路线表达，按事件顺序拆成判断路径。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核心研判</a:t>
            </a:r>
            <a:endParaRPr lang="en-US" sz="780" dirty="0"/>
          </a:p>
        </p:txBody>
      </p:sp>
      <p:sp>
        <p:nvSpPr>
          <p:cNvPr id="44" name="Text 42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若碳酸锂价格企稳，则磷酸铁锂盈利可能修复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INDEX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来源索引与可追溯性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566928" cy="310896"/>
          </a:xfrm>
          <a:prstGeom prst="rect">
            <a:avLst/>
          </a:prstGeom>
          <a:solidFill>
            <a:srgbClr val="121212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536192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1225296" y="1444752"/>
            <a:ext cx="1234440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1536192"/>
            <a:ext cx="1088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459736" y="1444752"/>
            <a:ext cx="3977640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32888" y="1536192"/>
            <a:ext cx="3831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437376" y="1444752"/>
            <a:ext cx="4645152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1536192"/>
            <a:ext cx="4498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58368" y="1755648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82880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[1]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261872" y="182880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487168" y="182880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投资20亿元！湖南裕能于湖南湘潭加码20万吨纳米磷酸铁锂项目 - 新浪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510528" y="182880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https://news.google.com/rss/articles/CBMieEFVX3lxTE5renNSMVJMYldBa2VLd184alVERVRmcTVCWmVhcC1VQ3JkVThycXZ2cGI4YVpsalM5T3BIeE9NM0VtSy1QLVVQVkQ5dF9qSi1qbEVMREc1cGhsbGpXQnJGSFRQWFlMMndGSEljVnF4a0NodndyMk9XRQ?oc=5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658368" y="2066544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213969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[2]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1261872" y="213969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2487168" y="213969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再拿重磅长协！龙蟠科技锁定最高 56.78 万吨磷酸铁锂供货订单 - 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6510528" y="213969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https://news.google.com/rss/articles/CBMiU0FVX3lxTFBjaVMtV3B3d1J1TXF2NDVRc0czZE5KbWYxTmQxb19NRDZ2WTYxRUFzeFAxbThfRkpWSWFETlRUaDNnOUhMWkJFd2VLcDZvUDRxWGFv?oc=5</a:t>
            </a:r>
            <a:endParaRPr lang="en-US" sz="580" dirty="0"/>
          </a:p>
        </p:txBody>
      </p:sp>
      <p:sp>
        <p:nvSpPr>
          <p:cNvPr id="28" name="Shape 26"/>
          <p:cNvSpPr/>
          <p:nvPr/>
        </p:nvSpPr>
        <p:spPr>
          <a:xfrm>
            <a:off x="658368" y="2377440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24505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[3]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261872" y="245059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2487168" y="2450592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碳酸锂价格暴跌近90%，动力电池回收行业进入洗牌深水区 - 虎嗅网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6510528" y="245059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https://news.google.com/rss/articles/CBMiX0FVX3lxTE9QVERsMUZQTld4RXN4cUNwMkx5c044dEJCcEJqanFrT1hod1hNdzhUVWxXUktSNXZjSW4xOEZ2OWI5N2FJQ1BWY05kMGw2elNWUVQwN0hOMThidzVRY3kw?oc=5</a:t>
            </a:r>
            <a:endParaRPr lang="en-US" sz="580" dirty="0"/>
          </a:p>
        </p:txBody>
      </p:sp>
      <p:sp>
        <p:nvSpPr>
          <p:cNvPr id="33" name="Shape 31"/>
          <p:cNvSpPr/>
          <p:nvPr/>
        </p:nvSpPr>
        <p:spPr>
          <a:xfrm>
            <a:off x="658368" y="2688336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2761488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[4]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1261872" y="276148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2487168" y="2761488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欧盟要求中国自限插混出口：让竞争者为政策失误买单 - 新浪网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6510528" y="276148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https://k.sina.com.cn/article_1628609891_61129d63001019rvw.html?</a:t>
            </a:r>
            <a:endParaRPr lang="en-US" sz="580" dirty="0"/>
          </a:p>
        </p:txBody>
      </p:sp>
      <p:sp>
        <p:nvSpPr>
          <p:cNvPr id="38" name="Shape 36"/>
          <p:cNvSpPr/>
          <p:nvPr/>
        </p:nvSpPr>
        <p:spPr>
          <a:xfrm>
            <a:off x="658368" y="2999232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808" y="3072384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[5]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1261872" y="307238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41" name="Text 39"/>
          <p:cNvSpPr/>
          <p:nvPr/>
        </p:nvSpPr>
        <p:spPr>
          <a:xfrm>
            <a:off x="2487168" y="3072384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吉利开卖电芯 - 新浪网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6510528" y="307238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https://news.google.com/rss/articles/CBMif0FVX3lxTE5ETXppcDA5OTRKVTR0R0kxcEhpei01WmNhNnpvUGxSYmxVdGVSV3BHOGtscmlfN01mVUw1TjBHSWp3bFpiUmZOelFqbzNjR3o1V0ZOV0NlVjFkOEdfNEVnMzVOa3dVbFE2QzEzV3FoU1pLY0tHeFE0QThOREotNHc?oc=5</a:t>
            </a:r>
            <a:endParaRPr lang="en-US" sz="580" dirty="0"/>
          </a:p>
        </p:txBody>
      </p:sp>
      <p:sp>
        <p:nvSpPr>
          <p:cNvPr id="43" name="Shape 41"/>
          <p:cNvSpPr/>
          <p:nvPr/>
        </p:nvSpPr>
        <p:spPr>
          <a:xfrm>
            <a:off x="658368" y="3310128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338328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[6]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1261872" y="338328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2487168" y="338328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华盛锂电(688353):国浩律师（南京）事务所关于江苏华盛锂电材料股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6510528" y="338328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https://news.google.com/rss/articles/CBMiVkFVX3lxTE52dEZqMkQzMXlSOFpsd0Y0ZWlxdXp1anI1VjVVR3ZrcnBlWVBWNFhVemVEamk2YndSYWVHU3pPNldWcWtuZWxfZmh2a0I1MnYtOU5tYkJ3?oc=5</a:t>
            </a:r>
            <a:endParaRPr lang="en-US" sz="580" dirty="0"/>
          </a:p>
        </p:txBody>
      </p:sp>
      <p:sp>
        <p:nvSpPr>
          <p:cNvPr id="48" name="Shape 46"/>
          <p:cNvSpPr/>
          <p:nvPr/>
        </p:nvSpPr>
        <p:spPr>
          <a:xfrm>
            <a:off x="658368" y="3621024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369417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[7]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1261872" y="369417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2487168" y="369417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开盘：三大指数集体低开 电池板块跌幅居前 - 新浪财经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6510528" y="369417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https://finance.sina.cn/stock/dpps/2026-10-12/detail-iniuxmtt8586938.d.html</a:t>
            </a:r>
            <a:endParaRPr lang="en-US" sz="580" dirty="0"/>
          </a:p>
        </p:txBody>
      </p:sp>
      <p:sp>
        <p:nvSpPr>
          <p:cNvPr id="53" name="Shape 51"/>
          <p:cNvSpPr/>
          <p:nvPr/>
        </p:nvSpPr>
        <p:spPr>
          <a:xfrm>
            <a:off x="658368" y="3931920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400507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[8]</a:t>
            </a:r>
            <a:endParaRPr lang="en-US" sz="680" dirty="0"/>
          </a:p>
        </p:txBody>
      </p:sp>
      <p:sp>
        <p:nvSpPr>
          <p:cNvPr id="55" name="Text 53"/>
          <p:cNvSpPr/>
          <p:nvPr/>
        </p:nvSpPr>
        <p:spPr>
          <a:xfrm>
            <a:off x="1261872" y="400507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2487168" y="4005072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我国出台19项举措推进新质生产力发展；龙源电力9月发电量同比增长超7%</a:t>
            </a:r>
            <a:endParaRPr lang="en-US" sz="680" dirty="0"/>
          </a:p>
        </p:txBody>
      </p:sp>
      <p:sp>
        <p:nvSpPr>
          <p:cNvPr id="57" name="Text 55"/>
          <p:cNvSpPr/>
          <p:nvPr/>
        </p:nvSpPr>
        <p:spPr>
          <a:xfrm>
            <a:off x="6510528" y="400507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https://www.mrjjxw.com/articles/2026-10-11/4601022.html</a:t>
            </a:r>
            <a:endParaRPr lang="en-US" sz="580" dirty="0"/>
          </a:p>
        </p:txBody>
      </p:sp>
      <p:sp>
        <p:nvSpPr>
          <p:cNvPr id="58" name="Shape 56"/>
          <p:cNvSpPr/>
          <p:nvPr/>
        </p:nvSpPr>
        <p:spPr>
          <a:xfrm>
            <a:off x="658368" y="4242816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49808" y="4315968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[9]</a:t>
            </a:r>
            <a:endParaRPr lang="en-US" sz="680" dirty="0"/>
          </a:p>
        </p:txBody>
      </p:sp>
      <p:sp>
        <p:nvSpPr>
          <p:cNvPr id="60" name="Text 58"/>
          <p:cNvSpPr/>
          <p:nvPr/>
        </p:nvSpPr>
        <p:spPr>
          <a:xfrm>
            <a:off x="1261872" y="431596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中国磷酸铁锂行业官方政策与</a:t>
            </a:r>
            <a:endParaRPr lang="en-US" sz="680" dirty="0"/>
          </a:p>
        </p:txBody>
      </p:sp>
      <p:sp>
        <p:nvSpPr>
          <p:cNvPr id="61" name="Text 59"/>
          <p:cNvSpPr/>
          <p:nvPr/>
        </p:nvSpPr>
        <p:spPr>
          <a:xfrm>
            <a:off x="2487168" y="4315968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嘴上支持对华加税，身体却很诚实，法国电池谷为何争抢中国企业？ - 新浪网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6510528" y="431596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https://k.sina.com.cn/article_7879996580_1d5af34a402001w6du.html</a:t>
            </a:r>
            <a:endParaRPr lang="en-US" sz="580" dirty="0"/>
          </a:p>
        </p:txBody>
      </p:sp>
      <p:sp>
        <p:nvSpPr>
          <p:cNvPr id="63" name="Shape 61"/>
          <p:cNvSpPr/>
          <p:nvPr/>
        </p:nvSpPr>
        <p:spPr>
          <a:xfrm>
            <a:off x="658368" y="4553712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808" y="4626864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[10]</a:t>
            </a:r>
            <a:endParaRPr lang="en-US" sz="680" dirty="0"/>
          </a:p>
        </p:txBody>
      </p:sp>
      <p:sp>
        <p:nvSpPr>
          <p:cNvPr id="65" name="Text 63"/>
          <p:cNvSpPr/>
          <p:nvPr/>
        </p:nvSpPr>
        <p:spPr>
          <a:xfrm>
            <a:off x="1261872" y="462686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中国电池网</a:t>
            </a:r>
            <a:endParaRPr lang="en-US" sz="680" dirty="0"/>
          </a:p>
        </p:txBody>
      </p:sp>
      <p:sp>
        <p:nvSpPr>
          <p:cNvPr id="66" name="Text 64"/>
          <p:cNvSpPr/>
          <p:nvPr/>
        </p:nvSpPr>
        <p:spPr>
          <a:xfrm>
            <a:off x="2487168" y="4626864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中国电池网</a:t>
            </a:r>
            <a:endParaRPr lang="en-US" sz="680" dirty="0"/>
          </a:p>
        </p:txBody>
      </p:sp>
      <p:sp>
        <p:nvSpPr>
          <p:cNvPr id="67" name="Text 65"/>
          <p:cNvSpPr/>
          <p:nvPr/>
        </p:nvSpPr>
        <p:spPr>
          <a:xfrm>
            <a:off x="6510528" y="462686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https://www.itdcw.com/</a:t>
            </a:r>
            <a:endParaRPr lang="en-US" sz="580" dirty="0"/>
          </a:p>
        </p:txBody>
      </p:sp>
      <p:sp>
        <p:nvSpPr>
          <p:cNvPr id="68" name="Shape 66"/>
          <p:cNvSpPr/>
          <p:nvPr/>
        </p:nvSpPr>
        <p:spPr>
          <a:xfrm>
            <a:off x="658368" y="4864608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9808" y="493776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[11]</a:t>
            </a:r>
            <a:endParaRPr lang="en-US" sz="680" dirty="0"/>
          </a:p>
        </p:txBody>
      </p:sp>
      <p:sp>
        <p:nvSpPr>
          <p:cNvPr id="70" name="Text 68"/>
          <p:cNvSpPr/>
          <p:nvPr/>
        </p:nvSpPr>
        <p:spPr>
          <a:xfrm>
            <a:off x="1261872" y="493776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鑫椤锂电</a:t>
            </a:r>
            <a:endParaRPr lang="en-US" sz="680" dirty="0"/>
          </a:p>
        </p:txBody>
      </p:sp>
      <p:sp>
        <p:nvSpPr>
          <p:cNvPr id="71" name="Text 69"/>
          <p:cNvSpPr/>
          <p:nvPr/>
        </p:nvSpPr>
        <p:spPr>
          <a:xfrm>
            <a:off x="2487168" y="493776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鑫椤锂电</a:t>
            </a:r>
            <a:endParaRPr lang="en-US" sz="680" dirty="0"/>
          </a:p>
        </p:txBody>
      </p:sp>
      <p:sp>
        <p:nvSpPr>
          <p:cNvPr id="72" name="Text 70"/>
          <p:cNvSpPr/>
          <p:nvPr/>
        </p:nvSpPr>
        <p:spPr>
          <a:xfrm>
            <a:off x="6510528" y="493776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https://www.icbattery.com/</a:t>
            </a:r>
            <a:endParaRPr lang="en-US" sz="580" dirty="0"/>
          </a:p>
        </p:txBody>
      </p:sp>
      <p:sp>
        <p:nvSpPr>
          <p:cNvPr id="73" name="Shape 71"/>
          <p:cNvSpPr/>
          <p:nvPr/>
        </p:nvSpPr>
        <p:spPr>
          <a:xfrm>
            <a:off x="658368" y="5175504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49808" y="524865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[12]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1261872" y="524865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高工锂电</a:t>
            </a:r>
            <a:endParaRPr lang="en-US" sz="680" dirty="0"/>
          </a:p>
        </p:txBody>
      </p:sp>
      <p:sp>
        <p:nvSpPr>
          <p:cNvPr id="76" name="Text 74"/>
          <p:cNvSpPr/>
          <p:nvPr/>
        </p:nvSpPr>
        <p:spPr>
          <a:xfrm>
            <a:off x="2487168" y="524865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高工锂电</a:t>
            </a:r>
            <a:endParaRPr lang="en-US" sz="680" dirty="0"/>
          </a:p>
        </p:txBody>
      </p:sp>
      <p:sp>
        <p:nvSpPr>
          <p:cNvPr id="77" name="Text 75"/>
          <p:cNvSpPr/>
          <p:nvPr/>
        </p:nvSpPr>
        <p:spPr>
          <a:xfrm>
            <a:off x="6510528" y="524865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https://www.gg-lb.com/</a:t>
            </a:r>
            <a:endParaRPr lang="en-US" sz="580" dirty="0"/>
          </a:p>
        </p:txBody>
      </p:sp>
      <p:sp>
        <p:nvSpPr>
          <p:cNvPr id="78" name="Shape 76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引用规则</a:t>
            </a:r>
            <a:endParaRPr lang="en-US" sz="780" dirty="0"/>
          </a:p>
        </p:txBody>
      </p:sp>
      <p:sp>
        <p:nvSpPr>
          <p:cNvPr id="80" name="Text 78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正文引用编号与本页来源一一对应，未进入正文的公开来源保留在 JSON 审计记录中。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INDEX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2026-10-12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来源索引与可追溯性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566928" cy="310896"/>
          </a:xfrm>
          <a:prstGeom prst="rect">
            <a:avLst/>
          </a:prstGeom>
          <a:solidFill>
            <a:srgbClr val="121212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536192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1225296" y="1444752"/>
            <a:ext cx="1234440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1536192"/>
            <a:ext cx="1088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459736" y="1444752"/>
            <a:ext cx="3977640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32888" y="1536192"/>
            <a:ext cx="3831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437376" y="1444752"/>
            <a:ext cx="4645152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1536192"/>
            <a:ext cx="4498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58368" y="1755648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82880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[13]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261872" y="182880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电池中国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487168" y="182880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电池中国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510528" y="182880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https://www.cbea.com/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658368" y="2066544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213969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[14]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1261872" y="213969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证券时报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2487168" y="213969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证券时报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6510528" y="213969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https://www.stcn.com/</a:t>
            </a:r>
            <a:endParaRPr lang="en-US" sz="580" dirty="0"/>
          </a:p>
        </p:txBody>
      </p:sp>
      <p:sp>
        <p:nvSpPr>
          <p:cNvPr id="28" name="Shape 26"/>
          <p:cNvSpPr/>
          <p:nvPr/>
        </p:nvSpPr>
        <p:spPr>
          <a:xfrm>
            <a:off x="658368" y="2377440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24505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[15]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261872" y="245059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界面新闻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2487168" y="2450592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界面新闻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6510528" y="245059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https://www.jiemian.com/</a:t>
            </a:r>
            <a:endParaRPr lang="en-US" sz="580" dirty="0"/>
          </a:p>
        </p:txBody>
      </p:sp>
      <p:sp>
        <p:nvSpPr>
          <p:cNvPr id="33" name="Shape 31"/>
          <p:cNvSpPr/>
          <p:nvPr/>
        </p:nvSpPr>
        <p:spPr>
          <a:xfrm>
            <a:off x="658368" y="2688336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2761488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[16]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1261872" y="276148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工业和信息化部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2487168" y="2761488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国新办举行国务院政策例行吹风会 介绍加强中小企业回款难问题治理有关工作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6510528" y="276148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http://www.miit.gov.cn/xwfb/bldhd/art/2026/art_7285ee48244d4f20b0f127c7f013ec11.html</a:t>
            </a:r>
            <a:endParaRPr lang="en-US" sz="580" dirty="0"/>
          </a:p>
        </p:txBody>
      </p:sp>
      <p:sp>
        <p:nvSpPr>
          <p:cNvPr id="38" name="Shape 36"/>
          <p:cNvSpPr/>
          <p:nvPr/>
        </p:nvSpPr>
        <p:spPr>
          <a:xfrm>
            <a:off x="658368" y="2999232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808" y="3072384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[17]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1261872" y="307238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工业和信息化部</a:t>
            </a:r>
            <a:endParaRPr lang="en-US" sz="680" dirty="0"/>
          </a:p>
        </p:txBody>
      </p:sp>
      <p:sp>
        <p:nvSpPr>
          <p:cNvPr id="41" name="Text 39"/>
          <p:cNvSpPr/>
          <p:nvPr/>
        </p:nvSpPr>
        <p:spPr>
          <a:xfrm>
            <a:off x="2487168" y="3072384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四部门关于开展2026年度享受增值税加计抵减政策的集成电路企业清单制定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6510528" y="307238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http://www.miit.gov.cn/zwgk/zcwj/wjfb/tz/art/2026/art_7d2e760b4be94217b8f55caec840b30d.html</a:t>
            </a:r>
            <a:endParaRPr lang="en-US" sz="580" dirty="0"/>
          </a:p>
        </p:txBody>
      </p:sp>
      <p:sp>
        <p:nvSpPr>
          <p:cNvPr id="43" name="Shape 41"/>
          <p:cNvSpPr/>
          <p:nvPr/>
        </p:nvSpPr>
        <p:spPr>
          <a:xfrm>
            <a:off x="658368" y="3310128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338328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[18]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1261872" y="338328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工业和信息化部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2487168" y="338328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工业和信息化部政策文件库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6510528" y="338328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https://www.miit.gov.cn/search/zcwjk.html?websiteid=110000000000000&amp;pg=&amp;p=&amp;tpl=14&amp;category=183&amp;q=</a:t>
            </a:r>
            <a:endParaRPr lang="en-US" sz="580" dirty="0"/>
          </a:p>
        </p:txBody>
      </p:sp>
      <p:sp>
        <p:nvSpPr>
          <p:cNvPr id="48" name="Shape 46"/>
          <p:cNvSpPr/>
          <p:nvPr/>
        </p:nvSpPr>
        <p:spPr>
          <a:xfrm>
            <a:off x="658368" y="3621024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369417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[19]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1261872" y="369417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工业和信息化部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2487168" y="369417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宁夏通信管理局举办2026年国家网络安全宣传周“电信日”政策宣贯培训会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6510528" y="369417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https://www.miit.gov.cn/xwfb/gxdt/dfdt/art/2026/art_e6cc05a7b861405bbd9639e819a13567.html</a:t>
            </a:r>
            <a:endParaRPr lang="en-US" sz="580" dirty="0"/>
          </a:p>
        </p:txBody>
      </p:sp>
      <p:sp>
        <p:nvSpPr>
          <p:cNvPr id="53" name="Shape 51"/>
          <p:cNvSpPr/>
          <p:nvPr/>
        </p:nvSpPr>
        <p:spPr>
          <a:xfrm>
            <a:off x="658368" y="3931920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400507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[20]</a:t>
            </a:r>
            <a:endParaRPr lang="en-US" sz="680" dirty="0"/>
          </a:p>
        </p:txBody>
      </p:sp>
      <p:sp>
        <p:nvSpPr>
          <p:cNvPr id="55" name="Text 53"/>
          <p:cNvSpPr/>
          <p:nvPr/>
        </p:nvSpPr>
        <p:spPr>
          <a:xfrm>
            <a:off x="1261872" y="400507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国家发展改革委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2487168" y="4005072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国家发展改革委</a:t>
            </a:r>
            <a:endParaRPr lang="en-US" sz="680" dirty="0"/>
          </a:p>
        </p:txBody>
      </p:sp>
      <p:sp>
        <p:nvSpPr>
          <p:cNvPr id="57" name="Text 55"/>
          <p:cNvSpPr/>
          <p:nvPr/>
        </p:nvSpPr>
        <p:spPr>
          <a:xfrm>
            <a:off x="6510528" y="400507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https://www.ndrc.gov.cn/</a:t>
            </a:r>
            <a:endParaRPr lang="en-US" sz="580" dirty="0"/>
          </a:p>
        </p:txBody>
      </p:sp>
      <p:sp>
        <p:nvSpPr>
          <p:cNvPr id="58" name="Shape 56"/>
          <p:cNvSpPr/>
          <p:nvPr/>
        </p:nvSpPr>
        <p:spPr>
          <a:xfrm>
            <a:off x="658368" y="4242816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49808" y="4315968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[21]</a:t>
            </a:r>
            <a:endParaRPr lang="en-US" sz="680" dirty="0"/>
          </a:p>
        </p:txBody>
      </p:sp>
      <p:sp>
        <p:nvSpPr>
          <p:cNvPr id="60" name="Text 58"/>
          <p:cNvSpPr/>
          <p:nvPr/>
        </p:nvSpPr>
        <p:spPr>
          <a:xfrm>
            <a:off x="1261872" y="431596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中华人民共和国中央人民政府</a:t>
            </a:r>
            <a:endParaRPr lang="en-US" sz="680" dirty="0"/>
          </a:p>
        </p:txBody>
      </p:sp>
      <p:sp>
        <p:nvSpPr>
          <p:cNvPr id="61" name="Text 59"/>
          <p:cNvSpPr/>
          <p:nvPr/>
        </p:nvSpPr>
        <p:spPr>
          <a:xfrm>
            <a:off x="2487168" y="4315968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中华人民共和国中央人民政府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6510528" y="431596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https://www.gov.cn/</a:t>
            </a:r>
            <a:endParaRPr lang="en-US" sz="580" dirty="0"/>
          </a:p>
        </p:txBody>
      </p:sp>
      <p:sp>
        <p:nvSpPr>
          <p:cNvPr id="63" name="Shape 61"/>
          <p:cNvSpPr/>
          <p:nvPr/>
        </p:nvSpPr>
        <p:spPr>
          <a:xfrm>
            <a:off x="658368" y="4553712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808" y="4626864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[22]</a:t>
            </a:r>
            <a:endParaRPr lang="en-US" sz="680" dirty="0"/>
          </a:p>
        </p:txBody>
      </p:sp>
      <p:sp>
        <p:nvSpPr>
          <p:cNvPr id="65" name="Text 63"/>
          <p:cNvSpPr/>
          <p:nvPr/>
        </p:nvSpPr>
        <p:spPr>
          <a:xfrm>
            <a:off x="1261872" y="462686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生态环境部</a:t>
            </a:r>
            <a:endParaRPr lang="en-US" sz="680" dirty="0"/>
          </a:p>
        </p:txBody>
      </p:sp>
      <p:sp>
        <p:nvSpPr>
          <p:cNvPr id="66" name="Text 64"/>
          <p:cNvSpPr/>
          <p:nvPr/>
        </p:nvSpPr>
        <p:spPr>
          <a:xfrm>
            <a:off x="2487168" y="4626864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生态环境部</a:t>
            </a:r>
            <a:endParaRPr lang="en-US" sz="680" dirty="0"/>
          </a:p>
        </p:txBody>
      </p:sp>
      <p:sp>
        <p:nvSpPr>
          <p:cNvPr id="67" name="Text 65"/>
          <p:cNvSpPr/>
          <p:nvPr/>
        </p:nvSpPr>
        <p:spPr>
          <a:xfrm>
            <a:off x="6510528" y="462686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https://www.mee.gov.cn/</a:t>
            </a:r>
            <a:endParaRPr lang="en-US" sz="580" dirty="0"/>
          </a:p>
        </p:txBody>
      </p:sp>
      <p:sp>
        <p:nvSpPr>
          <p:cNvPr id="68" name="Shape 66"/>
          <p:cNvSpPr/>
          <p:nvPr/>
        </p:nvSpPr>
        <p:spPr>
          <a:xfrm>
            <a:off x="658368" y="4864608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9808" y="493776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[23]</a:t>
            </a:r>
            <a:endParaRPr lang="en-US" sz="680" dirty="0"/>
          </a:p>
        </p:txBody>
      </p:sp>
      <p:sp>
        <p:nvSpPr>
          <p:cNvPr id="70" name="Text 68"/>
          <p:cNvSpPr/>
          <p:nvPr/>
        </p:nvSpPr>
        <p:spPr>
          <a:xfrm>
            <a:off x="1261872" y="493776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万润新能源</a:t>
            </a:r>
            <a:endParaRPr lang="en-US" sz="680" dirty="0"/>
          </a:p>
        </p:txBody>
      </p:sp>
      <p:sp>
        <p:nvSpPr>
          <p:cNvPr id="71" name="Text 69"/>
          <p:cNvSpPr/>
          <p:nvPr/>
        </p:nvSpPr>
        <p:spPr>
          <a:xfrm>
            <a:off x="2487168" y="493776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磷酸铁锂-湖北万润新能源科技股份有限公司_动力电池材料_消费电池材料_</a:t>
            </a:r>
            <a:endParaRPr lang="en-US" sz="680" dirty="0"/>
          </a:p>
        </p:txBody>
      </p:sp>
      <p:sp>
        <p:nvSpPr>
          <p:cNvPr id="72" name="Text 70"/>
          <p:cNvSpPr/>
          <p:nvPr/>
        </p:nvSpPr>
        <p:spPr>
          <a:xfrm>
            <a:off x="6510528" y="493776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https://www.hbwanrun.com/application_details/1.html</a:t>
            </a:r>
            <a:endParaRPr lang="en-US" sz="580" dirty="0"/>
          </a:p>
        </p:txBody>
      </p:sp>
      <p:sp>
        <p:nvSpPr>
          <p:cNvPr id="73" name="Shape 71"/>
          <p:cNvSpPr/>
          <p:nvPr/>
        </p:nvSpPr>
        <p:spPr>
          <a:xfrm>
            <a:off x="658368" y="5175504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49808" y="524865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[24]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1261872" y="524865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</a:t>
            </a:r>
            <a:endParaRPr lang="en-US" sz="680" dirty="0"/>
          </a:p>
        </p:txBody>
      </p:sp>
      <p:sp>
        <p:nvSpPr>
          <p:cNvPr id="76" name="Text 74"/>
          <p:cNvSpPr/>
          <p:nvPr/>
        </p:nvSpPr>
        <p:spPr>
          <a:xfrm>
            <a:off x="2487168" y="524865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湖南裕能</a:t>
            </a:r>
            <a:endParaRPr lang="en-US" sz="680" dirty="0"/>
          </a:p>
        </p:txBody>
      </p:sp>
      <p:sp>
        <p:nvSpPr>
          <p:cNvPr id="77" name="Text 75"/>
          <p:cNvSpPr/>
          <p:nvPr/>
        </p:nvSpPr>
        <p:spPr>
          <a:xfrm>
            <a:off x="6510528" y="524865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https://www.yunengchem.com/</a:t>
            </a:r>
            <a:endParaRPr lang="en-US" sz="580" dirty="0"/>
          </a:p>
        </p:txBody>
      </p:sp>
      <p:sp>
        <p:nvSpPr>
          <p:cNvPr id="78" name="Shape 76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引用规则</a:t>
            </a:r>
            <a:endParaRPr lang="en-US" sz="780" dirty="0"/>
          </a:p>
        </p:txBody>
      </p:sp>
      <p:sp>
        <p:nvSpPr>
          <p:cNvPr id="80" name="Text 78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正文引用编号与本页来源一一对应，未进入正文的公开来源保留在 JSON 审计记录中。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lifepo4_brief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磷酸铁锂行业早报 2026-10-12</dc:title>
  <dc:subject>LFP daily briefing</dc:subject>
  <dc:creator>lifepo4_brief</dc:creator>
  <cp:lastModifiedBy>lifepo4_brief</cp:lastModifiedBy>
  <cp:revision>1</cp:revision>
  <dcterms:created xsi:type="dcterms:W3CDTF">2026-10-12T03:28:10Z</dcterms:created>
  <dcterms:modified xsi:type="dcterms:W3CDTF">2026-10-12T03:28:10Z</dcterms:modified>
</cp:coreProperties>
</file>