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LFP DAILY 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2026-09-16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0080" y="10515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LFP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1792" y="1481328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58368" y="2176272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从公开事件到产业判断的每日工程化筛选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2761488"/>
            <a:ext cx="5715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月15日，四川35万吨高压实磷酸铁锂项目投产，且头部厂商高压实产品满产满销，表明高端产能正加速释放；同期，8月动力电池装车量同比增26.3%，需求端维持增长，但车企与电池厂话语权争夺加剧，叠加电池回收标准征求意见，行业竞争与合规要求同步提升。短期看，高压实产品供需两旺，但需警惕产能集中释放后的价格压力；政策层面，回收体系完善或推高成本，但长期利好规范企业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0" y="960120"/>
            <a:ext cx="3886200" cy="4526280"/>
          </a:xfrm>
          <a:prstGeom prst="rect">
            <a:avLst/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07808" y="11887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今日逻辑主线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82128" y="1755648"/>
            <a:ext cx="0" cy="3090672"/>
          </a:xfrm>
          <a:prstGeom prst="line">
            <a:avLst/>
          </a:prstGeom>
          <a:noFill/>
          <a:ln w="15240">
            <a:solidFill>
              <a:srgbClr val="7F9D8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90688" y="1700784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3880" y="1627632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70992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技术突破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790688" y="2267712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83880" y="2194560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2276856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产能变化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90688" y="2834640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83880" y="2761488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2843784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政策合规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7790688" y="3401568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83880" y="3328416"/>
            <a:ext cx="251460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341071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企业信号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7790688" y="3968496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83880" y="3895344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397764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风险机会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7790688" y="4535424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83880" y="4462272"/>
            <a:ext cx="251460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1040" y="454456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9月15日，四川35万吨高压实磷酸铁锂项目投产，且头部厂商高压实产品满产满销，表明高端产能正加速释放；同期，8月动力电池装车量同比增26.3%</a:t>
            </a:r>
            <a:endParaRPr lang="en-US" sz="10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2026-09-16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326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今日总览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880360" y="996696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9月15日，四川35万吨高压实磷酸铁锂项目投产，且头部厂商高压实产品满产满销，表明高端产能正加速释放；同期，8月动力电池装车量同比增26.3%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5074920" cy="1737360"/>
          </a:xfrm>
          <a:prstGeom prst="rect">
            <a:avLst/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1444752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16276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88720" y="1609344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今日结论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1188720" y="1883664"/>
            <a:ext cx="2194560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2029968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四川35万吨高压实磷酸铁锂项目投产，头部厂商高压实产品满产满销，显示高端产能需求旺盛；8月动力电池装车量同比增26.3%，支撑材料需求；但车企与电池厂博弈加剧，电池回收标准征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1188720" y="2862072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[1][2][3]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236208" y="1444752"/>
            <a:ext cx="5074920" cy="1737360"/>
          </a:xfrm>
          <a:prstGeom prst="rect">
            <a:avLst/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36208" y="1444752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4224" y="16276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766560" y="1609344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技术/产品路线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6766560" y="1883664"/>
            <a:ext cx="1316736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2029968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四川35万吨高压实磷酸铁锂项目投产，头部厂商高压实产品满产满销，表明高压实路线正加速产业化；高压实产品可提升能量密度，满足动力电池升级需求，但技术壁垒较高，中小企业可能面临淘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6766560" y="2862072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[4][5]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58368" y="3566160"/>
            <a:ext cx="5074920" cy="1737360"/>
          </a:xfrm>
          <a:prstGeom prst="rect">
            <a:avLst/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3566160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" y="374904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88720" y="3730752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产能/客户/订单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1188720" y="4005072"/>
            <a:ext cx="877824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88720" y="4151376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四川35万吨高压实磷酸铁锂项目投产，叠加头部厂商满产满销，显示高端产能扩张；同时，宁德时代收购吉利旗下电池厂，车企与电池厂博弈加剧，可能影响材料厂客户结构。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1188720" y="4983480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[6]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236208" y="3566160"/>
            <a:ext cx="5074920" cy="1737360"/>
          </a:xfrm>
          <a:prstGeom prst="rect">
            <a:avLst/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36208" y="3566160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64224" y="374904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766560" y="3730752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价格/盈利压力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6766560" y="4005072"/>
            <a:ext cx="1316736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0" y="4151376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8月动力电池装车量同比增26.3%，需求增长支撑材料价格；但高压实产能释放及车企争夺话语权，可能加剧价格竞争，材料厂盈利面临分化。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6766560" y="4983480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[1][2]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总览结论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9月15日，四川35万吨高压实磷酸铁锂项目投产，且头部厂商高压实产品满产满销，表明高端产能正加速释放；同期，8月动力电池装车量同比增26.3%</a:t>
            </a:r>
            <a:endParaRPr lang="en-US" sz="10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2026-09-16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今日结论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川35万吨高压实磷酸铁锂项目投产，头部厂商高压实产品满产满销，显示高端产能需求旺盛；8月动力电池装车量同比增26.3%，支撑材料需求；但车企与电池厂博弈加剧，电池回收标准征求意见，行业面临成本与合规双重考验。 [1][2][3]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依据：[1][2][3]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实项目投产与满产满销信号相互印证，表明动力电池能量密度升级趋势下，高压实铁锂正成为主流选择，可能挤压普通产能盈利空间；装车量增长则从需求端提供支撑，但增速能否持续需观察新能源车销量及储能招标；车企争夺话语权可能促使电池厂降价保份额，进而传导至材料端价格压力；回收标准征求意见长期利好正规回收企业，但短期增加合规成本。需进一步验证高压实产品渗透率、电池厂排产计划及回收政策具体条款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高压实产能持续释放且需求增速放缓，则普通磷酸铁锂价格可能承压，行业盈利分化加剧；若电池回收标准正式实施，则回收成本上升可能推高材料价格，但具备回收布局的企业或受益。跟踪指标：高压实产品月度出货量、电池厂排产计划、回收政策正式稿及补贴细则。证据边界：当前信息基于公开报道，具体产能爬坡及客户认证进度需进一步确认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关键数据解读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0" y="1993392"/>
            <a:ext cx="2560320" cy="1389888"/>
          </a:xfrm>
          <a:prstGeom prst="roundRect">
            <a:avLst>
              <a:gd name="adj" fmla="val 2632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18704" y="21031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26.3%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8759952" y="21671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8月动力电池装车量同比增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7918704" y="2578608"/>
            <a:ext cx="2176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公开信息：8月动力电池装车量同比增26.3%，支撑材料需求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7772400" y="44988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阅读提示：仅按公开报道原文呈现；不同企业、时间和统计范围不可直接横向比较。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若高压实产能持续释放且需求增速放缓，则普通磷酸铁锂价格可能承压，行业盈利分化加剧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2026-09-16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技术/产品路线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四川35万吨高压实磷酸铁锂项目投产，头部厂商高压实产品满产满销，表明高压实路线正加速产业化；高压实产品可提升能量密度，满足动力电池升级需求，但技术壁垒较高，中小企业可能面临淘汰。 [4][5]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依据：[4][5]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实项目投产与满产满销信号关联，反映下游电池厂对高能量密度铁锂的迫切需求，可能推动正极材料行业技术升级；具备高压实量产能力的头部厂商将受益，而普通产能可能过剩；需验证高压实产品的具体压实密度、循环寿命及成本溢价，以及电池厂接受度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高压实产品渗透率快速提升，则普通磷酸铁锂产能可能加速出清，行业集中度提高；若电池厂转向其他技术路线（如锰铁锂），则高压实投资可能面临风险。跟踪指标：高压实产品月度出货量、电池厂技术路线公告、压实密度等参数披露。证据边界：当前仅知项目投产和满产满销，具体客户结构和订单量未公开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四川35万吨高压实磷酸铁锂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高压实产品可提升能量密度，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[4][5] 高压实项目投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四川35万吨高压实磷酸铁锂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若高压实产品渗透率快速提升，则普通磷酸铁锂产能可能加速出清，行业集中度提高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2026-09-16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产能/客户/订单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四川35万吨高压实磷酸铁锂项目投产，叠加头部厂商满产满销，显示高端产能扩张；同时，宁德时代收购吉利旗下电池厂，车企与电池厂博弈加剧，可能影响材料厂客户结构。 [6]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依据：[6]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实项目投产增加供给，但满产满销表明需求同步增长；宁德时代收购电池厂可能强化其垂直整合，对材料供应商的议价能力增强，材料厂需绑定大客户；需验证新项目客户认证进度及宁德时代收购后的供应链调整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宁德时代收购后加大自产或压价，则材料供应商利润空间可能收窄；若材料厂成功绑定其他大客户，则影响可控。跟踪指标：宁德时代电池厂收购后产能规划、材料厂客户集中度、新项目客户名单。证据边界：收购细节及供应链影响尚未明确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落地链路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82128" y="2029968"/>
            <a:ext cx="2377440" cy="365760"/>
          </a:xfrm>
          <a:prstGeom prst="roundRect">
            <a:avLst>
              <a:gd name="adj" fmla="val 10000"/>
            </a:avLst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28432" y="2139696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8613648" y="2139696"/>
            <a:ext cx="14813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四川35万吨高压实磷酸铁锂项目投产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8979408" y="2441448"/>
            <a:ext cx="164592" cy="146304"/>
          </a:xfrm>
          <a:prstGeom prst="downArrow">
            <a:avLst/>
          </a:prstGeom>
          <a:solidFill>
            <a:srgbClr val="7F9D84"/>
          </a:solidFill>
          <a:ln w="12700">
            <a:solidFill>
              <a:srgbClr val="7F9D8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82128" y="2596896"/>
            <a:ext cx="237744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28432" y="2706624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</a:t>
            </a:r>
            <a:endParaRPr lang="en-US" sz="720" dirty="0"/>
          </a:p>
        </p:txBody>
      </p:sp>
      <p:sp>
        <p:nvSpPr>
          <p:cNvPr id="30" name="Text 28"/>
          <p:cNvSpPr/>
          <p:nvPr/>
        </p:nvSpPr>
        <p:spPr>
          <a:xfrm>
            <a:off x="8613648" y="2706624"/>
            <a:ext cx="14813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同时，宁德时代收购吉利旗下电池厂，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8979408" y="3008376"/>
            <a:ext cx="164592" cy="146304"/>
          </a:xfrm>
          <a:prstGeom prst="downArrow">
            <a:avLst/>
          </a:prstGeom>
          <a:solidFill>
            <a:srgbClr val="7F9D84"/>
          </a:solidFill>
          <a:ln w="12700">
            <a:solidFill>
              <a:srgbClr val="7F9D8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82128" y="3163824"/>
            <a:ext cx="2377440" cy="365760"/>
          </a:xfrm>
          <a:prstGeom prst="roundRect">
            <a:avLst>
              <a:gd name="adj" fmla="val 10000"/>
            </a:avLst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28432" y="327355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8613648" y="3273552"/>
            <a:ext cx="14813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[6] 高压实项目投产增加供给，但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7726680" y="453542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用企业、项目、产能、客户的链路承接文字结论。</a:t>
            </a:r>
            <a:endParaRPr lang="en-US" sz="760" dirty="0"/>
          </a:p>
        </p:txBody>
      </p:sp>
      <p:sp>
        <p:nvSpPr>
          <p:cNvPr id="36" name="Shape 34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若宁德时代收购后加大自产或压价，则材料供应商利润空间可能收窄</a:t>
            </a:r>
            <a:endParaRPr lang="en-US" sz="10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2026-09-16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价格/盈利压力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8月动力电池装车量同比增26.3%，需求增长支撑材料价格；但高压实产能释放及车企争夺话语权，可能加剧价格竞争，材料厂盈利面临分化。 [1][2]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依据：[1][2]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车量增长表明终端需求旺盛，但增速能否持续需观察新能源车销量；高压实产能释放可能增加高端供给，若需求跟不上，价格可能松动；车企与电池厂博弈可能导致电池降价，传导至材料端；需跟踪碳酸锂价格、磷酸铁锂市场报价及电池厂排产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装车量增速放缓而高压实产能持续释放，则磷酸铁锂价格可能下跌，高成本产能面临亏损；若碳酸锂价格反弹，则成本支撑可能延缓跌势。跟踪指标：月度装车量、磷酸铁锂市场均价、碳酸锂价格、电池厂采购策略。证据边界：当前价格数据未直接获取，需参考第三方报价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关键数据解读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0" y="1993392"/>
            <a:ext cx="2560320" cy="1389888"/>
          </a:xfrm>
          <a:prstGeom prst="roundRect">
            <a:avLst>
              <a:gd name="adj" fmla="val 2632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18704" y="21031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26.3%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8759952" y="21671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8月动力电池装车量同比增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7918704" y="2578608"/>
            <a:ext cx="2176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公开信息：8月动力电池装车量同比增26.3%，需求增长支撑材料价格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7772400" y="44988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阅读提示：仅按公开报道原文呈现；不同企业、时间和统计范围不可直接横向比较。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若装车量增速放缓而高压实产能持续释放，则磷酸铁锂价格可能下跌，高成本产能面临亏损</a:t>
            </a:r>
            <a:endParaRPr lang="en-US" sz="10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2026-09-16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政策/合规风险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动力电池回收利用产业标准体系建设指南公开征求意见，电池回收合规要求提升；美国撤销发电厂碳排放限制，或影响海外新能源政策环境，但短期对国内铁锂行业影响有限。 [3][7]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依据：[3][7]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回收标准征求意见长期利好正规回收企业，但短期增加电池厂和材料厂合规成本；美国政策变化可能削弱海外新能源需求，但国内铁锂以本土市场为主，直接影响较小；需关注回收标准正式稿及美国政策后续。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回收标准要求生产者责任延伸，则电池厂和材料厂成本上升，可能加速行业整合；若美国新能源政策持续倒退，则中国电池出口可能受阻，但内需市场或弥补。跟踪指标：回收标准正式稿、美国新能源车销量、中国电池出口数据。证据边界：回收标准具体条款未定，美国政策影响需观察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合规风险金字塔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03920" y="1975104"/>
            <a:ext cx="1097280" cy="512064"/>
          </a:xfrm>
          <a:prstGeom prst="trapezoid">
            <a:avLst/>
          </a:prstGeom>
          <a:solidFill>
            <a:srgbClr val="B85A4A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0" y="206654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监管红线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808976" y="249631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动力电池回收利用产业标准体系建设指</a:t>
            </a:r>
            <a:endParaRPr lang="en-US" sz="660" dirty="0"/>
          </a:p>
        </p:txBody>
      </p:sp>
      <p:sp>
        <p:nvSpPr>
          <p:cNvPr id="27" name="Shape 25"/>
          <p:cNvSpPr/>
          <p:nvPr/>
        </p:nvSpPr>
        <p:spPr>
          <a:xfrm>
            <a:off x="8183880" y="2615184"/>
            <a:ext cx="1737360" cy="512064"/>
          </a:xfrm>
          <a:prstGeom prst="trapezoid">
            <a:avLst/>
          </a:prstGeom>
          <a:solidFill>
            <a:srgbClr val="DDEBE0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5320" y="2706624"/>
            <a:ext cx="1554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合规动作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7808976" y="313639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美国撤销发电厂碳排放限制，或影响海</a:t>
            </a:r>
            <a:endParaRPr lang="en-US" sz="660" dirty="0"/>
          </a:p>
        </p:txBody>
      </p:sp>
      <p:sp>
        <p:nvSpPr>
          <p:cNvPr id="30" name="Shape 28"/>
          <p:cNvSpPr/>
          <p:nvPr/>
        </p:nvSpPr>
        <p:spPr>
          <a:xfrm>
            <a:off x="7863840" y="3255264"/>
            <a:ext cx="2377440" cy="512064"/>
          </a:xfrm>
          <a:prstGeom prst="trapezoid">
            <a:avLst/>
          </a:prstGeom>
          <a:solidFill>
            <a:srgbClr val="F4FAF6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55280" y="3346704"/>
            <a:ext cx="2194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经营影响/观察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7808976" y="377647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[3][7] 回收标准征求意见长期</a:t>
            </a:r>
            <a:endParaRPr lang="en-US" sz="660" dirty="0"/>
          </a:p>
        </p:txBody>
      </p:sp>
      <p:sp>
        <p:nvSpPr>
          <p:cNvPr id="33" name="Shape 31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若回收标准要求生产者责任延伸，则电池厂和材料厂成本上升，可能加速行业整合</a:t>
            </a:r>
            <a:endParaRPr lang="en-US" sz="10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2026-09-16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竞品观察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比亚迪ETT 44欧洲首发，600公里续航对标特斯拉Semi，显示磷酸铁锂在商用车领域应用拓展；半固态电池PACK集装箱储能项目落子盐城，竞品技术路线多元化。 [8][9]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依据：[8][9]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亚迪欧洲首发铁锂商用车，可能提升铁锂在海外商用车市场的份额，对国内材料厂形成出口机会；半固态电池储能项目则代表竞品技术路线，可能分流部分铁锂储能需求；需关注比亚迪商用车电池供应商及半固态电池成本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比亚迪商用车海外销量增长，则铁锂材料出口需求可能提升；若半固态电池成本快速下降，则铁锂在储能领域份额可能受挤压。跟踪指标：比亚迪商用车销量、半固态电池量产进度、储能招标技术路线。证据边界：比亚迪电池供应商未明确，半固态电池项目具体产能未披露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比亚迪ETT 44欧洲首发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半固态电池PACK集装箱储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[8][9] 比亚迪欧洲首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比亚迪ETT 44欧洲首发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若比亚迪商用车海外销量增长，则铁锂材料出口需求可能提升</a:t>
            </a:r>
            <a:endParaRPr lang="en-US" sz="10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2026-09-16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风险/机会/观察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风险：高压实产能集中释放可能引发价格战，回收标准增加合规成本；机会：装车量增长支撑需求，高压实产品溢价；观察：车企与电池厂博弈、美国政策变化、半固态电池进展。 [1][3][2][9]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依据：[1][3][2][9]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高压实产能释放与需求增长赛跑，若需求不及预期，价格风险上升；回收标准长期利好但短期阵痛；车企博弈可能重塑供应链格局；美国政策及半固态电池是外部变量；需综合跟踪多个指标。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高压实产能利用率维持高位且装车量增速超20%，则行业盈利可能保持稳定；若回收标准导致成本上升超预期，则中小企业可能退出。跟踪指标：高压实产能利用率、装车量月度增速、回收标准实施时间、半固态电池量产成本。证据边界：部分信息为行业传闻，需以官方公告为准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关键数据解读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0" y="1993392"/>
            <a:ext cx="2560320" cy="1389888"/>
          </a:xfrm>
          <a:prstGeom prst="roundRect">
            <a:avLst>
              <a:gd name="adj" fmla="val 2632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18704" y="21031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8759952" y="21671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利用率维持高位且装车量增速超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7918704" y="2578608"/>
            <a:ext cx="2176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公开信息：若高压实产能利用率维持高位且装车量增速超20%，则行业盈利可能保持稳定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7772400" y="44988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阅读提示：仅按公开报道原文呈现；不同企业、时间和统计范围不可直接横向比较。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若高压实产能利用率维持高位且装车量增速超20%，则行业盈利可能保持稳定</a:t>
            </a:r>
            <a:endParaRPr lang="en-US" sz="10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INDEX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2026-09-16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来源索引与可追溯性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444752"/>
            <a:ext cx="566928" cy="310896"/>
          </a:xfrm>
          <a:prstGeom prst="rect">
            <a:avLst/>
          </a:prstGeom>
          <a:solidFill>
            <a:srgbClr val="121212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3619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225296" y="1444752"/>
            <a:ext cx="12344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153619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59736" y="1444752"/>
            <a:ext cx="39776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1536192"/>
            <a:ext cx="3831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437376" y="1444752"/>
            <a:ext cx="4645152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1536192"/>
            <a:ext cx="4498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58368" y="175564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18288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261872" y="182880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2487168" y="182880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8月动力电池装车量同比增26.3% - 盖世汽车社区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6510528" y="182880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https://news.google.com/rss/articles/CBMiUEFVX3lxTE9ONl9OSXgtYlU2R3U2UFVtN3hVeXl4cVMzZFZNRVlOM2wzMUgtMFdsaDVwUThROGpCcWs2cWhnbS1KeWRjSmRDYUhrRmh4QXVO?oc=5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658368" y="206654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13969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261872" y="213969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2487168" y="213969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车企争夺动力电池话语权，宁德时代怕了吗？ - k.sina.com.cn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6510528" y="213969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https://news.google.com/rss/articles/CBMifkFVX3lxTE1ROFNmQklqMkdkdjBmN3lDcDhjd2x1akNZYklES0Q1aWNXUnItTWtycWF2SGhzUTdXV0pqMk5EUFBEc081YWU5NXU5Z2twTjhYNVR3aml2UGxscmJsZEU2Z0lwWS1Da01PVDNxRFhLMXJkb1pXMlN4VXJIWlZvUQ?oc=5</a:t>
            </a:r>
            <a:endParaRPr lang="en-US" sz="580" dirty="0"/>
          </a:p>
        </p:txBody>
      </p:sp>
      <p:sp>
        <p:nvSpPr>
          <p:cNvPr id="28" name="Shape 26"/>
          <p:cNvSpPr/>
          <p:nvPr/>
        </p:nvSpPr>
        <p:spPr>
          <a:xfrm>
            <a:off x="658368" y="2377440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24505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261872" y="245059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2487168" y="245059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动力电池回收利用产业标准体系建设指南公开征求意见- 快讯 - ebru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6510528" y="245059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https://news.google.com/rss/articles/CBMiWEFVX3lxTE1XVWdoNUhUSEU4VDRINTJGcVVFVkowUjdFU3otelMzNWZXYmNxWTRfQ21SeVItS1pVcG5nY0NsZ1FaNzVRcXkxUWhZS04xOVRmTzRJY1gxTDc?oc=5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658368" y="2688336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276148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[4]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1261872" y="276148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磷酸铁锂材料与电芯公众号广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2487168" y="276148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四川35万吨高压实磷酸铁锂项目投产!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6510528" y="276148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eixin.sogou.com/link?url=dn9a_-gY295K0Rci_xozVXfdMkSQTLW6cwJThYulHEtVjXrGTiVgS94ifs0NBfdUBd85hcNlpOlJIUkdeERzBFqXa8Fplpd9_UNHoOSI8maMQ7lcfwg_q9NoNOU9XASPDUgBxGNmDmcnEYZ6VNG5sJMrwCVIQVlXCt-LGR9_ztpY9364UjxjZVSvkHjkNJMHXudtJxpEsQVMx_rSGJSO0ZaZ60EOAe_h395C_ykTeN61Nx2d6mpdSKSlnvDOstqGUHcBNe-UM33I3OTRHYU2og..&amp;type=2&amp;query=%E9%93%81%E9%94%82 %E9%AB%98%E5%8E%8B%E5%AE%9E %E6%AD%A3%E6%9E%81%E6%9D%90%E6%96%99 %E9%87%8F%E4%BA%A7&amp;token=30C087CFD702B81024257FB452331D8B24A41B906AA9FF72</a:t>
            </a:r>
            <a:endParaRPr lang="en-US" sz="580" dirty="0"/>
          </a:p>
        </p:txBody>
      </p:sp>
      <p:sp>
        <p:nvSpPr>
          <p:cNvPr id="38" name="Shape 36"/>
          <p:cNvSpPr/>
          <p:nvPr/>
        </p:nvSpPr>
        <p:spPr>
          <a:xfrm>
            <a:off x="658368" y="2999232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307238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[5]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1261872" y="307238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2487168" y="307238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3.79万配宁德时代电池！奔腾小马吉祥马值得买吗？3个维度说清+FAQ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6510528" y="307238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https://k.sina.com.cn/article_7879996685_1d5af350d06802gm86.html</a:t>
            </a:r>
            <a:endParaRPr lang="en-US" sz="580" dirty="0"/>
          </a:p>
        </p:txBody>
      </p:sp>
      <p:sp>
        <p:nvSpPr>
          <p:cNvPr id="43" name="Shape 41"/>
          <p:cNvSpPr/>
          <p:nvPr/>
        </p:nvSpPr>
        <p:spPr>
          <a:xfrm>
            <a:off x="658368" y="3310128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" y="338328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[6]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1261872" y="338328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2487168" y="338328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宁德时代收购吉利旗下电池厂 - k.sina.com.cn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6510528" y="338328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https://k.sina.com.cn/article_2723054902_a24e853600101agkg.html?from=finance</a:t>
            </a:r>
            <a:endParaRPr lang="en-US" sz="580" dirty="0"/>
          </a:p>
        </p:txBody>
      </p:sp>
      <p:sp>
        <p:nvSpPr>
          <p:cNvPr id="48" name="Shape 46"/>
          <p:cNvSpPr/>
          <p:nvPr/>
        </p:nvSpPr>
        <p:spPr>
          <a:xfrm>
            <a:off x="658368" y="3621024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" y="369417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[7]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1261872" y="36941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2487168" y="369417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美国撤销大部分发电厂碳排放限制，并拟削弱未来监管依据 - 新浪财经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6510528" y="369417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https://finance.sina.com.cn/stock/usstock/c/2026-09-15/doc-inirwwmu8636943.shtml?cre=tianyi&amp;mod=pchp&amp;loc=12&amp;r=0&amp;rfunc=57&amp;tj=cxvertical_pc_hp&amp;tr=12</a:t>
            </a:r>
            <a:endParaRPr lang="en-US" sz="580" dirty="0"/>
          </a:p>
        </p:txBody>
      </p:sp>
      <p:sp>
        <p:nvSpPr>
          <p:cNvPr id="53" name="Shape 51"/>
          <p:cNvSpPr/>
          <p:nvPr/>
        </p:nvSpPr>
        <p:spPr>
          <a:xfrm>
            <a:off x="658368" y="3931920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400507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[8]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1261872" y="400507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2487168" y="400507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比亚迪ETT 44欧洲首发，600公里续航对标特斯拉Semi - 汽车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6510528" y="400507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https://chejiahao.autohome.com.cn/info/26458348</a:t>
            </a:r>
            <a:endParaRPr lang="en-US" sz="580" dirty="0"/>
          </a:p>
        </p:txBody>
      </p:sp>
      <p:sp>
        <p:nvSpPr>
          <p:cNvPr id="58" name="Shape 56"/>
          <p:cNvSpPr/>
          <p:nvPr/>
        </p:nvSpPr>
        <p:spPr>
          <a:xfrm>
            <a:off x="658368" y="4242816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" y="431596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[9]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1261872" y="431596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2487168" y="431596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跃动达半固态电池 PACK 集装箱储能项目正式落子盐城！ - 碳索储能网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6510528" y="431596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https://mcn.solarbe.com/news/20260916/50029190.html</a:t>
            </a:r>
            <a:endParaRPr lang="en-US" sz="580" dirty="0"/>
          </a:p>
        </p:txBody>
      </p:sp>
      <p:sp>
        <p:nvSpPr>
          <p:cNvPr id="63" name="Shape 61"/>
          <p:cNvSpPr/>
          <p:nvPr/>
        </p:nvSpPr>
        <p:spPr>
          <a:xfrm>
            <a:off x="658368" y="4553712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" y="462686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[10]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1261872" y="462686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66" name="Text 64"/>
          <p:cNvSpPr/>
          <p:nvPr/>
        </p:nvSpPr>
        <p:spPr>
          <a:xfrm>
            <a:off x="2487168" y="462686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67" name="Text 65"/>
          <p:cNvSpPr/>
          <p:nvPr/>
        </p:nvSpPr>
        <p:spPr>
          <a:xfrm>
            <a:off x="6510528" y="462686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</a:t>
            </a:r>
            <a:endParaRPr lang="en-US" sz="580" dirty="0"/>
          </a:p>
        </p:txBody>
      </p:sp>
      <p:sp>
        <p:nvSpPr>
          <p:cNvPr id="68" name="Shape 66"/>
          <p:cNvSpPr/>
          <p:nvPr/>
        </p:nvSpPr>
        <p:spPr>
          <a:xfrm>
            <a:off x="658368" y="486460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9808" y="493776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[11]</a:t>
            </a:r>
            <a:endParaRPr lang="en-US" sz="680" dirty="0"/>
          </a:p>
        </p:txBody>
      </p:sp>
      <p:sp>
        <p:nvSpPr>
          <p:cNvPr id="70" name="Text 68"/>
          <p:cNvSpPr/>
          <p:nvPr/>
        </p:nvSpPr>
        <p:spPr>
          <a:xfrm>
            <a:off x="1261872" y="493776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鑫椤锂电</a:t>
            </a:r>
            <a:endParaRPr lang="en-US" sz="680" dirty="0"/>
          </a:p>
        </p:txBody>
      </p:sp>
      <p:sp>
        <p:nvSpPr>
          <p:cNvPr id="71" name="Text 69"/>
          <p:cNvSpPr/>
          <p:nvPr/>
        </p:nvSpPr>
        <p:spPr>
          <a:xfrm>
            <a:off x="2487168" y="493776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鑫椤锂电</a:t>
            </a:r>
            <a:endParaRPr lang="en-US" sz="680" dirty="0"/>
          </a:p>
        </p:txBody>
      </p:sp>
      <p:sp>
        <p:nvSpPr>
          <p:cNvPr id="72" name="Text 70"/>
          <p:cNvSpPr/>
          <p:nvPr/>
        </p:nvSpPr>
        <p:spPr>
          <a:xfrm>
            <a:off x="6510528" y="493776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https://www.icbattery.com/</a:t>
            </a:r>
            <a:endParaRPr lang="en-US" sz="580" dirty="0"/>
          </a:p>
        </p:txBody>
      </p:sp>
      <p:sp>
        <p:nvSpPr>
          <p:cNvPr id="73" name="Shape 71"/>
          <p:cNvSpPr/>
          <p:nvPr/>
        </p:nvSpPr>
        <p:spPr>
          <a:xfrm>
            <a:off x="658368" y="517550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9808" y="524865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[12]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1261872" y="524865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高工锂电</a:t>
            </a:r>
            <a:endParaRPr lang="en-US" sz="680" dirty="0"/>
          </a:p>
        </p:txBody>
      </p:sp>
      <p:sp>
        <p:nvSpPr>
          <p:cNvPr id="76" name="Text 74"/>
          <p:cNvSpPr/>
          <p:nvPr/>
        </p:nvSpPr>
        <p:spPr>
          <a:xfrm>
            <a:off x="2487168" y="524865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高工锂电</a:t>
            </a:r>
            <a:endParaRPr lang="en-US" sz="680" dirty="0"/>
          </a:p>
        </p:txBody>
      </p:sp>
      <p:sp>
        <p:nvSpPr>
          <p:cNvPr id="77" name="Text 75"/>
          <p:cNvSpPr/>
          <p:nvPr/>
        </p:nvSpPr>
        <p:spPr>
          <a:xfrm>
            <a:off x="6510528" y="524865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https://www.gg-lb.com/</a:t>
            </a:r>
            <a:endParaRPr lang="en-US" sz="580" dirty="0"/>
          </a:p>
        </p:txBody>
      </p:sp>
      <p:sp>
        <p:nvSpPr>
          <p:cNvPr id="78" name="Shape 76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引用规则</a:t>
            </a:r>
            <a:endParaRPr lang="en-US" sz="780" dirty="0"/>
          </a:p>
        </p:txBody>
      </p:sp>
      <p:sp>
        <p:nvSpPr>
          <p:cNvPr id="80" name="Text 78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正文引用编号与本页来源一一对应，未进入正文的公开来源保留在 JSON 审计记录中。</a:t>
            </a:r>
            <a:endParaRPr lang="en-US" sz="10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INDEX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2026-09-16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来源索引与可追溯性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444752"/>
            <a:ext cx="566928" cy="310896"/>
          </a:xfrm>
          <a:prstGeom prst="rect">
            <a:avLst/>
          </a:prstGeom>
          <a:solidFill>
            <a:srgbClr val="121212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3619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225296" y="1444752"/>
            <a:ext cx="12344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153619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59736" y="1444752"/>
            <a:ext cx="39776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1536192"/>
            <a:ext cx="3831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437376" y="1444752"/>
            <a:ext cx="4645152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1536192"/>
            <a:ext cx="4498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58368" y="175564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18288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[13]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261872" y="182880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电池中国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2487168" y="182880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电池中国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6510528" y="182880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https://www.cbea.com/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658368" y="206654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13969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[14]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261872" y="213969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证券时报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2487168" y="213969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证券时报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6510528" y="213969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https://www.stcn.com/</a:t>
            </a:r>
            <a:endParaRPr lang="en-US" sz="580" dirty="0"/>
          </a:p>
        </p:txBody>
      </p:sp>
      <p:sp>
        <p:nvSpPr>
          <p:cNvPr id="28" name="Shape 26"/>
          <p:cNvSpPr/>
          <p:nvPr/>
        </p:nvSpPr>
        <p:spPr>
          <a:xfrm>
            <a:off x="658368" y="2377440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24505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[15]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261872" y="245059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界面新闻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2487168" y="245059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界面新闻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6510528" y="245059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https://www.jiemian.com/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658368" y="2688336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276148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[16]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1261872" y="276148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2487168" y="276148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国新办举行国务院政策例行吹风会 介绍加强中小企业回款难问题治理有关工作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6510528" y="276148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http://www.miit.gov.cn/xwfb/bldhd/art/2026/art_7285ee48244d4f20b0f127c7f013ec11.html</a:t>
            </a:r>
            <a:endParaRPr lang="en-US" sz="580" dirty="0"/>
          </a:p>
        </p:txBody>
      </p:sp>
      <p:sp>
        <p:nvSpPr>
          <p:cNvPr id="38" name="Shape 36"/>
          <p:cNvSpPr/>
          <p:nvPr/>
        </p:nvSpPr>
        <p:spPr>
          <a:xfrm>
            <a:off x="658368" y="2999232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307238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[17]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1261872" y="307238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2487168" y="307238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国际电信联盟第七届世界电信/信息通信技术政策论坛在巴哈马拿骚召开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6510528" y="307238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http://www.miit.gov.cn/xwfb/bldhd/art/2026/art_7982b459b09e4adb907255c723f152c8.html</a:t>
            </a:r>
            <a:endParaRPr lang="en-US" sz="580" dirty="0"/>
          </a:p>
        </p:txBody>
      </p:sp>
      <p:sp>
        <p:nvSpPr>
          <p:cNvPr id="43" name="Shape 41"/>
          <p:cNvSpPr/>
          <p:nvPr/>
        </p:nvSpPr>
        <p:spPr>
          <a:xfrm>
            <a:off x="658368" y="3310128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" y="338328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[18]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1261872" y="338328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2487168" y="338328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关于公开征求《动力电池回收利用产业标准体系建设指南（2026版）》（征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6510528" y="338328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https://www.miit.gov.cn/gzcy/yjzj/art/2026/art_9a86538cc7c04647862b1af4125f8ee9.html</a:t>
            </a:r>
            <a:endParaRPr lang="en-US" sz="580" dirty="0"/>
          </a:p>
        </p:txBody>
      </p:sp>
      <p:sp>
        <p:nvSpPr>
          <p:cNvPr id="48" name="Shape 46"/>
          <p:cNvSpPr/>
          <p:nvPr/>
        </p:nvSpPr>
        <p:spPr>
          <a:xfrm>
            <a:off x="658368" y="3621024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" y="369417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[19]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1261872" y="36941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2487168" y="369417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工业和信息化部政策文件库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6510528" y="369417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https://www.miit.gov.cn/search/zcwjk.html?websiteid=110000000000000&amp;pg=&amp;p=&amp;tpl=14&amp;category=183&amp;q=</a:t>
            </a:r>
            <a:endParaRPr lang="en-US" sz="580" dirty="0"/>
          </a:p>
        </p:txBody>
      </p:sp>
      <p:sp>
        <p:nvSpPr>
          <p:cNvPr id="53" name="Shape 51"/>
          <p:cNvSpPr/>
          <p:nvPr/>
        </p:nvSpPr>
        <p:spPr>
          <a:xfrm>
            <a:off x="658368" y="3931920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400507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[20]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1261872" y="400507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国家发展改革委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2487168" y="400507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国家发展改革委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6510528" y="400507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https://www.ndrc.gov.cn/</a:t>
            </a:r>
            <a:endParaRPr lang="en-US" sz="580" dirty="0"/>
          </a:p>
        </p:txBody>
      </p:sp>
      <p:sp>
        <p:nvSpPr>
          <p:cNvPr id="58" name="Shape 56"/>
          <p:cNvSpPr/>
          <p:nvPr/>
        </p:nvSpPr>
        <p:spPr>
          <a:xfrm>
            <a:off x="658368" y="4242816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" y="431596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[21]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1261872" y="431596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中华人民共和国中央人民政府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2487168" y="431596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中华人民共和国中央人民政府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6510528" y="431596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https://www.gov.cn/</a:t>
            </a:r>
            <a:endParaRPr lang="en-US" sz="580" dirty="0"/>
          </a:p>
        </p:txBody>
      </p:sp>
      <p:sp>
        <p:nvSpPr>
          <p:cNvPr id="63" name="Shape 61"/>
          <p:cNvSpPr/>
          <p:nvPr/>
        </p:nvSpPr>
        <p:spPr>
          <a:xfrm>
            <a:off x="658368" y="4553712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" y="462686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[22]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1261872" y="462686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生态环境部</a:t>
            </a:r>
            <a:endParaRPr lang="en-US" sz="680" dirty="0"/>
          </a:p>
        </p:txBody>
      </p:sp>
      <p:sp>
        <p:nvSpPr>
          <p:cNvPr id="66" name="Text 64"/>
          <p:cNvSpPr/>
          <p:nvPr/>
        </p:nvSpPr>
        <p:spPr>
          <a:xfrm>
            <a:off x="2487168" y="462686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生态环境部</a:t>
            </a:r>
            <a:endParaRPr lang="en-US" sz="680" dirty="0"/>
          </a:p>
        </p:txBody>
      </p:sp>
      <p:sp>
        <p:nvSpPr>
          <p:cNvPr id="67" name="Text 65"/>
          <p:cNvSpPr/>
          <p:nvPr/>
        </p:nvSpPr>
        <p:spPr>
          <a:xfrm>
            <a:off x="6510528" y="462686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https://www.mee.gov.cn/</a:t>
            </a:r>
            <a:endParaRPr lang="en-US" sz="580" dirty="0"/>
          </a:p>
        </p:txBody>
      </p:sp>
      <p:sp>
        <p:nvSpPr>
          <p:cNvPr id="68" name="Shape 66"/>
          <p:cNvSpPr/>
          <p:nvPr/>
        </p:nvSpPr>
        <p:spPr>
          <a:xfrm>
            <a:off x="658368" y="486460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9808" y="493776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[23]</a:t>
            </a:r>
            <a:endParaRPr lang="en-US" sz="680" dirty="0"/>
          </a:p>
        </p:txBody>
      </p:sp>
      <p:sp>
        <p:nvSpPr>
          <p:cNvPr id="70" name="Text 68"/>
          <p:cNvSpPr/>
          <p:nvPr/>
        </p:nvSpPr>
        <p:spPr>
          <a:xfrm>
            <a:off x="1261872" y="493776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万润新能源</a:t>
            </a:r>
            <a:endParaRPr lang="en-US" sz="680" dirty="0"/>
          </a:p>
        </p:txBody>
      </p:sp>
      <p:sp>
        <p:nvSpPr>
          <p:cNvPr id="71" name="Text 69"/>
          <p:cNvSpPr/>
          <p:nvPr/>
        </p:nvSpPr>
        <p:spPr>
          <a:xfrm>
            <a:off x="2487168" y="493776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磷酸铁锂-湖北万润新能源科技股份有限公司_动力电池材料_消费电池材料_</a:t>
            </a:r>
            <a:endParaRPr lang="en-US" sz="680" dirty="0"/>
          </a:p>
        </p:txBody>
      </p:sp>
      <p:sp>
        <p:nvSpPr>
          <p:cNvPr id="72" name="Text 70"/>
          <p:cNvSpPr/>
          <p:nvPr/>
        </p:nvSpPr>
        <p:spPr>
          <a:xfrm>
            <a:off x="6510528" y="493776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https://www.hbwanrun.com/application_details/1.html</a:t>
            </a:r>
            <a:endParaRPr lang="en-US" sz="580" dirty="0"/>
          </a:p>
        </p:txBody>
      </p:sp>
      <p:sp>
        <p:nvSpPr>
          <p:cNvPr id="73" name="Shape 71"/>
          <p:cNvSpPr/>
          <p:nvPr/>
        </p:nvSpPr>
        <p:spPr>
          <a:xfrm>
            <a:off x="658368" y="517550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9808" y="524865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[24]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1261872" y="524865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湖南裕能</a:t>
            </a:r>
            <a:endParaRPr lang="en-US" sz="680" dirty="0"/>
          </a:p>
        </p:txBody>
      </p:sp>
      <p:sp>
        <p:nvSpPr>
          <p:cNvPr id="76" name="Text 74"/>
          <p:cNvSpPr/>
          <p:nvPr/>
        </p:nvSpPr>
        <p:spPr>
          <a:xfrm>
            <a:off x="2487168" y="524865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湖南裕能</a:t>
            </a:r>
            <a:endParaRPr lang="en-US" sz="680" dirty="0"/>
          </a:p>
        </p:txBody>
      </p:sp>
      <p:sp>
        <p:nvSpPr>
          <p:cNvPr id="77" name="Text 75"/>
          <p:cNvSpPr/>
          <p:nvPr/>
        </p:nvSpPr>
        <p:spPr>
          <a:xfrm>
            <a:off x="6510528" y="524865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https://www.yunengchem.com/</a:t>
            </a:r>
            <a:endParaRPr lang="en-US" sz="580" dirty="0"/>
          </a:p>
        </p:txBody>
      </p:sp>
      <p:sp>
        <p:nvSpPr>
          <p:cNvPr id="78" name="Shape 76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引用规则</a:t>
            </a:r>
            <a:endParaRPr lang="en-US" sz="780" dirty="0"/>
          </a:p>
        </p:txBody>
      </p:sp>
      <p:sp>
        <p:nvSpPr>
          <p:cNvPr id="80" name="Text 78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正文引用编号与本页来源一一对应，未进入正文的公开来源保留在 JSON 审计记录中。</a:t>
            </a:r>
            <a:endParaRPr lang="en-US" sz="10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lifepo4_brief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磷酸铁锂行业早报 2026-09-16</dc:title>
  <dc:subject>LFP daily briefing</dc:subject>
  <dc:creator>lifepo4_brief</dc:creator>
  <cp:lastModifiedBy>lifepo4_brief</cp:lastModifiedBy>
  <cp:revision>1</cp:revision>
  <dcterms:created xsi:type="dcterms:W3CDTF">2026-09-16T02:32:34Z</dcterms:created>
  <dcterms:modified xsi:type="dcterms:W3CDTF">2026-09-16T02:32:34Z</dcterms:modified>
</cp:coreProperties>
</file>