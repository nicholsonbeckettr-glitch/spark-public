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1.</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LFP DAILY BRIEF</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2026-10-23</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01</a:t>
            </a:r>
            <a:endParaRPr lang="en-US" sz="730" dirty="0"/>
          </a:p>
        </p:txBody>
      </p:sp>
      <p:sp>
        <p:nvSpPr>
          <p:cNvPr id="9" name="Text 7"/>
          <p:cNvSpPr/>
          <p:nvPr/>
        </p:nvSpPr>
        <p:spPr>
          <a:xfrm>
            <a:off x="640080" y="1051560"/>
            <a:ext cx="1554480" cy="411480"/>
          </a:xfrm>
          <a:prstGeom prst="rect">
            <a:avLst/>
          </a:prstGeom>
          <a:noFill/>
          <a:ln/>
        </p:spPr>
        <p:txBody>
          <a:bodyPr wrap="square" lIns="0" tIns="0" rIns="0" bIns="0" rtlCol="0" anchor="ctr"/>
          <a:lstStyle/>
          <a:p>
            <a:pPr indent="0" marL="0">
              <a:buNone/>
            </a:pPr>
            <a:r>
              <a:rPr lang="en-US" sz="2400" b="1" dirty="0">
                <a:solidFill>
                  <a:srgbClr val="487052"/>
                </a:solidFill>
                <a:latin typeface="Aptos" pitchFamily="34" charset="0"/>
                <a:ea typeface="Aptos" pitchFamily="34" charset="-122"/>
                <a:cs typeface="Aptos" pitchFamily="34" charset="-120"/>
              </a:rPr>
              <a:t>LFP</a:t>
            </a:r>
            <a:endParaRPr lang="en-US" sz="2400" dirty="0"/>
          </a:p>
        </p:txBody>
      </p:sp>
      <p:sp>
        <p:nvSpPr>
          <p:cNvPr id="10" name="Text 8"/>
          <p:cNvSpPr/>
          <p:nvPr/>
        </p:nvSpPr>
        <p:spPr>
          <a:xfrm>
            <a:off x="621792" y="1481328"/>
            <a:ext cx="6035040" cy="621792"/>
          </a:xfrm>
          <a:prstGeom prst="rect">
            <a:avLst/>
          </a:prstGeom>
          <a:noFill/>
          <a:ln/>
        </p:spPr>
        <p:txBody>
          <a:bodyPr wrap="square" lIns="0" tIns="0" rIns="0" bIns="0" rtlCol="0" anchor="ctr">
            <a:normAutofit/>
          </a:bodyPr>
          <a:lstStyle/>
          <a:p>
            <a:pPr indent="0" marL="0">
              <a:buNone/>
            </a:pPr>
            <a:r>
              <a:rPr lang="en-US" sz="2600" b="1" dirty="0">
                <a:solidFill>
                  <a:srgbClr val="121212"/>
                </a:solidFill>
                <a:latin typeface="Microsoft YaHei" pitchFamily="34" charset="0"/>
                <a:ea typeface="Microsoft YaHei" pitchFamily="34" charset="-122"/>
                <a:cs typeface="Microsoft YaHei" pitchFamily="34" charset="-120"/>
              </a:rPr>
              <a:t>磷酸铁锂行业早报</a:t>
            </a:r>
            <a:endParaRPr lang="en-US" sz="2600" dirty="0"/>
          </a:p>
        </p:txBody>
      </p:sp>
      <p:sp>
        <p:nvSpPr>
          <p:cNvPr id="11" name="Text 9"/>
          <p:cNvSpPr/>
          <p:nvPr/>
        </p:nvSpPr>
        <p:spPr>
          <a:xfrm>
            <a:off x="658368" y="2176272"/>
            <a:ext cx="5852160" cy="310896"/>
          </a:xfrm>
          <a:prstGeom prst="rect">
            <a:avLst/>
          </a:prstGeom>
          <a:noFill/>
          <a:ln/>
        </p:spPr>
        <p:txBody>
          <a:bodyPr wrap="square" lIns="0" tIns="0" rIns="0" bIns="0" rtlCol="0" anchor="ctr"/>
          <a:lstStyle/>
          <a:p>
            <a:pPr indent="0" marL="0">
              <a:buNone/>
            </a:pPr>
            <a:r>
              <a:rPr lang="en-US" sz="1200" dirty="0">
                <a:solidFill>
                  <a:srgbClr val="6D756F"/>
                </a:solidFill>
                <a:latin typeface="Microsoft YaHei" pitchFamily="34" charset="0"/>
                <a:ea typeface="Microsoft YaHei" pitchFamily="34" charset="-122"/>
                <a:cs typeface="Microsoft YaHei" pitchFamily="34" charset="-120"/>
              </a:rPr>
              <a:t>从公开事件到产业判断的每日工程化筛选</a:t>
            </a:r>
            <a:endParaRPr lang="en-US" sz="1200" dirty="0"/>
          </a:p>
        </p:txBody>
      </p:sp>
      <p:sp>
        <p:nvSpPr>
          <p:cNvPr id="12" name="Text 10"/>
          <p:cNvSpPr/>
          <p:nvPr/>
        </p:nvSpPr>
        <p:spPr>
          <a:xfrm>
            <a:off x="658368" y="2761488"/>
            <a:ext cx="5715000" cy="1188720"/>
          </a:xfrm>
          <a:prstGeom prst="rect">
            <a:avLst/>
          </a:prstGeom>
          <a:noFill/>
          <a:ln/>
        </p:spPr>
        <p:txBody>
          <a:bodyPr wrap="square" lIns="0" tIns="0" rIns="0" bIns="0" rtlCol="0" anchor="ctr">
            <a:normAutofit/>
          </a:bodyPr>
          <a:lstStyle/>
          <a:p>
            <a:pPr indent="0" marL="0">
              <a:buNone/>
            </a:pPr>
            <a:r>
              <a:rPr lang="en-US" sz="1400" b="1" dirty="0">
                <a:solidFill>
                  <a:srgbClr val="121212"/>
                </a:solidFill>
                <a:latin typeface="Microsoft YaHei" pitchFamily="34" charset="0"/>
                <a:ea typeface="Microsoft YaHei" pitchFamily="34" charset="-122"/>
                <a:cs typeface="Microsoft YaHei" pitchFamily="34" charset="-120"/>
              </a:rPr>
              <a:t>今日磷酸铁锂行业信号集中在高压实产品量产推进与海外项目股权调整。天原第五代高压实完成吨试并宣称具备供货能力，龙蟠科技常州锂源第四代高压实稳定量产，技术迭代加速但需验证实际出货。龙蟠拟出售印尼二期项目76%股权，或反映海外扩产策略收缩。锂矿三季报业绩高增但预期分歧显现，成本端压力与盈利分化并存。政策端电池出海合规与回收体系建设成为新考题。整体看，产品升级与产能布局调整并行，需跟踪高压实订单落地及海外项目股权变动对供给格局的影响。</a:t>
            </a:r>
            <a:endParaRPr lang="en-US" sz="1400" dirty="0"/>
          </a:p>
        </p:txBody>
      </p:sp>
      <p:sp>
        <p:nvSpPr>
          <p:cNvPr id="13" name="Shape 11"/>
          <p:cNvSpPr/>
          <p:nvPr/>
        </p:nvSpPr>
        <p:spPr>
          <a:xfrm>
            <a:off x="7315200" y="960120"/>
            <a:ext cx="3886200" cy="4526280"/>
          </a:xfrm>
          <a:prstGeom prst="rect">
            <a:avLst/>
          </a:prstGeom>
          <a:solidFill>
            <a:srgbClr val="F4FAF6"/>
          </a:solidFill>
          <a:ln w="10160">
            <a:solidFill>
              <a:srgbClr val="DADADA"/>
            </a:solidFill>
            <a:prstDash val="solid"/>
          </a:ln>
        </p:spPr>
      </p:sp>
      <p:sp>
        <p:nvSpPr>
          <p:cNvPr id="14" name="Text 12"/>
          <p:cNvSpPr/>
          <p:nvPr/>
        </p:nvSpPr>
        <p:spPr>
          <a:xfrm>
            <a:off x="7607808" y="1188720"/>
            <a:ext cx="2011680" cy="310896"/>
          </a:xfrm>
          <a:prstGeom prst="rect">
            <a:avLst/>
          </a:prstGeom>
          <a:noFill/>
          <a:ln/>
        </p:spPr>
        <p:txBody>
          <a:bodyPr wrap="square" lIns="0" tIns="0" rIns="0" bIns="0" rtlCol="0" anchor="ctr"/>
          <a:lstStyle/>
          <a:p>
            <a:pPr indent="0" marL="0">
              <a:buNone/>
            </a:pPr>
            <a:r>
              <a:rPr lang="en-US" sz="1300" b="1" dirty="0">
                <a:solidFill>
                  <a:srgbClr val="121212"/>
                </a:solidFill>
                <a:latin typeface="Microsoft YaHei" pitchFamily="34" charset="0"/>
                <a:ea typeface="Microsoft YaHei" pitchFamily="34" charset="-122"/>
                <a:cs typeface="Microsoft YaHei" pitchFamily="34" charset="-120"/>
              </a:rPr>
              <a:t>今日逻辑主线</a:t>
            </a:r>
            <a:endParaRPr lang="en-US" sz="1300" dirty="0"/>
          </a:p>
        </p:txBody>
      </p:sp>
      <p:sp>
        <p:nvSpPr>
          <p:cNvPr id="15" name="Shape 13"/>
          <p:cNvSpPr/>
          <p:nvPr/>
        </p:nvSpPr>
        <p:spPr>
          <a:xfrm>
            <a:off x="7882128" y="1755648"/>
            <a:ext cx="0" cy="3090672"/>
          </a:xfrm>
          <a:prstGeom prst="line">
            <a:avLst/>
          </a:prstGeom>
          <a:noFill/>
          <a:ln w="15240">
            <a:solidFill>
              <a:srgbClr val="7F9D84"/>
            </a:solidFill>
            <a:prstDash val="solid"/>
          </a:ln>
        </p:spPr>
      </p:sp>
      <p:sp>
        <p:nvSpPr>
          <p:cNvPr id="16" name="Shape 14"/>
          <p:cNvSpPr/>
          <p:nvPr/>
        </p:nvSpPr>
        <p:spPr>
          <a:xfrm>
            <a:off x="7790688" y="1700784"/>
            <a:ext cx="182880" cy="182880"/>
          </a:xfrm>
          <a:prstGeom prst="ellipse">
            <a:avLst/>
          </a:prstGeom>
          <a:solidFill>
            <a:srgbClr val="487052"/>
          </a:solidFill>
          <a:ln w="12700">
            <a:solidFill>
              <a:srgbClr val="487052"/>
            </a:solidFill>
            <a:prstDash val="solid"/>
          </a:ln>
        </p:spPr>
      </p:sp>
      <p:sp>
        <p:nvSpPr>
          <p:cNvPr id="17" name="Shape 15"/>
          <p:cNvSpPr/>
          <p:nvPr/>
        </p:nvSpPr>
        <p:spPr>
          <a:xfrm>
            <a:off x="8183880" y="1627632"/>
            <a:ext cx="2514600" cy="365760"/>
          </a:xfrm>
          <a:prstGeom prst="rect">
            <a:avLst/>
          </a:prstGeom>
          <a:solidFill>
            <a:srgbClr val="DDEBE0"/>
          </a:solidFill>
          <a:ln w="7620">
            <a:solidFill>
              <a:srgbClr val="DADADA"/>
            </a:solidFill>
            <a:prstDash val="solid"/>
          </a:ln>
        </p:spPr>
      </p:sp>
      <p:sp>
        <p:nvSpPr>
          <p:cNvPr id="18" name="Text 16"/>
          <p:cNvSpPr/>
          <p:nvPr/>
        </p:nvSpPr>
        <p:spPr>
          <a:xfrm>
            <a:off x="8321040" y="1709928"/>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技术突破</a:t>
            </a:r>
            <a:endParaRPr lang="en-US" sz="880" dirty="0"/>
          </a:p>
        </p:txBody>
      </p:sp>
      <p:sp>
        <p:nvSpPr>
          <p:cNvPr id="19" name="Shape 17"/>
          <p:cNvSpPr/>
          <p:nvPr/>
        </p:nvSpPr>
        <p:spPr>
          <a:xfrm>
            <a:off x="7790688" y="2267712"/>
            <a:ext cx="182880" cy="182880"/>
          </a:xfrm>
          <a:prstGeom prst="ellipse">
            <a:avLst/>
          </a:prstGeom>
          <a:solidFill>
            <a:srgbClr val="487052"/>
          </a:solidFill>
          <a:ln w="12700">
            <a:solidFill>
              <a:srgbClr val="487052"/>
            </a:solidFill>
            <a:prstDash val="solid"/>
          </a:ln>
        </p:spPr>
      </p:sp>
      <p:sp>
        <p:nvSpPr>
          <p:cNvPr id="20" name="Shape 18"/>
          <p:cNvSpPr/>
          <p:nvPr/>
        </p:nvSpPr>
        <p:spPr>
          <a:xfrm>
            <a:off x="8183880" y="2194560"/>
            <a:ext cx="2514600" cy="365760"/>
          </a:xfrm>
          <a:prstGeom prst="rect">
            <a:avLst/>
          </a:prstGeom>
          <a:solidFill>
            <a:srgbClr val="DDEBE0"/>
          </a:solidFill>
          <a:ln w="7620">
            <a:solidFill>
              <a:srgbClr val="DADADA"/>
            </a:solidFill>
            <a:prstDash val="solid"/>
          </a:ln>
        </p:spPr>
      </p:sp>
      <p:sp>
        <p:nvSpPr>
          <p:cNvPr id="21" name="Text 19"/>
          <p:cNvSpPr/>
          <p:nvPr/>
        </p:nvSpPr>
        <p:spPr>
          <a:xfrm>
            <a:off x="8321040" y="2276856"/>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产能变化</a:t>
            </a:r>
            <a:endParaRPr lang="en-US" sz="880" dirty="0"/>
          </a:p>
        </p:txBody>
      </p:sp>
      <p:sp>
        <p:nvSpPr>
          <p:cNvPr id="22" name="Shape 20"/>
          <p:cNvSpPr/>
          <p:nvPr/>
        </p:nvSpPr>
        <p:spPr>
          <a:xfrm>
            <a:off x="7790688" y="2834640"/>
            <a:ext cx="182880" cy="182880"/>
          </a:xfrm>
          <a:prstGeom prst="ellipse">
            <a:avLst/>
          </a:prstGeom>
          <a:solidFill>
            <a:srgbClr val="487052"/>
          </a:solidFill>
          <a:ln w="12700">
            <a:solidFill>
              <a:srgbClr val="487052"/>
            </a:solidFill>
            <a:prstDash val="solid"/>
          </a:ln>
        </p:spPr>
      </p:sp>
      <p:sp>
        <p:nvSpPr>
          <p:cNvPr id="23" name="Shape 21"/>
          <p:cNvSpPr/>
          <p:nvPr/>
        </p:nvSpPr>
        <p:spPr>
          <a:xfrm>
            <a:off x="8183880" y="2761488"/>
            <a:ext cx="2514600" cy="365760"/>
          </a:xfrm>
          <a:prstGeom prst="rect">
            <a:avLst/>
          </a:prstGeom>
          <a:solidFill>
            <a:srgbClr val="DDEBE0"/>
          </a:solidFill>
          <a:ln w="7620">
            <a:solidFill>
              <a:srgbClr val="DADADA"/>
            </a:solidFill>
            <a:prstDash val="solid"/>
          </a:ln>
        </p:spPr>
      </p:sp>
      <p:sp>
        <p:nvSpPr>
          <p:cNvPr id="24" name="Text 22"/>
          <p:cNvSpPr/>
          <p:nvPr/>
        </p:nvSpPr>
        <p:spPr>
          <a:xfrm>
            <a:off x="8321040" y="2843784"/>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政策合规</a:t>
            </a:r>
            <a:endParaRPr lang="en-US" sz="880" dirty="0"/>
          </a:p>
        </p:txBody>
      </p:sp>
      <p:sp>
        <p:nvSpPr>
          <p:cNvPr id="25" name="Shape 23"/>
          <p:cNvSpPr/>
          <p:nvPr/>
        </p:nvSpPr>
        <p:spPr>
          <a:xfrm>
            <a:off x="7790688" y="3401568"/>
            <a:ext cx="182880" cy="182880"/>
          </a:xfrm>
          <a:prstGeom prst="ellipse">
            <a:avLst/>
          </a:prstGeom>
          <a:solidFill>
            <a:srgbClr val="FFFFFF"/>
          </a:solidFill>
          <a:ln w="12700">
            <a:solidFill>
              <a:srgbClr val="487052"/>
            </a:solidFill>
            <a:prstDash val="solid"/>
          </a:ln>
        </p:spPr>
      </p:sp>
      <p:sp>
        <p:nvSpPr>
          <p:cNvPr id="26" name="Shape 24"/>
          <p:cNvSpPr/>
          <p:nvPr/>
        </p:nvSpPr>
        <p:spPr>
          <a:xfrm>
            <a:off x="8183880" y="3328416"/>
            <a:ext cx="2514600" cy="365760"/>
          </a:xfrm>
          <a:prstGeom prst="rect">
            <a:avLst/>
          </a:prstGeom>
          <a:solidFill>
            <a:srgbClr val="FFFFFF"/>
          </a:solidFill>
          <a:ln w="7620">
            <a:solidFill>
              <a:srgbClr val="DADADA"/>
            </a:solidFill>
            <a:prstDash val="solid"/>
          </a:ln>
        </p:spPr>
      </p:sp>
      <p:sp>
        <p:nvSpPr>
          <p:cNvPr id="27" name="Text 25"/>
          <p:cNvSpPr/>
          <p:nvPr/>
        </p:nvSpPr>
        <p:spPr>
          <a:xfrm>
            <a:off x="8321040" y="3410712"/>
            <a:ext cx="2240280" cy="164592"/>
          </a:xfrm>
          <a:prstGeom prst="rect">
            <a:avLst/>
          </a:prstGeom>
          <a:noFill/>
          <a:ln/>
        </p:spPr>
        <p:txBody>
          <a:bodyPr wrap="square" lIns="0" tIns="0" rIns="0" bIns="0" rtlCol="0" anchor="ctr">
            <a:normAutofit/>
          </a:bodyPr>
          <a:lstStyle/>
          <a:p>
            <a:pPr indent="0" marL="0">
              <a:buNone/>
            </a:pPr>
            <a:r>
              <a:rPr lang="en-US" sz="880" dirty="0">
                <a:solidFill>
                  <a:srgbClr val="121212"/>
                </a:solidFill>
                <a:latin typeface="Microsoft YaHei" pitchFamily="34" charset="0"/>
                <a:ea typeface="Microsoft YaHei" pitchFamily="34" charset="-122"/>
                <a:cs typeface="Microsoft YaHei" pitchFamily="34" charset="-120"/>
              </a:rPr>
              <a:t>企业信号</a:t>
            </a:r>
            <a:endParaRPr lang="en-US" sz="880" dirty="0"/>
          </a:p>
        </p:txBody>
      </p:sp>
      <p:sp>
        <p:nvSpPr>
          <p:cNvPr id="28" name="Shape 26"/>
          <p:cNvSpPr/>
          <p:nvPr/>
        </p:nvSpPr>
        <p:spPr>
          <a:xfrm>
            <a:off x="7790688" y="3968496"/>
            <a:ext cx="182880" cy="182880"/>
          </a:xfrm>
          <a:prstGeom prst="ellipse">
            <a:avLst/>
          </a:prstGeom>
          <a:solidFill>
            <a:srgbClr val="487052"/>
          </a:solidFill>
          <a:ln w="12700">
            <a:solidFill>
              <a:srgbClr val="487052"/>
            </a:solidFill>
            <a:prstDash val="solid"/>
          </a:ln>
        </p:spPr>
      </p:sp>
      <p:sp>
        <p:nvSpPr>
          <p:cNvPr id="29" name="Shape 27"/>
          <p:cNvSpPr/>
          <p:nvPr/>
        </p:nvSpPr>
        <p:spPr>
          <a:xfrm>
            <a:off x="8183880" y="3895344"/>
            <a:ext cx="2514600" cy="365760"/>
          </a:xfrm>
          <a:prstGeom prst="rect">
            <a:avLst/>
          </a:prstGeom>
          <a:solidFill>
            <a:srgbClr val="DDEBE0"/>
          </a:solidFill>
          <a:ln w="7620">
            <a:solidFill>
              <a:srgbClr val="DADADA"/>
            </a:solidFill>
            <a:prstDash val="solid"/>
          </a:ln>
        </p:spPr>
      </p:sp>
      <p:sp>
        <p:nvSpPr>
          <p:cNvPr id="30" name="Text 28"/>
          <p:cNvSpPr/>
          <p:nvPr/>
        </p:nvSpPr>
        <p:spPr>
          <a:xfrm>
            <a:off x="8321040" y="3977640"/>
            <a:ext cx="2240280" cy="164592"/>
          </a:xfrm>
          <a:prstGeom prst="rect">
            <a:avLst/>
          </a:prstGeom>
          <a:noFill/>
          <a:ln/>
        </p:spPr>
        <p:txBody>
          <a:bodyPr wrap="square" lIns="0" tIns="0" rIns="0" bIns="0" rtlCol="0" anchor="ctr">
            <a:normAutofit/>
          </a:bodyPr>
          <a:lstStyle/>
          <a:p>
            <a:pPr indent="0" marL="0">
              <a:buNone/>
            </a:pPr>
            <a:r>
              <a:rPr lang="en-US" sz="880" b="1" dirty="0">
                <a:solidFill>
                  <a:srgbClr val="121212"/>
                </a:solidFill>
                <a:latin typeface="Microsoft YaHei" pitchFamily="34" charset="0"/>
                <a:ea typeface="Microsoft YaHei" pitchFamily="34" charset="-122"/>
                <a:cs typeface="Microsoft YaHei" pitchFamily="34" charset="-120"/>
              </a:rPr>
              <a:t>风险机会</a:t>
            </a:r>
            <a:endParaRPr lang="en-US" sz="880" dirty="0"/>
          </a:p>
        </p:txBody>
      </p:sp>
      <p:sp>
        <p:nvSpPr>
          <p:cNvPr id="31" name="Shape 29"/>
          <p:cNvSpPr/>
          <p:nvPr/>
        </p:nvSpPr>
        <p:spPr>
          <a:xfrm>
            <a:off x="7790688" y="4535424"/>
            <a:ext cx="182880" cy="182880"/>
          </a:xfrm>
          <a:prstGeom prst="ellipse">
            <a:avLst/>
          </a:prstGeom>
          <a:solidFill>
            <a:srgbClr val="FFFFFF"/>
          </a:solidFill>
          <a:ln w="12700">
            <a:solidFill>
              <a:srgbClr val="487052"/>
            </a:solidFill>
            <a:prstDash val="solid"/>
          </a:ln>
        </p:spPr>
      </p:sp>
      <p:sp>
        <p:nvSpPr>
          <p:cNvPr id="32" name="Shape 30"/>
          <p:cNvSpPr/>
          <p:nvPr/>
        </p:nvSpPr>
        <p:spPr>
          <a:xfrm>
            <a:off x="8183880" y="4462272"/>
            <a:ext cx="2514600" cy="365760"/>
          </a:xfrm>
          <a:prstGeom prst="rect">
            <a:avLst/>
          </a:prstGeom>
          <a:solidFill>
            <a:srgbClr val="FFFFFF"/>
          </a:solidFill>
          <a:ln w="7620">
            <a:solidFill>
              <a:srgbClr val="DADADA"/>
            </a:solidFill>
            <a:prstDash val="solid"/>
          </a:ln>
        </p:spPr>
      </p:sp>
      <p:sp>
        <p:nvSpPr>
          <p:cNvPr id="33" name="Text 31"/>
          <p:cNvSpPr/>
          <p:nvPr/>
        </p:nvSpPr>
        <p:spPr>
          <a:xfrm>
            <a:off x="8321040" y="4544568"/>
            <a:ext cx="2240280" cy="164592"/>
          </a:xfrm>
          <a:prstGeom prst="rect">
            <a:avLst/>
          </a:prstGeom>
          <a:noFill/>
          <a:ln/>
        </p:spPr>
        <p:txBody>
          <a:bodyPr wrap="square" lIns="0" tIns="0" rIns="0" bIns="0" rtlCol="0" anchor="ctr">
            <a:normAutofit/>
          </a:bodyPr>
          <a:lstStyle/>
          <a:p>
            <a:pPr indent="0" marL="0">
              <a:buNone/>
            </a:pPr>
            <a:r>
              <a:rPr lang="en-US" sz="880" dirty="0">
                <a:solidFill>
                  <a:srgbClr val="121212"/>
                </a:solidFill>
                <a:latin typeface="Microsoft YaHei" pitchFamily="34" charset="0"/>
                <a:ea typeface="Microsoft YaHei" pitchFamily="34" charset="-122"/>
                <a:cs typeface="Microsoft YaHei" pitchFamily="34" charset="-120"/>
              </a:rPr>
              <a:t>来源索引</a:t>
            </a:r>
            <a:endParaRPr lang="en-US" sz="880" dirty="0"/>
          </a:p>
        </p:txBody>
      </p:sp>
      <p:sp>
        <p:nvSpPr>
          <p:cNvPr id="34" name="Shape 32"/>
          <p:cNvSpPr/>
          <p:nvPr/>
        </p:nvSpPr>
        <p:spPr>
          <a:xfrm>
            <a:off x="658368" y="5779008"/>
            <a:ext cx="1463040" cy="292608"/>
          </a:xfrm>
          <a:prstGeom prst="rect">
            <a:avLst/>
          </a:prstGeom>
          <a:solidFill>
            <a:srgbClr val="121212"/>
          </a:solidFill>
          <a:ln w="12700">
            <a:solidFill>
              <a:srgbClr val="121212"/>
            </a:solidFill>
            <a:prstDash val="solid"/>
          </a:ln>
        </p:spPr>
      </p:sp>
      <p:sp>
        <p:nvSpPr>
          <p:cNvPr id="35" name="Text 33"/>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核心判断</a:t>
            </a:r>
            <a:endParaRPr lang="en-US" sz="780" dirty="0"/>
          </a:p>
        </p:txBody>
      </p:sp>
      <p:sp>
        <p:nvSpPr>
          <p:cNvPr id="36" name="Text 34"/>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今日磷酸铁锂行业信号集中在高压实产品量产推进与海外项目股权调整。天原第五代高压实完成吨试并宣称具备供货能力，龙蟠科技常州锂源第四代高压实稳定量</a:t>
            </a:r>
            <a:endParaRPr lang="en-US" sz="10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2.</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EXECUTIVE BRIEF</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2026-10-23</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02</a:t>
            </a:r>
            <a:endParaRPr lang="en-US" sz="730" dirty="0"/>
          </a:p>
        </p:txBody>
      </p:sp>
      <p:sp>
        <p:nvSpPr>
          <p:cNvPr id="9" name="Text 7"/>
          <p:cNvSpPr/>
          <p:nvPr/>
        </p:nvSpPr>
        <p:spPr>
          <a:xfrm>
            <a:off x="658368" y="932688"/>
            <a:ext cx="2377440" cy="384048"/>
          </a:xfrm>
          <a:prstGeom prst="rect">
            <a:avLst/>
          </a:prstGeom>
          <a:noFill/>
          <a:ln/>
        </p:spPr>
        <p:txBody>
          <a:bodyPr wrap="square" lIns="0" tIns="0" rIns="0" bIns="0" rtlCol="0" anchor="ct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今日总览</a:t>
            </a:r>
            <a:endParaRPr lang="en-US" sz="2000" dirty="0"/>
          </a:p>
        </p:txBody>
      </p:sp>
      <p:sp>
        <p:nvSpPr>
          <p:cNvPr id="10" name="Text 8"/>
          <p:cNvSpPr/>
          <p:nvPr/>
        </p:nvSpPr>
        <p:spPr>
          <a:xfrm>
            <a:off x="2880360" y="996696"/>
            <a:ext cx="8138160" cy="219456"/>
          </a:xfrm>
          <a:prstGeom prst="rect">
            <a:avLst/>
          </a:prstGeom>
          <a:noFill/>
          <a:ln/>
        </p:spPr>
        <p:txBody>
          <a:bodyPr wrap="square" lIns="0" tIns="0" rIns="0" bIns="0" rtlCol="0" anchor="ctr">
            <a:normAutofit/>
          </a:bodyPr>
          <a:lstStyle/>
          <a:p>
            <a:pPr indent="0" marL="0">
              <a:buNone/>
            </a:pPr>
            <a:r>
              <a:rPr lang="en-US" sz="940" dirty="0">
                <a:solidFill>
                  <a:srgbClr val="6D756F"/>
                </a:solidFill>
                <a:latin typeface="Microsoft YaHei" pitchFamily="34" charset="0"/>
                <a:ea typeface="Microsoft YaHei" pitchFamily="34" charset="-122"/>
                <a:cs typeface="Microsoft YaHei" pitchFamily="34" charset="-120"/>
              </a:rPr>
              <a:t>今日磷酸铁锂行业信号集中在高压实产品量产推进与海外项目股权调整。天原第五代高压实完成吨试并宣称具备供货能力，龙蟠科技常州锂源第四代高压实稳定量</a:t>
            </a:r>
            <a:endParaRPr lang="en-US" sz="940" dirty="0"/>
          </a:p>
        </p:txBody>
      </p:sp>
      <p:sp>
        <p:nvSpPr>
          <p:cNvPr id="11" name="Shape 9"/>
          <p:cNvSpPr/>
          <p:nvPr/>
        </p:nvSpPr>
        <p:spPr>
          <a:xfrm>
            <a:off x="658368" y="1444752"/>
            <a:ext cx="5074920" cy="1737360"/>
          </a:xfrm>
          <a:prstGeom prst="rect">
            <a:avLst/>
          </a:prstGeom>
          <a:solidFill>
            <a:srgbClr val="F4FAF6"/>
          </a:solidFill>
          <a:ln w="8890">
            <a:solidFill>
              <a:srgbClr val="DADADA"/>
            </a:solidFill>
            <a:prstDash val="solid"/>
          </a:ln>
        </p:spPr>
      </p:sp>
      <p:sp>
        <p:nvSpPr>
          <p:cNvPr id="12" name="Shape 10"/>
          <p:cNvSpPr/>
          <p:nvPr/>
        </p:nvSpPr>
        <p:spPr>
          <a:xfrm>
            <a:off x="658368" y="1444752"/>
            <a:ext cx="384048" cy="1737360"/>
          </a:xfrm>
          <a:prstGeom prst="rect">
            <a:avLst/>
          </a:prstGeom>
          <a:solidFill>
            <a:srgbClr val="121212"/>
          </a:solidFill>
          <a:ln w="12700">
            <a:solidFill>
              <a:srgbClr val="121212"/>
            </a:solidFill>
            <a:prstDash val="solid"/>
          </a:ln>
        </p:spPr>
      </p:sp>
      <p:sp>
        <p:nvSpPr>
          <p:cNvPr id="13" name="Text 11"/>
          <p:cNvSpPr/>
          <p:nvPr/>
        </p:nvSpPr>
        <p:spPr>
          <a:xfrm>
            <a:off x="786384" y="1627632"/>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14" name="Text 12"/>
          <p:cNvSpPr/>
          <p:nvPr/>
        </p:nvSpPr>
        <p:spPr>
          <a:xfrm>
            <a:off x="1188720" y="1609344"/>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今日结论</a:t>
            </a:r>
            <a:endParaRPr lang="en-US" sz="920" dirty="0"/>
          </a:p>
        </p:txBody>
      </p:sp>
      <p:sp>
        <p:nvSpPr>
          <p:cNvPr id="15" name="Shape 13"/>
          <p:cNvSpPr/>
          <p:nvPr/>
        </p:nvSpPr>
        <p:spPr>
          <a:xfrm>
            <a:off x="1188720" y="1883664"/>
            <a:ext cx="2194560" cy="54864"/>
          </a:xfrm>
          <a:prstGeom prst="rect">
            <a:avLst/>
          </a:prstGeom>
          <a:solidFill>
            <a:srgbClr val="487052"/>
          </a:solidFill>
          <a:ln w="12700">
            <a:solidFill>
              <a:srgbClr val="487052"/>
            </a:solidFill>
            <a:prstDash val="solid"/>
          </a:ln>
        </p:spPr>
      </p:sp>
      <p:sp>
        <p:nvSpPr>
          <p:cNvPr id="16" name="Text 14"/>
          <p:cNvSpPr/>
          <p:nvPr/>
        </p:nvSpPr>
        <p:spPr>
          <a:xfrm>
            <a:off x="1188720" y="2029968"/>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高压实磷酸铁锂技术迭代加速，天原第五代完成吨试并宣称具备供货能力，龙蟠常州锂源第四代已稳定量产；同时龙蟠拟出售印尼二期项目76%股权，海外扩产策略出现调整；锂矿三季报业绩高增</a:t>
            </a:r>
            <a:endParaRPr lang="en-US" sz="920" dirty="0"/>
          </a:p>
        </p:txBody>
      </p:sp>
      <p:sp>
        <p:nvSpPr>
          <p:cNvPr id="17" name="Text 15"/>
          <p:cNvSpPr/>
          <p:nvPr/>
        </p:nvSpPr>
        <p:spPr>
          <a:xfrm>
            <a:off x="1188720" y="2862072"/>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[1][2][3]</a:t>
            </a:r>
            <a:endParaRPr lang="en-US" sz="750" dirty="0"/>
          </a:p>
        </p:txBody>
      </p:sp>
      <p:sp>
        <p:nvSpPr>
          <p:cNvPr id="18" name="Shape 16"/>
          <p:cNvSpPr/>
          <p:nvPr/>
        </p:nvSpPr>
        <p:spPr>
          <a:xfrm>
            <a:off x="6236208" y="1444752"/>
            <a:ext cx="5074920" cy="1737360"/>
          </a:xfrm>
          <a:prstGeom prst="rect">
            <a:avLst/>
          </a:prstGeom>
          <a:solidFill>
            <a:srgbClr val="FFFFFF"/>
          </a:solidFill>
          <a:ln w="8890">
            <a:solidFill>
              <a:srgbClr val="DADADA"/>
            </a:solidFill>
            <a:prstDash val="solid"/>
          </a:ln>
        </p:spPr>
      </p:sp>
      <p:sp>
        <p:nvSpPr>
          <p:cNvPr id="19" name="Shape 17"/>
          <p:cNvSpPr/>
          <p:nvPr/>
        </p:nvSpPr>
        <p:spPr>
          <a:xfrm>
            <a:off x="6236208" y="1444752"/>
            <a:ext cx="384048" cy="1737360"/>
          </a:xfrm>
          <a:prstGeom prst="rect">
            <a:avLst/>
          </a:prstGeom>
          <a:solidFill>
            <a:srgbClr val="121212"/>
          </a:solidFill>
          <a:ln w="12700">
            <a:solidFill>
              <a:srgbClr val="121212"/>
            </a:solidFill>
            <a:prstDash val="solid"/>
          </a:ln>
        </p:spPr>
      </p:sp>
      <p:sp>
        <p:nvSpPr>
          <p:cNvPr id="20" name="Text 18"/>
          <p:cNvSpPr/>
          <p:nvPr/>
        </p:nvSpPr>
        <p:spPr>
          <a:xfrm>
            <a:off x="6364224" y="1627632"/>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21" name="Text 19"/>
          <p:cNvSpPr/>
          <p:nvPr/>
        </p:nvSpPr>
        <p:spPr>
          <a:xfrm>
            <a:off x="6766560" y="1609344"/>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技术/产品路线</a:t>
            </a:r>
            <a:endParaRPr lang="en-US" sz="920" dirty="0"/>
          </a:p>
        </p:txBody>
      </p:sp>
      <p:sp>
        <p:nvSpPr>
          <p:cNvPr id="22" name="Shape 20"/>
          <p:cNvSpPr/>
          <p:nvPr/>
        </p:nvSpPr>
        <p:spPr>
          <a:xfrm>
            <a:off x="6766560" y="1883664"/>
            <a:ext cx="1316736" cy="54864"/>
          </a:xfrm>
          <a:prstGeom prst="rect">
            <a:avLst/>
          </a:prstGeom>
          <a:solidFill>
            <a:srgbClr val="487052"/>
          </a:solidFill>
          <a:ln w="12700">
            <a:solidFill>
              <a:srgbClr val="487052"/>
            </a:solidFill>
            <a:prstDash val="solid"/>
          </a:ln>
        </p:spPr>
      </p:sp>
      <p:sp>
        <p:nvSpPr>
          <p:cNvPr id="23" name="Text 21"/>
          <p:cNvSpPr/>
          <p:nvPr/>
        </p:nvSpPr>
        <p:spPr>
          <a:xfrm>
            <a:off x="6766560" y="2029968"/>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天原第五代高压实磷酸铁锂完成吨试并宣称具备供货能力，龙蟠科技常州锂源第四代高压实产品已稳定量产，行业高压实技术从第四代向第五代演进；液相法德方纳米规划纳米磷酸铁锂34.5万吨</a:t>
            </a:r>
            <a:endParaRPr lang="en-US" sz="920" dirty="0"/>
          </a:p>
        </p:txBody>
      </p:sp>
      <p:sp>
        <p:nvSpPr>
          <p:cNvPr id="24" name="Text 22"/>
          <p:cNvSpPr/>
          <p:nvPr/>
        </p:nvSpPr>
        <p:spPr>
          <a:xfrm>
            <a:off x="6766560" y="2862072"/>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[2][1]</a:t>
            </a:r>
            <a:endParaRPr lang="en-US" sz="750" dirty="0"/>
          </a:p>
        </p:txBody>
      </p:sp>
      <p:sp>
        <p:nvSpPr>
          <p:cNvPr id="25" name="Shape 23"/>
          <p:cNvSpPr/>
          <p:nvPr/>
        </p:nvSpPr>
        <p:spPr>
          <a:xfrm>
            <a:off x="658368" y="3566160"/>
            <a:ext cx="5074920" cy="1737360"/>
          </a:xfrm>
          <a:prstGeom prst="rect">
            <a:avLst/>
          </a:prstGeom>
          <a:solidFill>
            <a:srgbClr val="F4FAF6"/>
          </a:solidFill>
          <a:ln w="8890">
            <a:solidFill>
              <a:srgbClr val="DADADA"/>
            </a:solidFill>
            <a:prstDash val="solid"/>
          </a:ln>
        </p:spPr>
      </p:sp>
      <p:sp>
        <p:nvSpPr>
          <p:cNvPr id="26" name="Shape 24"/>
          <p:cNvSpPr/>
          <p:nvPr/>
        </p:nvSpPr>
        <p:spPr>
          <a:xfrm>
            <a:off x="658368" y="3566160"/>
            <a:ext cx="384048" cy="1737360"/>
          </a:xfrm>
          <a:prstGeom prst="rect">
            <a:avLst/>
          </a:prstGeom>
          <a:solidFill>
            <a:srgbClr val="121212"/>
          </a:solidFill>
          <a:ln w="12700">
            <a:solidFill>
              <a:srgbClr val="121212"/>
            </a:solidFill>
            <a:prstDash val="solid"/>
          </a:ln>
        </p:spPr>
      </p:sp>
      <p:sp>
        <p:nvSpPr>
          <p:cNvPr id="27" name="Text 25"/>
          <p:cNvSpPr/>
          <p:nvPr/>
        </p:nvSpPr>
        <p:spPr>
          <a:xfrm>
            <a:off x="786384" y="3749040"/>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28" name="Text 26"/>
          <p:cNvSpPr/>
          <p:nvPr/>
        </p:nvSpPr>
        <p:spPr>
          <a:xfrm>
            <a:off x="1188720" y="3730752"/>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产能/客户/订单</a:t>
            </a:r>
            <a:endParaRPr lang="en-US" sz="920" dirty="0"/>
          </a:p>
        </p:txBody>
      </p:sp>
      <p:sp>
        <p:nvSpPr>
          <p:cNvPr id="29" name="Shape 27"/>
          <p:cNvSpPr/>
          <p:nvPr/>
        </p:nvSpPr>
        <p:spPr>
          <a:xfrm>
            <a:off x="1188720" y="4005072"/>
            <a:ext cx="1316736" cy="54864"/>
          </a:xfrm>
          <a:prstGeom prst="rect">
            <a:avLst/>
          </a:prstGeom>
          <a:solidFill>
            <a:srgbClr val="487052"/>
          </a:solidFill>
          <a:ln w="12700">
            <a:solidFill>
              <a:srgbClr val="487052"/>
            </a:solidFill>
            <a:prstDash val="solid"/>
          </a:ln>
        </p:spPr>
      </p:sp>
      <p:sp>
        <p:nvSpPr>
          <p:cNvPr id="30" name="Text 28"/>
          <p:cNvSpPr/>
          <p:nvPr/>
        </p:nvSpPr>
        <p:spPr>
          <a:xfrm>
            <a:off x="1188720" y="4151376"/>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龙蟠科技附属拟出售印尼二期磷酸铁锂正极材料项目76%股权，海外扩产策略出现调整；德方纳米规划纳米磷酸铁锂34.5万吨/年，国内产能扩张仍在推进；清陶动力固态电池项目一期在苏州</a:t>
            </a:r>
            <a:endParaRPr lang="en-US" sz="920" dirty="0"/>
          </a:p>
        </p:txBody>
      </p:sp>
      <p:sp>
        <p:nvSpPr>
          <p:cNvPr id="31" name="Text 29"/>
          <p:cNvSpPr/>
          <p:nvPr/>
        </p:nvSpPr>
        <p:spPr>
          <a:xfrm>
            <a:off x="1188720" y="4983480"/>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[3][4]</a:t>
            </a:r>
            <a:endParaRPr lang="en-US" sz="750" dirty="0"/>
          </a:p>
        </p:txBody>
      </p:sp>
      <p:sp>
        <p:nvSpPr>
          <p:cNvPr id="32" name="Shape 30"/>
          <p:cNvSpPr/>
          <p:nvPr/>
        </p:nvSpPr>
        <p:spPr>
          <a:xfrm>
            <a:off x="6236208" y="3566160"/>
            <a:ext cx="5074920" cy="1737360"/>
          </a:xfrm>
          <a:prstGeom prst="rect">
            <a:avLst/>
          </a:prstGeom>
          <a:solidFill>
            <a:srgbClr val="FFFFFF"/>
          </a:solidFill>
          <a:ln w="8890">
            <a:solidFill>
              <a:srgbClr val="DADADA"/>
            </a:solidFill>
            <a:prstDash val="solid"/>
          </a:ln>
        </p:spPr>
      </p:sp>
      <p:sp>
        <p:nvSpPr>
          <p:cNvPr id="33" name="Shape 31"/>
          <p:cNvSpPr/>
          <p:nvPr/>
        </p:nvSpPr>
        <p:spPr>
          <a:xfrm>
            <a:off x="6236208" y="3566160"/>
            <a:ext cx="384048" cy="1737360"/>
          </a:xfrm>
          <a:prstGeom prst="rect">
            <a:avLst/>
          </a:prstGeom>
          <a:solidFill>
            <a:srgbClr val="121212"/>
          </a:solidFill>
          <a:ln w="12700">
            <a:solidFill>
              <a:srgbClr val="121212"/>
            </a:solidFill>
            <a:prstDash val="solid"/>
          </a:ln>
        </p:spPr>
      </p:sp>
      <p:sp>
        <p:nvSpPr>
          <p:cNvPr id="34" name="Text 32"/>
          <p:cNvSpPr/>
          <p:nvPr/>
        </p:nvSpPr>
        <p:spPr>
          <a:xfrm>
            <a:off x="6364224" y="3749040"/>
            <a:ext cx="128016" cy="164592"/>
          </a:xfrm>
          <a:prstGeom prst="rect">
            <a:avLst/>
          </a:prstGeom>
          <a:noFill/>
          <a:ln/>
        </p:spPr>
        <p:txBody>
          <a:bodyPr wrap="square" lIns="0" tIns="0" rIns="0" bIns="0" rtlCol="0" anchor="ctr"/>
          <a:lstStyle/>
          <a:p>
            <a:pPr indent="0" marL="0">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35" name="Text 33"/>
          <p:cNvSpPr/>
          <p:nvPr/>
        </p:nvSpPr>
        <p:spPr>
          <a:xfrm>
            <a:off x="6766560" y="3730752"/>
            <a:ext cx="4233672" cy="182880"/>
          </a:xfrm>
          <a:prstGeom prst="rect">
            <a:avLst/>
          </a:prstGeom>
          <a:noFill/>
          <a:ln/>
        </p:spPr>
        <p:txBody>
          <a:bodyPr wrap="square" lIns="0" tIns="0" rIns="0" bIns="0" rtlCol="0" anchor="ctr">
            <a:normAutofit/>
          </a:bodyPr>
          <a:lstStyle/>
          <a:p>
            <a:pPr indent="0" marL="0">
              <a:buNone/>
            </a:pPr>
            <a:r>
              <a:rPr lang="en-US" sz="920" b="1" dirty="0">
                <a:solidFill>
                  <a:srgbClr val="487052"/>
                </a:solidFill>
                <a:latin typeface="Microsoft YaHei" pitchFamily="34" charset="0"/>
                <a:ea typeface="Microsoft YaHei" pitchFamily="34" charset="-122"/>
                <a:cs typeface="Microsoft YaHei" pitchFamily="34" charset="-120"/>
              </a:rPr>
              <a:t>价格/盈利压力</a:t>
            </a:r>
            <a:endParaRPr lang="en-US" sz="920" dirty="0"/>
          </a:p>
        </p:txBody>
      </p:sp>
      <p:sp>
        <p:nvSpPr>
          <p:cNvPr id="36" name="Shape 34"/>
          <p:cNvSpPr/>
          <p:nvPr/>
        </p:nvSpPr>
        <p:spPr>
          <a:xfrm>
            <a:off x="6766560" y="4005072"/>
            <a:ext cx="877824" cy="54864"/>
          </a:xfrm>
          <a:prstGeom prst="rect">
            <a:avLst/>
          </a:prstGeom>
          <a:solidFill>
            <a:srgbClr val="487052"/>
          </a:solidFill>
          <a:ln w="12700">
            <a:solidFill>
              <a:srgbClr val="487052"/>
            </a:solidFill>
            <a:prstDash val="solid"/>
          </a:ln>
        </p:spPr>
      </p:sp>
      <p:sp>
        <p:nvSpPr>
          <p:cNvPr id="37" name="Text 35"/>
          <p:cNvSpPr/>
          <p:nvPr/>
        </p:nvSpPr>
        <p:spPr>
          <a:xfrm>
            <a:off x="6766560" y="4151376"/>
            <a:ext cx="4233672" cy="749808"/>
          </a:xfrm>
          <a:prstGeom prst="rect">
            <a:avLst/>
          </a:prstGeom>
          <a:noFill/>
          <a:ln/>
        </p:spPr>
        <p:txBody>
          <a:bodyPr wrap="square" lIns="0" tIns="0" rIns="0" bIns="0" rtlCol="0" anchor="t">
            <a:normAutofit/>
          </a:bodyPr>
          <a:lstStyle/>
          <a:p>
            <a:pPr indent="0" marL="0">
              <a:buNone/>
            </a:pPr>
            <a:r>
              <a:rPr lang="en-US" sz="920" b="1" dirty="0">
                <a:solidFill>
                  <a:srgbClr val="121212"/>
                </a:solidFill>
                <a:latin typeface="Microsoft YaHei" pitchFamily="34" charset="0"/>
                <a:ea typeface="Microsoft YaHei" pitchFamily="34" charset="-122"/>
                <a:cs typeface="Microsoft YaHei" pitchFamily="34" charset="-120"/>
              </a:rPr>
              <a:t>锂矿三季报业绩高增背后隐现预期分歧，上游锂矿盈利改善但中下游正极材料成本传导不畅；高压实产品迭代可能带来结构性溢价，但普通磷酸铁锂产品盈利压力仍存。</a:t>
            </a:r>
            <a:endParaRPr lang="en-US" sz="920" dirty="0"/>
          </a:p>
        </p:txBody>
      </p:sp>
      <p:sp>
        <p:nvSpPr>
          <p:cNvPr id="38" name="Text 36"/>
          <p:cNvSpPr/>
          <p:nvPr/>
        </p:nvSpPr>
        <p:spPr>
          <a:xfrm>
            <a:off x="6766560" y="4983480"/>
            <a:ext cx="4233672" cy="128016"/>
          </a:xfrm>
          <a:prstGeom prst="rect">
            <a:avLst/>
          </a:prstGeom>
          <a:noFill/>
          <a:ln/>
        </p:spPr>
        <p:txBody>
          <a:bodyPr wrap="square" lIns="0" tIns="0" rIns="0" bIns="0" rtlCol="0" anchor="ctr">
            <a:normAutofit/>
          </a:bodyPr>
          <a:lstStyle/>
          <a:p>
            <a:pPr indent="0" marL="0">
              <a:buNone/>
            </a:pPr>
            <a:r>
              <a:rPr lang="en-US" sz="750" dirty="0">
                <a:solidFill>
                  <a:srgbClr val="6D756F"/>
                </a:solidFill>
                <a:latin typeface="Aptos" pitchFamily="34" charset="0"/>
                <a:ea typeface="Aptos" pitchFamily="34" charset="-122"/>
                <a:cs typeface="Aptos" pitchFamily="34" charset="-120"/>
              </a:rPr>
              <a:t>[5]</a:t>
            </a:r>
            <a:endParaRPr lang="en-US" sz="750" dirty="0"/>
          </a:p>
        </p:txBody>
      </p:sp>
      <p:sp>
        <p:nvSpPr>
          <p:cNvPr id="39" name="Shape 37"/>
          <p:cNvSpPr/>
          <p:nvPr/>
        </p:nvSpPr>
        <p:spPr>
          <a:xfrm>
            <a:off x="658368" y="5779008"/>
            <a:ext cx="1463040" cy="292608"/>
          </a:xfrm>
          <a:prstGeom prst="rect">
            <a:avLst/>
          </a:prstGeom>
          <a:solidFill>
            <a:srgbClr val="121212"/>
          </a:solidFill>
          <a:ln w="12700">
            <a:solidFill>
              <a:srgbClr val="121212"/>
            </a:solidFill>
            <a:prstDash val="solid"/>
          </a:ln>
        </p:spPr>
      </p:sp>
      <p:sp>
        <p:nvSpPr>
          <p:cNvPr id="40" name="Text 38"/>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总览结论</a:t>
            </a:r>
            <a:endParaRPr lang="en-US" sz="780" dirty="0"/>
          </a:p>
        </p:txBody>
      </p:sp>
      <p:sp>
        <p:nvSpPr>
          <p:cNvPr id="41" name="Text 39"/>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今日磷酸铁锂行业信号集中在高压实产品量产推进与海外项目股权调整。天原第五代高压实完成吨试并宣称具备供货能力，龙蟠科技常州锂源第四代高压实稳定量</a:t>
            </a:r>
            <a:endParaRPr lang="en-US" sz="10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3.</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2026-10-23</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03</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今日结论</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3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高压实磷酸铁锂技术迭代加速，天原第五代完成吨试并宣称具备供货能力，龙蟠常州锂源第四代已稳定量产；同时龙蟠拟出售印尼二期项目76%股权，海外扩产策略出现调整；锂矿三季报业绩高增但预期分歧隐现，成本与盈利压力并存。行业呈现产品升级与产能布局优化并行的特征。 [1][2][3]</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依据：[1][2][3]</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公众号信息显示高压实产品从第四代向第五代推进，技术领先者可能获得溢价，但吨试到量产仍有距离；龙蟠出售印尼项目股权或反映海外建设成本与运营风险上升，需关注其资金回笼用途及对海外供给的影响；锂矿业绩高增与预期分歧并存，说明上游盈利改善但中下游成本传导不畅，需验证碳酸锂价格走势与正极材料企业毛利率变化。</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天原第五代高压实产品后续获得客户批量订单并稳定出货，则可能推动高压实产品价格带分化，具备技术储备的企业议价能力增强；若龙蟠印尼项目股权出售完成，则可能降低其海外资本开支压力，但需跟踪印尼二期项目后续建设进度及买方背景。跟踪指标：高压实产品月度出货量、印尼项目股权交割公告、碳酸锂现货价格。</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关键数据解读</a:t>
            </a:r>
            <a:endParaRPr lang="en-US" sz="1200" dirty="0"/>
          </a:p>
        </p:txBody>
      </p:sp>
      <p:sp>
        <p:nvSpPr>
          <p:cNvPr id="24" name="Shape 22"/>
          <p:cNvSpPr/>
          <p:nvPr/>
        </p:nvSpPr>
        <p:spPr>
          <a:xfrm>
            <a:off x="7772400" y="1993392"/>
            <a:ext cx="2560320" cy="1389888"/>
          </a:xfrm>
          <a:prstGeom prst="roundRect">
            <a:avLst>
              <a:gd name="adj" fmla="val 2632"/>
            </a:avLst>
          </a:prstGeom>
          <a:solidFill>
            <a:srgbClr val="F4FAF6"/>
          </a:solidFill>
          <a:ln w="7620">
            <a:solidFill>
              <a:srgbClr val="DADADA"/>
            </a:solidFill>
            <a:prstDash val="solid"/>
          </a:ln>
        </p:spPr>
      </p:sp>
      <p:sp>
        <p:nvSpPr>
          <p:cNvPr id="25" name="Text 23"/>
          <p:cNvSpPr/>
          <p:nvPr/>
        </p:nvSpPr>
        <p:spPr>
          <a:xfrm>
            <a:off x="7918704" y="2103120"/>
            <a:ext cx="822960" cy="384048"/>
          </a:xfrm>
          <a:prstGeom prst="rect">
            <a:avLst/>
          </a:prstGeom>
          <a:noFill/>
          <a:ln/>
        </p:spPr>
        <p:txBody>
          <a:bodyPr wrap="square" lIns="0" tIns="0" rIns="0" bIns="0" rtlCol="0" anchor="ctr">
            <a:normAutofit/>
          </a:bodyPr>
          <a:lstStyle/>
          <a:p>
            <a:pPr indent="0" marL="0">
              <a:buNone/>
            </a:pPr>
            <a:r>
              <a:rPr lang="en-US" sz="2100" b="1" dirty="0">
                <a:solidFill>
                  <a:srgbClr val="487052"/>
                </a:solidFill>
                <a:latin typeface="Aptos" pitchFamily="34" charset="0"/>
                <a:ea typeface="Aptos" pitchFamily="34" charset="-122"/>
                <a:cs typeface="Aptos" pitchFamily="34" charset="-120"/>
              </a:rPr>
              <a:t>76%</a:t>
            </a:r>
            <a:endParaRPr lang="en-US" sz="2100" dirty="0"/>
          </a:p>
        </p:txBody>
      </p:sp>
      <p:sp>
        <p:nvSpPr>
          <p:cNvPr id="26" name="Text 24"/>
          <p:cNvSpPr/>
          <p:nvPr/>
        </p:nvSpPr>
        <p:spPr>
          <a:xfrm>
            <a:off x="8759952" y="2167128"/>
            <a:ext cx="1371600" cy="201168"/>
          </a:xfrm>
          <a:prstGeom prst="rect">
            <a:avLst/>
          </a:prstGeom>
          <a:noFill/>
          <a:ln/>
        </p:spPr>
        <p:txBody>
          <a:bodyPr wrap="square" lIns="0" tIns="0" rIns="0" bIns="0" rtlCol="0" anchor="ctr">
            <a:normAutofit/>
          </a:bodyPr>
          <a:lstStyle/>
          <a:p>
            <a:pPr indent="0" marL="0">
              <a:buNone/>
            </a:pPr>
            <a:r>
              <a:rPr lang="en-US" sz="820" b="1" dirty="0">
                <a:solidFill>
                  <a:srgbClr val="121212"/>
                </a:solidFill>
                <a:latin typeface="Microsoft YaHei" pitchFamily="34" charset="0"/>
                <a:ea typeface="Microsoft YaHei" pitchFamily="34" charset="-122"/>
                <a:cs typeface="Microsoft YaHei" pitchFamily="34" charset="-120"/>
              </a:rPr>
              <a:t>股权</a:t>
            </a:r>
            <a:endParaRPr lang="en-US" sz="820" dirty="0"/>
          </a:p>
        </p:txBody>
      </p:sp>
      <p:sp>
        <p:nvSpPr>
          <p:cNvPr id="27" name="Text 25"/>
          <p:cNvSpPr/>
          <p:nvPr/>
        </p:nvSpPr>
        <p:spPr>
          <a:xfrm>
            <a:off x="7918704" y="2578608"/>
            <a:ext cx="2176272" cy="512064"/>
          </a:xfrm>
          <a:prstGeom prst="rect">
            <a:avLst/>
          </a:prstGeom>
          <a:noFill/>
          <a:ln/>
        </p:spPr>
        <p:txBody>
          <a:bodyPr wrap="square" lIns="0" tIns="0" rIns="0" bIns="0" rtlCol="0" anchor="t">
            <a:normAutofit/>
          </a:bodyPr>
          <a:lstStyle/>
          <a:p>
            <a:pPr indent="0" marL="0">
              <a:buNone/>
            </a:pPr>
            <a:r>
              <a:rPr lang="en-US" sz="840" dirty="0">
                <a:solidFill>
                  <a:srgbClr val="121212"/>
                </a:solidFill>
                <a:latin typeface="Microsoft YaHei" pitchFamily="34" charset="0"/>
                <a:ea typeface="Microsoft YaHei" pitchFamily="34" charset="-122"/>
                <a:cs typeface="Microsoft YaHei" pitchFamily="34" charset="-120"/>
              </a:rPr>
              <a:t>公开信息：同时龙蟠拟出售印尼二期项目76%股权，海外扩产策略出现调整</a:t>
            </a:r>
            <a:endParaRPr lang="en-US" sz="840" dirty="0"/>
          </a:p>
        </p:txBody>
      </p:sp>
      <p:sp>
        <p:nvSpPr>
          <p:cNvPr id="28" name="Text 26"/>
          <p:cNvSpPr/>
          <p:nvPr/>
        </p:nvSpPr>
        <p:spPr>
          <a:xfrm>
            <a:off x="7772400" y="4498848"/>
            <a:ext cx="2560320" cy="384048"/>
          </a:xfrm>
          <a:prstGeom prst="rect">
            <a:avLst/>
          </a:prstGeom>
          <a:noFill/>
          <a:ln/>
        </p:spPr>
        <p:txBody>
          <a:bodyPr wrap="square" lIns="0" tIns="0" rIns="0" bIns="0" rtlCol="0" anchor="t">
            <a:normAutofit/>
          </a:bodyPr>
          <a:lstStyle/>
          <a:p>
            <a:pPr indent="0" marL="0">
              <a:buNone/>
            </a:pPr>
            <a:r>
              <a:rPr lang="en-US" sz="800" dirty="0">
                <a:solidFill>
                  <a:srgbClr val="6D756F"/>
                </a:solidFill>
                <a:latin typeface="Microsoft YaHei" pitchFamily="34" charset="0"/>
                <a:ea typeface="Microsoft YaHei" pitchFamily="34" charset="-122"/>
                <a:cs typeface="Microsoft YaHei" pitchFamily="34" charset="-120"/>
              </a:rPr>
              <a:t>阅读提示：仅按公开报道原文呈现；不同企业、时间和统计范围不可直接横向比较。</a:t>
            </a:r>
            <a:endParaRPr lang="en-US" sz="800" dirty="0"/>
          </a:p>
        </p:txBody>
      </p:sp>
      <p:sp>
        <p:nvSpPr>
          <p:cNvPr id="29" name="Shape 27"/>
          <p:cNvSpPr/>
          <p:nvPr/>
        </p:nvSpPr>
        <p:spPr>
          <a:xfrm>
            <a:off x="658368" y="5779008"/>
            <a:ext cx="1463040" cy="292608"/>
          </a:xfrm>
          <a:prstGeom prst="rect">
            <a:avLst/>
          </a:prstGeom>
          <a:solidFill>
            <a:srgbClr val="121212"/>
          </a:solidFill>
          <a:ln w="12700">
            <a:solidFill>
              <a:srgbClr val="121212"/>
            </a:solidFill>
            <a:prstDash val="solid"/>
          </a:ln>
        </p:spPr>
      </p:sp>
      <p:sp>
        <p:nvSpPr>
          <p:cNvPr id="30" name="Text 28"/>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31" name="Text 29"/>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若天原第五代高压实产品后续获得客户批量订单并稳定出货，则可能推动高压实产品价格带分化，具备技术储备的企业议价能力增强</a:t>
            </a:r>
            <a:endParaRPr lang="en-US" sz="10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4.</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2026-10-23</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04</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技术/产品路线</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2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天原第五代高压实磷酸铁锂完成吨试并宣称具备供货能力，龙蟠科技常州锂源第四代高压实产品已稳定量产，行业高压实技术从第四代向第五代演进；液相法德方纳米规划纳米磷酸铁锂34.5万吨/年，技术路线多元化并行。 [2][1]</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依据：[2][1]</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公众号信息显示高压实产品迭代速度加快，吨试到量产仍需客户验证周期，天原宣称具备供货能力但实际订单落地情况不明；龙蟠第四代稳定量产表明其工艺成熟度较高，可能占据先发优势；德方纳米液相法规划产能较大，但液相法产品压实密度提升难度与成本控制需进一步验证。技术路线分化可能影响不同企业的客户绑定与盈利水平。</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天原第五代产品在2026年四季度获得头部电芯厂批量订单，则可能带动高压实产品价格溢价扩大，第四代产品价格承压；若德方纳米液相法产能如期释放且压实密度达标，则可能加剧高压实赛道竞争。跟踪指标：天原客户验证公告、德方纳米液相法产品压实密度参数、高压实产品与普通产品价差。</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对比矩阵</a:t>
            </a:r>
            <a:endParaRPr lang="en-US" sz="1200" dirty="0"/>
          </a:p>
        </p:txBody>
      </p:sp>
      <p:sp>
        <p:nvSpPr>
          <p:cNvPr id="24" name="Shape 22"/>
          <p:cNvSpPr/>
          <p:nvPr/>
        </p:nvSpPr>
        <p:spPr>
          <a:xfrm>
            <a:off x="7818120" y="2176272"/>
            <a:ext cx="2487168" cy="1609344"/>
          </a:xfrm>
          <a:prstGeom prst="rect">
            <a:avLst/>
          </a:prstGeom>
          <a:solidFill>
            <a:srgbClr val="FFFFFF"/>
          </a:solidFill>
          <a:ln w="10160">
            <a:solidFill>
              <a:srgbClr val="DADADA"/>
            </a:solidFill>
            <a:prstDash val="solid"/>
          </a:ln>
        </p:spPr>
      </p:sp>
      <p:sp>
        <p:nvSpPr>
          <p:cNvPr id="25" name="Shape 23"/>
          <p:cNvSpPr/>
          <p:nvPr/>
        </p:nvSpPr>
        <p:spPr>
          <a:xfrm>
            <a:off x="9061704" y="2176272"/>
            <a:ext cx="0" cy="1609344"/>
          </a:xfrm>
          <a:prstGeom prst="line">
            <a:avLst/>
          </a:prstGeom>
          <a:noFill/>
          <a:ln w="8890">
            <a:solidFill>
              <a:srgbClr val="DADADA"/>
            </a:solidFill>
            <a:prstDash val="solid"/>
          </a:ln>
        </p:spPr>
      </p:sp>
      <p:sp>
        <p:nvSpPr>
          <p:cNvPr id="26" name="Shape 24"/>
          <p:cNvSpPr/>
          <p:nvPr/>
        </p:nvSpPr>
        <p:spPr>
          <a:xfrm>
            <a:off x="7818120" y="2980944"/>
            <a:ext cx="2487168" cy="0"/>
          </a:xfrm>
          <a:prstGeom prst="line">
            <a:avLst/>
          </a:prstGeom>
          <a:noFill/>
          <a:ln w="8890">
            <a:solidFill>
              <a:srgbClr val="DADADA"/>
            </a:solidFill>
            <a:prstDash val="solid"/>
          </a:ln>
        </p:spPr>
      </p:sp>
      <p:sp>
        <p:nvSpPr>
          <p:cNvPr id="27" name="Shape 25"/>
          <p:cNvSpPr/>
          <p:nvPr/>
        </p:nvSpPr>
        <p:spPr>
          <a:xfrm>
            <a:off x="7818120" y="2176272"/>
            <a:ext cx="1243584" cy="804672"/>
          </a:xfrm>
          <a:prstGeom prst="rect">
            <a:avLst/>
          </a:prstGeom>
          <a:solidFill>
            <a:srgbClr val="DDEBE0"/>
          </a:solidFill>
          <a:ln w="3810">
            <a:solidFill>
              <a:srgbClr val="DADADA"/>
            </a:solidFill>
            <a:prstDash val="solid"/>
          </a:ln>
        </p:spPr>
      </p:sp>
      <p:sp>
        <p:nvSpPr>
          <p:cNvPr id="28" name="Text 26"/>
          <p:cNvSpPr/>
          <p:nvPr/>
        </p:nvSpPr>
        <p:spPr>
          <a:xfrm>
            <a:off x="7891272"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路线A</a:t>
            </a:r>
            <a:endParaRPr lang="en-US" sz="710" dirty="0"/>
          </a:p>
        </p:txBody>
      </p:sp>
      <p:sp>
        <p:nvSpPr>
          <p:cNvPr id="29" name="Text 27"/>
          <p:cNvSpPr/>
          <p:nvPr/>
        </p:nvSpPr>
        <p:spPr>
          <a:xfrm>
            <a:off x="7891272"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天原第五代高压实磷酸铁锂完</a:t>
            </a:r>
            <a:endParaRPr lang="en-US" sz="670" dirty="0"/>
          </a:p>
        </p:txBody>
      </p:sp>
      <p:sp>
        <p:nvSpPr>
          <p:cNvPr id="30" name="Shape 28"/>
          <p:cNvSpPr/>
          <p:nvPr/>
        </p:nvSpPr>
        <p:spPr>
          <a:xfrm>
            <a:off x="9061704" y="2176272"/>
            <a:ext cx="1243584" cy="804672"/>
          </a:xfrm>
          <a:prstGeom prst="rect">
            <a:avLst/>
          </a:prstGeom>
          <a:solidFill>
            <a:srgbClr val="FFFFFF"/>
          </a:solidFill>
          <a:ln w="3810">
            <a:solidFill>
              <a:srgbClr val="DADADA"/>
            </a:solidFill>
            <a:prstDash val="solid"/>
          </a:ln>
        </p:spPr>
      </p:sp>
      <p:sp>
        <p:nvSpPr>
          <p:cNvPr id="31" name="Text 29"/>
          <p:cNvSpPr/>
          <p:nvPr/>
        </p:nvSpPr>
        <p:spPr>
          <a:xfrm>
            <a:off x="9134856"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路线B</a:t>
            </a:r>
            <a:endParaRPr lang="en-US" sz="710" dirty="0"/>
          </a:p>
        </p:txBody>
      </p:sp>
      <p:sp>
        <p:nvSpPr>
          <p:cNvPr id="32" name="Text 30"/>
          <p:cNvSpPr/>
          <p:nvPr/>
        </p:nvSpPr>
        <p:spPr>
          <a:xfrm>
            <a:off x="9134856"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液相法德方纳米规划纳米磷酸</a:t>
            </a:r>
            <a:endParaRPr lang="en-US" sz="670" dirty="0"/>
          </a:p>
        </p:txBody>
      </p:sp>
      <p:sp>
        <p:nvSpPr>
          <p:cNvPr id="33" name="Shape 31"/>
          <p:cNvSpPr/>
          <p:nvPr/>
        </p:nvSpPr>
        <p:spPr>
          <a:xfrm>
            <a:off x="7818120" y="2980944"/>
            <a:ext cx="1243584" cy="804672"/>
          </a:xfrm>
          <a:prstGeom prst="rect">
            <a:avLst/>
          </a:prstGeom>
          <a:solidFill>
            <a:srgbClr val="FFFFFF"/>
          </a:solidFill>
          <a:ln w="3810">
            <a:solidFill>
              <a:srgbClr val="DADADA"/>
            </a:solidFill>
            <a:prstDash val="solid"/>
          </a:ln>
        </p:spPr>
      </p:sp>
      <p:sp>
        <p:nvSpPr>
          <p:cNvPr id="34" name="Text 32"/>
          <p:cNvSpPr/>
          <p:nvPr/>
        </p:nvSpPr>
        <p:spPr>
          <a:xfrm>
            <a:off x="7891272"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机会</a:t>
            </a:r>
            <a:endParaRPr lang="en-US" sz="710" dirty="0"/>
          </a:p>
        </p:txBody>
      </p:sp>
      <p:sp>
        <p:nvSpPr>
          <p:cNvPr id="35" name="Text 33"/>
          <p:cNvSpPr/>
          <p:nvPr/>
        </p:nvSpPr>
        <p:spPr>
          <a:xfrm>
            <a:off x="7891272"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[2][1] 公众号信息显</a:t>
            </a:r>
            <a:endParaRPr lang="en-US" sz="670" dirty="0"/>
          </a:p>
        </p:txBody>
      </p:sp>
      <p:sp>
        <p:nvSpPr>
          <p:cNvPr id="36" name="Shape 34"/>
          <p:cNvSpPr/>
          <p:nvPr/>
        </p:nvSpPr>
        <p:spPr>
          <a:xfrm>
            <a:off x="9061704" y="2980944"/>
            <a:ext cx="1243584" cy="804672"/>
          </a:xfrm>
          <a:prstGeom prst="rect">
            <a:avLst/>
          </a:prstGeom>
          <a:solidFill>
            <a:srgbClr val="F4FAF6"/>
          </a:solidFill>
          <a:ln w="3810">
            <a:solidFill>
              <a:srgbClr val="DADADA"/>
            </a:solidFill>
            <a:prstDash val="solid"/>
          </a:ln>
        </p:spPr>
      </p:sp>
      <p:sp>
        <p:nvSpPr>
          <p:cNvPr id="37" name="Text 35"/>
          <p:cNvSpPr/>
          <p:nvPr/>
        </p:nvSpPr>
        <p:spPr>
          <a:xfrm>
            <a:off x="9134856"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约束</a:t>
            </a:r>
            <a:endParaRPr lang="en-US" sz="710" dirty="0"/>
          </a:p>
        </p:txBody>
      </p:sp>
      <p:sp>
        <p:nvSpPr>
          <p:cNvPr id="38" name="Text 36"/>
          <p:cNvSpPr/>
          <p:nvPr/>
        </p:nvSpPr>
        <p:spPr>
          <a:xfrm>
            <a:off x="9134856"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天原第五代高压实磷酸铁锂完</a:t>
            </a:r>
            <a:endParaRPr lang="en-US" sz="670" dirty="0"/>
          </a:p>
        </p:txBody>
      </p:sp>
      <p:sp>
        <p:nvSpPr>
          <p:cNvPr id="39" name="Text 37"/>
          <p:cNvSpPr/>
          <p:nvPr/>
        </p:nvSpPr>
        <p:spPr>
          <a:xfrm>
            <a:off x="7726680" y="4187952"/>
            <a:ext cx="2697480" cy="49377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检测到对比/分类信号，用矩阵压缩呈现，不新增外部判断。</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若天原第五代产品在2026年四季度获得头部电芯厂批量订单，则可能带动高压实产品价格溢价扩大，第四代产品价格承压</a:t>
            </a:r>
            <a:endParaRPr lang="en-US" sz="10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5.</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2026-10-23</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05</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产能/客户/订单</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2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龙蟠科技附属拟出售印尼二期磷酸铁锂正极材料项目76%股权，海外扩产策略出现调整；德方纳米规划纳米磷酸铁锂34.5万吨/年，国内产能扩张仍在推进；清陶动力固态电池项目一期在苏州投产，技术路线竞争加剧。 [3][4]</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依据：[3][4]</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龙蟠出售印尼二期项目控股权可能反映海外建设运营成本高企或战略重心回撤，需关注买方身份及项目后续建设是否延期；德方纳米液相法产能规划较大，但分期建设进度与客户绑定情况需跟踪；固态电池项目投产对磷酸铁锂长期需求替代风险有限，但可能分流部分高端应用场景关注度。海外项目股权变动可能影响印尼磷酸铁锂供给增量预期。</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龙蟠印尼二期项目股权出售后建设进度放缓，则2027年印尼磷酸铁锂供给增量可能低于预期，对海外正极材料供应格局产生影响；若德方纳米34.5万吨产能按期投产，则国内液相法磷酸铁锂供给增加，可能加剧中低端产品价格竞争。跟踪指标：印尼二期项目股权交割及建设进度公告、德方纳米产能投产时间表、海外磷酸铁锂进口数据。</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关键数据解读</a:t>
            </a:r>
            <a:endParaRPr lang="en-US" sz="1200" dirty="0"/>
          </a:p>
        </p:txBody>
      </p:sp>
      <p:sp>
        <p:nvSpPr>
          <p:cNvPr id="24" name="Shape 22"/>
          <p:cNvSpPr/>
          <p:nvPr/>
        </p:nvSpPr>
        <p:spPr>
          <a:xfrm>
            <a:off x="7772400" y="1993392"/>
            <a:ext cx="2560320" cy="1389888"/>
          </a:xfrm>
          <a:prstGeom prst="roundRect">
            <a:avLst>
              <a:gd name="adj" fmla="val 2632"/>
            </a:avLst>
          </a:prstGeom>
          <a:solidFill>
            <a:srgbClr val="F4FAF6"/>
          </a:solidFill>
          <a:ln w="7620">
            <a:solidFill>
              <a:srgbClr val="DADADA"/>
            </a:solidFill>
            <a:prstDash val="solid"/>
          </a:ln>
        </p:spPr>
      </p:sp>
      <p:sp>
        <p:nvSpPr>
          <p:cNvPr id="25" name="Text 23"/>
          <p:cNvSpPr/>
          <p:nvPr/>
        </p:nvSpPr>
        <p:spPr>
          <a:xfrm>
            <a:off x="7918704" y="2103120"/>
            <a:ext cx="822960" cy="384048"/>
          </a:xfrm>
          <a:prstGeom prst="rect">
            <a:avLst/>
          </a:prstGeom>
          <a:noFill/>
          <a:ln/>
        </p:spPr>
        <p:txBody>
          <a:bodyPr wrap="square" lIns="0" tIns="0" rIns="0" bIns="0" rtlCol="0" anchor="ctr">
            <a:normAutofit/>
          </a:bodyPr>
          <a:lstStyle/>
          <a:p>
            <a:pPr indent="0" marL="0">
              <a:buNone/>
            </a:pPr>
            <a:r>
              <a:rPr lang="en-US" sz="2100" b="1" dirty="0">
                <a:solidFill>
                  <a:srgbClr val="487052"/>
                </a:solidFill>
                <a:latin typeface="Aptos" pitchFamily="34" charset="0"/>
                <a:ea typeface="Aptos" pitchFamily="34" charset="-122"/>
                <a:cs typeface="Aptos" pitchFamily="34" charset="-120"/>
              </a:rPr>
              <a:t>76%</a:t>
            </a:r>
            <a:endParaRPr lang="en-US" sz="2100" dirty="0"/>
          </a:p>
        </p:txBody>
      </p:sp>
      <p:sp>
        <p:nvSpPr>
          <p:cNvPr id="26" name="Text 24"/>
          <p:cNvSpPr/>
          <p:nvPr/>
        </p:nvSpPr>
        <p:spPr>
          <a:xfrm>
            <a:off x="8759952" y="2167128"/>
            <a:ext cx="1371600" cy="201168"/>
          </a:xfrm>
          <a:prstGeom prst="rect">
            <a:avLst/>
          </a:prstGeom>
          <a:noFill/>
          <a:ln/>
        </p:spPr>
        <p:txBody>
          <a:bodyPr wrap="square" lIns="0" tIns="0" rIns="0" bIns="0" rtlCol="0" anchor="ctr">
            <a:normAutofit/>
          </a:bodyPr>
          <a:lstStyle/>
          <a:p>
            <a:pPr indent="0" marL="0">
              <a:buNone/>
            </a:pPr>
            <a:r>
              <a:rPr lang="en-US" sz="820" b="1" dirty="0">
                <a:solidFill>
                  <a:srgbClr val="121212"/>
                </a:solidFill>
                <a:latin typeface="Microsoft YaHei" pitchFamily="34" charset="0"/>
                <a:ea typeface="Microsoft YaHei" pitchFamily="34" charset="-122"/>
                <a:cs typeface="Microsoft YaHei" pitchFamily="34" charset="-120"/>
              </a:rPr>
              <a:t>股权</a:t>
            </a:r>
            <a:endParaRPr lang="en-US" sz="820" dirty="0"/>
          </a:p>
        </p:txBody>
      </p:sp>
      <p:sp>
        <p:nvSpPr>
          <p:cNvPr id="27" name="Text 25"/>
          <p:cNvSpPr/>
          <p:nvPr/>
        </p:nvSpPr>
        <p:spPr>
          <a:xfrm>
            <a:off x="7918704" y="2578608"/>
            <a:ext cx="2176272" cy="512064"/>
          </a:xfrm>
          <a:prstGeom prst="rect">
            <a:avLst/>
          </a:prstGeom>
          <a:noFill/>
          <a:ln/>
        </p:spPr>
        <p:txBody>
          <a:bodyPr wrap="square" lIns="0" tIns="0" rIns="0" bIns="0" rtlCol="0" anchor="t">
            <a:normAutofit/>
          </a:bodyPr>
          <a:lstStyle/>
          <a:p>
            <a:pPr indent="0" marL="0">
              <a:buNone/>
            </a:pPr>
            <a:r>
              <a:rPr lang="en-US" sz="840" dirty="0">
                <a:solidFill>
                  <a:srgbClr val="121212"/>
                </a:solidFill>
                <a:latin typeface="Microsoft YaHei" pitchFamily="34" charset="0"/>
                <a:ea typeface="Microsoft YaHei" pitchFamily="34" charset="-122"/>
                <a:cs typeface="Microsoft YaHei" pitchFamily="34" charset="-120"/>
              </a:rPr>
              <a:t>公开信息：龙蟠科技附属拟出售印尼二期磷酸铁锂正极材料项目76%股权，海外扩产策略出现调整</a:t>
            </a:r>
            <a:endParaRPr lang="en-US" sz="840" dirty="0"/>
          </a:p>
        </p:txBody>
      </p:sp>
      <p:sp>
        <p:nvSpPr>
          <p:cNvPr id="28" name="Text 26"/>
          <p:cNvSpPr/>
          <p:nvPr/>
        </p:nvSpPr>
        <p:spPr>
          <a:xfrm>
            <a:off x="7772400" y="4498848"/>
            <a:ext cx="2560320" cy="384048"/>
          </a:xfrm>
          <a:prstGeom prst="rect">
            <a:avLst/>
          </a:prstGeom>
          <a:noFill/>
          <a:ln/>
        </p:spPr>
        <p:txBody>
          <a:bodyPr wrap="square" lIns="0" tIns="0" rIns="0" bIns="0" rtlCol="0" anchor="t">
            <a:normAutofit/>
          </a:bodyPr>
          <a:lstStyle/>
          <a:p>
            <a:pPr indent="0" marL="0">
              <a:buNone/>
            </a:pPr>
            <a:r>
              <a:rPr lang="en-US" sz="800" dirty="0">
                <a:solidFill>
                  <a:srgbClr val="6D756F"/>
                </a:solidFill>
                <a:latin typeface="Microsoft YaHei" pitchFamily="34" charset="0"/>
                <a:ea typeface="Microsoft YaHei" pitchFamily="34" charset="-122"/>
                <a:cs typeface="Microsoft YaHei" pitchFamily="34" charset="-120"/>
              </a:rPr>
              <a:t>阅读提示：仅按公开报道原文呈现；不同企业、时间和统计范围不可直接横向比较。</a:t>
            </a:r>
            <a:endParaRPr lang="en-US" sz="800" dirty="0"/>
          </a:p>
        </p:txBody>
      </p:sp>
      <p:sp>
        <p:nvSpPr>
          <p:cNvPr id="29" name="Shape 27"/>
          <p:cNvSpPr/>
          <p:nvPr/>
        </p:nvSpPr>
        <p:spPr>
          <a:xfrm>
            <a:off x="658368" y="5779008"/>
            <a:ext cx="1463040" cy="292608"/>
          </a:xfrm>
          <a:prstGeom prst="rect">
            <a:avLst/>
          </a:prstGeom>
          <a:solidFill>
            <a:srgbClr val="121212"/>
          </a:solidFill>
          <a:ln w="12700">
            <a:solidFill>
              <a:srgbClr val="121212"/>
            </a:solidFill>
            <a:prstDash val="solid"/>
          </a:ln>
        </p:spPr>
      </p:sp>
      <p:sp>
        <p:nvSpPr>
          <p:cNvPr id="30" name="Text 28"/>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31" name="Text 29"/>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若龙蟠印尼二期项目股权出售后建设进度放缓，则2027年印尼磷酸铁锂供给增量可能低于预期，对海外正极材料供应格局产生影响</a:t>
            </a:r>
            <a:endParaRPr lang="en-US" sz="10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6.</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2026-10-23</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06</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价格/盈利压力</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1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锂矿三季报业绩高增背后隐现预期分歧，上游锂矿盈利改善但中下游正极材料成本传导不畅；高压实产品迭代可能带来结构性溢价，但普通磷酸铁锂产品盈利压力仍存。 [5]</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依据：[5]</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上海证券报报道锂矿三季报业绩高增但市场预期分歧显现，反映碳酸锂价格波动对上游盈利的弹性与中下游成本压力的矛盾；高压实产品若获得溢价，具备技术优势的企业盈利可能改善，但多数企业仍面临普通产品同质化竞争；需验证碳酸锂价格走势与正极材料企业毛利率变化，以及高压实产品溢价能否覆盖研发与产线升级成本。</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碳酸锂价格维持高位且高压实产品溢价扩大，则具备高压实量产能力的企业毛利率可能环比改善，普通产品企业盈利继续承压；若碳酸锂价格回落，则正极材料成本压力缓解但上游锂矿盈利收缩。跟踪指标：碳酸锂现货均价、磷酸铁锂正极材料月度均价、高压实与普通产品价差、正极材料企业季度毛利率。</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因果图</a:t>
            </a:r>
            <a:endParaRPr lang="en-US" sz="1200" dirty="0"/>
          </a:p>
        </p:txBody>
      </p:sp>
      <p:sp>
        <p:nvSpPr>
          <p:cNvPr id="24" name="Shape 22"/>
          <p:cNvSpPr/>
          <p:nvPr/>
        </p:nvSpPr>
        <p:spPr>
          <a:xfrm>
            <a:off x="7845552" y="3063240"/>
            <a:ext cx="2432304" cy="0"/>
          </a:xfrm>
          <a:prstGeom prst="line">
            <a:avLst/>
          </a:prstGeom>
          <a:noFill/>
          <a:ln w="15240">
            <a:solidFill>
              <a:srgbClr val="487052"/>
            </a:solidFill>
            <a:prstDash val="solid"/>
          </a:ln>
        </p:spPr>
      </p:sp>
      <p:sp>
        <p:nvSpPr>
          <p:cNvPr id="25" name="Shape 23"/>
          <p:cNvSpPr/>
          <p:nvPr/>
        </p:nvSpPr>
        <p:spPr>
          <a:xfrm>
            <a:off x="10012680" y="2889504"/>
            <a:ext cx="384048" cy="347472"/>
          </a:xfrm>
          <a:prstGeom prst="rightArrow">
            <a:avLst/>
          </a:prstGeom>
          <a:solidFill>
            <a:srgbClr val="487052"/>
          </a:solidFill>
          <a:ln w="12700">
            <a:solidFill>
              <a:srgbClr val="487052"/>
            </a:solidFill>
            <a:prstDash val="solid"/>
          </a:ln>
        </p:spPr>
      </p:sp>
      <p:sp>
        <p:nvSpPr>
          <p:cNvPr id="26" name="Text 24"/>
          <p:cNvSpPr/>
          <p:nvPr/>
        </p:nvSpPr>
        <p:spPr>
          <a:xfrm>
            <a:off x="9893808" y="3310128"/>
            <a:ext cx="475488" cy="146304"/>
          </a:xfrm>
          <a:prstGeom prst="rect">
            <a:avLst/>
          </a:prstGeom>
          <a:noFill/>
          <a:ln/>
        </p:spPr>
        <p:txBody>
          <a:bodyPr wrap="square" lIns="0" tIns="0" rIns="0" bIns="0" rtlCol="0" anchor="ctr"/>
          <a:lstStyle/>
          <a:p>
            <a:pPr algn="ctr" indent="0" marL="0">
              <a:buNone/>
            </a:pPr>
            <a:r>
              <a:rPr lang="en-US" sz="740" b="1" dirty="0">
                <a:solidFill>
                  <a:srgbClr val="487052"/>
                </a:solidFill>
                <a:latin typeface="Microsoft YaHei" pitchFamily="34" charset="0"/>
                <a:ea typeface="Microsoft YaHei" pitchFamily="34" charset="-122"/>
                <a:cs typeface="Microsoft YaHei" pitchFamily="34" charset="-120"/>
              </a:rPr>
              <a:t>影响</a:t>
            </a:r>
            <a:endParaRPr lang="en-US" sz="740" dirty="0"/>
          </a:p>
        </p:txBody>
      </p:sp>
      <p:sp>
        <p:nvSpPr>
          <p:cNvPr id="27" name="Shape 25"/>
          <p:cNvSpPr/>
          <p:nvPr/>
        </p:nvSpPr>
        <p:spPr>
          <a:xfrm>
            <a:off x="8028432" y="2359152"/>
            <a:ext cx="402336" cy="704088"/>
          </a:xfrm>
          <a:prstGeom prst="line">
            <a:avLst/>
          </a:prstGeom>
          <a:noFill/>
          <a:ln w="11430">
            <a:solidFill>
              <a:srgbClr val="7F9D84"/>
            </a:solidFill>
            <a:prstDash val="solid"/>
          </a:ln>
        </p:spPr>
      </p:sp>
      <p:sp>
        <p:nvSpPr>
          <p:cNvPr id="28" name="Shape 26"/>
          <p:cNvSpPr/>
          <p:nvPr/>
        </p:nvSpPr>
        <p:spPr>
          <a:xfrm>
            <a:off x="7882128" y="2249424"/>
            <a:ext cx="786384" cy="310896"/>
          </a:xfrm>
          <a:prstGeom prst="roundRect">
            <a:avLst>
              <a:gd name="adj" fmla="val 11765"/>
            </a:avLst>
          </a:prstGeom>
          <a:solidFill>
            <a:srgbClr val="F4FAF6"/>
          </a:solidFill>
          <a:ln w="7620">
            <a:solidFill>
              <a:srgbClr val="DADADA"/>
            </a:solidFill>
            <a:prstDash val="solid"/>
          </a:ln>
        </p:spPr>
      </p:sp>
      <p:sp>
        <p:nvSpPr>
          <p:cNvPr id="29" name="Text 27"/>
          <p:cNvSpPr/>
          <p:nvPr/>
        </p:nvSpPr>
        <p:spPr>
          <a:xfrm>
            <a:off x="7973568" y="2350008"/>
            <a:ext cx="603504" cy="91440"/>
          </a:xfrm>
          <a:prstGeom prst="rect">
            <a:avLst/>
          </a:prstGeom>
          <a:noFill/>
          <a:ln/>
        </p:spPr>
        <p:txBody>
          <a:bodyPr wrap="square" lIns="0" tIns="0" rIns="0" bIns="0" rtlCol="0" anchor="ctr">
            <a:normAutofit/>
          </a:bodyPr>
          <a:lstStyle/>
          <a:p>
            <a:pPr algn="ctr" indent="0" marL="0">
              <a:buNone/>
            </a:pPr>
            <a:r>
              <a:rPr lang="en-US" sz="680" b="1" dirty="0">
                <a:solidFill>
                  <a:srgbClr val="487052"/>
                </a:solidFill>
                <a:latin typeface="Microsoft YaHei" pitchFamily="34" charset="0"/>
                <a:ea typeface="Microsoft YaHei" pitchFamily="34" charset="-122"/>
                <a:cs typeface="Microsoft YaHei" pitchFamily="34" charset="-120"/>
              </a:rPr>
              <a:t>价格</a:t>
            </a:r>
            <a:endParaRPr lang="en-US" sz="680" dirty="0"/>
          </a:p>
        </p:txBody>
      </p:sp>
      <p:sp>
        <p:nvSpPr>
          <p:cNvPr id="30" name="Text 28"/>
          <p:cNvSpPr/>
          <p:nvPr/>
        </p:nvSpPr>
        <p:spPr>
          <a:xfrm>
            <a:off x="7863840" y="1956816"/>
            <a:ext cx="822960" cy="219456"/>
          </a:xfrm>
          <a:prstGeom prst="rect">
            <a:avLst/>
          </a:prstGeom>
          <a:noFill/>
          <a:ln/>
        </p:spPr>
        <p:txBody>
          <a:bodyPr wrap="square" lIns="0" tIns="0" rIns="0" bIns="0" rtlCol="0" anchor="t">
            <a:normAutofit/>
          </a:bodyPr>
          <a:lstStyle/>
          <a:p>
            <a:pPr algn="ctr" indent="0" marL="0">
              <a:buNone/>
            </a:pPr>
            <a:r>
              <a:rPr lang="en-US" sz="640" dirty="0">
                <a:solidFill>
                  <a:srgbClr val="121212"/>
                </a:solidFill>
                <a:latin typeface="Microsoft YaHei" pitchFamily="34" charset="0"/>
                <a:ea typeface="Microsoft YaHei" pitchFamily="34" charset="-122"/>
                <a:cs typeface="Microsoft YaHei" pitchFamily="34" charset="-120"/>
              </a:rPr>
              <a:t>锂矿三季报业绩高增</a:t>
            </a:r>
            <a:endParaRPr lang="en-US" sz="640" dirty="0"/>
          </a:p>
        </p:txBody>
      </p:sp>
      <p:sp>
        <p:nvSpPr>
          <p:cNvPr id="31" name="Shape 29"/>
          <p:cNvSpPr/>
          <p:nvPr/>
        </p:nvSpPr>
        <p:spPr>
          <a:xfrm>
            <a:off x="8686800" y="3063240"/>
            <a:ext cx="402336" cy="685800"/>
          </a:xfrm>
          <a:prstGeom prst="line">
            <a:avLst/>
          </a:prstGeom>
          <a:noFill/>
          <a:ln w="11430">
            <a:solidFill>
              <a:srgbClr val="7F9D84"/>
            </a:solidFill>
            <a:prstDash val="solid"/>
          </a:ln>
        </p:spPr>
      </p:sp>
      <p:sp>
        <p:nvSpPr>
          <p:cNvPr id="32" name="Shape 30"/>
          <p:cNvSpPr/>
          <p:nvPr/>
        </p:nvSpPr>
        <p:spPr>
          <a:xfrm>
            <a:off x="8540496" y="3639312"/>
            <a:ext cx="786384" cy="310896"/>
          </a:xfrm>
          <a:prstGeom prst="roundRect">
            <a:avLst>
              <a:gd name="adj" fmla="val 11765"/>
            </a:avLst>
          </a:prstGeom>
          <a:solidFill>
            <a:srgbClr val="F4FAF6"/>
          </a:solidFill>
          <a:ln w="7620">
            <a:solidFill>
              <a:srgbClr val="DADADA"/>
            </a:solidFill>
            <a:prstDash val="solid"/>
          </a:ln>
        </p:spPr>
      </p:sp>
      <p:sp>
        <p:nvSpPr>
          <p:cNvPr id="33" name="Text 31"/>
          <p:cNvSpPr/>
          <p:nvPr/>
        </p:nvSpPr>
        <p:spPr>
          <a:xfrm>
            <a:off x="8631936" y="3739896"/>
            <a:ext cx="603504" cy="91440"/>
          </a:xfrm>
          <a:prstGeom prst="rect">
            <a:avLst/>
          </a:prstGeom>
          <a:noFill/>
          <a:ln/>
        </p:spPr>
        <p:txBody>
          <a:bodyPr wrap="square" lIns="0" tIns="0" rIns="0" bIns="0" rtlCol="0" anchor="ctr">
            <a:normAutofit/>
          </a:bodyPr>
          <a:lstStyle/>
          <a:p>
            <a:pPr algn="ctr" indent="0" marL="0">
              <a:buNone/>
            </a:pPr>
            <a:r>
              <a:rPr lang="en-US" sz="680" b="1" dirty="0">
                <a:solidFill>
                  <a:srgbClr val="487052"/>
                </a:solidFill>
                <a:latin typeface="Microsoft YaHei" pitchFamily="34" charset="0"/>
                <a:ea typeface="Microsoft YaHei" pitchFamily="34" charset="-122"/>
                <a:cs typeface="Microsoft YaHei" pitchFamily="34" charset="-120"/>
              </a:rPr>
              <a:t>成本</a:t>
            </a:r>
            <a:endParaRPr lang="en-US" sz="680" dirty="0"/>
          </a:p>
        </p:txBody>
      </p:sp>
      <p:sp>
        <p:nvSpPr>
          <p:cNvPr id="34" name="Text 32"/>
          <p:cNvSpPr/>
          <p:nvPr/>
        </p:nvSpPr>
        <p:spPr>
          <a:xfrm>
            <a:off x="8522208" y="4005072"/>
            <a:ext cx="822960" cy="219456"/>
          </a:xfrm>
          <a:prstGeom prst="rect">
            <a:avLst/>
          </a:prstGeom>
          <a:noFill/>
          <a:ln/>
        </p:spPr>
        <p:txBody>
          <a:bodyPr wrap="square" lIns="0" tIns="0" rIns="0" bIns="0" rtlCol="0" anchor="t">
            <a:normAutofit/>
          </a:bodyPr>
          <a:lstStyle/>
          <a:p>
            <a:pPr algn="ctr" indent="0" marL="0">
              <a:buNone/>
            </a:pPr>
            <a:r>
              <a:rPr lang="en-US" sz="640" dirty="0">
                <a:solidFill>
                  <a:srgbClr val="121212"/>
                </a:solidFill>
                <a:latin typeface="Microsoft YaHei" pitchFamily="34" charset="0"/>
                <a:ea typeface="Microsoft YaHei" pitchFamily="34" charset="-122"/>
                <a:cs typeface="Microsoft YaHei" pitchFamily="34" charset="-120"/>
              </a:rPr>
              <a:t>高压实产品迭代可能</a:t>
            </a:r>
            <a:endParaRPr lang="en-US" sz="640" dirty="0"/>
          </a:p>
        </p:txBody>
      </p:sp>
      <p:sp>
        <p:nvSpPr>
          <p:cNvPr id="35" name="Shape 33"/>
          <p:cNvSpPr/>
          <p:nvPr/>
        </p:nvSpPr>
        <p:spPr>
          <a:xfrm>
            <a:off x="9345168" y="2359152"/>
            <a:ext cx="402336" cy="704088"/>
          </a:xfrm>
          <a:prstGeom prst="line">
            <a:avLst/>
          </a:prstGeom>
          <a:noFill/>
          <a:ln w="11430">
            <a:solidFill>
              <a:srgbClr val="7F9D84"/>
            </a:solidFill>
            <a:prstDash val="solid"/>
          </a:ln>
        </p:spPr>
      </p:sp>
      <p:sp>
        <p:nvSpPr>
          <p:cNvPr id="36" name="Shape 34"/>
          <p:cNvSpPr/>
          <p:nvPr/>
        </p:nvSpPr>
        <p:spPr>
          <a:xfrm>
            <a:off x="9198864" y="2249424"/>
            <a:ext cx="786384" cy="310896"/>
          </a:xfrm>
          <a:prstGeom prst="roundRect">
            <a:avLst>
              <a:gd name="adj" fmla="val 11765"/>
            </a:avLst>
          </a:prstGeom>
          <a:solidFill>
            <a:srgbClr val="F4FAF6"/>
          </a:solidFill>
          <a:ln w="7620">
            <a:solidFill>
              <a:srgbClr val="DADADA"/>
            </a:solidFill>
            <a:prstDash val="solid"/>
          </a:ln>
        </p:spPr>
      </p:sp>
      <p:sp>
        <p:nvSpPr>
          <p:cNvPr id="37" name="Text 35"/>
          <p:cNvSpPr/>
          <p:nvPr/>
        </p:nvSpPr>
        <p:spPr>
          <a:xfrm>
            <a:off x="9290304" y="2350008"/>
            <a:ext cx="603504" cy="91440"/>
          </a:xfrm>
          <a:prstGeom prst="rect">
            <a:avLst/>
          </a:prstGeom>
          <a:noFill/>
          <a:ln/>
        </p:spPr>
        <p:txBody>
          <a:bodyPr wrap="square" lIns="0" tIns="0" rIns="0" bIns="0" rtlCol="0" anchor="ctr">
            <a:normAutofit/>
          </a:bodyPr>
          <a:lstStyle/>
          <a:p>
            <a:pPr algn="ctr" indent="0" marL="0">
              <a:buNone/>
            </a:pPr>
            <a:r>
              <a:rPr lang="en-US" sz="680" b="1" dirty="0">
                <a:solidFill>
                  <a:srgbClr val="487052"/>
                </a:solidFill>
                <a:latin typeface="Microsoft YaHei" pitchFamily="34" charset="0"/>
                <a:ea typeface="Microsoft YaHei" pitchFamily="34" charset="-122"/>
                <a:cs typeface="Microsoft YaHei" pitchFamily="34" charset="-120"/>
              </a:rPr>
              <a:t>利润</a:t>
            </a:r>
            <a:endParaRPr lang="en-US" sz="680" dirty="0"/>
          </a:p>
        </p:txBody>
      </p:sp>
      <p:sp>
        <p:nvSpPr>
          <p:cNvPr id="38" name="Text 36"/>
          <p:cNvSpPr/>
          <p:nvPr/>
        </p:nvSpPr>
        <p:spPr>
          <a:xfrm>
            <a:off x="9180576" y="1956816"/>
            <a:ext cx="822960" cy="219456"/>
          </a:xfrm>
          <a:prstGeom prst="rect">
            <a:avLst/>
          </a:prstGeom>
          <a:noFill/>
          <a:ln/>
        </p:spPr>
        <p:txBody>
          <a:bodyPr wrap="square" lIns="0" tIns="0" rIns="0" bIns="0" rtlCol="0" anchor="t">
            <a:normAutofit/>
          </a:bodyPr>
          <a:lstStyle/>
          <a:p>
            <a:pPr algn="ctr" indent="0" marL="0">
              <a:buNone/>
            </a:pPr>
            <a:r>
              <a:rPr lang="en-US" sz="640" dirty="0">
                <a:solidFill>
                  <a:srgbClr val="121212"/>
                </a:solidFill>
                <a:latin typeface="Microsoft YaHei" pitchFamily="34" charset="0"/>
                <a:ea typeface="Microsoft YaHei" pitchFamily="34" charset="-122"/>
                <a:cs typeface="Microsoft YaHei" pitchFamily="34" charset="-120"/>
              </a:rPr>
              <a:t>[5] 上海证券报</a:t>
            </a:r>
            <a:endParaRPr lang="en-US" sz="640" dirty="0"/>
          </a:p>
        </p:txBody>
      </p:sp>
      <p:sp>
        <p:nvSpPr>
          <p:cNvPr id="39" name="Text 37"/>
          <p:cNvSpPr/>
          <p:nvPr/>
        </p:nvSpPr>
        <p:spPr>
          <a:xfrm>
            <a:off x="7726680" y="4517136"/>
            <a:ext cx="2697480" cy="31089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参考鱼骨图逻辑，只表达来源文本中的原因和影响。</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若碳酸锂价格维持高位且高压实产品溢价扩大，则具备高压实量产能力的企业毛利率可能环比改善，普通产品企业盈利继续承压</a:t>
            </a:r>
            <a:endParaRPr lang="en-US" sz="10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7.</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2026-10-23</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07</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政策/合规风险</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2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动力电池出海面临合规与本土化新考题，海外回收产业体系建设成为关键；电池回收政策关注度提升，城市矿山与回收巨头齐聚陕西，回收体系建设加速。 [6][7]</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依据：[6][7]</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中国青年网报道合规与本土化成为动力电池出海新考题，海外回收产业体系建设成关键，意味着磷酸铁锂正极材料出口可能面临更严格的碳足迹与回收要求；电池回收产业会议显示回收体系建设加速，但政策具体细则与执行力度需跟踪；出海合规成本可能增加正极材料企业海外布局的复杂性，影响印尼等海外项目经济性。</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海外回收合规要求进一步细化并提高准入门槛，则磷酸铁锂正极材料出海企业需增加回收配套投入，海外项目成本可能上升；若国内电池回收政策加码，则退役电池回收供给增加，可能对原生磷酸铁锂需求形成部分替代。跟踪指标：海外电池回收法规细则、国内电池回收白名单企业数量、退役电池回收量月度数据。</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合规风险金字塔</a:t>
            </a:r>
            <a:endParaRPr lang="en-US" sz="1200" dirty="0"/>
          </a:p>
        </p:txBody>
      </p:sp>
      <p:sp>
        <p:nvSpPr>
          <p:cNvPr id="24" name="Shape 22"/>
          <p:cNvSpPr/>
          <p:nvPr/>
        </p:nvSpPr>
        <p:spPr>
          <a:xfrm>
            <a:off x="8503920" y="1975104"/>
            <a:ext cx="1097280" cy="512064"/>
          </a:xfrm>
          <a:prstGeom prst="trapezoid">
            <a:avLst/>
          </a:prstGeom>
          <a:solidFill>
            <a:srgbClr val="B85A4A"/>
          </a:solidFill>
          <a:ln w="8890">
            <a:solidFill>
              <a:srgbClr val="487052"/>
            </a:solidFill>
            <a:prstDash val="solid"/>
          </a:ln>
        </p:spPr>
      </p:sp>
      <p:sp>
        <p:nvSpPr>
          <p:cNvPr id="25" name="Text 23"/>
          <p:cNvSpPr/>
          <p:nvPr/>
        </p:nvSpPr>
        <p:spPr>
          <a:xfrm>
            <a:off x="8595360" y="2066544"/>
            <a:ext cx="914400" cy="118872"/>
          </a:xfrm>
          <a:prstGeom prst="rect">
            <a:avLst/>
          </a:prstGeom>
          <a:noFill/>
          <a:ln/>
        </p:spPr>
        <p:txBody>
          <a:bodyPr wrap="square" lIns="0" tIns="0" rIns="0" bIns="0" rtlCol="0" anchor="ctr">
            <a:normAutofit/>
          </a:bodyPr>
          <a:lstStyle/>
          <a:p>
            <a:pPr algn="ctr" indent="0" marL="0">
              <a:buNone/>
            </a:pPr>
            <a:r>
              <a:rPr lang="en-US" sz="740" b="1" dirty="0">
                <a:solidFill>
                  <a:srgbClr val="FFFFFF"/>
                </a:solidFill>
                <a:latin typeface="Microsoft YaHei" pitchFamily="34" charset="0"/>
                <a:ea typeface="Microsoft YaHei" pitchFamily="34" charset="-122"/>
                <a:cs typeface="Microsoft YaHei" pitchFamily="34" charset="-120"/>
              </a:rPr>
              <a:t>监管红线</a:t>
            </a:r>
            <a:endParaRPr lang="en-US" sz="740" dirty="0"/>
          </a:p>
        </p:txBody>
      </p:sp>
      <p:sp>
        <p:nvSpPr>
          <p:cNvPr id="26" name="Text 24"/>
          <p:cNvSpPr/>
          <p:nvPr/>
        </p:nvSpPr>
        <p:spPr>
          <a:xfrm>
            <a:off x="7808976" y="2496312"/>
            <a:ext cx="2514600" cy="118872"/>
          </a:xfrm>
          <a:prstGeom prst="rect">
            <a:avLst/>
          </a:prstGeom>
          <a:noFill/>
          <a:ln/>
        </p:spPr>
        <p:txBody>
          <a:bodyPr wrap="square" lIns="0" tIns="0" rIns="0" bIns="0" rtlCol="0" anchor="ctr">
            <a:normAutofit/>
          </a:bodyPr>
          <a:lstStyle/>
          <a:p>
            <a:pPr algn="ctr" indent="0" marL="0">
              <a:buNone/>
            </a:pPr>
            <a:r>
              <a:rPr lang="en-US" sz="660" dirty="0">
                <a:solidFill>
                  <a:srgbClr val="121212"/>
                </a:solidFill>
                <a:latin typeface="Microsoft YaHei" pitchFamily="34" charset="0"/>
                <a:ea typeface="Microsoft YaHei" pitchFamily="34" charset="-122"/>
                <a:cs typeface="Microsoft YaHei" pitchFamily="34" charset="-120"/>
              </a:rPr>
              <a:t>动力电池出海面临合规与本土化新考题</a:t>
            </a:r>
            <a:endParaRPr lang="en-US" sz="660" dirty="0"/>
          </a:p>
        </p:txBody>
      </p:sp>
      <p:sp>
        <p:nvSpPr>
          <p:cNvPr id="27" name="Shape 25"/>
          <p:cNvSpPr/>
          <p:nvPr/>
        </p:nvSpPr>
        <p:spPr>
          <a:xfrm>
            <a:off x="8183880" y="2615184"/>
            <a:ext cx="1737360" cy="512064"/>
          </a:xfrm>
          <a:prstGeom prst="trapezoid">
            <a:avLst/>
          </a:prstGeom>
          <a:solidFill>
            <a:srgbClr val="DDEBE0"/>
          </a:solidFill>
          <a:ln w="8890">
            <a:solidFill>
              <a:srgbClr val="487052"/>
            </a:solidFill>
            <a:prstDash val="solid"/>
          </a:ln>
        </p:spPr>
      </p:sp>
      <p:sp>
        <p:nvSpPr>
          <p:cNvPr id="28" name="Text 26"/>
          <p:cNvSpPr/>
          <p:nvPr/>
        </p:nvSpPr>
        <p:spPr>
          <a:xfrm>
            <a:off x="8275320" y="2706624"/>
            <a:ext cx="1554480" cy="118872"/>
          </a:xfrm>
          <a:prstGeom prst="rect">
            <a:avLst/>
          </a:prstGeom>
          <a:noFill/>
          <a:ln/>
        </p:spPr>
        <p:txBody>
          <a:bodyPr wrap="square" lIns="0" tIns="0" rIns="0" bIns="0" rtlCol="0" anchor="ctr">
            <a:normAutofit/>
          </a:bodyPr>
          <a:lstStyle/>
          <a:p>
            <a:pPr algn="ctr" indent="0" marL="0">
              <a:buNone/>
            </a:pPr>
            <a:r>
              <a:rPr lang="en-US" sz="740" b="1" dirty="0">
                <a:solidFill>
                  <a:srgbClr val="487052"/>
                </a:solidFill>
                <a:latin typeface="Microsoft YaHei" pitchFamily="34" charset="0"/>
                <a:ea typeface="Microsoft YaHei" pitchFamily="34" charset="-122"/>
                <a:cs typeface="Microsoft YaHei" pitchFamily="34" charset="-120"/>
              </a:rPr>
              <a:t>合规动作</a:t>
            </a:r>
            <a:endParaRPr lang="en-US" sz="740" dirty="0"/>
          </a:p>
        </p:txBody>
      </p:sp>
      <p:sp>
        <p:nvSpPr>
          <p:cNvPr id="29" name="Text 27"/>
          <p:cNvSpPr/>
          <p:nvPr/>
        </p:nvSpPr>
        <p:spPr>
          <a:xfrm>
            <a:off x="7808976" y="3136392"/>
            <a:ext cx="2514600" cy="118872"/>
          </a:xfrm>
          <a:prstGeom prst="rect">
            <a:avLst/>
          </a:prstGeom>
          <a:noFill/>
          <a:ln/>
        </p:spPr>
        <p:txBody>
          <a:bodyPr wrap="square" lIns="0" tIns="0" rIns="0" bIns="0" rtlCol="0" anchor="ctr">
            <a:normAutofit/>
          </a:bodyPr>
          <a:lstStyle/>
          <a:p>
            <a:pPr algn="ctr" indent="0" marL="0">
              <a:buNone/>
            </a:pPr>
            <a:r>
              <a:rPr lang="en-US" sz="660" dirty="0">
                <a:solidFill>
                  <a:srgbClr val="121212"/>
                </a:solidFill>
                <a:latin typeface="Microsoft YaHei" pitchFamily="34" charset="0"/>
                <a:ea typeface="Microsoft YaHei" pitchFamily="34" charset="-122"/>
                <a:cs typeface="Microsoft YaHei" pitchFamily="34" charset="-120"/>
              </a:rPr>
              <a:t>电池回收政策关注度提升，城市矿山与</a:t>
            </a:r>
            <a:endParaRPr lang="en-US" sz="660" dirty="0"/>
          </a:p>
        </p:txBody>
      </p:sp>
      <p:sp>
        <p:nvSpPr>
          <p:cNvPr id="30" name="Shape 28"/>
          <p:cNvSpPr/>
          <p:nvPr/>
        </p:nvSpPr>
        <p:spPr>
          <a:xfrm>
            <a:off x="7863840" y="3255264"/>
            <a:ext cx="2377440" cy="512064"/>
          </a:xfrm>
          <a:prstGeom prst="trapezoid">
            <a:avLst/>
          </a:prstGeom>
          <a:solidFill>
            <a:srgbClr val="F4FAF6"/>
          </a:solidFill>
          <a:ln w="8890">
            <a:solidFill>
              <a:srgbClr val="487052"/>
            </a:solidFill>
            <a:prstDash val="solid"/>
          </a:ln>
        </p:spPr>
      </p:sp>
      <p:sp>
        <p:nvSpPr>
          <p:cNvPr id="31" name="Text 29"/>
          <p:cNvSpPr/>
          <p:nvPr/>
        </p:nvSpPr>
        <p:spPr>
          <a:xfrm>
            <a:off x="7955280" y="3346704"/>
            <a:ext cx="2194560" cy="118872"/>
          </a:xfrm>
          <a:prstGeom prst="rect">
            <a:avLst/>
          </a:prstGeom>
          <a:noFill/>
          <a:ln/>
        </p:spPr>
        <p:txBody>
          <a:bodyPr wrap="square" lIns="0" tIns="0" rIns="0" bIns="0" rtlCol="0" anchor="ctr">
            <a:normAutofit/>
          </a:bodyPr>
          <a:lstStyle/>
          <a:p>
            <a:pPr algn="ctr" indent="0" marL="0">
              <a:buNone/>
            </a:pPr>
            <a:r>
              <a:rPr lang="en-US" sz="740" b="1" dirty="0">
                <a:solidFill>
                  <a:srgbClr val="487052"/>
                </a:solidFill>
                <a:latin typeface="Microsoft YaHei" pitchFamily="34" charset="0"/>
                <a:ea typeface="Microsoft YaHei" pitchFamily="34" charset="-122"/>
                <a:cs typeface="Microsoft YaHei" pitchFamily="34" charset="-120"/>
              </a:rPr>
              <a:t>经营影响/观察</a:t>
            </a:r>
            <a:endParaRPr lang="en-US" sz="740" dirty="0"/>
          </a:p>
        </p:txBody>
      </p:sp>
      <p:sp>
        <p:nvSpPr>
          <p:cNvPr id="32" name="Text 30"/>
          <p:cNvSpPr/>
          <p:nvPr/>
        </p:nvSpPr>
        <p:spPr>
          <a:xfrm>
            <a:off x="7808976" y="3776472"/>
            <a:ext cx="2514600" cy="118872"/>
          </a:xfrm>
          <a:prstGeom prst="rect">
            <a:avLst/>
          </a:prstGeom>
          <a:noFill/>
          <a:ln/>
        </p:spPr>
        <p:txBody>
          <a:bodyPr wrap="square" lIns="0" tIns="0" rIns="0" bIns="0" rtlCol="0" anchor="ctr">
            <a:normAutofit/>
          </a:bodyPr>
          <a:lstStyle/>
          <a:p>
            <a:pPr algn="ctr" indent="0" marL="0">
              <a:buNone/>
            </a:pPr>
            <a:r>
              <a:rPr lang="en-US" sz="660" dirty="0">
                <a:solidFill>
                  <a:srgbClr val="121212"/>
                </a:solidFill>
                <a:latin typeface="Microsoft YaHei" pitchFamily="34" charset="0"/>
                <a:ea typeface="Microsoft YaHei" pitchFamily="34" charset="-122"/>
                <a:cs typeface="Microsoft YaHei" pitchFamily="34" charset="-120"/>
              </a:rPr>
              <a:t>[6][7] 中国青年网报道合规与</a:t>
            </a:r>
            <a:endParaRPr lang="en-US" sz="660" dirty="0"/>
          </a:p>
        </p:txBody>
      </p:sp>
      <p:sp>
        <p:nvSpPr>
          <p:cNvPr id="33" name="Shape 31"/>
          <p:cNvSpPr/>
          <p:nvPr/>
        </p:nvSpPr>
        <p:spPr>
          <a:xfrm>
            <a:off x="658368" y="5779008"/>
            <a:ext cx="1463040" cy="292608"/>
          </a:xfrm>
          <a:prstGeom prst="rect">
            <a:avLst/>
          </a:prstGeom>
          <a:solidFill>
            <a:srgbClr val="121212"/>
          </a:solidFill>
          <a:ln w="12700">
            <a:solidFill>
              <a:srgbClr val="121212"/>
            </a:solidFill>
            <a:prstDash val="solid"/>
          </a:ln>
        </p:spPr>
      </p:sp>
      <p:sp>
        <p:nvSpPr>
          <p:cNvPr id="34" name="Text 32"/>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35" name="Text 33"/>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若海外回收合规要求进一步细化并提高准入门槛，则磷酸铁锂正极材料出海企业需增加回收配套投入，海外项目成本可能上升</a:t>
            </a:r>
            <a:endParaRPr lang="en-US" sz="10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8.</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2026-10-23</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08</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竞品观察</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4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宝马第六代动力电池在沈阳下线，极狐阿尔法T7电池品牌受关注，长虹高倍率锂电池推进，固态电池项目投产，竞品技术路线多元化对磷酸铁锂需求结构产生影响。 [8][9][10][4]</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依据：[8][9][10][4]</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宝马第六代动力电池下线可能采用更高能量密度体系，对磷酸铁锂在高端车型的应用份额形成竞争；极狐阿尔法T7电池品牌选择反映车企对电池兜底能力的关注，磷酸铁锂安全性优势仍存；长虹高倍率锂电池与清陶固态电池项目推进，表明细分场景技术路线分化，磷酸铁锂需在成本与安全之间保持平衡。竞品技术进展可能影响磷酸铁锂在动力与储能市场的渗透节奏。</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宝马第六代电池等高端竞品加速放量，则磷酸铁锂在高端乘用车市场份额可能受挤压，但在中低端车型与储能领域需求韧性仍存；若固态电池商业化进度超预期，则磷酸铁锂长期需求预期可能下修。跟踪指标：宝马第六代电池配套车型销量、固态电池装车量、磷酸铁锂在动力电池装机占比月度变化。</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对比矩阵</a:t>
            </a:r>
            <a:endParaRPr lang="en-US" sz="1200" dirty="0"/>
          </a:p>
        </p:txBody>
      </p:sp>
      <p:sp>
        <p:nvSpPr>
          <p:cNvPr id="24" name="Shape 22"/>
          <p:cNvSpPr/>
          <p:nvPr/>
        </p:nvSpPr>
        <p:spPr>
          <a:xfrm>
            <a:off x="7818120" y="2176272"/>
            <a:ext cx="2487168" cy="1609344"/>
          </a:xfrm>
          <a:prstGeom prst="rect">
            <a:avLst/>
          </a:prstGeom>
          <a:solidFill>
            <a:srgbClr val="FFFFFF"/>
          </a:solidFill>
          <a:ln w="10160">
            <a:solidFill>
              <a:srgbClr val="DADADA"/>
            </a:solidFill>
            <a:prstDash val="solid"/>
          </a:ln>
        </p:spPr>
      </p:sp>
      <p:sp>
        <p:nvSpPr>
          <p:cNvPr id="25" name="Shape 23"/>
          <p:cNvSpPr/>
          <p:nvPr/>
        </p:nvSpPr>
        <p:spPr>
          <a:xfrm>
            <a:off x="9061704" y="2176272"/>
            <a:ext cx="0" cy="1609344"/>
          </a:xfrm>
          <a:prstGeom prst="line">
            <a:avLst/>
          </a:prstGeom>
          <a:noFill/>
          <a:ln w="8890">
            <a:solidFill>
              <a:srgbClr val="DADADA"/>
            </a:solidFill>
            <a:prstDash val="solid"/>
          </a:ln>
        </p:spPr>
      </p:sp>
      <p:sp>
        <p:nvSpPr>
          <p:cNvPr id="26" name="Shape 24"/>
          <p:cNvSpPr/>
          <p:nvPr/>
        </p:nvSpPr>
        <p:spPr>
          <a:xfrm>
            <a:off x="7818120" y="2980944"/>
            <a:ext cx="2487168" cy="0"/>
          </a:xfrm>
          <a:prstGeom prst="line">
            <a:avLst/>
          </a:prstGeom>
          <a:noFill/>
          <a:ln w="8890">
            <a:solidFill>
              <a:srgbClr val="DADADA"/>
            </a:solidFill>
            <a:prstDash val="solid"/>
          </a:ln>
        </p:spPr>
      </p:sp>
      <p:sp>
        <p:nvSpPr>
          <p:cNvPr id="27" name="Shape 25"/>
          <p:cNvSpPr/>
          <p:nvPr/>
        </p:nvSpPr>
        <p:spPr>
          <a:xfrm>
            <a:off x="7818120" y="2176272"/>
            <a:ext cx="1243584" cy="804672"/>
          </a:xfrm>
          <a:prstGeom prst="rect">
            <a:avLst/>
          </a:prstGeom>
          <a:solidFill>
            <a:srgbClr val="DDEBE0"/>
          </a:solidFill>
          <a:ln w="3810">
            <a:solidFill>
              <a:srgbClr val="DADADA"/>
            </a:solidFill>
            <a:prstDash val="solid"/>
          </a:ln>
        </p:spPr>
      </p:sp>
      <p:sp>
        <p:nvSpPr>
          <p:cNvPr id="28" name="Text 26"/>
          <p:cNvSpPr/>
          <p:nvPr/>
        </p:nvSpPr>
        <p:spPr>
          <a:xfrm>
            <a:off x="7891272"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路线A</a:t>
            </a:r>
            <a:endParaRPr lang="en-US" sz="710" dirty="0"/>
          </a:p>
        </p:txBody>
      </p:sp>
      <p:sp>
        <p:nvSpPr>
          <p:cNvPr id="29" name="Text 27"/>
          <p:cNvSpPr/>
          <p:nvPr/>
        </p:nvSpPr>
        <p:spPr>
          <a:xfrm>
            <a:off x="7891272"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宝马第六代动力电池在沈阳下</a:t>
            </a:r>
            <a:endParaRPr lang="en-US" sz="670" dirty="0"/>
          </a:p>
        </p:txBody>
      </p:sp>
      <p:sp>
        <p:nvSpPr>
          <p:cNvPr id="30" name="Shape 28"/>
          <p:cNvSpPr/>
          <p:nvPr/>
        </p:nvSpPr>
        <p:spPr>
          <a:xfrm>
            <a:off x="9061704" y="2176272"/>
            <a:ext cx="1243584" cy="804672"/>
          </a:xfrm>
          <a:prstGeom prst="rect">
            <a:avLst/>
          </a:prstGeom>
          <a:solidFill>
            <a:srgbClr val="FFFFFF"/>
          </a:solidFill>
          <a:ln w="3810">
            <a:solidFill>
              <a:srgbClr val="DADADA"/>
            </a:solidFill>
            <a:prstDash val="solid"/>
          </a:ln>
        </p:spPr>
      </p:sp>
      <p:sp>
        <p:nvSpPr>
          <p:cNvPr id="31" name="Text 29"/>
          <p:cNvSpPr/>
          <p:nvPr/>
        </p:nvSpPr>
        <p:spPr>
          <a:xfrm>
            <a:off x="9134856"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路线B</a:t>
            </a:r>
            <a:endParaRPr lang="en-US" sz="710" dirty="0"/>
          </a:p>
        </p:txBody>
      </p:sp>
      <p:sp>
        <p:nvSpPr>
          <p:cNvPr id="32" name="Text 30"/>
          <p:cNvSpPr/>
          <p:nvPr/>
        </p:nvSpPr>
        <p:spPr>
          <a:xfrm>
            <a:off x="9134856"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[8][9][10][4]</a:t>
            </a:r>
            <a:endParaRPr lang="en-US" sz="670" dirty="0"/>
          </a:p>
        </p:txBody>
      </p:sp>
      <p:sp>
        <p:nvSpPr>
          <p:cNvPr id="33" name="Shape 31"/>
          <p:cNvSpPr/>
          <p:nvPr/>
        </p:nvSpPr>
        <p:spPr>
          <a:xfrm>
            <a:off x="7818120" y="2980944"/>
            <a:ext cx="1243584" cy="804672"/>
          </a:xfrm>
          <a:prstGeom prst="rect">
            <a:avLst/>
          </a:prstGeom>
          <a:solidFill>
            <a:srgbClr val="FFFFFF"/>
          </a:solidFill>
          <a:ln w="3810">
            <a:solidFill>
              <a:srgbClr val="DADADA"/>
            </a:solidFill>
            <a:prstDash val="solid"/>
          </a:ln>
        </p:spPr>
      </p:sp>
      <p:sp>
        <p:nvSpPr>
          <p:cNvPr id="34" name="Text 32"/>
          <p:cNvSpPr/>
          <p:nvPr/>
        </p:nvSpPr>
        <p:spPr>
          <a:xfrm>
            <a:off x="7891272"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机会</a:t>
            </a:r>
            <a:endParaRPr lang="en-US" sz="710" dirty="0"/>
          </a:p>
        </p:txBody>
      </p:sp>
      <p:sp>
        <p:nvSpPr>
          <p:cNvPr id="35" name="Text 33"/>
          <p:cNvSpPr/>
          <p:nvPr/>
        </p:nvSpPr>
        <p:spPr>
          <a:xfrm>
            <a:off x="7891272"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极狐阿尔法T7电池品牌选择</a:t>
            </a:r>
            <a:endParaRPr lang="en-US" sz="670" dirty="0"/>
          </a:p>
        </p:txBody>
      </p:sp>
      <p:sp>
        <p:nvSpPr>
          <p:cNvPr id="36" name="Shape 34"/>
          <p:cNvSpPr/>
          <p:nvPr/>
        </p:nvSpPr>
        <p:spPr>
          <a:xfrm>
            <a:off x="9061704" y="2980944"/>
            <a:ext cx="1243584" cy="804672"/>
          </a:xfrm>
          <a:prstGeom prst="rect">
            <a:avLst/>
          </a:prstGeom>
          <a:solidFill>
            <a:srgbClr val="F4FAF6"/>
          </a:solidFill>
          <a:ln w="3810">
            <a:solidFill>
              <a:srgbClr val="DADADA"/>
            </a:solidFill>
            <a:prstDash val="solid"/>
          </a:ln>
        </p:spPr>
      </p:sp>
      <p:sp>
        <p:nvSpPr>
          <p:cNvPr id="37" name="Text 35"/>
          <p:cNvSpPr/>
          <p:nvPr/>
        </p:nvSpPr>
        <p:spPr>
          <a:xfrm>
            <a:off x="9134856"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约束</a:t>
            </a:r>
            <a:endParaRPr lang="en-US" sz="710" dirty="0"/>
          </a:p>
        </p:txBody>
      </p:sp>
      <p:sp>
        <p:nvSpPr>
          <p:cNvPr id="38" name="Text 36"/>
          <p:cNvSpPr/>
          <p:nvPr/>
        </p:nvSpPr>
        <p:spPr>
          <a:xfrm>
            <a:off x="9134856"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宝马第六代动力电池在沈阳下</a:t>
            </a:r>
            <a:endParaRPr lang="en-US" sz="670" dirty="0"/>
          </a:p>
        </p:txBody>
      </p:sp>
      <p:sp>
        <p:nvSpPr>
          <p:cNvPr id="39" name="Text 37"/>
          <p:cNvSpPr/>
          <p:nvPr/>
        </p:nvSpPr>
        <p:spPr>
          <a:xfrm>
            <a:off x="7726680" y="4187952"/>
            <a:ext cx="2697480" cy="49377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检测到对比/分类信号，用矩阵压缩呈现，不新增外部判断。</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若宝马第六代电池等高端竞品加速放量，则磷酸铁锂在高端乘用车市场份额可能受挤压，但在中低端车型与储能领域需求韧性仍存</a:t>
            </a:r>
            <a:endParaRPr lang="en-US" sz="10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9.</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SECTION DEEP DIVE</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2026-10-23</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09</a:t>
            </a:r>
            <a:endParaRPr lang="en-US" sz="730" dirty="0"/>
          </a:p>
        </p:txBody>
      </p:sp>
      <p:sp>
        <p:nvSpPr>
          <p:cNvPr id="9" name="Text 7"/>
          <p:cNvSpPr/>
          <p:nvPr/>
        </p:nvSpPr>
        <p:spPr>
          <a:xfrm>
            <a:off x="658368" y="914400"/>
            <a:ext cx="3200400" cy="384048"/>
          </a:xfrm>
          <a:prstGeom prst="rect">
            <a:avLst/>
          </a:prstGeom>
          <a:noFill/>
          <a:ln/>
        </p:spPr>
        <p:txBody>
          <a:bodyPr wrap="square" lIns="0" tIns="0" rIns="0" bIns="0" rtlCol="0" anchor="ctr">
            <a:normAutofit/>
          </a:bodyP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风险/机会/观察</a:t>
            </a:r>
            <a:endParaRPr lang="en-US" sz="2000" dirty="0"/>
          </a:p>
        </p:txBody>
      </p:sp>
      <p:sp>
        <p:nvSpPr>
          <p:cNvPr id="10" name="Text 8"/>
          <p:cNvSpPr/>
          <p:nvPr/>
        </p:nvSpPr>
        <p:spPr>
          <a:xfrm>
            <a:off x="3749040" y="1005840"/>
            <a:ext cx="7132320" cy="182880"/>
          </a:xfrm>
          <a:prstGeom prst="rect">
            <a:avLst/>
          </a:prstGeom>
          <a:noFill/>
          <a:ln/>
        </p:spPr>
        <p:txBody>
          <a:bodyPr wrap="square" lIns="0" tIns="0" rIns="0" bIns="0" rtlCol="0" anchor="ctr">
            <a:normAutofit/>
          </a:bodyPr>
          <a:lstStyle/>
          <a:p>
            <a:pPr indent="0" marL="0">
              <a:buNone/>
            </a:pPr>
            <a:r>
              <a:rPr lang="en-US" sz="860" dirty="0">
                <a:solidFill>
                  <a:srgbClr val="6D756F"/>
                </a:solidFill>
                <a:latin typeface="Microsoft YaHei" pitchFamily="34" charset="0"/>
                <a:ea typeface="Microsoft YaHei" pitchFamily="34" charset="-122"/>
                <a:cs typeface="Microsoft YaHei" pitchFamily="34" charset="-120"/>
              </a:rPr>
              <a:t>3 条公开来源交叉验证｜事实、影响与后续研判</a:t>
            </a:r>
            <a:endParaRPr lang="en-US" sz="860" dirty="0"/>
          </a:p>
        </p:txBody>
      </p:sp>
      <p:sp>
        <p:nvSpPr>
          <p:cNvPr id="11" name="Shape 9"/>
          <p:cNvSpPr/>
          <p:nvPr/>
        </p:nvSpPr>
        <p:spPr>
          <a:xfrm>
            <a:off x="658368" y="1444752"/>
            <a:ext cx="6510528" cy="1207008"/>
          </a:xfrm>
          <a:prstGeom prst="roundRect">
            <a:avLst>
              <a:gd name="adj" fmla="val 6061"/>
            </a:avLst>
          </a:prstGeom>
          <a:solidFill>
            <a:srgbClr val="F4FAF6"/>
          </a:solidFill>
          <a:ln w="10160">
            <a:solidFill>
              <a:srgbClr val="DADADA"/>
            </a:solidFill>
            <a:prstDash val="solid"/>
          </a:ln>
        </p:spPr>
      </p:sp>
      <p:sp>
        <p:nvSpPr>
          <p:cNvPr id="12" name="Text 10"/>
          <p:cNvSpPr/>
          <p:nvPr/>
        </p:nvSpPr>
        <p:spPr>
          <a:xfrm>
            <a:off x="932688" y="166420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事实判断</a:t>
            </a:r>
            <a:endParaRPr lang="en-US" sz="1080" dirty="0"/>
          </a:p>
        </p:txBody>
      </p:sp>
      <p:sp>
        <p:nvSpPr>
          <p:cNvPr id="13" name="Text 11"/>
          <p:cNvSpPr/>
          <p:nvPr/>
        </p:nvSpPr>
        <p:spPr>
          <a:xfrm>
            <a:off x="2487168" y="1645920"/>
            <a:ext cx="4315968" cy="676656"/>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风险方面，高压实产品吨试到量产验证周期不确定，龙蟠印尼项目股权出售或影响海外供给节奏，锂矿业绩分歧反映成本传导不畅；机会方面，高压实技术领先者可能获得结构性溢价，电池回收体系建设加速带来回收料供给增量；需观察高压实订单落地、海外项目股权交割及碳酸锂价格走势。 [2][3][5]</a:t>
            </a:r>
            <a:endParaRPr lang="en-US" sz="960" dirty="0"/>
          </a:p>
        </p:txBody>
      </p:sp>
      <p:sp>
        <p:nvSpPr>
          <p:cNvPr id="14" name="Text 12"/>
          <p:cNvSpPr/>
          <p:nvPr/>
        </p:nvSpPr>
        <p:spPr>
          <a:xfrm>
            <a:off x="2487168" y="2432304"/>
            <a:ext cx="3931920" cy="128016"/>
          </a:xfrm>
          <a:prstGeom prst="rect">
            <a:avLst/>
          </a:prstGeom>
          <a:noFill/>
          <a:ln/>
        </p:spPr>
        <p:txBody>
          <a:bodyPr wrap="square" lIns="0" tIns="0" rIns="0" bIns="0" rtlCol="0" anchor="ctr">
            <a:normAutofit/>
          </a:bodyPr>
          <a:lstStyle/>
          <a:p>
            <a:pPr indent="0" marL="0">
              <a:buNone/>
            </a:pPr>
            <a:r>
              <a:rPr lang="en-US" sz="740" dirty="0">
                <a:solidFill>
                  <a:srgbClr val="487052"/>
                </a:solidFill>
                <a:latin typeface="Aptos" pitchFamily="34" charset="0"/>
                <a:ea typeface="Aptos" pitchFamily="34" charset="-122"/>
                <a:cs typeface="Aptos" pitchFamily="34" charset="-120"/>
              </a:rPr>
              <a:t>依据：[2][3][5]</a:t>
            </a:r>
            <a:endParaRPr lang="en-US" sz="740" dirty="0"/>
          </a:p>
        </p:txBody>
      </p:sp>
      <p:sp>
        <p:nvSpPr>
          <p:cNvPr id="15" name="Shape 13"/>
          <p:cNvSpPr/>
          <p:nvPr/>
        </p:nvSpPr>
        <p:spPr>
          <a:xfrm>
            <a:off x="658368" y="2907792"/>
            <a:ext cx="6510528" cy="1207008"/>
          </a:xfrm>
          <a:prstGeom prst="roundRect">
            <a:avLst>
              <a:gd name="adj" fmla="val 6061"/>
            </a:avLst>
          </a:prstGeom>
          <a:solidFill>
            <a:srgbClr val="FFFFFF"/>
          </a:solidFill>
          <a:ln w="10160">
            <a:solidFill>
              <a:srgbClr val="DADADA"/>
            </a:solidFill>
            <a:prstDash val="solid"/>
          </a:ln>
        </p:spPr>
      </p:sp>
      <p:sp>
        <p:nvSpPr>
          <p:cNvPr id="16" name="Text 14"/>
          <p:cNvSpPr/>
          <p:nvPr/>
        </p:nvSpPr>
        <p:spPr>
          <a:xfrm>
            <a:off x="932688" y="3127248"/>
            <a:ext cx="1417320" cy="256032"/>
          </a:xfrm>
          <a:prstGeom prst="rect">
            <a:avLst/>
          </a:prstGeom>
          <a:noFill/>
          <a:ln/>
        </p:spPr>
        <p:txBody>
          <a:bodyPr wrap="square" lIns="0" tIns="0" rIns="0" bIns="0" rtlCol="0" anchor="ctr">
            <a:normAutofit/>
          </a:bodyPr>
          <a:lstStyle/>
          <a:p>
            <a:pPr indent="0" marL="0">
              <a:buNone/>
            </a:pPr>
            <a:r>
              <a:rPr lang="en-US" sz="1080" b="1" dirty="0">
                <a:solidFill>
                  <a:srgbClr val="487052"/>
                </a:solidFill>
                <a:latin typeface="Microsoft YaHei" pitchFamily="34" charset="0"/>
                <a:ea typeface="Microsoft YaHei" pitchFamily="34" charset="-122"/>
                <a:cs typeface="Microsoft YaHei" pitchFamily="34" charset="-120"/>
              </a:rPr>
              <a:t>影响分析</a:t>
            </a:r>
            <a:endParaRPr lang="en-US" sz="1080" dirty="0"/>
          </a:p>
        </p:txBody>
      </p:sp>
      <p:sp>
        <p:nvSpPr>
          <p:cNvPr id="17" name="Text 15"/>
          <p:cNvSpPr/>
          <p:nvPr/>
        </p:nvSpPr>
        <p:spPr>
          <a:xfrm>
            <a:off x="2487168" y="3108960"/>
            <a:ext cx="4315968" cy="822960"/>
          </a:xfrm>
          <a:prstGeom prst="rect">
            <a:avLst/>
          </a:prstGeom>
          <a:noFill/>
          <a:ln/>
        </p:spPr>
        <p:txBody>
          <a:bodyPr wrap="square" lIns="0" tIns="0" rIns="0" bIns="0" rtlCol="0" anchor="t">
            <a:normAutofit/>
          </a:bodyPr>
          <a:lstStyle/>
          <a:p>
            <a:pPr indent="0" marL="0">
              <a:buNone/>
            </a:pPr>
            <a:r>
              <a:rPr lang="en-US" sz="960" dirty="0">
                <a:solidFill>
                  <a:srgbClr val="121212"/>
                </a:solidFill>
                <a:latin typeface="Microsoft YaHei" pitchFamily="34" charset="0"/>
                <a:ea typeface="Microsoft YaHei" pitchFamily="34" charset="-122"/>
                <a:cs typeface="Microsoft YaHei" pitchFamily="34" charset="-120"/>
              </a:rPr>
              <a:t>高压实技术迭代带来产品分化机会，但天原第五代从吨试到批量供货仍需客户验证，存在不及预期风险；龙蟠印尼项目股权出售可能降低其海外资本开支压力，但买方背景与后续建设进度不明，影响海外供给增量判断；锂矿业绩高增与预期分歧并存，中下游盈利压力可能持续；电池回收体系建设加速，长期可能改变原料供给结构。需综合跟踪订单、价格与政策信号。</a:t>
            </a:r>
            <a:endParaRPr lang="en-US" sz="960" dirty="0"/>
          </a:p>
        </p:txBody>
      </p:sp>
      <p:sp>
        <p:nvSpPr>
          <p:cNvPr id="18" name="Shape 16"/>
          <p:cNvSpPr/>
          <p:nvPr/>
        </p:nvSpPr>
        <p:spPr>
          <a:xfrm>
            <a:off x="658368" y="4370832"/>
            <a:ext cx="6510528" cy="1207008"/>
          </a:xfrm>
          <a:prstGeom prst="roundRect">
            <a:avLst>
              <a:gd name="adj" fmla="val 6061"/>
            </a:avLst>
          </a:prstGeom>
          <a:solidFill>
            <a:srgbClr val="DDEBE0"/>
          </a:solidFill>
          <a:ln w="13970">
            <a:solidFill>
              <a:srgbClr val="121212"/>
            </a:solidFill>
            <a:prstDash val="solid"/>
          </a:ln>
        </p:spPr>
      </p:sp>
      <p:sp>
        <p:nvSpPr>
          <p:cNvPr id="19" name="Shape 17"/>
          <p:cNvSpPr/>
          <p:nvPr/>
        </p:nvSpPr>
        <p:spPr>
          <a:xfrm>
            <a:off x="658368" y="4370832"/>
            <a:ext cx="109728" cy="1207008"/>
          </a:xfrm>
          <a:prstGeom prst="rect">
            <a:avLst/>
          </a:prstGeom>
          <a:solidFill>
            <a:srgbClr val="121212"/>
          </a:solidFill>
          <a:ln w="12700">
            <a:solidFill>
              <a:srgbClr val="121212"/>
            </a:solidFill>
            <a:prstDash val="solid"/>
          </a:ln>
        </p:spPr>
      </p:sp>
      <p:sp>
        <p:nvSpPr>
          <p:cNvPr id="20" name="Text 18"/>
          <p:cNvSpPr/>
          <p:nvPr/>
        </p:nvSpPr>
        <p:spPr>
          <a:xfrm>
            <a:off x="932688" y="4590288"/>
            <a:ext cx="1417320" cy="256032"/>
          </a:xfrm>
          <a:prstGeom prst="rect">
            <a:avLst/>
          </a:prstGeom>
          <a:noFill/>
          <a:ln/>
        </p:spPr>
        <p:txBody>
          <a:bodyPr wrap="square" lIns="0" tIns="0" rIns="0" bIns="0" rtlCol="0" anchor="ctr">
            <a:normAutofit/>
          </a:bodyPr>
          <a:lstStyle/>
          <a:p>
            <a:pPr indent="0" marL="0">
              <a:buNone/>
            </a:pPr>
            <a:r>
              <a:rPr lang="en-US" sz="1080" b="1" dirty="0">
                <a:solidFill>
                  <a:srgbClr val="121212"/>
                </a:solidFill>
                <a:latin typeface="Microsoft YaHei" pitchFamily="34" charset="0"/>
                <a:ea typeface="Microsoft YaHei" pitchFamily="34" charset="-122"/>
                <a:cs typeface="Microsoft YaHei" pitchFamily="34" charset="-120"/>
              </a:rPr>
              <a:t>后续研判</a:t>
            </a:r>
            <a:endParaRPr lang="en-US" sz="1080" dirty="0"/>
          </a:p>
        </p:txBody>
      </p:sp>
      <p:sp>
        <p:nvSpPr>
          <p:cNvPr id="21" name="Text 19"/>
          <p:cNvSpPr/>
          <p:nvPr/>
        </p:nvSpPr>
        <p:spPr>
          <a:xfrm>
            <a:off x="2487168" y="4572000"/>
            <a:ext cx="4315968" cy="822960"/>
          </a:xfrm>
          <a:prstGeom prst="rect">
            <a:avLst/>
          </a:prstGeom>
          <a:noFill/>
          <a:ln/>
        </p:spPr>
        <p:txBody>
          <a:bodyPr wrap="square" lIns="0" tIns="0" rIns="0" bIns="0" rtlCol="0" anchor="t">
            <a:normAutofit/>
          </a:bodyPr>
          <a:lstStyle/>
          <a:p>
            <a:pPr indent="0" marL="0">
              <a:buNone/>
            </a:pPr>
            <a:r>
              <a:rPr lang="en-US" sz="960" b="1" dirty="0">
                <a:solidFill>
                  <a:srgbClr val="121212"/>
                </a:solidFill>
                <a:latin typeface="Microsoft YaHei" pitchFamily="34" charset="0"/>
                <a:ea typeface="Microsoft YaHei" pitchFamily="34" charset="-122"/>
                <a:cs typeface="Microsoft YaHei" pitchFamily="34" charset="-120"/>
              </a:rPr>
              <a:t>若天原第五代高压实产品在2026年底前未获批量订单，则市场对其技术兑现预期可能下修，高压实赛道估值分化；若龙蟠印尼项目股权出售后建设进度明确，则海外供给增量预期可重新评估；若碳酸锂价格持续高位，则中下游正极材料企业盈利压力难以缓解。跟踪指标：天原高压实订单公告、印尼项目股权交割及建设进度、碳酸锂现货价格、磷酸铁锂正极材料月度均价。</a:t>
            </a:r>
            <a:endParaRPr lang="en-US" sz="960" dirty="0"/>
          </a:p>
        </p:txBody>
      </p:sp>
      <p:sp>
        <p:nvSpPr>
          <p:cNvPr id="22" name="Shape 20"/>
          <p:cNvSpPr/>
          <p:nvPr/>
        </p:nvSpPr>
        <p:spPr>
          <a:xfrm>
            <a:off x="7479792" y="1444752"/>
            <a:ext cx="3273552" cy="3730752"/>
          </a:xfrm>
          <a:prstGeom prst="roundRect">
            <a:avLst>
              <a:gd name="adj" fmla="val 2235"/>
            </a:avLst>
          </a:prstGeom>
          <a:solidFill>
            <a:srgbClr val="FFFFFF"/>
          </a:solidFill>
          <a:ln w="10160">
            <a:solidFill>
              <a:srgbClr val="DADADA"/>
            </a:solidFill>
            <a:prstDash val="solid"/>
          </a:ln>
        </p:spPr>
      </p:sp>
      <p:sp>
        <p:nvSpPr>
          <p:cNvPr id="23" name="Text 21"/>
          <p:cNvSpPr/>
          <p:nvPr/>
        </p:nvSpPr>
        <p:spPr>
          <a:xfrm>
            <a:off x="7726680" y="1700784"/>
            <a:ext cx="2286000" cy="219456"/>
          </a:xfrm>
          <a:prstGeom prst="rect">
            <a:avLst/>
          </a:prstGeom>
          <a:noFill/>
          <a:ln/>
        </p:spPr>
        <p:txBody>
          <a:bodyPr wrap="square" lIns="0" tIns="0" rIns="0" bIns="0" rtlCol="0" anchor="ctr">
            <a:normAutofit/>
          </a:bodyPr>
          <a:lstStyle/>
          <a:p>
            <a:pPr indent="0" marL="0">
              <a:buNone/>
            </a:pPr>
            <a:r>
              <a:rPr lang="en-US" sz="1200" b="1" dirty="0">
                <a:solidFill>
                  <a:srgbClr val="487052"/>
                </a:solidFill>
                <a:latin typeface="Microsoft YaHei" pitchFamily="34" charset="0"/>
                <a:ea typeface="Microsoft YaHei" pitchFamily="34" charset="-122"/>
                <a:cs typeface="Microsoft YaHei" pitchFamily="34" charset="-120"/>
              </a:rPr>
              <a:t>对比矩阵</a:t>
            </a:r>
            <a:endParaRPr lang="en-US" sz="1200" dirty="0"/>
          </a:p>
        </p:txBody>
      </p:sp>
      <p:sp>
        <p:nvSpPr>
          <p:cNvPr id="24" name="Shape 22"/>
          <p:cNvSpPr/>
          <p:nvPr/>
        </p:nvSpPr>
        <p:spPr>
          <a:xfrm>
            <a:off x="7818120" y="2176272"/>
            <a:ext cx="2487168" cy="1609344"/>
          </a:xfrm>
          <a:prstGeom prst="rect">
            <a:avLst/>
          </a:prstGeom>
          <a:solidFill>
            <a:srgbClr val="FFFFFF"/>
          </a:solidFill>
          <a:ln w="10160">
            <a:solidFill>
              <a:srgbClr val="DADADA"/>
            </a:solidFill>
            <a:prstDash val="solid"/>
          </a:ln>
        </p:spPr>
      </p:sp>
      <p:sp>
        <p:nvSpPr>
          <p:cNvPr id="25" name="Shape 23"/>
          <p:cNvSpPr/>
          <p:nvPr/>
        </p:nvSpPr>
        <p:spPr>
          <a:xfrm>
            <a:off x="9061704" y="2176272"/>
            <a:ext cx="0" cy="1609344"/>
          </a:xfrm>
          <a:prstGeom prst="line">
            <a:avLst/>
          </a:prstGeom>
          <a:noFill/>
          <a:ln w="8890">
            <a:solidFill>
              <a:srgbClr val="DADADA"/>
            </a:solidFill>
            <a:prstDash val="solid"/>
          </a:ln>
        </p:spPr>
      </p:sp>
      <p:sp>
        <p:nvSpPr>
          <p:cNvPr id="26" name="Shape 24"/>
          <p:cNvSpPr/>
          <p:nvPr/>
        </p:nvSpPr>
        <p:spPr>
          <a:xfrm>
            <a:off x="7818120" y="2980944"/>
            <a:ext cx="2487168" cy="0"/>
          </a:xfrm>
          <a:prstGeom prst="line">
            <a:avLst/>
          </a:prstGeom>
          <a:noFill/>
          <a:ln w="8890">
            <a:solidFill>
              <a:srgbClr val="DADADA"/>
            </a:solidFill>
            <a:prstDash val="solid"/>
          </a:ln>
        </p:spPr>
      </p:sp>
      <p:sp>
        <p:nvSpPr>
          <p:cNvPr id="27" name="Shape 25"/>
          <p:cNvSpPr/>
          <p:nvPr/>
        </p:nvSpPr>
        <p:spPr>
          <a:xfrm>
            <a:off x="7818120" y="2176272"/>
            <a:ext cx="1243584" cy="804672"/>
          </a:xfrm>
          <a:prstGeom prst="rect">
            <a:avLst/>
          </a:prstGeom>
          <a:solidFill>
            <a:srgbClr val="DDEBE0"/>
          </a:solidFill>
          <a:ln w="3810">
            <a:solidFill>
              <a:srgbClr val="DADADA"/>
            </a:solidFill>
            <a:prstDash val="solid"/>
          </a:ln>
        </p:spPr>
      </p:sp>
      <p:sp>
        <p:nvSpPr>
          <p:cNvPr id="28" name="Text 26"/>
          <p:cNvSpPr/>
          <p:nvPr/>
        </p:nvSpPr>
        <p:spPr>
          <a:xfrm>
            <a:off x="7891272"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路线A</a:t>
            </a:r>
            <a:endParaRPr lang="en-US" sz="710" dirty="0"/>
          </a:p>
        </p:txBody>
      </p:sp>
      <p:sp>
        <p:nvSpPr>
          <p:cNvPr id="29" name="Text 27"/>
          <p:cNvSpPr/>
          <p:nvPr/>
        </p:nvSpPr>
        <p:spPr>
          <a:xfrm>
            <a:off x="7891272"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风险方面，高压实产品吨试到</a:t>
            </a:r>
            <a:endParaRPr lang="en-US" sz="670" dirty="0"/>
          </a:p>
        </p:txBody>
      </p:sp>
      <p:sp>
        <p:nvSpPr>
          <p:cNvPr id="30" name="Shape 28"/>
          <p:cNvSpPr/>
          <p:nvPr/>
        </p:nvSpPr>
        <p:spPr>
          <a:xfrm>
            <a:off x="9061704" y="2176272"/>
            <a:ext cx="1243584" cy="804672"/>
          </a:xfrm>
          <a:prstGeom prst="rect">
            <a:avLst/>
          </a:prstGeom>
          <a:solidFill>
            <a:srgbClr val="FFFFFF"/>
          </a:solidFill>
          <a:ln w="3810">
            <a:solidFill>
              <a:srgbClr val="DADADA"/>
            </a:solidFill>
            <a:prstDash val="solid"/>
          </a:ln>
        </p:spPr>
      </p:sp>
      <p:sp>
        <p:nvSpPr>
          <p:cNvPr id="31" name="Text 29"/>
          <p:cNvSpPr/>
          <p:nvPr/>
        </p:nvSpPr>
        <p:spPr>
          <a:xfrm>
            <a:off x="9134856" y="2286000"/>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路线B</a:t>
            </a:r>
            <a:endParaRPr lang="en-US" sz="710" dirty="0"/>
          </a:p>
        </p:txBody>
      </p:sp>
      <p:sp>
        <p:nvSpPr>
          <p:cNvPr id="32" name="Text 30"/>
          <p:cNvSpPr/>
          <p:nvPr/>
        </p:nvSpPr>
        <p:spPr>
          <a:xfrm>
            <a:off x="9134856" y="2505456"/>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机会方面，高压实技术领先者</a:t>
            </a:r>
            <a:endParaRPr lang="en-US" sz="670" dirty="0"/>
          </a:p>
        </p:txBody>
      </p:sp>
      <p:sp>
        <p:nvSpPr>
          <p:cNvPr id="33" name="Shape 31"/>
          <p:cNvSpPr/>
          <p:nvPr/>
        </p:nvSpPr>
        <p:spPr>
          <a:xfrm>
            <a:off x="7818120" y="2980944"/>
            <a:ext cx="1243584" cy="804672"/>
          </a:xfrm>
          <a:prstGeom prst="rect">
            <a:avLst/>
          </a:prstGeom>
          <a:solidFill>
            <a:srgbClr val="FFFFFF"/>
          </a:solidFill>
          <a:ln w="3810">
            <a:solidFill>
              <a:srgbClr val="DADADA"/>
            </a:solidFill>
            <a:prstDash val="solid"/>
          </a:ln>
        </p:spPr>
      </p:sp>
      <p:sp>
        <p:nvSpPr>
          <p:cNvPr id="34" name="Text 32"/>
          <p:cNvSpPr/>
          <p:nvPr/>
        </p:nvSpPr>
        <p:spPr>
          <a:xfrm>
            <a:off x="7891272"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机会</a:t>
            </a:r>
            <a:endParaRPr lang="en-US" sz="710" dirty="0"/>
          </a:p>
        </p:txBody>
      </p:sp>
      <p:sp>
        <p:nvSpPr>
          <p:cNvPr id="35" name="Text 33"/>
          <p:cNvSpPr/>
          <p:nvPr/>
        </p:nvSpPr>
        <p:spPr>
          <a:xfrm>
            <a:off x="7891272"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需观察高压实订单落地、海外</a:t>
            </a:r>
            <a:endParaRPr lang="en-US" sz="670" dirty="0"/>
          </a:p>
        </p:txBody>
      </p:sp>
      <p:sp>
        <p:nvSpPr>
          <p:cNvPr id="36" name="Shape 34"/>
          <p:cNvSpPr/>
          <p:nvPr/>
        </p:nvSpPr>
        <p:spPr>
          <a:xfrm>
            <a:off x="9061704" y="2980944"/>
            <a:ext cx="1243584" cy="804672"/>
          </a:xfrm>
          <a:prstGeom prst="rect">
            <a:avLst/>
          </a:prstGeom>
          <a:solidFill>
            <a:srgbClr val="F4FAF6"/>
          </a:solidFill>
          <a:ln w="3810">
            <a:solidFill>
              <a:srgbClr val="DADADA"/>
            </a:solidFill>
            <a:prstDash val="solid"/>
          </a:ln>
        </p:spPr>
      </p:sp>
      <p:sp>
        <p:nvSpPr>
          <p:cNvPr id="37" name="Text 35"/>
          <p:cNvSpPr/>
          <p:nvPr/>
        </p:nvSpPr>
        <p:spPr>
          <a:xfrm>
            <a:off x="9134856" y="3090672"/>
            <a:ext cx="438912" cy="109728"/>
          </a:xfrm>
          <a:prstGeom prst="rect">
            <a:avLst/>
          </a:prstGeom>
          <a:noFill/>
          <a:ln/>
        </p:spPr>
        <p:txBody>
          <a:bodyPr wrap="square" lIns="0" tIns="0" rIns="0" bIns="0" rtlCol="0" anchor="ctr">
            <a:normAutofit/>
          </a:bodyPr>
          <a:lstStyle/>
          <a:p>
            <a:pPr indent="0" marL="0">
              <a:buNone/>
            </a:pPr>
            <a:r>
              <a:rPr lang="en-US" sz="710" b="1" dirty="0">
                <a:solidFill>
                  <a:srgbClr val="487052"/>
                </a:solidFill>
                <a:latin typeface="Microsoft YaHei" pitchFamily="34" charset="0"/>
                <a:ea typeface="Microsoft YaHei" pitchFamily="34" charset="-122"/>
                <a:cs typeface="Microsoft YaHei" pitchFamily="34" charset="-120"/>
              </a:rPr>
              <a:t>约束</a:t>
            </a:r>
            <a:endParaRPr lang="en-US" sz="710" dirty="0"/>
          </a:p>
        </p:txBody>
      </p:sp>
      <p:sp>
        <p:nvSpPr>
          <p:cNvPr id="38" name="Text 36"/>
          <p:cNvSpPr/>
          <p:nvPr/>
        </p:nvSpPr>
        <p:spPr>
          <a:xfrm>
            <a:off x="9134856" y="3310128"/>
            <a:ext cx="1024128" cy="201168"/>
          </a:xfrm>
          <a:prstGeom prst="rect">
            <a:avLst/>
          </a:prstGeom>
          <a:noFill/>
          <a:ln/>
        </p:spPr>
        <p:txBody>
          <a:bodyPr wrap="square" lIns="0" tIns="0" rIns="0" bIns="0" rtlCol="0" anchor="t">
            <a:normAutofit/>
          </a:bodyPr>
          <a:lstStyle/>
          <a:p>
            <a:pPr indent="0" marL="0">
              <a:buNone/>
            </a:pPr>
            <a:r>
              <a:rPr lang="en-US" sz="670" dirty="0">
                <a:solidFill>
                  <a:srgbClr val="121212"/>
                </a:solidFill>
                <a:latin typeface="Microsoft YaHei" pitchFamily="34" charset="0"/>
                <a:ea typeface="Microsoft YaHei" pitchFamily="34" charset="-122"/>
                <a:cs typeface="Microsoft YaHei" pitchFamily="34" charset="-120"/>
              </a:rPr>
              <a:t>风险方面，高压实产品吨试到</a:t>
            </a:r>
            <a:endParaRPr lang="en-US" sz="670" dirty="0"/>
          </a:p>
        </p:txBody>
      </p:sp>
      <p:sp>
        <p:nvSpPr>
          <p:cNvPr id="39" name="Text 37"/>
          <p:cNvSpPr/>
          <p:nvPr/>
        </p:nvSpPr>
        <p:spPr>
          <a:xfrm>
            <a:off x="7726680" y="4187952"/>
            <a:ext cx="2697480" cy="493776"/>
          </a:xfrm>
          <a:prstGeom prst="rect">
            <a:avLst/>
          </a:prstGeom>
          <a:noFill/>
          <a:ln/>
        </p:spPr>
        <p:txBody>
          <a:bodyPr wrap="square" lIns="0" tIns="0" rIns="0" bIns="0" rtlCol="0" anchor="t">
            <a:normAutofit/>
          </a:bodyPr>
          <a:lstStyle/>
          <a:p>
            <a:pPr indent="0" marL="0">
              <a:buNone/>
            </a:pPr>
            <a:r>
              <a:rPr lang="en-US" sz="760" dirty="0">
                <a:solidFill>
                  <a:srgbClr val="6D756F"/>
                </a:solidFill>
                <a:latin typeface="Microsoft YaHei" pitchFamily="34" charset="0"/>
                <a:ea typeface="Microsoft YaHei" pitchFamily="34" charset="-122"/>
                <a:cs typeface="Microsoft YaHei" pitchFamily="34" charset="-120"/>
              </a:rPr>
              <a:t>检测到对比/分类信号，用矩阵压缩呈现，不新增外部判断。</a:t>
            </a:r>
            <a:endParaRPr lang="en-US" sz="760" dirty="0"/>
          </a:p>
        </p:txBody>
      </p:sp>
      <p:sp>
        <p:nvSpPr>
          <p:cNvPr id="40" name="Shape 38"/>
          <p:cNvSpPr/>
          <p:nvPr/>
        </p:nvSpPr>
        <p:spPr>
          <a:xfrm>
            <a:off x="658368" y="5779008"/>
            <a:ext cx="1463040" cy="292608"/>
          </a:xfrm>
          <a:prstGeom prst="rect">
            <a:avLst/>
          </a:prstGeom>
          <a:solidFill>
            <a:srgbClr val="121212"/>
          </a:solidFill>
          <a:ln w="12700">
            <a:solidFill>
              <a:srgbClr val="121212"/>
            </a:solidFill>
            <a:prstDash val="solid"/>
          </a:ln>
        </p:spPr>
      </p:sp>
      <p:sp>
        <p:nvSpPr>
          <p:cNvPr id="41" name="Text 39"/>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核心研判</a:t>
            </a:r>
            <a:endParaRPr lang="en-US" sz="780" dirty="0"/>
          </a:p>
        </p:txBody>
      </p:sp>
      <p:sp>
        <p:nvSpPr>
          <p:cNvPr id="42" name="Text 40"/>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若天原第五代高压实产品在2026年底前未获批量订单，则市场对其技术兑现预期可能下修，高压实赛道估值分化</a:t>
            </a:r>
            <a:endParaRPr lang="en-US" sz="10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10.</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SOURCE INDEX</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2026-10-23</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10</a:t>
            </a:r>
            <a:endParaRPr lang="en-US" sz="730" dirty="0"/>
          </a:p>
        </p:txBody>
      </p:sp>
      <p:sp>
        <p:nvSpPr>
          <p:cNvPr id="9" name="Text 7"/>
          <p:cNvSpPr/>
          <p:nvPr/>
        </p:nvSpPr>
        <p:spPr>
          <a:xfrm>
            <a:off x="1143000" y="932688"/>
            <a:ext cx="4114800" cy="384048"/>
          </a:xfrm>
          <a:prstGeom prst="rect">
            <a:avLst/>
          </a:prstGeom>
          <a:noFill/>
          <a:ln/>
        </p:spPr>
        <p:txBody>
          <a:bodyPr wrap="square" lIns="0" tIns="0" rIns="0" bIns="0" rtlCol="0" anchor="ct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来源索引与可追溯性</a:t>
            </a:r>
            <a:endParaRPr lang="en-US" sz="2000" dirty="0"/>
          </a:p>
        </p:txBody>
      </p:sp>
      <p:sp>
        <p:nvSpPr>
          <p:cNvPr id="10" name="Shape 8"/>
          <p:cNvSpPr/>
          <p:nvPr/>
        </p:nvSpPr>
        <p:spPr>
          <a:xfrm>
            <a:off x="658368" y="1444752"/>
            <a:ext cx="566928" cy="310896"/>
          </a:xfrm>
          <a:prstGeom prst="rect">
            <a:avLst/>
          </a:prstGeom>
          <a:solidFill>
            <a:srgbClr val="121212"/>
          </a:solidFill>
          <a:ln w="6350">
            <a:solidFill>
              <a:srgbClr val="DADADA"/>
            </a:solidFill>
            <a:prstDash val="solid"/>
          </a:ln>
        </p:spPr>
      </p:sp>
      <p:sp>
        <p:nvSpPr>
          <p:cNvPr id="11" name="Text 9"/>
          <p:cNvSpPr/>
          <p:nvPr/>
        </p:nvSpPr>
        <p:spPr>
          <a:xfrm>
            <a:off x="731520" y="1536192"/>
            <a:ext cx="420624" cy="128016"/>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编号</a:t>
            </a:r>
            <a:endParaRPr lang="en-US" sz="780" dirty="0"/>
          </a:p>
        </p:txBody>
      </p:sp>
      <p:sp>
        <p:nvSpPr>
          <p:cNvPr id="12" name="Shape 10"/>
          <p:cNvSpPr/>
          <p:nvPr/>
        </p:nvSpPr>
        <p:spPr>
          <a:xfrm>
            <a:off x="1225296" y="1444752"/>
            <a:ext cx="1234440" cy="310896"/>
          </a:xfrm>
          <a:prstGeom prst="rect">
            <a:avLst/>
          </a:prstGeom>
          <a:solidFill>
            <a:srgbClr val="DDEBE0"/>
          </a:solidFill>
          <a:ln w="6350">
            <a:solidFill>
              <a:srgbClr val="DADADA"/>
            </a:solidFill>
            <a:prstDash val="solid"/>
          </a:ln>
        </p:spPr>
      </p:sp>
      <p:sp>
        <p:nvSpPr>
          <p:cNvPr id="13" name="Text 11"/>
          <p:cNvSpPr/>
          <p:nvPr/>
        </p:nvSpPr>
        <p:spPr>
          <a:xfrm>
            <a:off x="1298448" y="1536192"/>
            <a:ext cx="10881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来源</a:t>
            </a:r>
            <a:endParaRPr lang="en-US" sz="780" dirty="0"/>
          </a:p>
        </p:txBody>
      </p:sp>
      <p:sp>
        <p:nvSpPr>
          <p:cNvPr id="14" name="Shape 12"/>
          <p:cNvSpPr/>
          <p:nvPr/>
        </p:nvSpPr>
        <p:spPr>
          <a:xfrm>
            <a:off x="2459736" y="1444752"/>
            <a:ext cx="3977640" cy="310896"/>
          </a:xfrm>
          <a:prstGeom prst="rect">
            <a:avLst/>
          </a:prstGeom>
          <a:solidFill>
            <a:srgbClr val="DDEBE0"/>
          </a:solidFill>
          <a:ln w="6350">
            <a:solidFill>
              <a:srgbClr val="DADADA"/>
            </a:solidFill>
            <a:prstDash val="solid"/>
          </a:ln>
        </p:spPr>
      </p:sp>
      <p:sp>
        <p:nvSpPr>
          <p:cNvPr id="15" name="Text 13"/>
          <p:cNvSpPr/>
          <p:nvPr/>
        </p:nvSpPr>
        <p:spPr>
          <a:xfrm>
            <a:off x="2532888" y="1536192"/>
            <a:ext cx="38313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标题</a:t>
            </a:r>
            <a:endParaRPr lang="en-US" sz="780" dirty="0"/>
          </a:p>
        </p:txBody>
      </p:sp>
      <p:sp>
        <p:nvSpPr>
          <p:cNvPr id="16" name="Shape 14"/>
          <p:cNvSpPr/>
          <p:nvPr/>
        </p:nvSpPr>
        <p:spPr>
          <a:xfrm>
            <a:off x="6437376" y="1444752"/>
            <a:ext cx="4645152" cy="310896"/>
          </a:xfrm>
          <a:prstGeom prst="rect">
            <a:avLst/>
          </a:prstGeom>
          <a:solidFill>
            <a:srgbClr val="DDEBE0"/>
          </a:solidFill>
          <a:ln w="6350">
            <a:solidFill>
              <a:srgbClr val="DADADA"/>
            </a:solidFill>
            <a:prstDash val="solid"/>
          </a:ln>
        </p:spPr>
      </p:sp>
      <p:sp>
        <p:nvSpPr>
          <p:cNvPr id="17" name="Text 15"/>
          <p:cNvSpPr/>
          <p:nvPr/>
        </p:nvSpPr>
        <p:spPr>
          <a:xfrm>
            <a:off x="6510528" y="1536192"/>
            <a:ext cx="4498848"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链接</a:t>
            </a:r>
            <a:endParaRPr lang="en-US" sz="780" dirty="0"/>
          </a:p>
        </p:txBody>
      </p:sp>
      <p:sp>
        <p:nvSpPr>
          <p:cNvPr id="18" name="Shape 16"/>
          <p:cNvSpPr/>
          <p:nvPr/>
        </p:nvSpPr>
        <p:spPr>
          <a:xfrm>
            <a:off x="658368" y="1755648"/>
            <a:ext cx="10424160" cy="274320"/>
          </a:xfrm>
          <a:prstGeom prst="rect">
            <a:avLst/>
          </a:prstGeom>
          <a:solidFill>
            <a:srgbClr val="F4FAF6"/>
          </a:solidFill>
          <a:ln w="5080">
            <a:solidFill>
              <a:srgbClr val="DADADA"/>
            </a:solidFill>
            <a:prstDash val="solid"/>
          </a:ln>
        </p:spPr>
      </p:sp>
      <p:sp>
        <p:nvSpPr>
          <p:cNvPr id="19" name="Text 17"/>
          <p:cNvSpPr/>
          <p:nvPr/>
        </p:nvSpPr>
        <p:spPr>
          <a:xfrm>
            <a:off x="749808" y="182880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a:t>
            </a:r>
            <a:endParaRPr lang="en-US" sz="680" dirty="0"/>
          </a:p>
        </p:txBody>
      </p:sp>
      <p:sp>
        <p:nvSpPr>
          <p:cNvPr id="20" name="Text 18"/>
          <p:cNvSpPr/>
          <p:nvPr/>
        </p:nvSpPr>
        <p:spPr>
          <a:xfrm>
            <a:off x="1261872" y="182880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磷酸铁锂材料与电芯公众号广</a:t>
            </a:r>
            <a:endParaRPr lang="en-US" sz="680" dirty="0"/>
          </a:p>
        </p:txBody>
      </p:sp>
      <p:sp>
        <p:nvSpPr>
          <p:cNvPr id="21" name="Text 19"/>
          <p:cNvSpPr/>
          <p:nvPr/>
        </p:nvSpPr>
        <p:spPr>
          <a:xfrm>
            <a:off x="2487168" y="182880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磷酸铁锂主流生产工艺梳理 之二</a:t>
            </a:r>
            <a:endParaRPr lang="en-US" sz="680" dirty="0"/>
          </a:p>
        </p:txBody>
      </p:sp>
      <p:sp>
        <p:nvSpPr>
          <p:cNvPr id="22" name="Text 20"/>
          <p:cNvSpPr/>
          <p:nvPr/>
        </p:nvSpPr>
        <p:spPr>
          <a:xfrm>
            <a:off x="6510528" y="182880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eixin.sogou.com/link?url=dn9a_-gY295K0Rci_xozVXfdMkSQTLW6cwJThYulHEtVjXrGTiVgS-97vPXyxte7uM5rDmP7WkV_noKynmHQB1qXa8Fplpd90TqV8jv6YjYB4QZF1nOYMaMFBnO-wmCUDTumpn16YKBM7vXuwH1NdEvZ5MitpcfgN82Jx3anVbdBCCzgJHNYq27SKrHaSe9pIQd9G-UwJFBpE4SMUD25ka5Yh8iOOSaBCWALqYtui3ILobZVHXt4LhuASc_q7H2X2nwR-qqXEYp535pjGOOjYg..&amp;type=2&amp;query=%E9%93%81%E9%94%82 %E9%AB%98%E5%8E%8B%E5%AE%9E %E6%AD%A3%E6%9E%81%E6%9D%90%E6%96%99 %E9%87%8F%E4%BA%A7&amp;token=6D774C44AAEA699B8E89D0F66640099E8FE1D4CD6ADAC948</a:t>
            </a:r>
            <a:endParaRPr lang="en-US" sz="580" dirty="0"/>
          </a:p>
        </p:txBody>
      </p:sp>
      <p:sp>
        <p:nvSpPr>
          <p:cNvPr id="23" name="Shape 21"/>
          <p:cNvSpPr/>
          <p:nvPr/>
        </p:nvSpPr>
        <p:spPr>
          <a:xfrm>
            <a:off x="658368" y="2066544"/>
            <a:ext cx="10424160" cy="274320"/>
          </a:xfrm>
          <a:prstGeom prst="rect">
            <a:avLst/>
          </a:prstGeom>
          <a:solidFill>
            <a:srgbClr val="FFFFFF"/>
          </a:solidFill>
          <a:ln w="5080">
            <a:solidFill>
              <a:srgbClr val="DADADA"/>
            </a:solidFill>
            <a:prstDash val="solid"/>
          </a:ln>
        </p:spPr>
      </p:sp>
      <p:sp>
        <p:nvSpPr>
          <p:cNvPr id="24" name="Text 22"/>
          <p:cNvSpPr/>
          <p:nvPr/>
        </p:nvSpPr>
        <p:spPr>
          <a:xfrm>
            <a:off x="749808" y="213969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a:t>
            </a:r>
            <a:endParaRPr lang="en-US" sz="680" dirty="0"/>
          </a:p>
        </p:txBody>
      </p:sp>
      <p:sp>
        <p:nvSpPr>
          <p:cNvPr id="25" name="Text 23"/>
          <p:cNvSpPr/>
          <p:nvPr/>
        </p:nvSpPr>
        <p:spPr>
          <a:xfrm>
            <a:off x="1261872" y="213969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磷酸铁锂材料与电芯公众号广</a:t>
            </a:r>
            <a:endParaRPr lang="en-US" sz="680" dirty="0"/>
          </a:p>
        </p:txBody>
      </p:sp>
      <p:sp>
        <p:nvSpPr>
          <p:cNvPr id="26" name="Text 24"/>
          <p:cNvSpPr/>
          <p:nvPr/>
        </p:nvSpPr>
        <p:spPr>
          <a:xfrm>
            <a:off x="2487168" y="213969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“吨试”之后,天原的第五代高压实还差什么?</a:t>
            </a:r>
            <a:endParaRPr lang="en-US" sz="680" dirty="0"/>
          </a:p>
        </p:txBody>
      </p:sp>
      <p:sp>
        <p:nvSpPr>
          <p:cNvPr id="27" name="Text 25"/>
          <p:cNvSpPr/>
          <p:nvPr/>
        </p:nvSpPr>
        <p:spPr>
          <a:xfrm>
            <a:off x="6510528" y="213969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eixin.sogou.com/link?url=dn9a_-gY295K0Rci_xozVXfdMkSQTLW6cwJThYulHEtVjXrGTiVgS-97vPXyxte7HyTUUmlOQah_noKynmHQB1qXa8Fplpd99PIgwt4dzGMVW95fliAPtTzTF22IHPUM9umWY2Itg7keiYdZaTwjokbsyDvwdOcucX33KrP_1ezj0wEgszWX2DzOIjK1OtzowWcouYWyYnu7dIYf_IdVM5tZkQxXFD4MzUO15KXxYdHqdGoqAELlUTGJ-KASco7nZUyvLvI5Q47RtmyIGw2VAg..&amp;type=2&amp;query=%E9%93%81%E9%94%82 %E9%AB%98%E5%8E%8B%E5%AE%9E %E6%AD%A3%E6%9E%81%E6%9D%90%E6%96%99 %E9%87%8F%E4%BA%A7&amp;token=6D775C000949CB3F2C2D7553C5C76E5C2C96E8DA6ADAC949</a:t>
            </a:r>
            <a:endParaRPr lang="en-US" sz="580" dirty="0"/>
          </a:p>
        </p:txBody>
      </p:sp>
      <p:sp>
        <p:nvSpPr>
          <p:cNvPr id="28" name="Shape 26"/>
          <p:cNvSpPr/>
          <p:nvPr/>
        </p:nvSpPr>
        <p:spPr>
          <a:xfrm>
            <a:off x="658368" y="2377440"/>
            <a:ext cx="10424160" cy="274320"/>
          </a:xfrm>
          <a:prstGeom prst="rect">
            <a:avLst/>
          </a:prstGeom>
          <a:solidFill>
            <a:srgbClr val="F4FAF6"/>
          </a:solidFill>
          <a:ln w="5080">
            <a:solidFill>
              <a:srgbClr val="DADADA"/>
            </a:solidFill>
            <a:prstDash val="solid"/>
          </a:ln>
        </p:spPr>
      </p:sp>
      <p:sp>
        <p:nvSpPr>
          <p:cNvPr id="29" name="Text 27"/>
          <p:cNvSpPr/>
          <p:nvPr/>
        </p:nvSpPr>
        <p:spPr>
          <a:xfrm>
            <a:off x="749808" y="245059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[3]</a:t>
            </a:r>
            <a:endParaRPr lang="en-US" sz="680" dirty="0"/>
          </a:p>
        </p:txBody>
      </p:sp>
      <p:sp>
        <p:nvSpPr>
          <p:cNvPr id="30" name="Text 28"/>
          <p:cNvSpPr/>
          <p:nvPr/>
        </p:nvSpPr>
        <p:spPr>
          <a:xfrm>
            <a:off x="1261872" y="245059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31" name="Text 29"/>
          <p:cNvSpPr/>
          <p:nvPr/>
        </p:nvSpPr>
        <p:spPr>
          <a:xfrm>
            <a:off x="2487168" y="245059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龙蟠科技附属拟出售印尼二期磷酸铁锂正极材料项目76%股权 - 新浪财经</a:t>
            </a:r>
            <a:endParaRPr lang="en-US" sz="680" dirty="0"/>
          </a:p>
        </p:txBody>
      </p:sp>
      <p:sp>
        <p:nvSpPr>
          <p:cNvPr id="32" name="Text 30"/>
          <p:cNvSpPr/>
          <p:nvPr/>
        </p:nvSpPr>
        <p:spPr>
          <a:xfrm>
            <a:off x="6510528" y="245059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https://finance.sina.com.cn/stock/hkstock/ggscyd/2026-10-23/doc-iniweiyr4927932.shtml?cre=tianyi&amp;mod=pchp&amp;loc=8&amp;r=0&amp;rfunc=88&amp;tj=cxvertical_pc_hp&amp;tr=12</a:t>
            </a:r>
            <a:endParaRPr lang="en-US" sz="580" dirty="0"/>
          </a:p>
        </p:txBody>
      </p:sp>
      <p:sp>
        <p:nvSpPr>
          <p:cNvPr id="33" name="Shape 31"/>
          <p:cNvSpPr/>
          <p:nvPr/>
        </p:nvSpPr>
        <p:spPr>
          <a:xfrm>
            <a:off x="658368" y="2688336"/>
            <a:ext cx="10424160" cy="274320"/>
          </a:xfrm>
          <a:prstGeom prst="rect">
            <a:avLst/>
          </a:prstGeom>
          <a:solidFill>
            <a:srgbClr val="FFFFFF"/>
          </a:solidFill>
          <a:ln w="5080">
            <a:solidFill>
              <a:srgbClr val="DADADA"/>
            </a:solidFill>
            <a:prstDash val="solid"/>
          </a:ln>
        </p:spPr>
      </p:sp>
      <p:sp>
        <p:nvSpPr>
          <p:cNvPr id="34" name="Text 32"/>
          <p:cNvSpPr/>
          <p:nvPr/>
        </p:nvSpPr>
        <p:spPr>
          <a:xfrm>
            <a:off x="749808" y="276148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[4]</a:t>
            </a:r>
            <a:endParaRPr lang="en-US" sz="680" dirty="0"/>
          </a:p>
        </p:txBody>
      </p:sp>
      <p:sp>
        <p:nvSpPr>
          <p:cNvPr id="35" name="Text 33"/>
          <p:cNvSpPr/>
          <p:nvPr/>
        </p:nvSpPr>
        <p:spPr>
          <a:xfrm>
            <a:off x="1261872" y="276148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36" name="Text 34"/>
          <p:cNvSpPr/>
          <p:nvPr/>
        </p:nvSpPr>
        <p:spPr>
          <a:xfrm>
            <a:off x="2487168" y="276148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总投资80亿元！清陶动力固态电池项目一期在江苏苏州投产 - https</a:t>
            </a:r>
            <a:endParaRPr lang="en-US" sz="680" dirty="0"/>
          </a:p>
        </p:txBody>
      </p:sp>
      <p:sp>
        <p:nvSpPr>
          <p:cNvPr id="37" name="Text 35"/>
          <p:cNvSpPr/>
          <p:nvPr/>
        </p:nvSpPr>
        <p:spPr>
          <a:xfrm>
            <a:off x="6510528" y="276148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https://www.itdcw.com/news/ycnews/102215W542026.html</a:t>
            </a:r>
            <a:endParaRPr lang="en-US" sz="580" dirty="0"/>
          </a:p>
        </p:txBody>
      </p:sp>
      <p:sp>
        <p:nvSpPr>
          <p:cNvPr id="38" name="Shape 36"/>
          <p:cNvSpPr/>
          <p:nvPr/>
        </p:nvSpPr>
        <p:spPr>
          <a:xfrm>
            <a:off x="658368" y="2999232"/>
            <a:ext cx="10424160" cy="274320"/>
          </a:xfrm>
          <a:prstGeom prst="rect">
            <a:avLst/>
          </a:prstGeom>
          <a:solidFill>
            <a:srgbClr val="F4FAF6"/>
          </a:solidFill>
          <a:ln w="5080">
            <a:solidFill>
              <a:srgbClr val="DADADA"/>
            </a:solidFill>
            <a:prstDash val="solid"/>
          </a:ln>
        </p:spPr>
      </p:sp>
      <p:sp>
        <p:nvSpPr>
          <p:cNvPr id="39" name="Text 37"/>
          <p:cNvSpPr/>
          <p:nvPr/>
        </p:nvSpPr>
        <p:spPr>
          <a:xfrm>
            <a:off x="749808" y="307238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[5]</a:t>
            </a:r>
            <a:endParaRPr lang="en-US" sz="680" dirty="0"/>
          </a:p>
        </p:txBody>
      </p:sp>
      <p:sp>
        <p:nvSpPr>
          <p:cNvPr id="40" name="Text 38"/>
          <p:cNvSpPr/>
          <p:nvPr/>
        </p:nvSpPr>
        <p:spPr>
          <a:xfrm>
            <a:off x="1261872" y="307238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41" name="Text 39"/>
          <p:cNvSpPr/>
          <p:nvPr/>
        </p:nvSpPr>
        <p:spPr>
          <a:xfrm>
            <a:off x="2487168" y="307238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锂矿三季报业绩高增背后隐现预期分歧 - 上海证券报电子版</a:t>
            </a:r>
            <a:endParaRPr lang="en-US" sz="680" dirty="0"/>
          </a:p>
        </p:txBody>
      </p:sp>
      <p:sp>
        <p:nvSpPr>
          <p:cNvPr id="42" name="Text 40"/>
          <p:cNvSpPr/>
          <p:nvPr/>
        </p:nvSpPr>
        <p:spPr>
          <a:xfrm>
            <a:off x="6510528" y="307238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https://paper.cnstock.com/html/2026-10/23/content_2280325.htm</a:t>
            </a:r>
            <a:endParaRPr lang="en-US" sz="580" dirty="0"/>
          </a:p>
        </p:txBody>
      </p:sp>
      <p:sp>
        <p:nvSpPr>
          <p:cNvPr id="43" name="Shape 41"/>
          <p:cNvSpPr/>
          <p:nvPr/>
        </p:nvSpPr>
        <p:spPr>
          <a:xfrm>
            <a:off x="658368" y="3310128"/>
            <a:ext cx="10424160" cy="274320"/>
          </a:xfrm>
          <a:prstGeom prst="rect">
            <a:avLst/>
          </a:prstGeom>
          <a:solidFill>
            <a:srgbClr val="FFFFFF"/>
          </a:solidFill>
          <a:ln w="5080">
            <a:solidFill>
              <a:srgbClr val="DADADA"/>
            </a:solidFill>
            <a:prstDash val="solid"/>
          </a:ln>
        </p:spPr>
      </p:sp>
      <p:sp>
        <p:nvSpPr>
          <p:cNvPr id="44" name="Text 42"/>
          <p:cNvSpPr/>
          <p:nvPr/>
        </p:nvSpPr>
        <p:spPr>
          <a:xfrm>
            <a:off x="749808" y="338328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[6]</a:t>
            </a:r>
            <a:endParaRPr lang="en-US" sz="680" dirty="0"/>
          </a:p>
        </p:txBody>
      </p:sp>
      <p:sp>
        <p:nvSpPr>
          <p:cNvPr id="45" name="Text 43"/>
          <p:cNvSpPr/>
          <p:nvPr/>
        </p:nvSpPr>
        <p:spPr>
          <a:xfrm>
            <a:off x="1261872" y="338328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46" name="Text 44"/>
          <p:cNvSpPr/>
          <p:nvPr/>
        </p:nvSpPr>
        <p:spPr>
          <a:xfrm>
            <a:off x="2487168" y="338328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合规、本土化成动力电池出海新考题 海外回收产业体系建设成关键 - 中国</a:t>
            </a:r>
            <a:endParaRPr lang="en-US" sz="680" dirty="0"/>
          </a:p>
        </p:txBody>
      </p:sp>
      <p:sp>
        <p:nvSpPr>
          <p:cNvPr id="47" name="Text 45"/>
          <p:cNvSpPr/>
          <p:nvPr/>
        </p:nvSpPr>
        <p:spPr>
          <a:xfrm>
            <a:off x="6510528" y="338328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https://auto.youth.cn/xw/202610/t20261022_16927958.htm</a:t>
            </a:r>
            <a:endParaRPr lang="en-US" sz="580" dirty="0"/>
          </a:p>
        </p:txBody>
      </p:sp>
      <p:sp>
        <p:nvSpPr>
          <p:cNvPr id="48" name="Shape 46"/>
          <p:cNvSpPr/>
          <p:nvPr/>
        </p:nvSpPr>
        <p:spPr>
          <a:xfrm>
            <a:off x="658368" y="3621024"/>
            <a:ext cx="10424160" cy="274320"/>
          </a:xfrm>
          <a:prstGeom prst="rect">
            <a:avLst/>
          </a:prstGeom>
          <a:solidFill>
            <a:srgbClr val="F4FAF6"/>
          </a:solidFill>
          <a:ln w="5080">
            <a:solidFill>
              <a:srgbClr val="DADADA"/>
            </a:solidFill>
            <a:prstDash val="solid"/>
          </a:ln>
        </p:spPr>
      </p:sp>
      <p:sp>
        <p:nvSpPr>
          <p:cNvPr id="49" name="Text 47"/>
          <p:cNvSpPr/>
          <p:nvPr/>
        </p:nvSpPr>
        <p:spPr>
          <a:xfrm>
            <a:off x="749808" y="369417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[7]</a:t>
            </a:r>
            <a:endParaRPr lang="en-US" sz="680" dirty="0"/>
          </a:p>
        </p:txBody>
      </p:sp>
      <p:sp>
        <p:nvSpPr>
          <p:cNvPr id="50" name="Text 48"/>
          <p:cNvSpPr/>
          <p:nvPr/>
        </p:nvSpPr>
        <p:spPr>
          <a:xfrm>
            <a:off x="1261872" y="369417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51" name="Text 49"/>
          <p:cNvSpPr/>
          <p:nvPr/>
        </p:nvSpPr>
        <p:spPr>
          <a:xfrm>
            <a:off x="2487168" y="369417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城市矿山来了！电池生产、运营、回收巨头齐聚陕西 - https://w</a:t>
            </a:r>
            <a:endParaRPr lang="en-US" sz="680" dirty="0"/>
          </a:p>
        </p:txBody>
      </p:sp>
      <p:sp>
        <p:nvSpPr>
          <p:cNvPr id="52" name="Text 50"/>
          <p:cNvSpPr/>
          <p:nvPr/>
        </p:nvSpPr>
        <p:spPr>
          <a:xfrm>
            <a:off x="6510528" y="369417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https://www.itdcw.com/news/qiye/102215WF2026.html</a:t>
            </a:r>
            <a:endParaRPr lang="en-US" sz="580" dirty="0"/>
          </a:p>
        </p:txBody>
      </p:sp>
      <p:sp>
        <p:nvSpPr>
          <p:cNvPr id="53" name="Shape 51"/>
          <p:cNvSpPr/>
          <p:nvPr/>
        </p:nvSpPr>
        <p:spPr>
          <a:xfrm>
            <a:off x="658368" y="3931920"/>
            <a:ext cx="10424160" cy="274320"/>
          </a:xfrm>
          <a:prstGeom prst="rect">
            <a:avLst/>
          </a:prstGeom>
          <a:solidFill>
            <a:srgbClr val="FFFFFF"/>
          </a:solidFill>
          <a:ln w="5080">
            <a:solidFill>
              <a:srgbClr val="DADADA"/>
            </a:solidFill>
            <a:prstDash val="solid"/>
          </a:ln>
        </p:spPr>
      </p:sp>
      <p:sp>
        <p:nvSpPr>
          <p:cNvPr id="54" name="Text 52"/>
          <p:cNvSpPr/>
          <p:nvPr/>
        </p:nvSpPr>
        <p:spPr>
          <a:xfrm>
            <a:off x="749808" y="400507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[8]</a:t>
            </a:r>
            <a:endParaRPr lang="en-US" sz="680" dirty="0"/>
          </a:p>
        </p:txBody>
      </p:sp>
      <p:sp>
        <p:nvSpPr>
          <p:cNvPr id="55" name="Text 53"/>
          <p:cNvSpPr/>
          <p:nvPr/>
        </p:nvSpPr>
        <p:spPr>
          <a:xfrm>
            <a:off x="1261872" y="400507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56" name="Text 54"/>
          <p:cNvSpPr/>
          <p:nvPr/>
        </p:nvSpPr>
        <p:spPr>
          <a:xfrm>
            <a:off x="2487168" y="400507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宝马第六代动力电池在沈阳下线 - 搜狐</a:t>
            </a:r>
            <a:endParaRPr lang="en-US" sz="680" dirty="0"/>
          </a:p>
        </p:txBody>
      </p:sp>
      <p:sp>
        <p:nvSpPr>
          <p:cNvPr id="57" name="Text 55"/>
          <p:cNvSpPr/>
          <p:nvPr/>
        </p:nvSpPr>
        <p:spPr>
          <a:xfrm>
            <a:off x="6510528" y="400507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https://news.google.com/rss/articles/CBMijAFBVV95cUxNUURqaXpHaXJXTkhMWm1FVTRKck8zX29BakMtekI3bWlOQm53SU5Pbkh6OTg3NjVKS2w4VEl2eVVzZEhibGZFbGtEbnFyb2VNVmk4dWVXSW1XZWkxcGJ1RG5JUk4xZXpuMGl3aDZBYmthX0RySHF0VExFXzdKTTNmOF8tWmd2UHJiUGkyTQ?oc=5</a:t>
            </a:r>
            <a:endParaRPr lang="en-US" sz="580" dirty="0"/>
          </a:p>
        </p:txBody>
      </p:sp>
      <p:sp>
        <p:nvSpPr>
          <p:cNvPr id="58" name="Shape 56"/>
          <p:cNvSpPr/>
          <p:nvPr/>
        </p:nvSpPr>
        <p:spPr>
          <a:xfrm>
            <a:off x="658368" y="4242816"/>
            <a:ext cx="10424160" cy="274320"/>
          </a:xfrm>
          <a:prstGeom prst="rect">
            <a:avLst/>
          </a:prstGeom>
          <a:solidFill>
            <a:srgbClr val="F4FAF6"/>
          </a:solidFill>
          <a:ln w="5080">
            <a:solidFill>
              <a:srgbClr val="DADADA"/>
            </a:solidFill>
            <a:prstDash val="solid"/>
          </a:ln>
        </p:spPr>
      </p:sp>
      <p:sp>
        <p:nvSpPr>
          <p:cNvPr id="59" name="Text 57"/>
          <p:cNvSpPr/>
          <p:nvPr/>
        </p:nvSpPr>
        <p:spPr>
          <a:xfrm>
            <a:off x="749808" y="431596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[9]</a:t>
            </a:r>
            <a:endParaRPr lang="en-US" sz="680" dirty="0"/>
          </a:p>
        </p:txBody>
      </p:sp>
      <p:sp>
        <p:nvSpPr>
          <p:cNvPr id="60" name="Text 58"/>
          <p:cNvSpPr/>
          <p:nvPr/>
        </p:nvSpPr>
        <p:spPr>
          <a:xfrm>
            <a:off x="1261872" y="431596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61" name="Text 59"/>
          <p:cNvSpPr/>
          <p:nvPr/>
        </p:nvSpPr>
        <p:spPr>
          <a:xfrm>
            <a:off x="2487168" y="431596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选电芯更要看兜底，极狐阿尔法T7电池什么品牌 - 新浪网</a:t>
            </a:r>
            <a:endParaRPr lang="en-US" sz="680" dirty="0"/>
          </a:p>
        </p:txBody>
      </p:sp>
      <p:sp>
        <p:nvSpPr>
          <p:cNvPr id="62" name="Text 60"/>
          <p:cNvSpPr/>
          <p:nvPr/>
        </p:nvSpPr>
        <p:spPr>
          <a:xfrm>
            <a:off x="6510528" y="431596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https://news.google.com/rss/articles/CBMif0FVX3lxTE9RalhvVWFTbzNJbE5NVHluQ09jbXJHaHZPYndYaGt1VnpTV01IbEU5ZHkydnRfSUpQYUI0eWNjcVY3VjkzRjlBRTJnc1JaRlQ1NGlIajJISFVONzhUTTFMTm81dGFwT09wVmN1LXBSak9uekJsWFV2OHo5dTktVlk?oc=5</a:t>
            </a:r>
            <a:endParaRPr lang="en-US" sz="580" dirty="0"/>
          </a:p>
        </p:txBody>
      </p:sp>
      <p:sp>
        <p:nvSpPr>
          <p:cNvPr id="63" name="Shape 61"/>
          <p:cNvSpPr/>
          <p:nvPr/>
        </p:nvSpPr>
        <p:spPr>
          <a:xfrm>
            <a:off x="658368" y="4553712"/>
            <a:ext cx="10424160" cy="274320"/>
          </a:xfrm>
          <a:prstGeom prst="rect">
            <a:avLst/>
          </a:prstGeom>
          <a:solidFill>
            <a:srgbClr val="FFFFFF"/>
          </a:solidFill>
          <a:ln w="5080">
            <a:solidFill>
              <a:srgbClr val="DADADA"/>
            </a:solidFill>
            <a:prstDash val="solid"/>
          </a:ln>
        </p:spPr>
      </p:sp>
      <p:sp>
        <p:nvSpPr>
          <p:cNvPr id="64" name="Text 62"/>
          <p:cNvSpPr/>
          <p:nvPr/>
        </p:nvSpPr>
        <p:spPr>
          <a:xfrm>
            <a:off x="749808" y="462686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[10]</a:t>
            </a:r>
            <a:endParaRPr lang="en-US" sz="680" dirty="0"/>
          </a:p>
        </p:txBody>
      </p:sp>
      <p:sp>
        <p:nvSpPr>
          <p:cNvPr id="65" name="Text 63"/>
          <p:cNvSpPr/>
          <p:nvPr/>
        </p:nvSpPr>
        <p:spPr>
          <a:xfrm>
            <a:off x="1261872" y="462686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中国磷酸铁锂行业官方政策与</a:t>
            </a:r>
            <a:endParaRPr lang="en-US" sz="680" dirty="0"/>
          </a:p>
        </p:txBody>
      </p:sp>
      <p:sp>
        <p:nvSpPr>
          <p:cNvPr id="66" name="Text 64"/>
          <p:cNvSpPr/>
          <p:nvPr/>
        </p:nvSpPr>
        <p:spPr>
          <a:xfrm>
            <a:off x="2487168" y="462686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长虹：一块高倍率锂电池的“新长征” - 川观新闻</a:t>
            </a:r>
            <a:endParaRPr lang="en-US" sz="680" dirty="0"/>
          </a:p>
        </p:txBody>
      </p:sp>
      <p:sp>
        <p:nvSpPr>
          <p:cNvPr id="67" name="Text 65"/>
          <p:cNvSpPr/>
          <p:nvPr/>
        </p:nvSpPr>
        <p:spPr>
          <a:xfrm>
            <a:off x="6510528" y="462686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https://cbgc.scol.com.cn/news/8081041</a:t>
            </a:r>
            <a:endParaRPr lang="en-US" sz="580" dirty="0"/>
          </a:p>
        </p:txBody>
      </p:sp>
      <p:sp>
        <p:nvSpPr>
          <p:cNvPr id="68" name="Shape 66"/>
          <p:cNvSpPr/>
          <p:nvPr/>
        </p:nvSpPr>
        <p:spPr>
          <a:xfrm>
            <a:off x="658368" y="4864608"/>
            <a:ext cx="10424160" cy="274320"/>
          </a:xfrm>
          <a:prstGeom prst="rect">
            <a:avLst/>
          </a:prstGeom>
          <a:solidFill>
            <a:srgbClr val="F4FAF6"/>
          </a:solidFill>
          <a:ln w="5080">
            <a:solidFill>
              <a:srgbClr val="DADADA"/>
            </a:solidFill>
            <a:prstDash val="solid"/>
          </a:ln>
        </p:spPr>
      </p:sp>
      <p:sp>
        <p:nvSpPr>
          <p:cNvPr id="69" name="Text 67"/>
          <p:cNvSpPr/>
          <p:nvPr/>
        </p:nvSpPr>
        <p:spPr>
          <a:xfrm>
            <a:off x="749808" y="493776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[11]</a:t>
            </a:r>
            <a:endParaRPr lang="en-US" sz="680" dirty="0"/>
          </a:p>
        </p:txBody>
      </p:sp>
      <p:sp>
        <p:nvSpPr>
          <p:cNvPr id="70" name="Text 68"/>
          <p:cNvSpPr/>
          <p:nvPr/>
        </p:nvSpPr>
        <p:spPr>
          <a:xfrm>
            <a:off x="1261872" y="493776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中国电池网</a:t>
            </a:r>
            <a:endParaRPr lang="en-US" sz="680" dirty="0"/>
          </a:p>
        </p:txBody>
      </p:sp>
      <p:sp>
        <p:nvSpPr>
          <p:cNvPr id="71" name="Text 69"/>
          <p:cNvSpPr/>
          <p:nvPr/>
        </p:nvSpPr>
        <p:spPr>
          <a:xfrm>
            <a:off x="2487168" y="493776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中国电池网</a:t>
            </a:r>
            <a:endParaRPr lang="en-US" sz="680" dirty="0"/>
          </a:p>
        </p:txBody>
      </p:sp>
      <p:sp>
        <p:nvSpPr>
          <p:cNvPr id="72" name="Text 70"/>
          <p:cNvSpPr/>
          <p:nvPr/>
        </p:nvSpPr>
        <p:spPr>
          <a:xfrm>
            <a:off x="6510528" y="493776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https://www.itdcw.com/</a:t>
            </a:r>
            <a:endParaRPr lang="en-US" sz="580" dirty="0"/>
          </a:p>
        </p:txBody>
      </p:sp>
      <p:sp>
        <p:nvSpPr>
          <p:cNvPr id="73" name="Shape 71"/>
          <p:cNvSpPr/>
          <p:nvPr/>
        </p:nvSpPr>
        <p:spPr>
          <a:xfrm>
            <a:off x="658368" y="5175504"/>
            <a:ext cx="10424160" cy="274320"/>
          </a:xfrm>
          <a:prstGeom prst="rect">
            <a:avLst/>
          </a:prstGeom>
          <a:solidFill>
            <a:srgbClr val="FFFFFF"/>
          </a:solidFill>
          <a:ln w="5080">
            <a:solidFill>
              <a:srgbClr val="DADADA"/>
            </a:solidFill>
            <a:prstDash val="solid"/>
          </a:ln>
        </p:spPr>
      </p:sp>
      <p:sp>
        <p:nvSpPr>
          <p:cNvPr id="74" name="Text 72"/>
          <p:cNvSpPr/>
          <p:nvPr/>
        </p:nvSpPr>
        <p:spPr>
          <a:xfrm>
            <a:off x="749808" y="524865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[12]</a:t>
            </a:r>
            <a:endParaRPr lang="en-US" sz="680" dirty="0"/>
          </a:p>
        </p:txBody>
      </p:sp>
      <p:sp>
        <p:nvSpPr>
          <p:cNvPr id="75" name="Text 73"/>
          <p:cNvSpPr/>
          <p:nvPr/>
        </p:nvSpPr>
        <p:spPr>
          <a:xfrm>
            <a:off x="1261872" y="524865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鑫椤锂电</a:t>
            </a:r>
            <a:endParaRPr lang="en-US" sz="680" dirty="0"/>
          </a:p>
        </p:txBody>
      </p:sp>
      <p:sp>
        <p:nvSpPr>
          <p:cNvPr id="76" name="Text 74"/>
          <p:cNvSpPr/>
          <p:nvPr/>
        </p:nvSpPr>
        <p:spPr>
          <a:xfrm>
            <a:off x="2487168" y="524865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鑫椤锂电</a:t>
            </a:r>
            <a:endParaRPr lang="en-US" sz="680" dirty="0"/>
          </a:p>
        </p:txBody>
      </p:sp>
      <p:sp>
        <p:nvSpPr>
          <p:cNvPr id="77" name="Text 75"/>
          <p:cNvSpPr/>
          <p:nvPr/>
        </p:nvSpPr>
        <p:spPr>
          <a:xfrm>
            <a:off x="6510528" y="524865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https://www.icbattery.com/</a:t>
            </a:r>
            <a:endParaRPr lang="en-US" sz="580" dirty="0"/>
          </a:p>
        </p:txBody>
      </p:sp>
      <p:sp>
        <p:nvSpPr>
          <p:cNvPr id="78" name="Shape 76"/>
          <p:cNvSpPr/>
          <p:nvPr/>
        </p:nvSpPr>
        <p:spPr>
          <a:xfrm>
            <a:off x="658368" y="5779008"/>
            <a:ext cx="1463040" cy="292608"/>
          </a:xfrm>
          <a:prstGeom prst="rect">
            <a:avLst/>
          </a:prstGeom>
          <a:solidFill>
            <a:srgbClr val="121212"/>
          </a:solidFill>
          <a:ln w="12700">
            <a:solidFill>
              <a:srgbClr val="121212"/>
            </a:solidFill>
            <a:prstDash val="solid"/>
          </a:ln>
        </p:spPr>
      </p:sp>
      <p:sp>
        <p:nvSpPr>
          <p:cNvPr id="79" name="Text 77"/>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引用规则</a:t>
            </a:r>
            <a:endParaRPr lang="en-US" sz="780" dirty="0"/>
          </a:p>
        </p:txBody>
      </p:sp>
      <p:sp>
        <p:nvSpPr>
          <p:cNvPr id="80" name="Text 78"/>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正文引用编号与本页来源一一对应，未进入正文的公开来源保留在 JSON 审计记录中。</a:t>
            </a:r>
            <a:endParaRPr lang="en-US" sz="10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594360" cy="411480"/>
          </a:xfrm>
          <a:prstGeom prst="rect">
            <a:avLst/>
          </a:prstGeom>
          <a:noFill/>
          <a:ln/>
        </p:spPr>
        <p:txBody>
          <a:bodyPr wrap="square" lIns="0" tIns="0" rIns="0" bIns="0" rtlCol="0" anchor="ctr"/>
          <a:lstStyle/>
          <a:p>
            <a:pPr indent="0" marL="0">
              <a:buNone/>
            </a:pPr>
            <a:r>
              <a:rPr lang="en-US" sz="2200" b="1" dirty="0">
                <a:solidFill>
                  <a:srgbClr val="121212"/>
                </a:solidFill>
                <a:latin typeface="Aptos" pitchFamily="34" charset="0"/>
                <a:ea typeface="Aptos" pitchFamily="34" charset="-122"/>
                <a:cs typeface="Aptos" pitchFamily="34" charset="-120"/>
              </a:rPr>
              <a:t>11.</a:t>
            </a:r>
            <a:endParaRPr lang="en-US" sz="2200" dirty="0"/>
          </a:p>
        </p:txBody>
      </p:sp>
      <p:sp>
        <p:nvSpPr>
          <p:cNvPr id="3" name="Text 1"/>
          <p:cNvSpPr/>
          <p:nvPr/>
        </p:nvSpPr>
        <p:spPr>
          <a:xfrm>
            <a:off x="1143000" y="393192"/>
            <a:ext cx="4754880" cy="256032"/>
          </a:xfrm>
          <a:prstGeom prst="rect">
            <a:avLst/>
          </a:prstGeom>
          <a:noFill/>
          <a:ln/>
        </p:spPr>
        <p:txBody>
          <a:bodyPr wrap="square" lIns="0" tIns="0" rIns="0" bIns="0" rtlCol="0" anchor="ctr"/>
          <a:lstStyle/>
          <a:p>
            <a:pPr indent="0" marL="0">
              <a:buNone/>
            </a:pPr>
            <a:r>
              <a:rPr lang="en-US" sz="850" b="1" dirty="0">
                <a:solidFill>
                  <a:srgbClr val="487052"/>
                </a:solidFill>
                <a:latin typeface="Aptos" pitchFamily="34" charset="0"/>
                <a:ea typeface="Aptos" pitchFamily="34" charset="-122"/>
                <a:cs typeface="Aptos" pitchFamily="34" charset="-120"/>
              </a:rPr>
              <a:t>SOURCE INDEX</a:t>
            </a:r>
            <a:endParaRPr lang="en-US" sz="850" dirty="0"/>
          </a:p>
        </p:txBody>
      </p:sp>
      <p:sp>
        <p:nvSpPr>
          <p:cNvPr id="4" name="Text 2"/>
          <p:cNvSpPr/>
          <p:nvPr/>
        </p:nvSpPr>
        <p:spPr>
          <a:xfrm>
            <a:off x="10287000" y="393192"/>
            <a:ext cx="1371600" cy="219456"/>
          </a:xfrm>
          <a:prstGeom prst="rect">
            <a:avLst/>
          </a:prstGeom>
          <a:noFill/>
          <a:ln/>
        </p:spPr>
        <p:txBody>
          <a:bodyPr wrap="square" lIns="0" tIns="0" rIns="0" bIns="0" rtlCol="0" anchor="ctr"/>
          <a:lstStyle/>
          <a:p>
            <a:pPr algn="r" indent="0" marL="0">
              <a:buNone/>
            </a:pPr>
            <a:r>
              <a:rPr lang="en-US" sz="800" dirty="0">
                <a:solidFill>
                  <a:srgbClr val="6D756F"/>
                </a:solidFill>
                <a:latin typeface="Aptos" pitchFamily="34" charset="0"/>
                <a:ea typeface="Aptos" pitchFamily="34" charset="-122"/>
                <a:cs typeface="Aptos" pitchFamily="34" charset="-120"/>
              </a:rPr>
              <a:t>2026-10-23</a:t>
            </a:r>
            <a:endParaRPr lang="en-US" sz="800" dirty="0"/>
          </a:p>
        </p:txBody>
      </p:sp>
      <p:sp>
        <p:nvSpPr>
          <p:cNvPr id="5" name="Shape 3"/>
          <p:cNvSpPr/>
          <p:nvPr/>
        </p:nvSpPr>
        <p:spPr>
          <a:xfrm>
            <a:off x="502920" y="786384"/>
            <a:ext cx="11201400" cy="0"/>
          </a:xfrm>
          <a:prstGeom prst="line">
            <a:avLst/>
          </a:prstGeom>
          <a:noFill/>
          <a:ln w="10160">
            <a:solidFill>
              <a:srgbClr val="DADADA"/>
            </a:solidFill>
            <a:prstDash val="solid"/>
          </a:ln>
        </p:spPr>
      </p:sp>
      <p:sp>
        <p:nvSpPr>
          <p:cNvPr id="6" name="Shape 4"/>
          <p:cNvSpPr/>
          <p:nvPr/>
        </p:nvSpPr>
        <p:spPr>
          <a:xfrm>
            <a:off x="502920" y="6327648"/>
            <a:ext cx="11201400" cy="0"/>
          </a:xfrm>
          <a:prstGeom prst="line">
            <a:avLst/>
          </a:prstGeom>
          <a:noFill/>
          <a:ln w="8890">
            <a:solidFill>
              <a:srgbClr val="DADADA"/>
            </a:solidFill>
            <a:prstDash val="solid"/>
          </a:ln>
        </p:spPr>
      </p:sp>
      <p:sp>
        <p:nvSpPr>
          <p:cNvPr id="7" name="Text 5"/>
          <p:cNvSpPr/>
          <p:nvPr/>
        </p:nvSpPr>
        <p:spPr>
          <a:xfrm>
            <a:off x="502920" y="6437376"/>
            <a:ext cx="8046720" cy="182880"/>
          </a:xfrm>
          <a:prstGeom prst="rect">
            <a:avLst/>
          </a:prstGeom>
          <a:noFill/>
          <a:ln/>
        </p:spPr>
        <p:txBody>
          <a:bodyPr wrap="square" lIns="0" tIns="0" rIns="0" bIns="0" rtlCol="0" anchor="ctr"/>
          <a:lstStyle/>
          <a:p>
            <a:pPr indent="0" marL="0">
              <a:buNone/>
            </a:pPr>
            <a:r>
              <a:rPr lang="en-US" sz="730" dirty="0">
                <a:solidFill>
                  <a:srgbClr val="6D756F"/>
                </a:solidFill>
                <a:latin typeface="Microsoft YaHei" pitchFamily="34" charset="0"/>
                <a:ea typeface="Microsoft YaHei" pitchFamily="34" charset="-122"/>
                <a:cs typeface="Microsoft YaHei" pitchFamily="34" charset="-120"/>
              </a:rPr>
              <a:t>磷酸铁锂行业早报｜公开来源自动生成｜仅作行业观察，不构成投资建议</a:t>
            </a:r>
            <a:endParaRPr lang="en-US" sz="730" dirty="0"/>
          </a:p>
        </p:txBody>
      </p:sp>
      <p:sp>
        <p:nvSpPr>
          <p:cNvPr id="8" name="Text 6"/>
          <p:cNvSpPr/>
          <p:nvPr/>
        </p:nvSpPr>
        <p:spPr>
          <a:xfrm>
            <a:off x="11201400" y="6419088"/>
            <a:ext cx="502920" cy="201168"/>
          </a:xfrm>
          <a:prstGeom prst="rect">
            <a:avLst/>
          </a:prstGeom>
          <a:noFill/>
          <a:ln/>
        </p:spPr>
        <p:txBody>
          <a:bodyPr wrap="square" lIns="0" tIns="0" rIns="0" bIns="0" rtlCol="0" anchor="ctr"/>
          <a:lstStyle/>
          <a:p>
            <a:pPr algn="r" indent="0" marL="0">
              <a:buNone/>
            </a:pPr>
            <a:r>
              <a:rPr lang="en-US" sz="730" dirty="0">
                <a:solidFill>
                  <a:srgbClr val="6D756F"/>
                </a:solidFill>
                <a:latin typeface="Aptos" pitchFamily="34" charset="0"/>
                <a:ea typeface="Aptos" pitchFamily="34" charset="-122"/>
                <a:cs typeface="Aptos" pitchFamily="34" charset="-120"/>
              </a:rPr>
              <a:t>11</a:t>
            </a:r>
            <a:endParaRPr lang="en-US" sz="730" dirty="0"/>
          </a:p>
        </p:txBody>
      </p:sp>
      <p:sp>
        <p:nvSpPr>
          <p:cNvPr id="9" name="Text 7"/>
          <p:cNvSpPr/>
          <p:nvPr/>
        </p:nvSpPr>
        <p:spPr>
          <a:xfrm>
            <a:off x="1143000" y="932688"/>
            <a:ext cx="4114800" cy="384048"/>
          </a:xfrm>
          <a:prstGeom prst="rect">
            <a:avLst/>
          </a:prstGeom>
          <a:noFill/>
          <a:ln/>
        </p:spPr>
        <p:txBody>
          <a:bodyPr wrap="square" lIns="0" tIns="0" rIns="0" bIns="0" rtlCol="0" anchor="ctr"/>
          <a:lstStyle/>
          <a:p>
            <a:pPr indent="0" marL="0">
              <a:buNone/>
            </a:pPr>
            <a:r>
              <a:rPr lang="en-US" sz="2000" b="1" dirty="0">
                <a:solidFill>
                  <a:srgbClr val="121212"/>
                </a:solidFill>
                <a:latin typeface="Microsoft YaHei" pitchFamily="34" charset="0"/>
                <a:ea typeface="Microsoft YaHei" pitchFamily="34" charset="-122"/>
                <a:cs typeface="Microsoft YaHei" pitchFamily="34" charset="-120"/>
              </a:rPr>
              <a:t>来源索引与可追溯性</a:t>
            </a:r>
            <a:endParaRPr lang="en-US" sz="2000" dirty="0"/>
          </a:p>
        </p:txBody>
      </p:sp>
      <p:sp>
        <p:nvSpPr>
          <p:cNvPr id="10" name="Shape 8"/>
          <p:cNvSpPr/>
          <p:nvPr/>
        </p:nvSpPr>
        <p:spPr>
          <a:xfrm>
            <a:off x="658368" y="1444752"/>
            <a:ext cx="566928" cy="310896"/>
          </a:xfrm>
          <a:prstGeom prst="rect">
            <a:avLst/>
          </a:prstGeom>
          <a:solidFill>
            <a:srgbClr val="121212"/>
          </a:solidFill>
          <a:ln w="6350">
            <a:solidFill>
              <a:srgbClr val="DADADA"/>
            </a:solidFill>
            <a:prstDash val="solid"/>
          </a:ln>
        </p:spPr>
      </p:sp>
      <p:sp>
        <p:nvSpPr>
          <p:cNvPr id="11" name="Text 9"/>
          <p:cNvSpPr/>
          <p:nvPr/>
        </p:nvSpPr>
        <p:spPr>
          <a:xfrm>
            <a:off x="731520" y="1536192"/>
            <a:ext cx="420624" cy="128016"/>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编号</a:t>
            </a:r>
            <a:endParaRPr lang="en-US" sz="780" dirty="0"/>
          </a:p>
        </p:txBody>
      </p:sp>
      <p:sp>
        <p:nvSpPr>
          <p:cNvPr id="12" name="Shape 10"/>
          <p:cNvSpPr/>
          <p:nvPr/>
        </p:nvSpPr>
        <p:spPr>
          <a:xfrm>
            <a:off x="1225296" y="1444752"/>
            <a:ext cx="1234440" cy="310896"/>
          </a:xfrm>
          <a:prstGeom prst="rect">
            <a:avLst/>
          </a:prstGeom>
          <a:solidFill>
            <a:srgbClr val="DDEBE0"/>
          </a:solidFill>
          <a:ln w="6350">
            <a:solidFill>
              <a:srgbClr val="DADADA"/>
            </a:solidFill>
            <a:prstDash val="solid"/>
          </a:ln>
        </p:spPr>
      </p:sp>
      <p:sp>
        <p:nvSpPr>
          <p:cNvPr id="13" name="Text 11"/>
          <p:cNvSpPr/>
          <p:nvPr/>
        </p:nvSpPr>
        <p:spPr>
          <a:xfrm>
            <a:off x="1298448" y="1536192"/>
            <a:ext cx="10881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来源</a:t>
            </a:r>
            <a:endParaRPr lang="en-US" sz="780" dirty="0"/>
          </a:p>
        </p:txBody>
      </p:sp>
      <p:sp>
        <p:nvSpPr>
          <p:cNvPr id="14" name="Shape 12"/>
          <p:cNvSpPr/>
          <p:nvPr/>
        </p:nvSpPr>
        <p:spPr>
          <a:xfrm>
            <a:off x="2459736" y="1444752"/>
            <a:ext cx="3977640" cy="310896"/>
          </a:xfrm>
          <a:prstGeom prst="rect">
            <a:avLst/>
          </a:prstGeom>
          <a:solidFill>
            <a:srgbClr val="DDEBE0"/>
          </a:solidFill>
          <a:ln w="6350">
            <a:solidFill>
              <a:srgbClr val="DADADA"/>
            </a:solidFill>
            <a:prstDash val="solid"/>
          </a:ln>
        </p:spPr>
      </p:sp>
      <p:sp>
        <p:nvSpPr>
          <p:cNvPr id="15" name="Text 13"/>
          <p:cNvSpPr/>
          <p:nvPr/>
        </p:nvSpPr>
        <p:spPr>
          <a:xfrm>
            <a:off x="2532888" y="1536192"/>
            <a:ext cx="3831336"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标题</a:t>
            </a:r>
            <a:endParaRPr lang="en-US" sz="780" dirty="0"/>
          </a:p>
        </p:txBody>
      </p:sp>
      <p:sp>
        <p:nvSpPr>
          <p:cNvPr id="16" name="Shape 14"/>
          <p:cNvSpPr/>
          <p:nvPr/>
        </p:nvSpPr>
        <p:spPr>
          <a:xfrm>
            <a:off x="6437376" y="1444752"/>
            <a:ext cx="4645152" cy="310896"/>
          </a:xfrm>
          <a:prstGeom prst="rect">
            <a:avLst/>
          </a:prstGeom>
          <a:solidFill>
            <a:srgbClr val="DDEBE0"/>
          </a:solidFill>
          <a:ln w="6350">
            <a:solidFill>
              <a:srgbClr val="DADADA"/>
            </a:solidFill>
            <a:prstDash val="solid"/>
          </a:ln>
        </p:spPr>
      </p:sp>
      <p:sp>
        <p:nvSpPr>
          <p:cNvPr id="17" name="Text 15"/>
          <p:cNvSpPr/>
          <p:nvPr/>
        </p:nvSpPr>
        <p:spPr>
          <a:xfrm>
            <a:off x="6510528" y="1536192"/>
            <a:ext cx="4498848" cy="128016"/>
          </a:xfrm>
          <a:prstGeom prst="rect">
            <a:avLst/>
          </a:prstGeom>
          <a:noFill/>
          <a:ln/>
        </p:spPr>
        <p:txBody>
          <a:bodyPr wrap="square" lIns="0" tIns="0" rIns="0" bIns="0" rtlCol="0" anchor="ctr"/>
          <a:lstStyle/>
          <a:p>
            <a:pPr indent="0" marL="0">
              <a:buNone/>
            </a:pPr>
            <a:r>
              <a:rPr lang="en-US" sz="780" b="1" dirty="0">
                <a:solidFill>
                  <a:srgbClr val="121212"/>
                </a:solidFill>
                <a:latin typeface="Microsoft YaHei" pitchFamily="34" charset="0"/>
                <a:ea typeface="Microsoft YaHei" pitchFamily="34" charset="-122"/>
                <a:cs typeface="Microsoft YaHei" pitchFamily="34" charset="-120"/>
              </a:rPr>
              <a:t>链接</a:t>
            </a:r>
            <a:endParaRPr lang="en-US" sz="780" dirty="0"/>
          </a:p>
        </p:txBody>
      </p:sp>
      <p:sp>
        <p:nvSpPr>
          <p:cNvPr id="18" name="Shape 16"/>
          <p:cNvSpPr/>
          <p:nvPr/>
        </p:nvSpPr>
        <p:spPr>
          <a:xfrm>
            <a:off x="658368" y="1755648"/>
            <a:ext cx="10424160" cy="274320"/>
          </a:xfrm>
          <a:prstGeom prst="rect">
            <a:avLst/>
          </a:prstGeom>
          <a:solidFill>
            <a:srgbClr val="F4FAF6"/>
          </a:solidFill>
          <a:ln w="5080">
            <a:solidFill>
              <a:srgbClr val="DADADA"/>
            </a:solidFill>
            <a:prstDash val="solid"/>
          </a:ln>
        </p:spPr>
      </p:sp>
      <p:sp>
        <p:nvSpPr>
          <p:cNvPr id="19" name="Text 17"/>
          <p:cNvSpPr/>
          <p:nvPr/>
        </p:nvSpPr>
        <p:spPr>
          <a:xfrm>
            <a:off x="749808" y="182880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[13]</a:t>
            </a:r>
            <a:endParaRPr lang="en-US" sz="680" dirty="0"/>
          </a:p>
        </p:txBody>
      </p:sp>
      <p:sp>
        <p:nvSpPr>
          <p:cNvPr id="20" name="Text 18"/>
          <p:cNvSpPr/>
          <p:nvPr/>
        </p:nvSpPr>
        <p:spPr>
          <a:xfrm>
            <a:off x="1261872" y="182880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高工锂电</a:t>
            </a:r>
            <a:endParaRPr lang="en-US" sz="680" dirty="0"/>
          </a:p>
        </p:txBody>
      </p:sp>
      <p:sp>
        <p:nvSpPr>
          <p:cNvPr id="21" name="Text 19"/>
          <p:cNvSpPr/>
          <p:nvPr/>
        </p:nvSpPr>
        <p:spPr>
          <a:xfrm>
            <a:off x="2487168" y="182880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高工锂电</a:t>
            </a:r>
            <a:endParaRPr lang="en-US" sz="680" dirty="0"/>
          </a:p>
        </p:txBody>
      </p:sp>
      <p:sp>
        <p:nvSpPr>
          <p:cNvPr id="22" name="Text 20"/>
          <p:cNvSpPr/>
          <p:nvPr/>
        </p:nvSpPr>
        <p:spPr>
          <a:xfrm>
            <a:off x="6510528" y="182880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https://www.gg-lb.com/</a:t>
            </a:r>
            <a:endParaRPr lang="en-US" sz="580" dirty="0"/>
          </a:p>
        </p:txBody>
      </p:sp>
      <p:sp>
        <p:nvSpPr>
          <p:cNvPr id="23" name="Shape 21"/>
          <p:cNvSpPr/>
          <p:nvPr/>
        </p:nvSpPr>
        <p:spPr>
          <a:xfrm>
            <a:off x="658368" y="2066544"/>
            <a:ext cx="10424160" cy="274320"/>
          </a:xfrm>
          <a:prstGeom prst="rect">
            <a:avLst/>
          </a:prstGeom>
          <a:solidFill>
            <a:srgbClr val="FFFFFF"/>
          </a:solidFill>
          <a:ln w="5080">
            <a:solidFill>
              <a:srgbClr val="DADADA"/>
            </a:solidFill>
            <a:prstDash val="solid"/>
          </a:ln>
        </p:spPr>
      </p:sp>
      <p:sp>
        <p:nvSpPr>
          <p:cNvPr id="24" name="Text 22"/>
          <p:cNvSpPr/>
          <p:nvPr/>
        </p:nvSpPr>
        <p:spPr>
          <a:xfrm>
            <a:off x="749808" y="213969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[14]</a:t>
            </a:r>
            <a:endParaRPr lang="en-US" sz="680" dirty="0"/>
          </a:p>
        </p:txBody>
      </p:sp>
      <p:sp>
        <p:nvSpPr>
          <p:cNvPr id="25" name="Text 23"/>
          <p:cNvSpPr/>
          <p:nvPr/>
        </p:nvSpPr>
        <p:spPr>
          <a:xfrm>
            <a:off x="1261872" y="213969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电池中国</a:t>
            </a:r>
            <a:endParaRPr lang="en-US" sz="680" dirty="0"/>
          </a:p>
        </p:txBody>
      </p:sp>
      <p:sp>
        <p:nvSpPr>
          <p:cNvPr id="26" name="Text 24"/>
          <p:cNvSpPr/>
          <p:nvPr/>
        </p:nvSpPr>
        <p:spPr>
          <a:xfrm>
            <a:off x="2487168" y="213969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电池中国</a:t>
            </a:r>
            <a:endParaRPr lang="en-US" sz="680" dirty="0"/>
          </a:p>
        </p:txBody>
      </p:sp>
      <p:sp>
        <p:nvSpPr>
          <p:cNvPr id="27" name="Text 25"/>
          <p:cNvSpPr/>
          <p:nvPr/>
        </p:nvSpPr>
        <p:spPr>
          <a:xfrm>
            <a:off x="6510528" y="213969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https://www.cbea.com/</a:t>
            </a:r>
            <a:endParaRPr lang="en-US" sz="580" dirty="0"/>
          </a:p>
        </p:txBody>
      </p:sp>
      <p:sp>
        <p:nvSpPr>
          <p:cNvPr id="28" name="Shape 26"/>
          <p:cNvSpPr/>
          <p:nvPr/>
        </p:nvSpPr>
        <p:spPr>
          <a:xfrm>
            <a:off x="658368" y="2377440"/>
            <a:ext cx="10424160" cy="274320"/>
          </a:xfrm>
          <a:prstGeom prst="rect">
            <a:avLst/>
          </a:prstGeom>
          <a:solidFill>
            <a:srgbClr val="F4FAF6"/>
          </a:solidFill>
          <a:ln w="5080">
            <a:solidFill>
              <a:srgbClr val="DADADA"/>
            </a:solidFill>
            <a:prstDash val="solid"/>
          </a:ln>
        </p:spPr>
      </p:sp>
      <p:sp>
        <p:nvSpPr>
          <p:cNvPr id="29" name="Text 27"/>
          <p:cNvSpPr/>
          <p:nvPr/>
        </p:nvSpPr>
        <p:spPr>
          <a:xfrm>
            <a:off x="749808" y="245059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[15]</a:t>
            </a:r>
            <a:endParaRPr lang="en-US" sz="680" dirty="0"/>
          </a:p>
        </p:txBody>
      </p:sp>
      <p:sp>
        <p:nvSpPr>
          <p:cNvPr id="30" name="Text 28"/>
          <p:cNvSpPr/>
          <p:nvPr/>
        </p:nvSpPr>
        <p:spPr>
          <a:xfrm>
            <a:off x="1261872" y="245059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证券时报</a:t>
            </a:r>
            <a:endParaRPr lang="en-US" sz="680" dirty="0"/>
          </a:p>
        </p:txBody>
      </p:sp>
      <p:sp>
        <p:nvSpPr>
          <p:cNvPr id="31" name="Text 29"/>
          <p:cNvSpPr/>
          <p:nvPr/>
        </p:nvSpPr>
        <p:spPr>
          <a:xfrm>
            <a:off x="2487168" y="245059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证券时报</a:t>
            </a:r>
            <a:endParaRPr lang="en-US" sz="680" dirty="0"/>
          </a:p>
        </p:txBody>
      </p:sp>
      <p:sp>
        <p:nvSpPr>
          <p:cNvPr id="32" name="Text 30"/>
          <p:cNvSpPr/>
          <p:nvPr/>
        </p:nvSpPr>
        <p:spPr>
          <a:xfrm>
            <a:off x="6510528" y="245059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https://www.stcn.com/</a:t>
            </a:r>
            <a:endParaRPr lang="en-US" sz="580" dirty="0"/>
          </a:p>
        </p:txBody>
      </p:sp>
      <p:sp>
        <p:nvSpPr>
          <p:cNvPr id="33" name="Shape 31"/>
          <p:cNvSpPr/>
          <p:nvPr/>
        </p:nvSpPr>
        <p:spPr>
          <a:xfrm>
            <a:off x="658368" y="2688336"/>
            <a:ext cx="10424160" cy="274320"/>
          </a:xfrm>
          <a:prstGeom prst="rect">
            <a:avLst/>
          </a:prstGeom>
          <a:solidFill>
            <a:srgbClr val="FFFFFF"/>
          </a:solidFill>
          <a:ln w="5080">
            <a:solidFill>
              <a:srgbClr val="DADADA"/>
            </a:solidFill>
            <a:prstDash val="solid"/>
          </a:ln>
        </p:spPr>
      </p:sp>
      <p:sp>
        <p:nvSpPr>
          <p:cNvPr id="34" name="Text 32"/>
          <p:cNvSpPr/>
          <p:nvPr/>
        </p:nvSpPr>
        <p:spPr>
          <a:xfrm>
            <a:off x="749808" y="276148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[16]</a:t>
            </a:r>
            <a:endParaRPr lang="en-US" sz="680" dirty="0"/>
          </a:p>
        </p:txBody>
      </p:sp>
      <p:sp>
        <p:nvSpPr>
          <p:cNvPr id="35" name="Text 33"/>
          <p:cNvSpPr/>
          <p:nvPr/>
        </p:nvSpPr>
        <p:spPr>
          <a:xfrm>
            <a:off x="1261872" y="276148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界面新闻</a:t>
            </a:r>
            <a:endParaRPr lang="en-US" sz="680" dirty="0"/>
          </a:p>
        </p:txBody>
      </p:sp>
      <p:sp>
        <p:nvSpPr>
          <p:cNvPr id="36" name="Text 34"/>
          <p:cNvSpPr/>
          <p:nvPr/>
        </p:nvSpPr>
        <p:spPr>
          <a:xfrm>
            <a:off x="2487168" y="276148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锂电产业链周记 | 前三季度国内动力和储能电池出口量增超50% 赛力斯</a:t>
            </a:r>
            <a:endParaRPr lang="en-US" sz="680" dirty="0"/>
          </a:p>
        </p:txBody>
      </p:sp>
      <p:sp>
        <p:nvSpPr>
          <p:cNvPr id="37" name="Text 35"/>
          <p:cNvSpPr/>
          <p:nvPr/>
        </p:nvSpPr>
        <p:spPr>
          <a:xfrm>
            <a:off x="6510528" y="276148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https://www.jiemian.com/article/15201129.html</a:t>
            </a:r>
            <a:endParaRPr lang="en-US" sz="580" dirty="0"/>
          </a:p>
        </p:txBody>
      </p:sp>
      <p:sp>
        <p:nvSpPr>
          <p:cNvPr id="38" name="Shape 36"/>
          <p:cNvSpPr/>
          <p:nvPr/>
        </p:nvSpPr>
        <p:spPr>
          <a:xfrm>
            <a:off x="658368" y="2999232"/>
            <a:ext cx="10424160" cy="274320"/>
          </a:xfrm>
          <a:prstGeom prst="rect">
            <a:avLst/>
          </a:prstGeom>
          <a:solidFill>
            <a:srgbClr val="F4FAF6"/>
          </a:solidFill>
          <a:ln w="5080">
            <a:solidFill>
              <a:srgbClr val="DADADA"/>
            </a:solidFill>
            <a:prstDash val="solid"/>
          </a:ln>
        </p:spPr>
      </p:sp>
      <p:sp>
        <p:nvSpPr>
          <p:cNvPr id="39" name="Text 37"/>
          <p:cNvSpPr/>
          <p:nvPr/>
        </p:nvSpPr>
        <p:spPr>
          <a:xfrm>
            <a:off x="749808" y="307238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[17]</a:t>
            </a:r>
            <a:endParaRPr lang="en-US" sz="680" dirty="0"/>
          </a:p>
        </p:txBody>
      </p:sp>
      <p:sp>
        <p:nvSpPr>
          <p:cNvPr id="40" name="Text 38"/>
          <p:cNvSpPr/>
          <p:nvPr/>
        </p:nvSpPr>
        <p:spPr>
          <a:xfrm>
            <a:off x="1261872" y="307238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41" name="Text 39"/>
          <p:cNvSpPr/>
          <p:nvPr/>
        </p:nvSpPr>
        <p:spPr>
          <a:xfrm>
            <a:off x="2487168" y="307238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国新办举行国务院政策例行吹风会 介绍加强中小企业回款难问题治理有关工作</a:t>
            </a:r>
            <a:endParaRPr lang="en-US" sz="680" dirty="0"/>
          </a:p>
        </p:txBody>
      </p:sp>
      <p:sp>
        <p:nvSpPr>
          <p:cNvPr id="42" name="Text 40"/>
          <p:cNvSpPr/>
          <p:nvPr/>
        </p:nvSpPr>
        <p:spPr>
          <a:xfrm>
            <a:off x="6510528" y="307238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http://www.miit.gov.cn/xwfb/bldhd/art/2026/art_7285ee48244d4f20b0f127c7f013ec11.html</a:t>
            </a:r>
            <a:endParaRPr lang="en-US" sz="580" dirty="0"/>
          </a:p>
        </p:txBody>
      </p:sp>
      <p:sp>
        <p:nvSpPr>
          <p:cNvPr id="43" name="Shape 41"/>
          <p:cNvSpPr/>
          <p:nvPr/>
        </p:nvSpPr>
        <p:spPr>
          <a:xfrm>
            <a:off x="658368" y="3310128"/>
            <a:ext cx="10424160" cy="274320"/>
          </a:xfrm>
          <a:prstGeom prst="rect">
            <a:avLst/>
          </a:prstGeom>
          <a:solidFill>
            <a:srgbClr val="FFFFFF"/>
          </a:solidFill>
          <a:ln w="5080">
            <a:solidFill>
              <a:srgbClr val="DADADA"/>
            </a:solidFill>
            <a:prstDash val="solid"/>
          </a:ln>
        </p:spPr>
      </p:sp>
      <p:sp>
        <p:nvSpPr>
          <p:cNvPr id="44" name="Text 42"/>
          <p:cNvSpPr/>
          <p:nvPr/>
        </p:nvSpPr>
        <p:spPr>
          <a:xfrm>
            <a:off x="749808" y="338328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[18]</a:t>
            </a:r>
            <a:endParaRPr lang="en-US" sz="680" dirty="0"/>
          </a:p>
        </p:txBody>
      </p:sp>
      <p:sp>
        <p:nvSpPr>
          <p:cNvPr id="45" name="Text 43"/>
          <p:cNvSpPr/>
          <p:nvPr/>
        </p:nvSpPr>
        <p:spPr>
          <a:xfrm>
            <a:off x="1261872" y="338328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46" name="Text 44"/>
          <p:cNvSpPr/>
          <p:nvPr/>
        </p:nvSpPr>
        <p:spPr>
          <a:xfrm>
            <a:off x="2487168" y="338328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四部门关于开展2026年度享受增值税加计抵减政策的集成电路企业清单制定</a:t>
            </a:r>
            <a:endParaRPr lang="en-US" sz="680" dirty="0"/>
          </a:p>
        </p:txBody>
      </p:sp>
      <p:sp>
        <p:nvSpPr>
          <p:cNvPr id="47" name="Text 45"/>
          <p:cNvSpPr/>
          <p:nvPr/>
        </p:nvSpPr>
        <p:spPr>
          <a:xfrm>
            <a:off x="6510528" y="338328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http://www.miit.gov.cn/zwgk/zcwj/wjfb/tz/art/2026/art_7d2e760b4be94217b8f55caec840b30d.html</a:t>
            </a:r>
            <a:endParaRPr lang="en-US" sz="580" dirty="0"/>
          </a:p>
        </p:txBody>
      </p:sp>
      <p:sp>
        <p:nvSpPr>
          <p:cNvPr id="48" name="Shape 46"/>
          <p:cNvSpPr/>
          <p:nvPr/>
        </p:nvSpPr>
        <p:spPr>
          <a:xfrm>
            <a:off x="658368" y="3621024"/>
            <a:ext cx="10424160" cy="274320"/>
          </a:xfrm>
          <a:prstGeom prst="rect">
            <a:avLst/>
          </a:prstGeom>
          <a:solidFill>
            <a:srgbClr val="F4FAF6"/>
          </a:solidFill>
          <a:ln w="5080">
            <a:solidFill>
              <a:srgbClr val="DADADA"/>
            </a:solidFill>
            <a:prstDash val="solid"/>
          </a:ln>
        </p:spPr>
      </p:sp>
      <p:sp>
        <p:nvSpPr>
          <p:cNvPr id="49" name="Text 47"/>
          <p:cNvSpPr/>
          <p:nvPr/>
        </p:nvSpPr>
        <p:spPr>
          <a:xfrm>
            <a:off x="749808" y="369417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[19]</a:t>
            </a:r>
            <a:endParaRPr lang="en-US" sz="680" dirty="0"/>
          </a:p>
        </p:txBody>
      </p:sp>
      <p:sp>
        <p:nvSpPr>
          <p:cNvPr id="50" name="Text 48"/>
          <p:cNvSpPr/>
          <p:nvPr/>
        </p:nvSpPr>
        <p:spPr>
          <a:xfrm>
            <a:off x="1261872" y="369417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51" name="Text 49"/>
          <p:cNvSpPr/>
          <p:nvPr/>
        </p:nvSpPr>
        <p:spPr>
          <a:xfrm>
            <a:off x="2487168" y="369417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工业和信息化部政策文件库</a:t>
            </a:r>
            <a:endParaRPr lang="en-US" sz="680" dirty="0"/>
          </a:p>
        </p:txBody>
      </p:sp>
      <p:sp>
        <p:nvSpPr>
          <p:cNvPr id="52" name="Text 50"/>
          <p:cNvSpPr/>
          <p:nvPr/>
        </p:nvSpPr>
        <p:spPr>
          <a:xfrm>
            <a:off x="6510528" y="369417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https://www.miit.gov.cn/search/zcwjk.html?websiteid=110000000000000&amp;pg=&amp;p=&amp;tpl=14&amp;category=183&amp;q=</a:t>
            </a:r>
            <a:endParaRPr lang="en-US" sz="580" dirty="0"/>
          </a:p>
        </p:txBody>
      </p:sp>
      <p:sp>
        <p:nvSpPr>
          <p:cNvPr id="53" name="Shape 51"/>
          <p:cNvSpPr/>
          <p:nvPr/>
        </p:nvSpPr>
        <p:spPr>
          <a:xfrm>
            <a:off x="658368" y="3931920"/>
            <a:ext cx="10424160" cy="274320"/>
          </a:xfrm>
          <a:prstGeom prst="rect">
            <a:avLst/>
          </a:prstGeom>
          <a:solidFill>
            <a:srgbClr val="FFFFFF"/>
          </a:solidFill>
          <a:ln w="5080">
            <a:solidFill>
              <a:srgbClr val="DADADA"/>
            </a:solidFill>
            <a:prstDash val="solid"/>
          </a:ln>
        </p:spPr>
      </p:sp>
      <p:sp>
        <p:nvSpPr>
          <p:cNvPr id="54" name="Text 52"/>
          <p:cNvSpPr/>
          <p:nvPr/>
        </p:nvSpPr>
        <p:spPr>
          <a:xfrm>
            <a:off x="749808" y="4005072"/>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[20]</a:t>
            </a:r>
            <a:endParaRPr lang="en-US" sz="680" dirty="0"/>
          </a:p>
        </p:txBody>
      </p:sp>
      <p:sp>
        <p:nvSpPr>
          <p:cNvPr id="55" name="Text 53"/>
          <p:cNvSpPr/>
          <p:nvPr/>
        </p:nvSpPr>
        <p:spPr>
          <a:xfrm>
            <a:off x="1261872" y="4005072"/>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工业和信息化部</a:t>
            </a:r>
            <a:endParaRPr lang="en-US" sz="680" dirty="0"/>
          </a:p>
        </p:txBody>
      </p:sp>
      <p:sp>
        <p:nvSpPr>
          <p:cNvPr id="56" name="Text 54"/>
          <p:cNvSpPr/>
          <p:nvPr/>
        </p:nvSpPr>
        <p:spPr>
          <a:xfrm>
            <a:off x="2487168" y="4005072"/>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最新政策</a:t>
            </a:r>
            <a:endParaRPr lang="en-US" sz="680" dirty="0"/>
          </a:p>
        </p:txBody>
      </p:sp>
      <p:sp>
        <p:nvSpPr>
          <p:cNvPr id="57" name="Text 55"/>
          <p:cNvSpPr/>
          <p:nvPr/>
        </p:nvSpPr>
        <p:spPr>
          <a:xfrm>
            <a:off x="6510528" y="4005072"/>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https://www.miit.gov.cn/xwfb/zxzc/index.html</a:t>
            </a:r>
            <a:endParaRPr lang="en-US" sz="580" dirty="0"/>
          </a:p>
        </p:txBody>
      </p:sp>
      <p:sp>
        <p:nvSpPr>
          <p:cNvPr id="58" name="Shape 56"/>
          <p:cNvSpPr/>
          <p:nvPr/>
        </p:nvSpPr>
        <p:spPr>
          <a:xfrm>
            <a:off x="658368" y="4242816"/>
            <a:ext cx="10424160" cy="274320"/>
          </a:xfrm>
          <a:prstGeom prst="rect">
            <a:avLst/>
          </a:prstGeom>
          <a:solidFill>
            <a:srgbClr val="F4FAF6"/>
          </a:solidFill>
          <a:ln w="5080">
            <a:solidFill>
              <a:srgbClr val="DADADA"/>
            </a:solidFill>
            <a:prstDash val="solid"/>
          </a:ln>
        </p:spPr>
      </p:sp>
      <p:sp>
        <p:nvSpPr>
          <p:cNvPr id="59" name="Text 57"/>
          <p:cNvSpPr/>
          <p:nvPr/>
        </p:nvSpPr>
        <p:spPr>
          <a:xfrm>
            <a:off x="749808" y="4315968"/>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[21]</a:t>
            </a:r>
            <a:endParaRPr lang="en-US" sz="680" dirty="0"/>
          </a:p>
        </p:txBody>
      </p:sp>
      <p:sp>
        <p:nvSpPr>
          <p:cNvPr id="60" name="Text 58"/>
          <p:cNvSpPr/>
          <p:nvPr/>
        </p:nvSpPr>
        <p:spPr>
          <a:xfrm>
            <a:off x="1261872" y="4315968"/>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国家发展改革委</a:t>
            </a:r>
            <a:endParaRPr lang="en-US" sz="680" dirty="0"/>
          </a:p>
        </p:txBody>
      </p:sp>
      <p:sp>
        <p:nvSpPr>
          <p:cNvPr id="61" name="Text 59"/>
          <p:cNvSpPr/>
          <p:nvPr/>
        </p:nvSpPr>
        <p:spPr>
          <a:xfrm>
            <a:off x="2487168" y="4315968"/>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国家发展改革委</a:t>
            </a:r>
            <a:endParaRPr lang="en-US" sz="680" dirty="0"/>
          </a:p>
        </p:txBody>
      </p:sp>
      <p:sp>
        <p:nvSpPr>
          <p:cNvPr id="62" name="Text 60"/>
          <p:cNvSpPr/>
          <p:nvPr/>
        </p:nvSpPr>
        <p:spPr>
          <a:xfrm>
            <a:off x="6510528" y="4315968"/>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https://www.ndrc.gov.cn/</a:t>
            </a:r>
            <a:endParaRPr lang="en-US" sz="580" dirty="0"/>
          </a:p>
        </p:txBody>
      </p:sp>
      <p:sp>
        <p:nvSpPr>
          <p:cNvPr id="63" name="Shape 61"/>
          <p:cNvSpPr/>
          <p:nvPr/>
        </p:nvSpPr>
        <p:spPr>
          <a:xfrm>
            <a:off x="658368" y="4553712"/>
            <a:ext cx="10424160" cy="274320"/>
          </a:xfrm>
          <a:prstGeom prst="rect">
            <a:avLst/>
          </a:prstGeom>
          <a:solidFill>
            <a:srgbClr val="FFFFFF"/>
          </a:solidFill>
          <a:ln w="5080">
            <a:solidFill>
              <a:srgbClr val="DADADA"/>
            </a:solidFill>
            <a:prstDash val="solid"/>
          </a:ln>
        </p:spPr>
      </p:sp>
      <p:sp>
        <p:nvSpPr>
          <p:cNvPr id="64" name="Text 62"/>
          <p:cNvSpPr/>
          <p:nvPr/>
        </p:nvSpPr>
        <p:spPr>
          <a:xfrm>
            <a:off x="749808" y="4626864"/>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[22]</a:t>
            </a:r>
            <a:endParaRPr lang="en-US" sz="680" dirty="0"/>
          </a:p>
        </p:txBody>
      </p:sp>
      <p:sp>
        <p:nvSpPr>
          <p:cNvPr id="65" name="Text 63"/>
          <p:cNvSpPr/>
          <p:nvPr/>
        </p:nvSpPr>
        <p:spPr>
          <a:xfrm>
            <a:off x="1261872" y="4626864"/>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中华人民共和国中央人民政府</a:t>
            </a:r>
            <a:endParaRPr lang="en-US" sz="680" dirty="0"/>
          </a:p>
        </p:txBody>
      </p:sp>
      <p:sp>
        <p:nvSpPr>
          <p:cNvPr id="66" name="Text 64"/>
          <p:cNvSpPr/>
          <p:nvPr/>
        </p:nvSpPr>
        <p:spPr>
          <a:xfrm>
            <a:off x="2487168" y="4626864"/>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中华人民共和国中央人民政府</a:t>
            </a:r>
            <a:endParaRPr lang="en-US" sz="680" dirty="0"/>
          </a:p>
        </p:txBody>
      </p:sp>
      <p:sp>
        <p:nvSpPr>
          <p:cNvPr id="67" name="Text 65"/>
          <p:cNvSpPr/>
          <p:nvPr/>
        </p:nvSpPr>
        <p:spPr>
          <a:xfrm>
            <a:off x="6510528" y="4626864"/>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https://www.gov.cn/</a:t>
            </a:r>
            <a:endParaRPr lang="en-US" sz="580" dirty="0"/>
          </a:p>
        </p:txBody>
      </p:sp>
      <p:sp>
        <p:nvSpPr>
          <p:cNvPr id="68" name="Shape 66"/>
          <p:cNvSpPr/>
          <p:nvPr/>
        </p:nvSpPr>
        <p:spPr>
          <a:xfrm>
            <a:off x="658368" y="4864608"/>
            <a:ext cx="10424160" cy="274320"/>
          </a:xfrm>
          <a:prstGeom prst="rect">
            <a:avLst/>
          </a:prstGeom>
          <a:solidFill>
            <a:srgbClr val="F4FAF6"/>
          </a:solidFill>
          <a:ln w="5080">
            <a:solidFill>
              <a:srgbClr val="DADADA"/>
            </a:solidFill>
            <a:prstDash val="solid"/>
          </a:ln>
        </p:spPr>
      </p:sp>
      <p:sp>
        <p:nvSpPr>
          <p:cNvPr id="69" name="Text 67"/>
          <p:cNvSpPr/>
          <p:nvPr/>
        </p:nvSpPr>
        <p:spPr>
          <a:xfrm>
            <a:off x="749808" y="4937760"/>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[23]</a:t>
            </a:r>
            <a:endParaRPr lang="en-US" sz="680" dirty="0"/>
          </a:p>
        </p:txBody>
      </p:sp>
      <p:sp>
        <p:nvSpPr>
          <p:cNvPr id="70" name="Text 68"/>
          <p:cNvSpPr/>
          <p:nvPr/>
        </p:nvSpPr>
        <p:spPr>
          <a:xfrm>
            <a:off x="1261872" y="4937760"/>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生态环境部</a:t>
            </a:r>
            <a:endParaRPr lang="en-US" sz="680" dirty="0"/>
          </a:p>
        </p:txBody>
      </p:sp>
      <p:sp>
        <p:nvSpPr>
          <p:cNvPr id="71" name="Text 69"/>
          <p:cNvSpPr/>
          <p:nvPr/>
        </p:nvSpPr>
        <p:spPr>
          <a:xfrm>
            <a:off x="2487168" y="4937760"/>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生态环境部</a:t>
            </a:r>
            <a:endParaRPr lang="en-US" sz="680" dirty="0"/>
          </a:p>
        </p:txBody>
      </p:sp>
      <p:sp>
        <p:nvSpPr>
          <p:cNvPr id="72" name="Text 70"/>
          <p:cNvSpPr/>
          <p:nvPr/>
        </p:nvSpPr>
        <p:spPr>
          <a:xfrm>
            <a:off x="6510528" y="4937760"/>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https://www.mee.gov.cn/</a:t>
            </a:r>
            <a:endParaRPr lang="en-US" sz="580" dirty="0"/>
          </a:p>
        </p:txBody>
      </p:sp>
      <p:sp>
        <p:nvSpPr>
          <p:cNvPr id="73" name="Shape 71"/>
          <p:cNvSpPr/>
          <p:nvPr/>
        </p:nvSpPr>
        <p:spPr>
          <a:xfrm>
            <a:off x="658368" y="5175504"/>
            <a:ext cx="10424160" cy="274320"/>
          </a:xfrm>
          <a:prstGeom prst="rect">
            <a:avLst/>
          </a:prstGeom>
          <a:solidFill>
            <a:srgbClr val="FFFFFF"/>
          </a:solidFill>
          <a:ln w="5080">
            <a:solidFill>
              <a:srgbClr val="DADADA"/>
            </a:solidFill>
            <a:prstDash val="solid"/>
          </a:ln>
        </p:spPr>
      </p:sp>
      <p:sp>
        <p:nvSpPr>
          <p:cNvPr id="74" name="Text 72"/>
          <p:cNvSpPr/>
          <p:nvPr/>
        </p:nvSpPr>
        <p:spPr>
          <a:xfrm>
            <a:off x="749808" y="5248656"/>
            <a:ext cx="411480" cy="109728"/>
          </a:xfrm>
          <a:prstGeom prst="rect">
            <a:avLst/>
          </a:prstGeom>
          <a:noFill/>
          <a:ln/>
        </p:spPr>
        <p:txBody>
          <a:bodyPr wrap="square" lIns="0" tIns="0" rIns="0" bIns="0" rtlCol="0" anchor="ctr"/>
          <a:lstStyle/>
          <a:p>
            <a:pPr indent="0" marL="0">
              <a:buNone/>
            </a:pPr>
            <a:r>
              <a:rPr lang="en-US" sz="680" b="1" dirty="0">
                <a:solidFill>
                  <a:srgbClr val="487052"/>
                </a:solidFill>
                <a:latin typeface="Aptos" pitchFamily="34" charset="0"/>
                <a:ea typeface="Aptos" pitchFamily="34" charset="-122"/>
                <a:cs typeface="Aptos" pitchFamily="34" charset="-120"/>
              </a:rPr>
              <a:t>[24]</a:t>
            </a:r>
            <a:endParaRPr lang="en-US" sz="680" dirty="0"/>
          </a:p>
        </p:txBody>
      </p:sp>
      <p:sp>
        <p:nvSpPr>
          <p:cNvPr id="75" name="Text 73"/>
          <p:cNvSpPr/>
          <p:nvPr/>
        </p:nvSpPr>
        <p:spPr>
          <a:xfrm>
            <a:off x="1261872" y="5248656"/>
            <a:ext cx="1051560" cy="109728"/>
          </a:xfrm>
          <a:prstGeom prst="rect">
            <a:avLst/>
          </a:prstGeom>
          <a:noFill/>
          <a:ln/>
        </p:spPr>
        <p:txBody>
          <a:bodyPr wrap="square" lIns="0" tIns="0" rIns="0" bIns="0" rtlCol="0" anchor="ctr">
            <a:normAutofit/>
          </a:bodyPr>
          <a:lstStyle/>
          <a:p>
            <a:pPr indent="0" marL="0">
              <a:buNone/>
            </a:pPr>
            <a:r>
              <a:rPr lang="en-US" sz="680" dirty="0">
                <a:solidFill>
                  <a:srgbClr val="121212"/>
                </a:solidFill>
                <a:latin typeface="Microsoft YaHei" pitchFamily="34" charset="0"/>
                <a:ea typeface="Microsoft YaHei" pitchFamily="34" charset="-122"/>
                <a:cs typeface="Microsoft YaHei" pitchFamily="34" charset="-120"/>
              </a:rPr>
              <a:t>万润新能源</a:t>
            </a:r>
            <a:endParaRPr lang="en-US" sz="680" dirty="0"/>
          </a:p>
        </p:txBody>
      </p:sp>
      <p:sp>
        <p:nvSpPr>
          <p:cNvPr id="76" name="Text 74"/>
          <p:cNvSpPr/>
          <p:nvPr/>
        </p:nvSpPr>
        <p:spPr>
          <a:xfrm>
            <a:off x="2487168" y="5248656"/>
            <a:ext cx="3749040" cy="109728"/>
          </a:xfrm>
          <a:prstGeom prst="rect">
            <a:avLst/>
          </a:prstGeom>
          <a:noFill/>
          <a:ln/>
        </p:spPr>
        <p:txBody>
          <a:bodyPr wrap="square" lIns="0" tIns="0" rIns="0" bIns="0" rtlCol="0" anchor="ctr">
            <a:normAutofit/>
          </a:bodyPr>
          <a:lstStyle/>
          <a:p>
            <a:pPr indent="0" marL="0">
              <a:buNone/>
            </a:pPr>
            <a:r>
              <a:rPr lang="en-US" sz="680" b="1" dirty="0">
                <a:solidFill>
                  <a:srgbClr val="121212"/>
                </a:solidFill>
                <a:latin typeface="Microsoft YaHei" pitchFamily="34" charset="0"/>
                <a:ea typeface="Microsoft YaHei" pitchFamily="34" charset="-122"/>
                <a:cs typeface="Microsoft YaHei" pitchFamily="34" charset="-120"/>
              </a:rPr>
              <a:t>磷酸铁锂-湖北万润新能源科技股份有限公司_动力电池材料_消费电池材料_</a:t>
            </a:r>
            <a:endParaRPr lang="en-US" sz="680" dirty="0"/>
          </a:p>
        </p:txBody>
      </p:sp>
      <p:sp>
        <p:nvSpPr>
          <p:cNvPr id="77" name="Text 75"/>
          <p:cNvSpPr/>
          <p:nvPr/>
        </p:nvSpPr>
        <p:spPr>
          <a:xfrm>
            <a:off x="6510528" y="5248656"/>
            <a:ext cx="4343400" cy="109728"/>
          </a:xfrm>
          <a:prstGeom prst="rect">
            <a:avLst/>
          </a:prstGeom>
          <a:noFill/>
          <a:ln/>
        </p:spPr>
        <p:txBody>
          <a:bodyPr wrap="square" lIns="0" tIns="0" rIns="0" bIns="0" rtlCol="0" anchor="ctr">
            <a:normAutofit/>
          </a:bodyPr>
          <a:lstStyle/>
          <a:p>
            <a:pPr indent="0" marL="0">
              <a:buNone/>
            </a:pPr>
            <a:r>
              <a:rPr lang="en-US" sz="580" dirty="0">
                <a:solidFill>
                  <a:srgbClr val="6D756F"/>
                </a:solidFill>
                <a:latin typeface="Aptos" pitchFamily="34" charset="0"/>
                <a:ea typeface="Aptos" pitchFamily="34" charset="-122"/>
                <a:cs typeface="Aptos" pitchFamily="34" charset="-120"/>
              </a:rPr>
              <a:t>https://www.hbwanrun.com/application_details/1.html</a:t>
            </a:r>
            <a:endParaRPr lang="en-US" sz="580" dirty="0"/>
          </a:p>
        </p:txBody>
      </p:sp>
      <p:sp>
        <p:nvSpPr>
          <p:cNvPr id="78" name="Shape 76"/>
          <p:cNvSpPr/>
          <p:nvPr/>
        </p:nvSpPr>
        <p:spPr>
          <a:xfrm>
            <a:off x="658368" y="5779008"/>
            <a:ext cx="1463040" cy="292608"/>
          </a:xfrm>
          <a:prstGeom prst="rect">
            <a:avLst/>
          </a:prstGeom>
          <a:solidFill>
            <a:srgbClr val="121212"/>
          </a:solidFill>
          <a:ln w="12700">
            <a:solidFill>
              <a:srgbClr val="121212"/>
            </a:solidFill>
            <a:prstDash val="solid"/>
          </a:ln>
        </p:spPr>
      </p:sp>
      <p:sp>
        <p:nvSpPr>
          <p:cNvPr id="79" name="Text 77"/>
          <p:cNvSpPr/>
          <p:nvPr/>
        </p:nvSpPr>
        <p:spPr>
          <a:xfrm>
            <a:off x="804672" y="5870448"/>
            <a:ext cx="1188720" cy="109728"/>
          </a:xfrm>
          <a:prstGeom prst="rect">
            <a:avLst/>
          </a:prstGeom>
          <a:noFill/>
          <a:ln/>
        </p:spPr>
        <p:txBody>
          <a:bodyPr wrap="square" lIns="0" tIns="0" rIns="0" bIns="0" rtlCol="0" anchor="ctr"/>
          <a:lstStyle/>
          <a:p>
            <a:pPr indent="0" marL="0">
              <a:buNone/>
            </a:pPr>
            <a:r>
              <a:rPr lang="en-US" sz="780" b="1" dirty="0">
                <a:solidFill>
                  <a:srgbClr val="FFFFFF"/>
                </a:solidFill>
                <a:latin typeface="Microsoft YaHei" pitchFamily="34" charset="0"/>
                <a:ea typeface="Microsoft YaHei" pitchFamily="34" charset="-122"/>
                <a:cs typeface="Microsoft YaHei" pitchFamily="34" charset="-120"/>
              </a:rPr>
              <a:t>引用规则</a:t>
            </a:r>
            <a:endParaRPr lang="en-US" sz="780" dirty="0"/>
          </a:p>
        </p:txBody>
      </p:sp>
      <p:sp>
        <p:nvSpPr>
          <p:cNvPr id="80" name="Text 78"/>
          <p:cNvSpPr/>
          <p:nvPr/>
        </p:nvSpPr>
        <p:spPr>
          <a:xfrm>
            <a:off x="2286000" y="5843016"/>
            <a:ext cx="8778240" cy="164592"/>
          </a:xfrm>
          <a:prstGeom prst="rect">
            <a:avLst/>
          </a:prstGeom>
          <a:noFill/>
          <a:ln/>
        </p:spPr>
        <p:txBody>
          <a:bodyPr wrap="square" lIns="0" tIns="0" rIns="0" bIns="0" rtlCol="0" anchor="ctr">
            <a:normAutofit/>
          </a:bodyPr>
          <a:lstStyle/>
          <a:p>
            <a:pPr indent="0" marL="0">
              <a:buNone/>
            </a:pPr>
            <a:r>
              <a:rPr lang="en-US" sz="1020" b="1" dirty="0">
                <a:solidFill>
                  <a:srgbClr val="121212"/>
                </a:solidFill>
                <a:latin typeface="Microsoft YaHei" pitchFamily="34" charset="0"/>
                <a:ea typeface="Microsoft YaHei" pitchFamily="34" charset="-122"/>
                <a:cs typeface="Microsoft YaHei" pitchFamily="34" charset="-120"/>
              </a:rPr>
              <a:t>正文引用编号与本页来源一一对应，未进入正文的公开来源保留在 JSON 审计记录中。</a:t>
            </a:r>
            <a:endParaRPr lang="en-US" sz="10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lifepo4_brief</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磷酸铁锂行业早报 2026-10-23</dc:title>
  <dc:subject>LFP daily briefing</dc:subject>
  <dc:creator>lifepo4_brief</dc:creator>
  <cp:lastModifiedBy>lifepo4_brief</cp:lastModifiedBy>
  <cp:revision>1</cp:revision>
  <dcterms:created xsi:type="dcterms:W3CDTF">2026-10-23T02:42:38Z</dcterms:created>
  <dcterms:modified xsi:type="dcterms:W3CDTF">2026-10-23T02:42:38Z</dcterms:modified>
</cp:coreProperties>
</file>