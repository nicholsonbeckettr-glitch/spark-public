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LFP DAILY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2026-09-30</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01</a:t>
            </a:r>
            <a:endParaRPr lang="en-US" sz="730" dirty="0"/>
          </a:p>
        </p:txBody>
      </p:sp>
      <p:sp>
        <p:nvSpPr>
          <p:cNvPr id="9" name="Text 7"/>
          <p:cNvSpPr/>
          <p:nvPr/>
        </p:nvSpPr>
        <p:spPr>
          <a:xfrm>
            <a:off x="640080" y="1051560"/>
            <a:ext cx="1554480" cy="411480"/>
          </a:xfrm>
          <a:prstGeom prst="rect">
            <a:avLst/>
          </a:prstGeom>
          <a:noFill/>
          <a:ln/>
        </p:spPr>
        <p:txBody>
          <a:bodyPr wrap="square" lIns="0" tIns="0" rIns="0" bIns="0" rtlCol="0" anchor="ctr"/>
          <a:lstStyle/>
          <a:p>
            <a:pPr indent="0" marL="0">
              <a:buNone/>
            </a:pPr>
            <a:r>
              <a:rPr lang="en-US" sz="2400" b="1" dirty="0">
                <a:solidFill>
                  <a:srgbClr val="487052"/>
                </a:solidFill>
                <a:latin typeface="Aptos" pitchFamily="34" charset="0"/>
                <a:ea typeface="Aptos" pitchFamily="34" charset="-122"/>
                <a:cs typeface="Aptos" pitchFamily="34" charset="-120"/>
              </a:rPr>
              <a:t>LFP</a:t>
            </a:r>
            <a:endParaRPr lang="en-US" sz="2400" dirty="0"/>
          </a:p>
        </p:txBody>
      </p:sp>
      <p:sp>
        <p:nvSpPr>
          <p:cNvPr id="10" name="Text 8"/>
          <p:cNvSpPr/>
          <p:nvPr/>
        </p:nvSpPr>
        <p:spPr>
          <a:xfrm>
            <a:off x="621792" y="1481328"/>
            <a:ext cx="6035040" cy="621792"/>
          </a:xfrm>
          <a:prstGeom prst="rect">
            <a:avLst/>
          </a:prstGeom>
          <a:noFill/>
          <a:ln/>
        </p:spPr>
        <p:txBody>
          <a:bodyPr wrap="square" lIns="0" tIns="0" rIns="0" bIns="0" rtlCol="0" anchor="ctr">
            <a:normAutofit/>
          </a:bodyPr>
          <a:lstStyle/>
          <a:p>
            <a:pPr indent="0" marL="0">
              <a:buNone/>
            </a:pPr>
            <a:r>
              <a:rPr lang="en-US" sz="2600" b="1" dirty="0">
                <a:solidFill>
                  <a:srgbClr val="121212"/>
                </a:solidFill>
                <a:latin typeface="Microsoft YaHei" pitchFamily="34" charset="0"/>
                <a:ea typeface="Microsoft YaHei" pitchFamily="34" charset="-122"/>
                <a:cs typeface="Microsoft YaHei" pitchFamily="34" charset="-120"/>
              </a:rPr>
              <a:t>磷酸铁锂行业早报</a:t>
            </a:r>
            <a:endParaRPr lang="en-US" sz="2600" dirty="0"/>
          </a:p>
        </p:txBody>
      </p:sp>
      <p:sp>
        <p:nvSpPr>
          <p:cNvPr id="11" name="Text 9"/>
          <p:cNvSpPr/>
          <p:nvPr/>
        </p:nvSpPr>
        <p:spPr>
          <a:xfrm>
            <a:off x="658368" y="2176272"/>
            <a:ext cx="5852160" cy="310896"/>
          </a:xfrm>
          <a:prstGeom prst="rect">
            <a:avLst/>
          </a:prstGeom>
          <a:noFill/>
          <a:ln/>
        </p:spPr>
        <p:txBody>
          <a:bodyPr wrap="square" lIns="0" tIns="0" rIns="0" bIns="0" rtlCol="0" anchor="ctr"/>
          <a:lstStyle/>
          <a:p>
            <a:pPr indent="0" marL="0">
              <a:buNone/>
            </a:pPr>
            <a:r>
              <a:rPr lang="en-US" sz="1200" dirty="0">
                <a:solidFill>
                  <a:srgbClr val="6D756F"/>
                </a:solidFill>
                <a:latin typeface="Microsoft YaHei" pitchFamily="34" charset="0"/>
                <a:ea typeface="Microsoft YaHei" pitchFamily="34" charset="-122"/>
                <a:cs typeface="Microsoft YaHei" pitchFamily="34" charset="-120"/>
              </a:rPr>
              <a:t>从公开事件到产业判断的每日工程化筛选</a:t>
            </a:r>
            <a:endParaRPr lang="en-US" sz="1200" dirty="0"/>
          </a:p>
        </p:txBody>
      </p:sp>
      <p:sp>
        <p:nvSpPr>
          <p:cNvPr id="12" name="Text 10"/>
          <p:cNvSpPr/>
          <p:nvPr/>
        </p:nvSpPr>
        <p:spPr>
          <a:xfrm>
            <a:off x="658368" y="2761488"/>
            <a:ext cx="5715000" cy="1188720"/>
          </a:xfrm>
          <a:prstGeom prst="rect">
            <a:avLst/>
          </a:prstGeom>
          <a:noFill/>
          <a:ln/>
        </p:spPr>
        <p:txBody>
          <a:bodyPr wrap="square" lIns="0" tIns="0" rIns="0" bIns="0" rtlCol="0" anchor="ctr">
            <a:normAutofit/>
          </a:bodyPr>
          <a:lstStyle/>
          <a:p>
            <a:pPr indent="0" marL="0">
              <a:buNone/>
            </a:pPr>
            <a:r>
              <a:rPr lang="en-US" sz="1400" b="1" dirty="0">
                <a:solidFill>
                  <a:srgbClr val="121212"/>
                </a:solidFill>
                <a:latin typeface="Microsoft YaHei" pitchFamily="34" charset="0"/>
                <a:ea typeface="Microsoft YaHei" pitchFamily="34" charset="-122"/>
                <a:cs typeface="Microsoft YaHei" pitchFamily="34" charset="-120"/>
              </a:rPr>
              <a:t>今日磷酸铁锂行业呈现供给扩张与需求政策支撑并存的格局。徐州40万吨项目开工、湖南裕能融资扩产、德方纳米定增获批，供给端持续加码；四部门发文支持新能源公交车及动力电池更新，需求端获政策提振。但碳酸锂主力跌破12万元/吨，成本支撑减弱，盈利压力仍存。动力电池回收合规趋严，九成企业面临出局风险，行业洗牌加速。</a:t>
            </a:r>
            <a:endParaRPr lang="en-US" sz="1400" dirty="0"/>
          </a:p>
        </p:txBody>
      </p:sp>
      <p:sp>
        <p:nvSpPr>
          <p:cNvPr id="13" name="Shape 11"/>
          <p:cNvSpPr/>
          <p:nvPr/>
        </p:nvSpPr>
        <p:spPr>
          <a:xfrm>
            <a:off x="7315200" y="960120"/>
            <a:ext cx="3886200" cy="4526280"/>
          </a:xfrm>
          <a:prstGeom prst="rect">
            <a:avLst/>
          </a:prstGeom>
          <a:solidFill>
            <a:srgbClr val="F4FAF6"/>
          </a:solidFill>
          <a:ln w="10160">
            <a:solidFill>
              <a:srgbClr val="DADADA"/>
            </a:solidFill>
            <a:prstDash val="solid"/>
          </a:ln>
        </p:spPr>
      </p:sp>
      <p:sp>
        <p:nvSpPr>
          <p:cNvPr id="14" name="Text 12"/>
          <p:cNvSpPr/>
          <p:nvPr/>
        </p:nvSpPr>
        <p:spPr>
          <a:xfrm>
            <a:off x="7607808" y="1188720"/>
            <a:ext cx="2011680" cy="310896"/>
          </a:xfrm>
          <a:prstGeom prst="rect">
            <a:avLst/>
          </a:prstGeom>
          <a:noFill/>
          <a:ln/>
        </p:spPr>
        <p:txBody>
          <a:bodyPr wrap="square" lIns="0" tIns="0" rIns="0" bIns="0" rtlCol="0" anchor="ctr"/>
          <a:lstStyle/>
          <a:p>
            <a:pPr indent="0" marL="0">
              <a:buNone/>
            </a:pPr>
            <a:r>
              <a:rPr lang="en-US" sz="1300" b="1" dirty="0">
                <a:solidFill>
                  <a:srgbClr val="121212"/>
                </a:solidFill>
                <a:latin typeface="Microsoft YaHei" pitchFamily="34" charset="0"/>
                <a:ea typeface="Microsoft YaHei" pitchFamily="34" charset="-122"/>
                <a:cs typeface="Microsoft YaHei" pitchFamily="34" charset="-120"/>
              </a:rPr>
              <a:t>今日逻辑主线</a:t>
            </a:r>
            <a:endParaRPr lang="en-US" sz="1300" dirty="0"/>
          </a:p>
        </p:txBody>
      </p:sp>
      <p:sp>
        <p:nvSpPr>
          <p:cNvPr id="15" name="Shape 13"/>
          <p:cNvSpPr/>
          <p:nvPr/>
        </p:nvSpPr>
        <p:spPr>
          <a:xfrm>
            <a:off x="7882128" y="1755648"/>
            <a:ext cx="0" cy="3090672"/>
          </a:xfrm>
          <a:prstGeom prst="line">
            <a:avLst/>
          </a:prstGeom>
          <a:noFill/>
          <a:ln w="15240">
            <a:solidFill>
              <a:srgbClr val="7F9D84"/>
            </a:solidFill>
            <a:prstDash val="solid"/>
          </a:ln>
        </p:spPr>
      </p:sp>
      <p:sp>
        <p:nvSpPr>
          <p:cNvPr id="16" name="Shape 14"/>
          <p:cNvSpPr/>
          <p:nvPr/>
        </p:nvSpPr>
        <p:spPr>
          <a:xfrm>
            <a:off x="7790688" y="1700784"/>
            <a:ext cx="182880" cy="182880"/>
          </a:xfrm>
          <a:prstGeom prst="ellipse">
            <a:avLst/>
          </a:prstGeom>
          <a:solidFill>
            <a:srgbClr val="487052"/>
          </a:solidFill>
          <a:ln w="12700">
            <a:solidFill>
              <a:srgbClr val="487052"/>
            </a:solidFill>
            <a:prstDash val="solid"/>
          </a:ln>
        </p:spPr>
      </p:sp>
      <p:sp>
        <p:nvSpPr>
          <p:cNvPr id="17" name="Shape 15"/>
          <p:cNvSpPr/>
          <p:nvPr/>
        </p:nvSpPr>
        <p:spPr>
          <a:xfrm>
            <a:off x="8183880" y="1627632"/>
            <a:ext cx="2514600" cy="365760"/>
          </a:xfrm>
          <a:prstGeom prst="rect">
            <a:avLst/>
          </a:prstGeom>
          <a:solidFill>
            <a:srgbClr val="DDEBE0"/>
          </a:solidFill>
          <a:ln w="7620">
            <a:solidFill>
              <a:srgbClr val="DADADA"/>
            </a:solidFill>
            <a:prstDash val="solid"/>
          </a:ln>
        </p:spPr>
      </p:sp>
      <p:sp>
        <p:nvSpPr>
          <p:cNvPr id="18" name="Text 16"/>
          <p:cNvSpPr/>
          <p:nvPr/>
        </p:nvSpPr>
        <p:spPr>
          <a:xfrm>
            <a:off x="8321040" y="1709928"/>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技术突破</a:t>
            </a:r>
            <a:endParaRPr lang="en-US" sz="880" dirty="0"/>
          </a:p>
        </p:txBody>
      </p:sp>
      <p:sp>
        <p:nvSpPr>
          <p:cNvPr id="19" name="Shape 17"/>
          <p:cNvSpPr/>
          <p:nvPr/>
        </p:nvSpPr>
        <p:spPr>
          <a:xfrm>
            <a:off x="7790688" y="2267712"/>
            <a:ext cx="182880" cy="182880"/>
          </a:xfrm>
          <a:prstGeom prst="ellipse">
            <a:avLst/>
          </a:prstGeom>
          <a:solidFill>
            <a:srgbClr val="487052"/>
          </a:solidFill>
          <a:ln w="12700">
            <a:solidFill>
              <a:srgbClr val="487052"/>
            </a:solidFill>
            <a:prstDash val="solid"/>
          </a:ln>
        </p:spPr>
      </p:sp>
      <p:sp>
        <p:nvSpPr>
          <p:cNvPr id="20" name="Shape 18"/>
          <p:cNvSpPr/>
          <p:nvPr/>
        </p:nvSpPr>
        <p:spPr>
          <a:xfrm>
            <a:off x="8183880" y="2194560"/>
            <a:ext cx="2514600" cy="365760"/>
          </a:xfrm>
          <a:prstGeom prst="rect">
            <a:avLst/>
          </a:prstGeom>
          <a:solidFill>
            <a:srgbClr val="DDEBE0"/>
          </a:solidFill>
          <a:ln w="7620">
            <a:solidFill>
              <a:srgbClr val="DADADA"/>
            </a:solidFill>
            <a:prstDash val="solid"/>
          </a:ln>
        </p:spPr>
      </p:sp>
      <p:sp>
        <p:nvSpPr>
          <p:cNvPr id="21" name="Text 19"/>
          <p:cNvSpPr/>
          <p:nvPr/>
        </p:nvSpPr>
        <p:spPr>
          <a:xfrm>
            <a:off x="8321040" y="2276856"/>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产能变化</a:t>
            </a:r>
            <a:endParaRPr lang="en-US" sz="880" dirty="0"/>
          </a:p>
        </p:txBody>
      </p:sp>
      <p:sp>
        <p:nvSpPr>
          <p:cNvPr id="22" name="Shape 20"/>
          <p:cNvSpPr/>
          <p:nvPr/>
        </p:nvSpPr>
        <p:spPr>
          <a:xfrm>
            <a:off x="7790688" y="2834640"/>
            <a:ext cx="182880" cy="182880"/>
          </a:xfrm>
          <a:prstGeom prst="ellipse">
            <a:avLst/>
          </a:prstGeom>
          <a:solidFill>
            <a:srgbClr val="487052"/>
          </a:solidFill>
          <a:ln w="12700">
            <a:solidFill>
              <a:srgbClr val="487052"/>
            </a:solidFill>
            <a:prstDash val="solid"/>
          </a:ln>
        </p:spPr>
      </p:sp>
      <p:sp>
        <p:nvSpPr>
          <p:cNvPr id="23" name="Shape 21"/>
          <p:cNvSpPr/>
          <p:nvPr/>
        </p:nvSpPr>
        <p:spPr>
          <a:xfrm>
            <a:off x="8183880" y="2761488"/>
            <a:ext cx="2514600" cy="365760"/>
          </a:xfrm>
          <a:prstGeom prst="rect">
            <a:avLst/>
          </a:prstGeom>
          <a:solidFill>
            <a:srgbClr val="DDEBE0"/>
          </a:solidFill>
          <a:ln w="7620">
            <a:solidFill>
              <a:srgbClr val="DADADA"/>
            </a:solidFill>
            <a:prstDash val="solid"/>
          </a:ln>
        </p:spPr>
      </p:sp>
      <p:sp>
        <p:nvSpPr>
          <p:cNvPr id="24" name="Text 22"/>
          <p:cNvSpPr/>
          <p:nvPr/>
        </p:nvSpPr>
        <p:spPr>
          <a:xfrm>
            <a:off x="8321040" y="2843784"/>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政策合规</a:t>
            </a:r>
            <a:endParaRPr lang="en-US" sz="880" dirty="0"/>
          </a:p>
        </p:txBody>
      </p:sp>
      <p:sp>
        <p:nvSpPr>
          <p:cNvPr id="25" name="Shape 23"/>
          <p:cNvSpPr/>
          <p:nvPr/>
        </p:nvSpPr>
        <p:spPr>
          <a:xfrm>
            <a:off x="7790688" y="3401568"/>
            <a:ext cx="182880" cy="182880"/>
          </a:xfrm>
          <a:prstGeom prst="ellipse">
            <a:avLst/>
          </a:prstGeom>
          <a:solidFill>
            <a:srgbClr val="FFFFFF"/>
          </a:solidFill>
          <a:ln w="12700">
            <a:solidFill>
              <a:srgbClr val="487052"/>
            </a:solidFill>
            <a:prstDash val="solid"/>
          </a:ln>
        </p:spPr>
      </p:sp>
      <p:sp>
        <p:nvSpPr>
          <p:cNvPr id="26" name="Shape 24"/>
          <p:cNvSpPr/>
          <p:nvPr/>
        </p:nvSpPr>
        <p:spPr>
          <a:xfrm>
            <a:off x="8183880" y="3328416"/>
            <a:ext cx="2514600" cy="365760"/>
          </a:xfrm>
          <a:prstGeom prst="rect">
            <a:avLst/>
          </a:prstGeom>
          <a:solidFill>
            <a:srgbClr val="FFFFFF"/>
          </a:solidFill>
          <a:ln w="7620">
            <a:solidFill>
              <a:srgbClr val="DADADA"/>
            </a:solidFill>
            <a:prstDash val="solid"/>
          </a:ln>
        </p:spPr>
      </p:sp>
      <p:sp>
        <p:nvSpPr>
          <p:cNvPr id="27" name="Text 25"/>
          <p:cNvSpPr/>
          <p:nvPr/>
        </p:nvSpPr>
        <p:spPr>
          <a:xfrm>
            <a:off x="8321040" y="3410712"/>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企业信号</a:t>
            </a:r>
            <a:endParaRPr lang="en-US" sz="880" dirty="0"/>
          </a:p>
        </p:txBody>
      </p:sp>
      <p:sp>
        <p:nvSpPr>
          <p:cNvPr id="28" name="Shape 26"/>
          <p:cNvSpPr/>
          <p:nvPr/>
        </p:nvSpPr>
        <p:spPr>
          <a:xfrm>
            <a:off x="7790688" y="3968496"/>
            <a:ext cx="182880" cy="182880"/>
          </a:xfrm>
          <a:prstGeom prst="ellipse">
            <a:avLst/>
          </a:prstGeom>
          <a:solidFill>
            <a:srgbClr val="487052"/>
          </a:solidFill>
          <a:ln w="12700">
            <a:solidFill>
              <a:srgbClr val="487052"/>
            </a:solidFill>
            <a:prstDash val="solid"/>
          </a:ln>
        </p:spPr>
      </p:sp>
      <p:sp>
        <p:nvSpPr>
          <p:cNvPr id="29" name="Shape 27"/>
          <p:cNvSpPr/>
          <p:nvPr/>
        </p:nvSpPr>
        <p:spPr>
          <a:xfrm>
            <a:off x="8183880" y="3895344"/>
            <a:ext cx="2514600" cy="365760"/>
          </a:xfrm>
          <a:prstGeom prst="rect">
            <a:avLst/>
          </a:prstGeom>
          <a:solidFill>
            <a:srgbClr val="DDEBE0"/>
          </a:solidFill>
          <a:ln w="7620">
            <a:solidFill>
              <a:srgbClr val="DADADA"/>
            </a:solidFill>
            <a:prstDash val="solid"/>
          </a:ln>
        </p:spPr>
      </p:sp>
      <p:sp>
        <p:nvSpPr>
          <p:cNvPr id="30" name="Text 28"/>
          <p:cNvSpPr/>
          <p:nvPr/>
        </p:nvSpPr>
        <p:spPr>
          <a:xfrm>
            <a:off x="8321040" y="3977640"/>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风险机会</a:t>
            </a:r>
            <a:endParaRPr lang="en-US" sz="880" dirty="0"/>
          </a:p>
        </p:txBody>
      </p:sp>
      <p:sp>
        <p:nvSpPr>
          <p:cNvPr id="31" name="Shape 29"/>
          <p:cNvSpPr/>
          <p:nvPr/>
        </p:nvSpPr>
        <p:spPr>
          <a:xfrm>
            <a:off x="7790688" y="4535424"/>
            <a:ext cx="182880" cy="182880"/>
          </a:xfrm>
          <a:prstGeom prst="ellipse">
            <a:avLst/>
          </a:prstGeom>
          <a:solidFill>
            <a:srgbClr val="FFFFFF"/>
          </a:solidFill>
          <a:ln w="12700">
            <a:solidFill>
              <a:srgbClr val="487052"/>
            </a:solidFill>
            <a:prstDash val="solid"/>
          </a:ln>
        </p:spPr>
      </p:sp>
      <p:sp>
        <p:nvSpPr>
          <p:cNvPr id="32" name="Shape 30"/>
          <p:cNvSpPr/>
          <p:nvPr/>
        </p:nvSpPr>
        <p:spPr>
          <a:xfrm>
            <a:off x="8183880" y="4462272"/>
            <a:ext cx="2514600" cy="365760"/>
          </a:xfrm>
          <a:prstGeom prst="rect">
            <a:avLst/>
          </a:prstGeom>
          <a:solidFill>
            <a:srgbClr val="FFFFFF"/>
          </a:solidFill>
          <a:ln w="7620">
            <a:solidFill>
              <a:srgbClr val="DADADA"/>
            </a:solidFill>
            <a:prstDash val="solid"/>
          </a:ln>
        </p:spPr>
      </p:sp>
      <p:sp>
        <p:nvSpPr>
          <p:cNvPr id="33" name="Text 31"/>
          <p:cNvSpPr/>
          <p:nvPr/>
        </p:nvSpPr>
        <p:spPr>
          <a:xfrm>
            <a:off x="8321040" y="4544568"/>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来源索引</a:t>
            </a:r>
            <a:endParaRPr lang="en-US" sz="880" dirty="0"/>
          </a:p>
        </p:txBody>
      </p:sp>
      <p:sp>
        <p:nvSpPr>
          <p:cNvPr id="34" name="Shape 32"/>
          <p:cNvSpPr/>
          <p:nvPr/>
        </p:nvSpPr>
        <p:spPr>
          <a:xfrm>
            <a:off x="658368" y="5779008"/>
            <a:ext cx="1463040" cy="292608"/>
          </a:xfrm>
          <a:prstGeom prst="rect">
            <a:avLst/>
          </a:prstGeom>
          <a:solidFill>
            <a:srgbClr val="121212"/>
          </a:solidFill>
          <a:ln w="12700">
            <a:solidFill>
              <a:srgbClr val="121212"/>
            </a:solidFill>
            <a:prstDash val="solid"/>
          </a:ln>
        </p:spPr>
      </p:sp>
      <p:sp>
        <p:nvSpPr>
          <p:cNvPr id="35" name="Text 33"/>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核心判断</a:t>
            </a:r>
            <a:endParaRPr lang="en-US" sz="780" dirty="0"/>
          </a:p>
        </p:txBody>
      </p:sp>
      <p:sp>
        <p:nvSpPr>
          <p:cNvPr id="36" name="Text 34"/>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今日磷酸铁锂行业呈现供给扩张与需求政策支撑并存的格局。徐州40万吨项目开工、湖南裕能融资扩产、德方纳米定增获批，供给端持续加码；四部门发文支持</a:t>
            </a:r>
            <a:endParaRPr lang="en-US" sz="10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2.</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EXECUTIVE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2026-09-30</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02</a:t>
            </a:r>
            <a:endParaRPr lang="en-US" sz="730" dirty="0"/>
          </a:p>
        </p:txBody>
      </p:sp>
      <p:sp>
        <p:nvSpPr>
          <p:cNvPr id="9" name="Text 7"/>
          <p:cNvSpPr/>
          <p:nvPr/>
        </p:nvSpPr>
        <p:spPr>
          <a:xfrm>
            <a:off x="658368" y="932688"/>
            <a:ext cx="237744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今日总览</a:t>
            </a:r>
            <a:endParaRPr lang="en-US" sz="2000" dirty="0"/>
          </a:p>
        </p:txBody>
      </p:sp>
      <p:sp>
        <p:nvSpPr>
          <p:cNvPr id="10" name="Text 8"/>
          <p:cNvSpPr/>
          <p:nvPr/>
        </p:nvSpPr>
        <p:spPr>
          <a:xfrm>
            <a:off x="2880360" y="996696"/>
            <a:ext cx="8138160" cy="219456"/>
          </a:xfrm>
          <a:prstGeom prst="rect">
            <a:avLst/>
          </a:prstGeom>
          <a:noFill/>
          <a:ln/>
        </p:spPr>
        <p:txBody>
          <a:bodyPr wrap="square" lIns="0" tIns="0" rIns="0" bIns="0" rtlCol="0" anchor="ctr">
            <a:normAutofit/>
          </a:bodyPr>
          <a:lstStyle/>
          <a:p>
            <a:pPr indent="0" marL="0">
              <a:buNone/>
            </a:pPr>
            <a:r>
              <a:rPr lang="en-US" sz="940" dirty="0">
                <a:solidFill>
                  <a:srgbClr val="6D756F"/>
                </a:solidFill>
                <a:latin typeface="Microsoft YaHei" pitchFamily="34" charset="0"/>
                <a:ea typeface="Microsoft YaHei" pitchFamily="34" charset="-122"/>
                <a:cs typeface="Microsoft YaHei" pitchFamily="34" charset="-120"/>
              </a:rPr>
              <a:t>今日磷酸铁锂行业呈现供给扩张与需求政策支撑并存的格局。徐州40万吨项目开工、湖南裕能融资扩产、德方纳米定增获批，供给端持续加码；四部门发文支持</a:t>
            </a:r>
            <a:endParaRPr lang="en-US" sz="940" dirty="0"/>
          </a:p>
        </p:txBody>
      </p:sp>
      <p:sp>
        <p:nvSpPr>
          <p:cNvPr id="11" name="Shape 9"/>
          <p:cNvSpPr/>
          <p:nvPr/>
        </p:nvSpPr>
        <p:spPr>
          <a:xfrm>
            <a:off x="658368" y="1444752"/>
            <a:ext cx="5074920" cy="1737360"/>
          </a:xfrm>
          <a:prstGeom prst="rect">
            <a:avLst/>
          </a:prstGeom>
          <a:solidFill>
            <a:srgbClr val="F4FAF6"/>
          </a:solidFill>
          <a:ln w="8890">
            <a:solidFill>
              <a:srgbClr val="DADADA"/>
            </a:solidFill>
            <a:prstDash val="solid"/>
          </a:ln>
        </p:spPr>
      </p:sp>
      <p:sp>
        <p:nvSpPr>
          <p:cNvPr id="12" name="Shape 10"/>
          <p:cNvSpPr/>
          <p:nvPr/>
        </p:nvSpPr>
        <p:spPr>
          <a:xfrm>
            <a:off x="658368" y="1444752"/>
            <a:ext cx="384048" cy="1737360"/>
          </a:xfrm>
          <a:prstGeom prst="rect">
            <a:avLst/>
          </a:prstGeom>
          <a:solidFill>
            <a:srgbClr val="121212"/>
          </a:solidFill>
          <a:ln w="12700">
            <a:solidFill>
              <a:srgbClr val="121212"/>
            </a:solidFill>
            <a:prstDash val="solid"/>
          </a:ln>
        </p:spPr>
      </p:sp>
      <p:sp>
        <p:nvSpPr>
          <p:cNvPr id="13" name="Text 11"/>
          <p:cNvSpPr/>
          <p:nvPr/>
        </p:nvSpPr>
        <p:spPr>
          <a:xfrm>
            <a:off x="78638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1</a:t>
            </a:r>
            <a:endParaRPr lang="en-US" sz="850" dirty="0"/>
          </a:p>
        </p:txBody>
      </p:sp>
      <p:sp>
        <p:nvSpPr>
          <p:cNvPr id="14" name="Text 12"/>
          <p:cNvSpPr/>
          <p:nvPr/>
        </p:nvSpPr>
        <p:spPr>
          <a:xfrm>
            <a:off x="118872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今日结论</a:t>
            </a:r>
            <a:endParaRPr lang="en-US" sz="920" dirty="0"/>
          </a:p>
        </p:txBody>
      </p:sp>
      <p:sp>
        <p:nvSpPr>
          <p:cNvPr id="15" name="Shape 13"/>
          <p:cNvSpPr/>
          <p:nvPr/>
        </p:nvSpPr>
        <p:spPr>
          <a:xfrm>
            <a:off x="1188720" y="1883664"/>
            <a:ext cx="2194560" cy="54864"/>
          </a:xfrm>
          <a:prstGeom prst="rect">
            <a:avLst/>
          </a:prstGeom>
          <a:solidFill>
            <a:srgbClr val="487052"/>
          </a:solidFill>
          <a:ln w="12700">
            <a:solidFill>
              <a:srgbClr val="487052"/>
            </a:solidFill>
            <a:prstDash val="solid"/>
          </a:ln>
        </p:spPr>
      </p:sp>
      <p:sp>
        <p:nvSpPr>
          <p:cNvPr id="16" name="Text 14"/>
          <p:cNvSpPr/>
          <p:nvPr/>
        </p:nvSpPr>
        <p:spPr>
          <a:xfrm>
            <a:off x="118872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供给端，徐州40万吨磷酸铁锂项目开工，湖南裕能接力融资押扩产，德方纳米29亿定增获批，行业产能扩张势头不减；需求端，四部门发文支持新能源公交车及动力电池更新，政策提振需求预期</a:t>
            </a:r>
            <a:endParaRPr lang="en-US" sz="920" dirty="0"/>
          </a:p>
        </p:txBody>
      </p:sp>
      <p:sp>
        <p:nvSpPr>
          <p:cNvPr id="17" name="Text 15"/>
          <p:cNvSpPr/>
          <p:nvPr/>
        </p:nvSpPr>
        <p:spPr>
          <a:xfrm>
            <a:off x="118872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[1][2][3]</a:t>
            </a:r>
            <a:endParaRPr lang="en-US" sz="750" dirty="0"/>
          </a:p>
        </p:txBody>
      </p:sp>
      <p:sp>
        <p:nvSpPr>
          <p:cNvPr id="18" name="Shape 16"/>
          <p:cNvSpPr/>
          <p:nvPr/>
        </p:nvSpPr>
        <p:spPr>
          <a:xfrm>
            <a:off x="6236208" y="1444752"/>
            <a:ext cx="5074920" cy="1737360"/>
          </a:xfrm>
          <a:prstGeom prst="rect">
            <a:avLst/>
          </a:prstGeom>
          <a:solidFill>
            <a:srgbClr val="FFFFFF"/>
          </a:solidFill>
          <a:ln w="8890">
            <a:solidFill>
              <a:srgbClr val="DADADA"/>
            </a:solidFill>
            <a:prstDash val="solid"/>
          </a:ln>
        </p:spPr>
      </p:sp>
      <p:sp>
        <p:nvSpPr>
          <p:cNvPr id="19" name="Shape 17"/>
          <p:cNvSpPr/>
          <p:nvPr/>
        </p:nvSpPr>
        <p:spPr>
          <a:xfrm>
            <a:off x="6236208" y="1444752"/>
            <a:ext cx="384048" cy="1737360"/>
          </a:xfrm>
          <a:prstGeom prst="rect">
            <a:avLst/>
          </a:prstGeom>
          <a:solidFill>
            <a:srgbClr val="121212"/>
          </a:solidFill>
          <a:ln w="12700">
            <a:solidFill>
              <a:srgbClr val="121212"/>
            </a:solidFill>
            <a:prstDash val="solid"/>
          </a:ln>
        </p:spPr>
      </p:sp>
      <p:sp>
        <p:nvSpPr>
          <p:cNvPr id="20" name="Text 18"/>
          <p:cNvSpPr/>
          <p:nvPr/>
        </p:nvSpPr>
        <p:spPr>
          <a:xfrm>
            <a:off x="636422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2</a:t>
            </a:r>
            <a:endParaRPr lang="en-US" sz="850" dirty="0"/>
          </a:p>
        </p:txBody>
      </p:sp>
      <p:sp>
        <p:nvSpPr>
          <p:cNvPr id="21" name="Text 19"/>
          <p:cNvSpPr/>
          <p:nvPr/>
        </p:nvSpPr>
        <p:spPr>
          <a:xfrm>
            <a:off x="676656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技术/产品路线</a:t>
            </a:r>
            <a:endParaRPr lang="en-US" sz="920" dirty="0"/>
          </a:p>
        </p:txBody>
      </p:sp>
      <p:sp>
        <p:nvSpPr>
          <p:cNvPr id="22" name="Shape 20"/>
          <p:cNvSpPr/>
          <p:nvPr/>
        </p:nvSpPr>
        <p:spPr>
          <a:xfrm>
            <a:off x="6766560" y="1883664"/>
            <a:ext cx="877824" cy="54864"/>
          </a:xfrm>
          <a:prstGeom prst="rect">
            <a:avLst/>
          </a:prstGeom>
          <a:solidFill>
            <a:srgbClr val="487052"/>
          </a:solidFill>
          <a:ln w="12700">
            <a:solidFill>
              <a:srgbClr val="487052"/>
            </a:solidFill>
            <a:prstDash val="solid"/>
          </a:ln>
        </p:spPr>
      </p:sp>
      <p:sp>
        <p:nvSpPr>
          <p:cNvPr id="23" name="Text 21"/>
          <p:cNvSpPr/>
          <p:nvPr/>
        </p:nvSpPr>
        <p:spPr>
          <a:xfrm>
            <a:off x="676656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固态电池板块掀涨停潮，产业链核心股曝光，但固态电池仍处于产业化初期，对磷酸铁锂的替代威胁尚远；磷酸铁锂凭借成本和安全优势，在储能和商用车领域需求稳固。</a:t>
            </a:r>
            <a:endParaRPr lang="en-US" sz="920" dirty="0"/>
          </a:p>
        </p:txBody>
      </p:sp>
      <p:sp>
        <p:nvSpPr>
          <p:cNvPr id="24" name="Text 22"/>
          <p:cNvSpPr/>
          <p:nvPr/>
        </p:nvSpPr>
        <p:spPr>
          <a:xfrm>
            <a:off x="676656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[4]</a:t>
            </a:r>
            <a:endParaRPr lang="en-US" sz="750" dirty="0"/>
          </a:p>
        </p:txBody>
      </p:sp>
      <p:sp>
        <p:nvSpPr>
          <p:cNvPr id="25" name="Shape 23"/>
          <p:cNvSpPr/>
          <p:nvPr/>
        </p:nvSpPr>
        <p:spPr>
          <a:xfrm>
            <a:off x="658368" y="3566160"/>
            <a:ext cx="5074920" cy="1737360"/>
          </a:xfrm>
          <a:prstGeom prst="rect">
            <a:avLst/>
          </a:prstGeom>
          <a:solidFill>
            <a:srgbClr val="F4FAF6"/>
          </a:solidFill>
          <a:ln w="8890">
            <a:solidFill>
              <a:srgbClr val="DADADA"/>
            </a:solidFill>
            <a:prstDash val="solid"/>
          </a:ln>
        </p:spPr>
      </p:sp>
      <p:sp>
        <p:nvSpPr>
          <p:cNvPr id="26" name="Shape 24"/>
          <p:cNvSpPr/>
          <p:nvPr/>
        </p:nvSpPr>
        <p:spPr>
          <a:xfrm>
            <a:off x="658368" y="3566160"/>
            <a:ext cx="384048" cy="1737360"/>
          </a:xfrm>
          <a:prstGeom prst="rect">
            <a:avLst/>
          </a:prstGeom>
          <a:solidFill>
            <a:srgbClr val="121212"/>
          </a:solidFill>
          <a:ln w="12700">
            <a:solidFill>
              <a:srgbClr val="121212"/>
            </a:solidFill>
            <a:prstDash val="solid"/>
          </a:ln>
        </p:spPr>
      </p:sp>
      <p:sp>
        <p:nvSpPr>
          <p:cNvPr id="27" name="Text 25"/>
          <p:cNvSpPr/>
          <p:nvPr/>
        </p:nvSpPr>
        <p:spPr>
          <a:xfrm>
            <a:off x="78638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3</a:t>
            </a:r>
            <a:endParaRPr lang="en-US" sz="850" dirty="0"/>
          </a:p>
        </p:txBody>
      </p:sp>
      <p:sp>
        <p:nvSpPr>
          <p:cNvPr id="28" name="Text 26"/>
          <p:cNvSpPr/>
          <p:nvPr/>
        </p:nvSpPr>
        <p:spPr>
          <a:xfrm>
            <a:off x="118872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产能/客户/订单</a:t>
            </a:r>
            <a:endParaRPr lang="en-US" sz="920" dirty="0"/>
          </a:p>
        </p:txBody>
      </p:sp>
      <p:sp>
        <p:nvSpPr>
          <p:cNvPr id="29" name="Shape 27"/>
          <p:cNvSpPr/>
          <p:nvPr/>
        </p:nvSpPr>
        <p:spPr>
          <a:xfrm>
            <a:off x="1188720" y="4005072"/>
            <a:ext cx="2194560" cy="54864"/>
          </a:xfrm>
          <a:prstGeom prst="rect">
            <a:avLst/>
          </a:prstGeom>
          <a:solidFill>
            <a:srgbClr val="487052"/>
          </a:solidFill>
          <a:ln w="12700">
            <a:solidFill>
              <a:srgbClr val="487052"/>
            </a:solidFill>
            <a:prstDash val="solid"/>
          </a:ln>
        </p:spPr>
      </p:sp>
      <p:sp>
        <p:nvSpPr>
          <p:cNvPr id="30" name="Text 28"/>
          <p:cNvSpPr/>
          <p:nvPr/>
        </p:nvSpPr>
        <p:spPr>
          <a:xfrm>
            <a:off x="118872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徐州40万吨磷酸铁锂项目开工；湖南裕能接力融资押扩产；德方纳米29亿定增获批，50万吨高端产能开启扩张；国轩高科与大众合作海外扩产。供给端扩张势头强劲，行业竞争加剧。</a:t>
            </a:r>
            <a:endParaRPr lang="en-US" sz="920" dirty="0"/>
          </a:p>
        </p:txBody>
      </p:sp>
      <p:sp>
        <p:nvSpPr>
          <p:cNvPr id="31" name="Text 29"/>
          <p:cNvSpPr/>
          <p:nvPr/>
        </p:nvSpPr>
        <p:spPr>
          <a:xfrm>
            <a:off x="118872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[1][5][6][7]</a:t>
            </a:r>
            <a:endParaRPr lang="en-US" sz="750" dirty="0"/>
          </a:p>
        </p:txBody>
      </p:sp>
      <p:sp>
        <p:nvSpPr>
          <p:cNvPr id="32" name="Shape 30"/>
          <p:cNvSpPr/>
          <p:nvPr/>
        </p:nvSpPr>
        <p:spPr>
          <a:xfrm>
            <a:off x="6236208" y="3566160"/>
            <a:ext cx="5074920" cy="1737360"/>
          </a:xfrm>
          <a:prstGeom prst="rect">
            <a:avLst/>
          </a:prstGeom>
          <a:solidFill>
            <a:srgbClr val="FFFFFF"/>
          </a:solidFill>
          <a:ln w="8890">
            <a:solidFill>
              <a:srgbClr val="DADADA"/>
            </a:solidFill>
            <a:prstDash val="solid"/>
          </a:ln>
        </p:spPr>
      </p:sp>
      <p:sp>
        <p:nvSpPr>
          <p:cNvPr id="33" name="Shape 31"/>
          <p:cNvSpPr/>
          <p:nvPr/>
        </p:nvSpPr>
        <p:spPr>
          <a:xfrm>
            <a:off x="6236208" y="3566160"/>
            <a:ext cx="384048" cy="1737360"/>
          </a:xfrm>
          <a:prstGeom prst="rect">
            <a:avLst/>
          </a:prstGeom>
          <a:solidFill>
            <a:srgbClr val="121212"/>
          </a:solidFill>
          <a:ln w="12700">
            <a:solidFill>
              <a:srgbClr val="121212"/>
            </a:solidFill>
            <a:prstDash val="solid"/>
          </a:ln>
        </p:spPr>
      </p:sp>
      <p:sp>
        <p:nvSpPr>
          <p:cNvPr id="34" name="Text 32"/>
          <p:cNvSpPr/>
          <p:nvPr/>
        </p:nvSpPr>
        <p:spPr>
          <a:xfrm>
            <a:off x="636422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4</a:t>
            </a:r>
            <a:endParaRPr lang="en-US" sz="850" dirty="0"/>
          </a:p>
        </p:txBody>
      </p:sp>
      <p:sp>
        <p:nvSpPr>
          <p:cNvPr id="35" name="Text 33"/>
          <p:cNvSpPr/>
          <p:nvPr/>
        </p:nvSpPr>
        <p:spPr>
          <a:xfrm>
            <a:off x="676656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价格/盈利压力</a:t>
            </a:r>
            <a:endParaRPr lang="en-US" sz="920" dirty="0"/>
          </a:p>
        </p:txBody>
      </p:sp>
      <p:sp>
        <p:nvSpPr>
          <p:cNvPr id="36" name="Shape 34"/>
          <p:cNvSpPr/>
          <p:nvPr/>
        </p:nvSpPr>
        <p:spPr>
          <a:xfrm>
            <a:off x="6766560" y="4005072"/>
            <a:ext cx="1316736" cy="54864"/>
          </a:xfrm>
          <a:prstGeom prst="rect">
            <a:avLst/>
          </a:prstGeom>
          <a:solidFill>
            <a:srgbClr val="487052"/>
          </a:solidFill>
          <a:ln w="12700">
            <a:solidFill>
              <a:srgbClr val="487052"/>
            </a:solidFill>
            <a:prstDash val="solid"/>
          </a:ln>
        </p:spPr>
      </p:sp>
      <p:sp>
        <p:nvSpPr>
          <p:cNvPr id="37" name="Text 35"/>
          <p:cNvSpPr/>
          <p:nvPr/>
        </p:nvSpPr>
        <p:spPr>
          <a:xfrm>
            <a:off x="676656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碳酸锂主力跌破12万元/吨，分析师称定价被远期悲观预期主导；成本支撑减弱，磷酸铁锂盈利压力加大。</a:t>
            </a:r>
            <a:endParaRPr lang="en-US" sz="920" dirty="0"/>
          </a:p>
        </p:txBody>
      </p:sp>
      <p:sp>
        <p:nvSpPr>
          <p:cNvPr id="38" name="Text 36"/>
          <p:cNvSpPr/>
          <p:nvPr/>
        </p:nvSpPr>
        <p:spPr>
          <a:xfrm>
            <a:off x="676656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[3][8]</a:t>
            </a:r>
            <a:endParaRPr lang="en-US" sz="750" dirty="0"/>
          </a:p>
        </p:txBody>
      </p:sp>
      <p:sp>
        <p:nvSpPr>
          <p:cNvPr id="39" name="Shape 37"/>
          <p:cNvSpPr/>
          <p:nvPr/>
        </p:nvSpPr>
        <p:spPr>
          <a:xfrm>
            <a:off x="658368" y="5779008"/>
            <a:ext cx="1463040" cy="292608"/>
          </a:xfrm>
          <a:prstGeom prst="rect">
            <a:avLst/>
          </a:prstGeom>
          <a:solidFill>
            <a:srgbClr val="121212"/>
          </a:solidFill>
          <a:ln w="12700">
            <a:solidFill>
              <a:srgbClr val="121212"/>
            </a:solidFill>
            <a:prstDash val="solid"/>
          </a:ln>
        </p:spPr>
      </p:sp>
      <p:sp>
        <p:nvSpPr>
          <p:cNvPr id="40" name="Text 38"/>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总览结论</a:t>
            </a:r>
            <a:endParaRPr lang="en-US" sz="780" dirty="0"/>
          </a:p>
        </p:txBody>
      </p:sp>
      <p:sp>
        <p:nvSpPr>
          <p:cNvPr id="41" name="Text 39"/>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今日磷酸铁锂行业呈现供给扩张与需求政策支撑并存的格局。徐州40万吨项目开工、湖南裕能融资扩产、德方纳米定增获批，供给端持续加码；四部门发文支持</a:t>
            </a:r>
            <a:endParaRPr lang="en-US" sz="10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3.</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2026-09-30</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03</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今日结论</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供给端，徐州40万吨磷酸铁锂项目开工，湖南裕能接力融资押扩产，德方纳米29亿定增获批，行业产能扩张势头不减；需求端，四部门发文支持新能源公交车及动力电池更新，政策提振需求预期；成本端，碳酸锂主力跌破12万元/吨，定价被远期悲观预期主导，成本支撑减弱。整体看，供需博弈加剧，盈利压力仍存。 [1][2][3]</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依据：[1][2][3]</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供给扩张与需求政策利好形成对冲，但碳酸锂价格下跌反映远期悲观预期，可能削弱成本支撑。政策支持新能源公交车更新，直接拉动磷酸铁锂电池需求，但传导至实际订单仍需时间。需关注后续碳酸锂价格走势及政策落地情况。</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碳酸锂价格持续低于12万元/吨，则磷酸铁锂成本支撑进一步减弱，可能引发价格竞争加剧；若新能源公交车更新政策快速落地，则磷酸铁锂需求可能超预期。跟踪指标：碳酸锂主力合约价格、新能源公交车招标量。证据边界：政策执行力度及碳酸锂供需变化。</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供给端，徐州40万吨磷酸铁</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需求端，四部门发文支持新能</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成本端，碳酸锂主力跌破12</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供给端，徐州40万吨磷酸铁</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若碳酸锂价格持续低于12万元/吨，则磷酸铁锂成本支撑进一步减弱，可能引发价格竞争加剧</a:t>
            </a:r>
            <a:endParaRPr lang="en-US" sz="10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4.</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2026-09-30</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04</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技术/产品路线</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1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固态电池板块掀涨停潮，产业链核心股曝光，但固态电池仍处于产业化初期，对磷酸铁锂的替代威胁尚远；磷酸铁锂凭借成本和安全优势，在储能和商用车领域需求稳固。 [4]</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依据：[4]</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固态电池概念活跃可能分流市场关注度，但短期内无法撼动磷酸铁锂主流地位。需关注固态电池技术突破及量产时间表，以及磷酸铁锂在能量密度提升方面的进展。</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固态电池量产进度超预期，则可能加速高端电动车市场对磷酸铁锂的替代；若磷酸铁锂能量密度提升，则可能巩固其在中低端市场的优势。跟踪指标：固态电池装车量、磷酸铁锂能量密度突破。证据边界：技术成熟度及成本下降速度。</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固态电池板块掀涨停潮，产业</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磷酸铁锂凭借成本和安全优势</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[4] 固态电池概念活跃可</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固态电池板块掀涨停潮，产业</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若固态电池量产进度超预期，则可能加速高端电动车市场对磷酸铁锂的替代</a:t>
            </a:r>
            <a:endParaRPr lang="en-US" sz="10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5.</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2026-09-30</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05</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产能/客户/订单</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4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徐州40万吨磷酸铁锂项目开工；湖南裕能接力融资押扩产；德方纳米29亿定增获批，50万吨高端产能开启扩张；国轩高科与大众合作海外扩产。供给端扩张势头强劲，行业竞争加剧。 [1][5][6][7]</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依据：[1][5][6][7]</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头部企业加速扩产，可能进一步加剧产能过剩风险，但高端产能扩张有助于满足储能和动力电池对高性能磷酸铁锂的需求。需关注下游客户订单锁定情况及产能消化能力。</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下游需求增速不及产能扩张速度，则磷酸铁锂价格可能进一步承压；若储能和商用车需求爆发，则产能消化无忧。跟踪指标：磷酸铁锂月度产量、库存水平、下游招标量。证据边界：需求增长确定性及产能释放节奏。</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徐州40万吨磷酸铁锂项目开工</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湖南裕能接力融资押扩产</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德方纳米29亿定增获批，5</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徐州40万吨磷酸铁锂项目开工</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若下游需求增速不及产能扩张速度，则磷酸铁锂价格可能进一步承压</a:t>
            </a:r>
            <a:endParaRPr lang="en-US" sz="10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6.</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DYNAMIC SIGNALS</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2026-09-30</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06</a:t>
            </a:r>
            <a:endParaRPr lang="en-US" sz="730" dirty="0"/>
          </a:p>
        </p:txBody>
      </p:sp>
      <p:sp>
        <p:nvSpPr>
          <p:cNvPr id="9" name="Text 7"/>
          <p:cNvSpPr/>
          <p:nvPr/>
        </p:nvSpPr>
        <p:spPr>
          <a:xfrm>
            <a:off x="1143000" y="932688"/>
            <a:ext cx="256032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重点板块</a:t>
            </a:r>
            <a:endParaRPr lang="en-US" sz="2000" dirty="0"/>
          </a:p>
        </p:txBody>
      </p:sp>
      <p:sp>
        <p:nvSpPr>
          <p:cNvPr id="10" name="Shape 8"/>
          <p:cNvSpPr/>
          <p:nvPr/>
        </p:nvSpPr>
        <p:spPr>
          <a:xfrm>
            <a:off x="658368" y="1371600"/>
            <a:ext cx="10881360" cy="1225296"/>
          </a:xfrm>
          <a:prstGeom prst="roundRect">
            <a:avLst>
              <a:gd name="adj" fmla="val 5970"/>
            </a:avLst>
          </a:prstGeom>
          <a:solidFill>
            <a:srgbClr val="F4FAF6"/>
          </a:solidFill>
          <a:ln w="10160">
            <a:solidFill>
              <a:srgbClr val="DADADA"/>
            </a:solidFill>
            <a:prstDash val="solid"/>
          </a:ln>
        </p:spPr>
      </p:sp>
      <p:sp>
        <p:nvSpPr>
          <p:cNvPr id="11" name="Text 9"/>
          <p:cNvSpPr/>
          <p:nvPr/>
        </p:nvSpPr>
        <p:spPr>
          <a:xfrm>
            <a:off x="932688" y="1536192"/>
            <a:ext cx="1920240" cy="256032"/>
          </a:xfrm>
          <a:prstGeom prst="rect">
            <a:avLst/>
          </a:prstGeom>
          <a:noFill/>
          <a:ln/>
        </p:spPr>
        <p:txBody>
          <a:bodyPr wrap="square" lIns="0" tIns="0" rIns="0" bIns="0" rtlCol="0" anchor="ctr">
            <a:normAutofit/>
          </a:bodyPr>
          <a:lstStyle/>
          <a:p>
            <a:pPr indent="0" marL="0">
              <a:buNone/>
            </a:pPr>
            <a:r>
              <a:rPr lang="en-US" sz="1250" b="1" dirty="0">
                <a:solidFill>
                  <a:srgbClr val="487052"/>
                </a:solidFill>
                <a:latin typeface="Microsoft YaHei" pitchFamily="34" charset="0"/>
                <a:ea typeface="Microsoft YaHei" pitchFamily="34" charset="-122"/>
                <a:cs typeface="Microsoft YaHei" pitchFamily="34" charset="-120"/>
              </a:rPr>
              <a:t>价格/盈利压力</a:t>
            </a:r>
            <a:endParaRPr lang="en-US" sz="1250" dirty="0"/>
          </a:p>
        </p:txBody>
      </p:sp>
      <p:sp>
        <p:nvSpPr>
          <p:cNvPr id="12" name="Text 10"/>
          <p:cNvSpPr/>
          <p:nvPr/>
        </p:nvSpPr>
        <p:spPr>
          <a:xfrm>
            <a:off x="2788920" y="1536192"/>
            <a:ext cx="8321040" cy="713232"/>
          </a:xfrm>
          <a:prstGeom prst="rect">
            <a:avLst/>
          </a:prstGeom>
          <a:noFill/>
          <a:ln/>
        </p:spPr>
        <p:txBody>
          <a:bodyPr wrap="square" lIns="0" tIns="0" rIns="0" bIns="0" rtlCol="0" anchor="t">
            <a:normAutofit/>
          </a:bodyPr>
          <a:lstStyle/>
          <a:p>
            <a:pPr indent="0" marL="0">
              <a:buNone/>
            </a:pPr>
            <a:r>
              <a:rPr lang="en-US" sz="910" dirty="0">
                <a:solidFill>
                  <a:srgbClr val="121212"/>
                </a:solidFill>
                <a:latin typeface="Microsoft YaHei" pitchFamily="34" charset="0"/>
                <a:ea typeface="Microsoft YaHei" pitchFamily="34" charset="-122"/>
                <a:cs typeface="Microsoft YaHei" pitchFamily="34" charset="-120"/>
              </a:rPr>
              <a:t>事实判断：碳酸锂主力跌破12万元/吨，分析师称定价被远期悲观预期主导；成本支撑减弱，磷酸铁锂盈利压力加大。 [3][8] 影响分析：碳酸锂价格下跌降低磷酸铁锂生产成本，但同时也削弱价格支撑，可能导致产品价格跟跌。企业盈利取决于成本控制能力和产品差异化。需关注碳酸锂供需格局及磷酸铁锂加工费变化。 后续研判：若碳酸锂价格继续下跌，则磷酸铁锂价格可能跟随下行，企业盈利空间压缩；若碳酸锂价格企稳反弹，则成本支撑增强。跟踪指标：碳酸锂现货价格、磷酸铁锂加工费。证据边界：碳酸锂供需变化及矿山减产情况。</a:t>
            </a:r>
            <a:endParaRPr lang="en-US" sz="910" dirty="0"/>
          </a:p>
        </p:txBody>
      </p:sp>
      <p:sp>
        <p:nvSpPr>
          <p:cNvPr id="13" name="Text 11"/>
          <p:cNvSpPr/>
          <p:nvPr/>
        </p:nvSpPr>
        <p:spPr>
          <a:xfrm>
            <a:off x="2788920" y="2322576"/>
            <a:ext cx="3474720" cy="146304"/>
          </a:xfrm>
          <a:prstGeom prst="rect">
            <a:avLst/>
          </a:prstGeom>
          <a:noFill/>
          <a:ln/>
        </p:spPr>
        <p:txBody>
          <a:bodyPr wrap="square" lIns="0" tIns="0" rIns="0" bIns="0" rtlCol="0" anchor="ctr"/>
          <a:lstStyle/>
          <a:p>
            <a:pPr indent="0" marL="0">
              <a:buNone/>
            </a:pPr>
            <a:r>
              <a:rPr lang="en-US" sz="740" dirty="0">
                <a:solidFill>
                  <a:srgbClr val="487052"/>
                </a:solidFill>
                <a:latin typeface="Aptos" pitchFamily="34" charset="0"/>
                <a:ea typeface="Aptos" pitchFamily="34" charset="-122"/>
                <a:cs typeface="Aptos" pitchFamily="34" charset="-120"/>
              </a:rPr>
              <a:t>依据：[3][8]</a:t>
            </a:r>
            <a:endParaRPr lang="en-US" sz="740" dirty="0"/>
          </a:p>
        </p:txBody>
      </p:sp>
      <p:sp>
        <p:nvSpPr>
          <p:cNvPr id="14" name="Shape 12"/>
          <p:cNvSpPr/>
          <p:nvPr/>
        </p:nvSpPr>
        <p:spPr>
          <a:xfrm>
            <a:off x="658368" y="5779008"/>
            <a:ext cx="1463040" cy="292608"/>
          </a:xfrm>
          <a:prstGeom prst="rect">
            <a:avLst/>
          </a:prstGeom>
          <a:solidFill>
            <a:srgbClr val="121212"/>
          </a:solidFill>
          <a:ln w="12700">
            <a:solidFill>
              <a:srgbClr val="121212"/>
            </a:solidFill>
            <a:prstDash val="solid"/>
          </a:ln>
        </p:spPr>
      </p:sp>
      <p:sp>
        <p:nvSpPr>
          <p:cNvPr id="15" name="Text 13"/>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页面结论</a:t>
            </a:r>
            <a:endParaRPr lang="en-US" sz="780" dirty="0"/>
          </a:p>
        </p:txBody>
      </p:sp>
      <p:sp>
        <p:nvSpPr>
          <p:cNvPr id="16" name="Text 14"/>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价格/盈利压力是本页重点观察方向，仍需后续公告与经营数据交叉验证。</a:t>
            </a:r>
            <a:endParaRPr lang="en-US" sz="10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7.</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2026-09-30</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07</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政策/合规风险</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四部门发文支持新能源公交车及动力电池更新，结合大规模设备更新政策，提振磷酸铁锂需求；动力电池回收强制合规落地，超九成缺乏技术实力的企业面临退出风险，行业洗牌加速。 [2][9]</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依据：[2][9]</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政策支持新能源公交车更新，直接拉动磷酸铁锂电池需求，但需关注政策执行力度和资金到位情况。回收合规趋严，有利于规范行业发展，但短期内可能增加企业合规成本。</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新能源公交车更新政策快速落地，则磷酸铁锂需求可能超预期；若回收合规执行严格，则缺乏技术的中小企业退出，行业集中度提升。跟踪指标：新能源公交车招标量、电池回收企业合规名单。证据边界：政策执行力度及监管节奏。</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合规风险金字塔</a:t>
            </a:r>
            <a:endParaRPr lang="en-US" sz="1200" dirty="0"/>
          </a:p>
        </p:txBody>
      </p:sp>
      <p:sp>
        <p:nvSpPr>
          <p:cNvPr id="24" name="Shape 22"/>
          <p:cNvSpPr/>
          <p:nvPr/>
        </p:nvSpPr>
        <p:spPr>
          <a:xfrm>
            <a:off x="8503920" y="1975104"/>
            <a:ext cx="1097280" cy="512064"/>
          </a:xfrm>
          <a:prstGeom prst="trapezoid">
            <a:avLst/>
          </a:prstGeom>
          <a:solidFill>
            <a:srgbClr val="B85A4A"/>
          </a:solidFill>
          <a:ln w="8890">
            <a:solidFill>
              <a:srgbClr val="487052"/>
            </a:solidFill>
            <a:prstDash val="solid"/>
          </a:ln>
        </p:spPr>
      </p:sp>
      <p:sp>
        <p:nvSpPr>
          <p:cNvPr id="25" name="Text 23"/>
          <p:cNvSpPr/>
          <p:nvPr/>
        </p:nvSpPr>
        <p:spPr>
          <a:xfrm>
            <a:off x="8595360" y="2066544"/>
            <a:ext cx="914400" cy="118872"/>
          </a:xfrm>
          <a:prstGeom prst="rect">
            <a:avLst/>
          </a:prstGeom>
          <a:noFill/>
          <a:ln/>
        </p:spPr>
        <p:txBody>
          <a:bodyPr wrap="square" lIns="0" tIns="0" rIns="0" bIns="0" rtlCol="0" anchor="ctr">
            <a:normAutofit/>
          </a:bodyPr>
          <a:lstStyle/>
          <a:p>
            <a:pPr algn="ctr" indent="0" marL="0">
              <a:buNone/>
            </a:pPr>
            <a:r>
              <a:rPr lang="en-US" sz="740" b="1" dirty="0">
                <a:solidFill>
                  <a:srgbClr val="FFFFFF"/>
                </a:solidFill>
                <a:latin typeface="Microsoft YaHei" pitchFamily="34" charset="0"/>
                <a:ea typeface="Microsoft YaHei" pitchFamily="34" charset="-122"/>
                <a:cs typeface="Microsoft YaHei" pitchFamily="34" charset="-120"/>
              </a:rPr>
              <a:t>监管红线</a:t>
            </a:r>
            <a:endParaRPr lang="en-US" sz="740" dirty="0"/>
          </a:p>
        </p:txBody>
      </p:sp>
      <p:sp>
        <p:nvSpPr>
          <p:cNvPr id="26" name="Text 24"/>
          <p:cNvSpPr/>
          <p:nvPr/>
        </p:nvSpPr>
        <p:spPr>
          <a:xfrm>
            <a:off x="7808976" y="249631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四部门发文支持新能源公交车及动力电</a:t>
            </a:r>
            <a:endParaRPr lang="en-US" sz="660" dirty="0"/>
          </a:p>
        </p:txBody>
      </p:sp>
      <p:sp>
        <p:nvSpPr>
          <p:cNvPr id="27" name="Shape 25"/>
          <p:cNvSpPr/>
          <p:nvPr/>
        </p:nvSpPr>
        <p:spPr>
          <a:xfrm>
            <a:off x="8183880" y="2615184"/>
            <a:ext cx="1737360" cy="512064"/>
          </a:xfrm>
          <a:prstGeom prst="trapezoid">
            <a:avLst/>
          </a:prstGeom>
          <a:solidFill>
            <a:srgbClr val="DDEBE0"/>
          </a:solidFill>
          <a:ln w="8890">
            <a:solidFill>
              <a:srgbClr val="487052"/>
            </a:solidFill>
            <a:prstDash val="solid"/>
          </a:ln>
        </p:spPr>
      </p:sp>
      <p:sp>
        <p:nvSpPr>
          <p:cNvPr id="28" name="Text 26"/>
          <p:cNvSpPr/>
          <p:nvPr/>
        </p:nvSpPr>
        <p:spPr>
          <a:xfrm>
            <a:off x="8275320" y="2706624"/>
            <a:ext cx="155448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合规动作</a:t>
            </a:r>
            <a:endParaRPr lang="en-US" sz="740" dirty="0"/>
          </a:p>
        </p:txBody>
      </p:sp>
      <p:sp>
        <p:nvSpPr>
          <p:cNvPr id="29" name="Text 27"/>
          <p:cNvSpPr/>
          <p:nvPr/>
        </p:nvSpPr>
        <p:spPr>
          <a:xfrm>
            <a:off x="7808976" y="313639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动力电池回收强制合规落地，超九成缺</a:t>
            </a:r>
            <a:endParaRPr lang="en-US" sz="660" dirty="0"/>
          </a:p>
        </p:txBody>
      </p:sp>
      <p:sp>
        <p:nvSpPr>
          <p:cNvPr id="30" name="Shape 28"/>
          <p:cNvSpPr/>
          <p:nvPr/>
        </p:nvSpPr>
        <p:spPr>
          <a:xfrm>
            <a:off x="7863840" y="3255264"/>
            <a:ext cx="2377440" cy="512064"/>
          </a:xfrm>
          <a:prstGeom prst="trapezoid">
            <a:avLst/>
          </a:prstGeom>
          <a:solidFill>
            <a:srgbClr val="F4FAF6"/>
          </a:solidFill>
          <a:ln w="8890">
            <a:solidFill>
              <a:srgbClr val="487052"/>
            </a:solidFill>
            <a:prstDash val="solid"/>
          </a:ln>
        </p:spPr>
      </p:sp>
      <p:sp>
        <p:nvSpPr>
          <p:cNvPr id="31" name="Text 29"/>
          <p:cNvSpPr/>
          <p:nvPr/>
        </p:nvSpPr>
        <p:spPr>
          <a:xfrm>
            <a:off x="7955280" y="3346704"/>
            <a:ext cx="219456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经营影响/观察</a:t>
            </a:r>
            <a:endParaRPr lang="en-US" sz="740" dirty="0"/>
          </a:p>
        </p:txBody>
      </p:sp>
      <p:sp>
        <p:nvSpPr>
          <p:cNvPr id="32" name="Text 30"/>
          <p:cNvSpPr/>
          <p:nvPr/>
        </p:nvSpPr>
        <p:spPr>
          <a:xfrm>
            <a:off x="7808976" y="377647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[2][9] 政策支持新能源公交车</a:t>
            </a:r>
            <a:endParaRPr lang="en-US" sz="660" dirty="0"/>
          </a:p>
        </p:txBody>
      </p:sp>
      <p:sp>
        <p:nvSpPr>
          <p:cNvPr id="33" name="Shape 31"/>
          <p:cNvSpPr/>
          <p:nvPr/>
        </p:nvSpPr>
        <p:spPr>
          <a:xfrm>
            <a:off x="658368" y="5779008"/>
            <a:ext cx="1463040" cy="292608"/>
          </a:xfrm>
          <a:prstGeom prst="rect">
            <a:avLst/>
          </a:prstGeom>
          <a:solidFill>
            <a:srgbClr val="121212"/>
          </a:solidFill>
          <a:ln w="12700">
            <a:solidFill>
              <a:srgbClr val="121212"/>
            </a:solidFill>
            <a:prstDash val="solid"/>
          </a:ln>
        </p:spPr>
      </p:sp>
      <p:sp>
        <p:nvSpPr>
          <p:cNvPr id="34" name="Text 32"/>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5" name="Text 33"/>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若新能源公交车更新政策快速落地，则磷酸铁锂需求可能超预期</a:t>
            </a:r>
            <a:endParaRPr lang="en-US" sz="10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8.</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DYNAMIC SIGNALS</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2026-09-30</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08</a:t>
            </a:r>
            <a:endParaRPr lang="en-US" sz="730" dirty="0"/>
          </a:p>
        </p:txBody>
      </p:sp>
      <p:sp>
        <p:nvSpPr>
          <p:cNvPr id="9" name="Text 7"/>
          <p:cNvSpPr/>
          <p:nvPr/>
        </p:nvSpPr>
        <p:spPr>
          <a:xfrm>
            <a:off x="1143000" y="932688"/>
            <a:ext cx="256032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重点板块</a:t>
            </a:r>
            <a:endParaRPr lang="en-US" sz="2000" dirty="0"/>
          </a:p>
        </p:txBody>
      </p:sp>
      <p:sp>
        <p:nvSpPr>
          <p:cNvPr id="10" name="Shape 8"/>
          <p:cNvSpPr/>
          <p:nvPr/>
        </p:nvSpPr>
        <p:spPr>
          <a:xfrm>
            <a:off x="658368" y="1371600"/>
            <a:ext cx="10881360" cy="1225296"/>
          </a:xfrm>
          <a:prstGeom prst="roundRect">
            <a:avLst>
              <a:gd name="adj" fmla="val 5970"/>
            </a:avLst>
          </a:prstGeom>
          <a:solidFill>
            <a:srgbClr val="F4FAF6"/>
          </a:solidFill>
          <a:ln w="10160">
            <a:solidFill>
              <a:srgbClr val="DADADA"/>
            </a:solidFill>
            <a:prstDash val="solid"/>
          </a:ln>
        </p:spPr>
      </p:sp>
      <p:sp>
        <p:nvSpPr>
          <p:cNvPr id="11" name="Text 9"/>
          <p:cNvSpPr/>
          <p:nvPr/>
        </p:nvSpPr>
        <p:spPr>
          <a:xfrm>
            <a:off x="932688" y="1536192"/>
            <a:ext cx="1920240" cy="256032"/>
          </a:xfrm>
          <a:prstGeom prst="rect">
            <a:avLst/>
          </a:prstGeom>
          <a:noFill/>
          <a:ln/>
        </p:spPr>
        <p:txBody>
          <a:bodyPr wrap="square" lIns="0" tIns="0" rIns="0" bIns="0" rtlCol="0" anchor="ctr">
            <a:normAutofit/>
          </a:bodyPr>
          <a:lstStyle/>
          <a:p>
            <a:pPr indent="0" marL="0">
              <a:buNone/>
            </a:pPr>
            <a:r>
              <a:rPr lang="en-US" sz="1250" b="1" dirty="0">
                <a:solidFill>
                  <a:srgbClr val="487052"/>
                </a:solidFill>
                <a:latin typeface="Microsoft YaHei" pitchFamily="34" charset="0"/>
                <a:ea typeface="Microsoft YaHei" pitchFamily="34" charset="-122"/>
                <a:cs typeface="Microsoft YaHei" pitchFamily="34" charset="-120"/>
              </a:rPr>
              <a:t>竞品观察</a:t>
            </a:r>
            <a:endParaRPr lang="en-US" sz="1250" dirty="0"/>
          </a:p>
        </p:txBody>
      </p:sp>
      <p:sp>
        <p:nvSpPr>
          <p:cNvPr id="12" name="Text 10"/>
          <p:cNvSpPr/>
          <p:nvPr/>
        </p:nvSpPr>
        <p:spPr>
          <a:xfrm>
            <a:off x="2788920" y="1536192"/>
            <a:ext cx="8321040" cy="713232"/>
          </a:xfrm>
          <a:prstGeom prst="rect">
            <a:avLst/>
          </a:prstGeom>
          <a:noFill/>
          <a:ln/>
        </p:spPr>
        <p:txBody>
          <a:bodyPr wrap="square" lIns="0" tIns="0" rIns="0" bIns="0" rtlCol="0" anchor="t">
            <a:normAutofit/>
          </a:bodyPr>
          <a:lstStyle/>
          <a:p>
            <a:pPr indent="0" marL="0">
              <a:buNone/>
            </a:pPr>
            <a:r>
              <a:rPr lang="en-US" sz="910" dirty="0">
                <a:solidFill>
                  <a:srgbClr val="121212"/>
                </a:solidFill>
                <a:latin typeface="Microsoft YaHei" pitchFamily="34" charset="0"/>
                <a:ea typeface="Microsoft YaHei" pitchFamily="34" charset="-122"/>
                <a:cs typeface="Microsoft YaHei" pitchFamily="34" charset="-120"/>
              </a:rPr>
              <a:t>事实判断：固态电池板块掀涨停潮，产业链核心股曝光，市场关注度提升；但固态电池产业化尚早，对磷酸铁锂的替代威胁有限。 [4] 影响分析：固态电池概念活跃可能吸引资金分流，但短期内无法改变磷酸铁锂的主流地位。需关注固态电池技术突破及量产时间表，以及磷酸铁锂在成本和安全方面的持续优势。 后续研判：若固态电池量产进度超预期，则可能加速高端电动车市场对磷酸铁锂的替代；若磷酸铁锂成本优势保持，则在中低端市场地位稳固。跟踪指标：固态电池装车量、磷酸铁锂成本变化。证据边界：技术成熟度及成本下降速度。</a:t>
            </a:r>
            <a:endParaRPr lang="en-US" sz="910" dirty="0"/>
          </a:p>
        </p:txBody>
      </p:sp>
      <p:sp>
        <p:nvSpPr>
          <p:cNvPr id="13" name="Text 11"/>
          <p:cNvSpPr/>
          <p:nvPr/>
        </p:nvSpPr>
        <p:spPr>
          <a:xfrm>
            <a:off x="2788920" y="2322576"/>
            <a:ext cx="3474720" cy="146304"/>
          </a:xfrm>
          <a:prstGeom prst="rect">
            <a:avLst/>
          </a:prstGeom>
          <a:noFill/>
          <a:ln/>
        </p:spPr>
        <p:txBody>
          <a:bodyPr wrap="square" lIns="0" tIns="0" rIns="0" bIns="0" rtlCol="0" anchor="ctr"/>
          <a:lstStyle/>
          <a:p>
            <a:pPr indent="0" marL="0">
              <a:buNone/>
            </a:pPr>
            <a:r>
              <a:rPr lang="en-US" sz="740" dirty="0">
                <a:solidFill>
                  <a:srgbClr val="487052"/>
                </a:solidFill>
                <a:latin typeface="Aptos" pitchFamily="34" charset="0"/>
                <a:ea typeface="Aptos" pitchFamily="34" charset="-122"/>
                <a:cs typeface="Aptos" pitchFamily="34" charset="-120"/>
              </a:rPr>
              <a:t>依据：[4]</a:t>
            </a:r>
            <a:endParaRPr lang="en-US" sz="740" dirty="0"/>
          </a:p>
        </p:txBody>
      </p:sp>
      <p:sp>
        <p:nvSpPr>
          <p:cNvPr id="14" name="Shape 12"/>
          <p:cNvSpPr/>
          <p:nvPr/>
        </p:nvSpPr>
        <p:spPr>
          <a:xfrm>
            <a:off x="658368" y="5779008"/>
            <a:ext cx="1463040" cy="292608"/>
          </a:xfrm>
          <a:prstGeom prst="rect">
            <a:avLst/>
          </a:prstGeom>
          <a:solidFill>
            <a:srgbClr val="121212"/>
          </a:solidFill>
          <a:ln w="12700">
            <a:solidFill>
              <a:srgbClr val="121212"/>
            </a:solidFill>
            <a:prstDash val="solid"/>
          </a:ln>
        </p:spPr>
      </p:sp>
      <p:sp>
        <p:nvSpPr>
          <p:cNvPr id="15" name="Text 13"/>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页面结论</a:t>
            </a:r>
            <a:endParaRPr lang="en-US" sz="780" dirty="0"/>
          </a:p>
        </p:txBody>
      </p:sp>
      <p:sp>
        <p:nvSpPr>
          <p:cNvPr id="16" name="Text 14"/>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竞品观察是本页重点观察方向，仍需后续公告与经营数据交叉验证。</a:t>
            </a:r>
            <a:endParaRPr lang="en-US" sz="10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9.</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2026-09-30</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09</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风险/机会/观察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风险：碳酸锂价格下跌削弱成本支撑，产能扩张加剧过剩担忧；机会：政策支持新能源公交车更新，储能需求增长；观察：固态电池产业化进展、动力电池回收合规执行。 [3][2][4]</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依据：[3][2][4]</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碳酸锂价格下跌和产能扩张是主要风险，可能压制磷酸铁锂价格和盈利；政策支持和储能需求是机会，但需观察落地情况。固态电池和回收合规是长期变量，需持续跟踪。</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若碳酸锂价格持续低迷，则磷酸铁锂盈利承压；若政策支持力度加大，则需求可能超预期。跟踪指标：碳酸锂价格、新能源公交车销量、固态电池装车量。证据边界：供需变化及政策执行。</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风险：碳酸锂价格下跌削弱成</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机会：政策支持新能源公交车</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观察：固态电池产业化进展、</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风险：碳酸锂价格下跌削弱成</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若碳酸锂价格持续低迷，则磷酸铁锂盈利承压</a:t>
            </a:r>
            <a:endParaRPr lang="en-US" sz="10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10.</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2026-09-30</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10</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40万吨磷酸铁锂项目在徐州经开区开工 - js.chinanews.c</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https://news.google.com/rss/articles/CBMiakFVX3lxTE9ZcEFzRU93ZFlvbDh1Q005SnlidlZhVGt3X29Ja214VnRaOEdaMGgzZFkzSkdJMFl0X192Q0U3OTNRb3NzbW5lOEdITUtPanN4Qko3QTZNdnB1S01KTmdpWWxDT1lMbFRnOHc?oc=5</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四部门发文支持新能源公交车及动力电池更新 - 网通社</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https://news.google.com/rss/articles/CBMiXEFVX3lxTE5YSW03YzA0RmhJdlRHcHJmdjJLUDZpdmdzcEVsLXkwYnVETE0zbklIVjJNN0FPWUpnUHozX3d3WC00NnROd3FOMkFqNjM1b0ZjUTVnQ2FmWGozTXow?oc=5</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[3]</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碳酸锂主力跌破12万元/吨 分析师：定价被远期悲观预期主导 - cai</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https://news.google.com/rss/articles/CBMiXEFVX3lxTE44REZDaEVGcm01NFV0bXg3X2ZseFJTSVBxMTN4azJUUUZJRE1Wckx6TG5jNEtuUk5UT0Y2ZVRXMmJNakpBS1RIM1NDb2doUm45c2s1UVYyZEloTXBu?oc=5</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[4]</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固态电池板块掀涨停潮，产业链核心股曝光-证券之星 - 证券之星</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https://hk.stockstar.com/IG2026092900017662.shtml</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[5]</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湖南裕能：接力融资押扩产，“铁锂一哥”和他身后的周期赌局 | 深度 -</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https://news.google.com/rss/articles/CBMiY0FVX3lxTFBEU01UOUoyRUl1c0VLdkM0TlUycU1Vd3czeHYwOWFEVGlUY21sRHJsZVg1R1F6Z0xqQWM0MF9pVGxOZXFlNjJUa19GNGZuMnFxTHdoRTROQnduMjNYM2wtVnZYNA?oc=5</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[6]</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从亏损3.9亿到赚4.5亿 德方纳米靠磷酸铁锂“翻身”29亿定增获批，</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https://news.google.com/rss/articles/CBMiiAFBVV95cUxNZzBYR3o0UEJLR1ZETGlydTZZWmVTVy1YSFltT090TGNodXVjd3EzUVNlcnVaNV93ZEYzcy1STE9sQkZVdXhEREY1YVNrRGtpNkVsZEJEZTMwTDcwOEJIQjlaUXJfSk1OVjd1S3ZjcnY0VXM1RHpmVjNFQUdFMUJEZk1nbm8zY0d4?oc=5</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[7]</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资本腾挪叠加海外扩产，国轩高科与大众开启新阶段合作 - 碳索储能网</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https://mcn.solarbe.com/news/20260930/50029857.html</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[8]</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【四季报】碳酸锂：强现实、弱预期下的估值重塑 - 新浪财经</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sAFBVV95cUxNRDhIYmc4YVA1VFhILUxrUS1lYlVrWTBGZW80RWRKeEhhUkZYRUZZa3lTV2dySmc4OFdGejdpRjZWVlFJYUJRZFFuNHJ3dnJibXhiY3o4Uy1vNnFYZWhyRk5ubDdEWlFoejNPUnp6LWRlbGRaMUtoZHJXSmQ1ZTFXMnRqQkNtX1NxbGlkVlZ1YzZjWEhQVXBzdjRhY3VUUWIxcS1rMEp6Q0xZVjdIMV9rZw?oc=5</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[9]</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动力电池回收赛道强制合规落地 行业内超九成缺乏技术实力的市场主体面临退</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https://news.google.com/rss/articles/CBMiZkFVX3lxTE1paklHOHpWYTM0LUsxemxjOVpWOGQ4ZnYtNU5Oblg4RXZueTZUT0tUbGVlYXdHeUtpczFVOGZBaFQ4Vl95RHlqc3kwWTJJcGFVZkI4RklJeklqcDJSWGstUUZFU0RQQQ?oc=5</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[10]</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[11]</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https://www.icbattery.com/</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[12]</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https://www.gg-lb.com/</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2026-09-30</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11</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[13]</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https://www.cbea.com/</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[14]</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https://www.stcn.com/</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[15]</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出海日报｜宁德时代匈牙利电芯工厂投产，恩华药业海外授权最高可获5.07</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https://www.jiemian.com/article/15153245.html</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[16]</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国新办举行国务院政策例行吹风会 介绍加强中小企业回款难问题治理有关工作</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http://www.miit.gov.cn/xwfb/bldhd/art/2026/art_7285ee48244d4f20b0f127c7f013ec11.html</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[17]</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工业和信息化部政策文件库</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https://www.miit.gov.cn/search/zcwjk.html?websiteid=110000000000000&amp;pg=&amp;p=&amp;tpl=14&amp;category=183&amp;q=</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[18]</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最新政策</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https://www.miit.gov.cn/xwfb/zxzc/index.html</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[19]</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政策解读</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https://www.miit.gov.cn/zwgk/zcjd/index.html</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[20]</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https://www.ndrc.gov.cn/</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[21]</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https://www.gov.cn/</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[22]</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生态环境部</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生态环境部</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https://www.mee.gov.cn/</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[23]</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万润新能源</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磷酸铁锂-湖北万润新能源科技股份有限公司_动力电池材料_消费电池材料_</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https://www.hbwanrun.com/application_details/1.html</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[24]</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湖南裕能</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湖南裕能</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https://www.yunengchem.com/</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lifepo4_brief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磷酸铁锂行业早报 2026-09-30</dc:title>
  <dc:subject>LFP daily briefing</dc:subject>
  <dc:creator>lifepo4_brief</dc:creator>
  <cp:lastModifiedBy>lifepo4_brief</cp:lastModifiedBy>
  <cp:revision>1</cp:revision>
  <dcterms:created xsi:type="dcterms:W3CDTF">2026-09-30T03:10:50Z</dcterms:created>
  <dcterms:modified xsi:type="dcterms:W3CDTF">2026-09-30T03:10:50Z</dcterms:modified>
</cp:coreProperties>
</file>