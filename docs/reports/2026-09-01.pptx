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焦点集中在协鑫科技乐山一期20万吨产能预计10月底满产，显示头部企业扩产步伐坚定；同时，市场出现关于磷酸铁锂技术路线可能被淘汰的争议性观点，引发对长期技术前景的讨论。此外，碳酸锂价格冲高回落带动磷酸铁锂价格跟涨，成本端压力有所缓解。行业整体处于产能扩张与路线争议并存的阶段。</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今日磷酸铁锂行业焦点集中在协鑫科技乐山一期20万吨产能预计10月底满产，显示头部企业扩产步伐坚定；同时，市场出现关于磷酸铁锂技术路线可能被淘汰</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今日磷酸铁锂行业焦点集中在协鑫科技乐山一期20万吨产能预计10月底满产，显示头部企业扩产步伐坚定；同时，市场出现关于磷酸铁锂技术路线可能被淘汰</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协鑫科技乐山一期20万吨磷酸铁锂产能预计10月底满产，显示头部企业扩产步伐坚定；市场出现磷酸铁锂技术路线可能被淘汰的争议观点，引发对长期前景的讨论；碳酸锂价格冲高回落带动磷酸</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市场出现关于磷酸铁锂技术路线可能被淘汰的争议性观点，引发对长期技术前景的讨论；固态电池等下一代技术发展动态值得关注。</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[4][5]</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1316736"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协鑫科技乐山一期20万吨磷酸铁锂产能预计10月底满产，显示头部企业扩产步伐坚定，行业产能持续扩张。</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[1][6]</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877824"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碳酸锂价格冲高回落，带动磷酸铁锂价格跟涨，成本端压力有所缓解，但价格上行空间或有限。</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[3]</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今日磷酸铁锂行业焦点集中在协鑫科技乐山一期20万吨产能预计10月底满产，显示头部企业扩产步伐坚定；同时，市场出现关于磷酸铁锂技术路线可能被淘汰</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科技乐山一期20万吨磷酸铁锂产能预计10月底满产，显示头部企业扩产步伐坚定；市场出现磷酸铁锂技术路线可能被淘汰的争议观点，引发对长期前景的讨论；碳酸锂价格冲高回落带动磷酸铁锂价格跟涨，成本压力有所缓解。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科技在颗粒硅业务控产提质的同时，磷酸铁锂业务开始贡献利润，其乐山一期20万吨产能满产计划表明公司正积极布局第二增长曲线。与此同时，市场出现关于磷酸铁锂技术路线可能被淘汰的争议性观点，这可能是基于固态电池等下一代技术的竞争预期。结合碳酸锂价格冲高回落带动磷酸铁锂价格跟涨的市场动态，当前行业处于产能扩张、成本博弈与技术路线讨论并存的阶段。</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协鑫科技乐山一期产能按计划于10月底满产，则可能进一步加剧磷酸铁锂市场竞争，对二、三线厂商形成压力。若关于技术路线被淘汰的争议持续发酵，则可能影响资本市场对磷酸铁锂企业的估值，需跟踪固态电池产业化进度及头部企业技术储备。若碳酸锂价格持续回落，则磷酸铁锂价格跟涨空间有限，需关注成本端变化对盈利的影响。</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路线图</a:t>
            </a:r>
            <a:endParaRPr lang="en-US" sz="1200" dirty="0"/>
          </a:p>
        </p:txBody>
      </p:sp>
      <p:sp>
        <p:nvSpPr>
          <p:cNvPr id="24" name="Shape 22"/>
          <p:cNvSpPr/>
          <p:nvPr/>
        </p:nvSpPr>
        <p:spPr>
          <a:xfrm>
            <a:off x="7754112" y="2249424"/>
            <a:ext cx="612648" cy="402336"/>
          </a:xfrm>
          <a:prstGeom prst="chevron">
            <a:avLst/>
          </a:prstGeom>
          <a:solidFill>
            <a:srgbClr val="DDEBE0"/>
          </a:solidFill>
          <a:ln w="13970">
            <a:solidFill>
              <a:srgbClr val="487052"/>
            </a:solidFill>
            <a:prstDash val="solid"/>
          </a:ln>
        </p:spPr>
      </p:sp>
      <p:sp>
        <p:nvSpPr>
          <p:cNvPr id="25" name="Text 23"/>
          <p:cNvSpPr/>
          <p:nvPr/>
        </p:nvSpPr>
        <p:spPr>
          <a:xfrm>
            <a:off x="7827264"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技术</a:t>
            </a:r>
            <a:endParaRPr lang="en-US" sz="670" dirty="0"/>
          </a:p>
        </p:txBody>
      </p:sp>
      <p:sp>
        <p:nvSpPr>
          <p:cNvPr id="26" name="Shape 24"/>
          <p:cNvSpPr/>
          <p:nvPr/>
        </p:nvSpPr>
        <p:spPr>
          <a:xfrm>
            <a:off x="8375904" y="2249424"/>
            <a:ext cx="612648" cy="402336"/>
          </a:xfrm>
          <a:prstGeom prst="chevron">
            <a:avLst/>
          </a:prstGeom>
          <a:solidFill>
            <a:srgbClr val="FFFFFF"/>
          </a:solidFill>
          <a:ln w="13970">
            <a:solidFill>
              <a:srgbClr val="487052"/>
            </a:solidFill>
            <a:prstDash val="solid"/>
          </a:ln>
        </p:spPr>
      </p:sp>
      <p:sp>
        <p:nvSpPr>
          <p:cNvPr id="27" name="Text 25"/>
          <p:cNvSpPr/>
          <p:nvPr/>
        </p:nvSpPr>
        <p:spPr>
          <a:xfrm>
            <a:off x="8449056"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产品</a:t>
            </a:r>
            <a:endParaRPr lang="en-US" sz="670" dirty="0"/>
          </a:p>
        </p:txBody>
      </p:sp>
      <p:sp>
        <p:nvSpPr>
          <p:cNvPr id="28" name="Shape 26"/>
          <p:cNvSpPr/>
          <p:nvPr/>
        </p:nvSpPr>
        <p:spPr>
          <a:xfrm>
            <a:off x="8997696" y="2249424"/>
            <a:ext cx="612648" cy="402336"/>
          </a:xfrm>
          <a:prstGeom prst="chevron">
            <a:avLst/>
          </a:prstGeom>
          <a:solidFill>
            <a:srgbClr val="FFFFFF"/>
          </a:solidFill>
          <a:ln w="13970">
            <a:solidFill>
              <a:srgbClr val="487052"/>
            </a:solidFill>
            <a:prstDash val="solid"/>
          </a:ln>
        </p:spPr>
      </p:sp>
      <p:sp>
        <p:nvSpPr>
          <p:cNvPr id="29" name="Text 27"/>
          <p:cNvSpPr/>
          <p:nvPr/>
        </p:nvSpPr>
        <p:spPr>
          <a:xfrm>
            <a:off x="9070848"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验证</a:t>
            </a:r>
            <a:endParaRPr lang="en-US" sz="670" dirty="0"/>
          </a:p>
        </p:txBody>
      </p:sp>
      <p:sp>
        <p:nvSpPr>
          <p:cNvPr id="30" name="Shape 28"/>
          <p:cNvSpPr/>
          <p:nvPr/>
        </p:nvSpPr>
        <p:spPr>
          <a:xfrm>
            <a:off x="9619488" y="2249424"/>
            <a:ext cx="612648" cy="402336"/>
          </a:xfrm>
          <a:prstGeom prst="chevron">
            <a:avLst/>
          </a:prstGeom>
          <a:solidFill>
            <a:srgbClr val="FFFFFF"/>
          </a:solidFill>
          <a:ln w="13970">
            <a:solidFill>
              <a:srgbClr val="487052"/>
            </a:solidFill>
            <a:prstDash val="solid"/>
          </a:ln>
        </p:spPr>
      </p:sp>
      <p:sp>
        <p:nvSpPr>
          <p:cNvPr id="31" name="Text 29"/>
          <p:cNvSpPr/>
          <p:nvPr/>
        </p:nvSpPr>
        <p:spPr>
          <a:xfrm>
            <a:off x="9692640"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量产</a:t>
            </a:r>
            <a:endParaRPr lang="en-US" sz="670" dirty="0"/>
          </a:p>
        </p:txBody>
      </p:sp>
      <p:sp>
        <p:nvSpPr>
          <p:cNvPr id="32" name="Shape 30"/>
          <p:cNvSpPr/>
          <p:nvPr/>
        </p:nvSpPr>
        <p:spPr>
          <a:xfrm>
            <a:off x="7882128" y="3063240"/>
            <a:ext cx="2331720" cy="0"/>
          </a:xfrm>
          <a:prstGeom prst="line">
            <a:avLst/>
          </a:prstGeom>
          <a:noFill/>
          <a:ln w="13970">
            <a:solidFill>
              <a:srgbClr val="7F9D84"/>
            </a:solidFill>
            <a:prstDash val="solid"/>
          </a:ln>
        </p:spPr>
      </p:sp>
      <p:sp>
        <p:nvSpPr>
          <p:cNvPr id="33" name="Shape 31"/>
          <p:cNvSpPr/>
          <p:nvPr/>
        </p:nvSpPr>
        <p:spPr>
          <a:xfrm>
            <a:off x="7845552" y="2962656"/>
            <a:ext cx="164592" cy="164592"/>
          </a:xfrm>
          <a:prstGeom prst="ellipse">
            <a:avLst/>
          </a:prstGeom>
          <a:solidFill>
            <a:srgbClr val="487052"/>
          </a:solidFill>
          <a:ln w="12700">
            <a:solidFill>
              <a:srgbClr val="FFFFFF"/>
            </a:solidFill>
            <a:prstDash val="solid"/>
          </a:ln>
        </p:spPr>
      </p:sp>
      <p:sp>
        <p:nvSpPr>
          <p:cNvPr id="34" name="Text 32"/>
          <p:cNvSpPr/>
          <p:nvPr/>
        </p:nvSpPr>
        <p:spPr>
          <a:xfrm>
            <a:off x="7754112"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协鑫科技乐山一期20万</a:t>
            </a:r>
            <a:endParaRPr lang="en-US" sz="670" dirty="0"/>
          </a:p>
        </p:txBody>
      </p:sp>
      <p:sp>
        <p:nvSpPr>
          <p:cNvPr id="35" name="Shape 33"/>
          <p:cNvSpPr/>
          <p:nvPr/>
        </p:nvSpPr>
        <p:spPr>
          <a:xfrm>
            <a:off x="8503920" y="2962656"/>
            <a:ext cx="164592" cy="164592"/>
          </a:xfrm>
          <a:prstGeom prst="ellipse">
            <a:avLst/>
          </a:prstGeom>
          <a:solidFill>
            <a:srgbClr val="487052"/>
          </a:solidFill>
          <a:ln w="12700">
            <a:solidFill>
              <a:srgbClr val="FFFFFF"/>
            </a:solidFill>
            <a:prstDash val="solid"/>
          </a:ln>
        </p:spPr>
      </p:sp>
      <p:sp>
        <p:nvSpPr>
          <p:cNvPr id="36" name="Text 34"/>
          <p:cNvSpPr/>
          <p:nvPr/>
        </p:nvSpPr>
        <p:spPr>
          <a:xfrm>
            <a:off x="8412480"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市场出现磷酸铁锂技术路</a:t>
            </a:r>
            <a:endParaRPr lang="en-US" sz="670" dirty="0"/>
          </a:p>
        </p:txBody>
      </p:sp>
      <p:sp>
        <p:nvSpPr>
          <p:cNvPr id="37" name="Shape 35"/>
          <p:cNvSpPr/>
          <p:nvPr/>
        </p:nvSpPr>
        <p:spPr>
          <a:xfrm>
            <a:off x="9162288" y="2962656"/>
            <a:ext cx="164592" cy="164592"/>
          </a:xfrm>
          <a:prstGeom prst="ellipse">
            <a:avLst/>
          </a:prstGeom>
          <a:solidFill>
            <a:srgbClr val="487052"/>
          </a:solidFill>
          <a:ln w="12700">
            <a:solidFill>
              <a:srgbClr val="FFFFFF"/>
            </a:solidFill>
            <a:prstDash val="solid"/>
          </a:ln>
        </p:spPr>
      </p:sp>
      <p:sp>
        <p:nvSpPr>
          <p:cNvPr id="38" name="Text 36"/>
          <p:cNvSpPr/>
          <p:nvPr/>
        </p:nvSpPr>
        <p:spPr>
          <a:xfrm>
            <a:off x="9070848"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碳酸锂价格冲高回落带动</a:t>
            </a:r>
            <a:endParaRPr lang="en-US" sz="670" dirty="0"/>
          </a:p>
        </p:txBody>
      </p:sp>
      <p:sp>
        <p:nvSpPr>
          <p:cNvPr id="39" name="Shape 37"/>
          <p:cNvSpPr/>
          <p:nvPr/>
        </p:nvSpPr>
        <p:spPr>
          <a:xfrm>
            <a:off x="9820656" y="2962656"/>
            <a:ext cx="164592" cy="164592"/>
          </a:xfrm>
          <a:prstGeom prst="ellipse">
            <a:avLst/>
          </a:prstGeom>
          <a:solidFill>
            <a:srgbClr val="B85A4A"/>
          </a:solidFill>
          <a:ln w="12700">
            <a:solidFill>
              <a:srgbClr val="FFFFFF"/>
            </a:solidFill>
            <a:prstDash val="solid"/>
          </a:ln>
        </p:spPr>
      </p:sp>
      <p:sp>
        <p:nvSpPr>
          <p:cNvPr id="40" name="Text 38"/>
          <p:cNvSpPr/>
          <p:nvPr/>
        </p:nvSpPr>
        <p:spPr>
          <a:xfrm>
            <a:off x="9729216"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碳酸锂价格冲高回落带动</a:t>
            </a:r>
            <a:endParaRPr lang="en-US" sz="670" dirty="0"/>
          </a:p>
        </p:txBody>
      </p:sp>
      <p:sp>
        <p:nvSpPr>
          <p:cNvPr id="41" name="Text 39"/>
          <p:cNvSpPr/>
          <p:nvPr/>
        </p:nvSpPr>
        <p:spPr>
          <a:xfrm>
            <a:off x="7726680" y="4315968"/>
            <a:ext cx="2697480" cy="384048"/>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参考培训 PPT 的阶段路线表达，按事件顺序拆成判断路径。</a:t>
            </a:r>
            <a:endParaRPr lang="en-US" sz="760" dirty="0"/>
          </a:p>
        </p:txBody>
      </p:sp>
      <p:sp>
        <p:nvSpPr>
          <p:cNvPr id="42" name="Shape 40"/>
          <p:cNvSpPr/>
          <p:nvPr/>
        </p:nvSpPr>
        <p:spPr>
          <a:xfrm>
            <a:off x="658368" y="5779008"/>
            <a:ext cx="1463040" cy="292608"/>
          </a:xfrm>
          <a:prstGeom prst="rect">
            <a:avLst/>
          </a:prstGeom>
          <a:solidFill>
            <a:srgbClr val="121212"/>
          </a:solidFill>
          <a:ln w="12700">
            <a:solidFill>
              <a:srgbClr val="121212"/>
            </a:solidFill>
            <a:prstDash val="solid"/>
          </a:ln>
        </p:spPr>
      </p:sp>
      <p:sp>
        <p:nvSpPr>
          <p:cNvPr id="43" name="Text 4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4" name="Text 4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若协鑫科技乐山一期产能按计划于10月底满产，则可能进一步加剧磷酸铁锂市场竞争，对二、三线厂商形成压力</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市场出现关于磷酸铁锂技术路线可能被淘汰的争议性观点，引发对长期技术前景的讨论；固态电池等下一代技术发展动态值得关注。 [4][5]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新浪财经发布博主文章，再次提出磷酸铁锂技术路线可能第一个被淘汰的观点，并称有逻辑支撑。该观点可能基于固态电池、钠离子电池等新兴技术的竞争潜力。尽管磷酸铁锂当前在成本和安全性上具有优势，但技术迭代风险不容忽视。该讨论可能影响市场对磷酸铁锂长期前景的预期。</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固态电池等下一代电池技术产业化进程加速，则可能对磷酸铁锂技术路线构成实质性替代威胁，需跟踪固态电池量产时间表及性能突破。若磷酸铁锂在储能等新兴应用领域持续拓展，则可能延缓其被淘汰的进程，需关注各应用领域的需求变化。</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市场出现关于磷酸铁锂技术路</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固态电池等下一代技术发展动</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[4][5] 新浪财经发布</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市场出现关于磷酸铁锂技术路</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若固态电池等下一代电池技术产业化进程加速，则可能对磷酸铁锂技术路线构成实质性替代威胁，需跟踪固态电池量产时间表及性能突破</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协鑫科技乐山一期20万吨磷酸铁锂产能预计10月底满产，显示头部企业扩产步伐坚定，行业产能持续扩张。 [1][6]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科技宣布乐山一期20万吨磷酸铁锂产能预计10月底满产，这是继其磷酸铁锂业务开始贡献利润后的又一重要进展。该产能的释放将进一步增强协鑫科技在磷酸铁锂市场的竞争力，同时也加剧了行业整体的产能过剩风险。此举表明头部企业仍在逆势扩产，行业集中度有望进一步提升。</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若协鑫科技乐山一期产能顺利满产，则可能带动其磷酸铁锂业务规模效应显现，进一步降低成本，对竞争对手形成压力。若行业产能过剩加剧，则可能引发价格战，需跟踪行业整体开工率及库存水平。</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落地链路</a:t>
            </a:r>
            <a:endParaRPr lang="en-US" sz="1200" dirty="0"/>
          </a:p>
        </p:txBody>
      </p:sp>
      <p:sp>
        <p:nvSpPr>
          <p:cNvPr id="24" name="Shape 22"/>
          <p:cNvSpPr/>
          <p:nvPr/>
        </p:nvSpPr>
        <p:spPr>
          <a:xfrm>
            <a:off x="7882128" y="2029968"/>
            <a:ext cx="2377440" cy="365760"/>
          </a:xfrm>
          <a:prstGeom prst="roundRect">
            <a:avLst>
              <a:gd name="adj" fmla="val 10000"/>
            </a:avLst>
          </a:prstGeom>
          <a:solidFill>
            <a:srgbClr val="F4FAF6"/>
          </a:solidFill>
          <a:ln w="8890">
            <a:solidFill>
              <a:srgbClr val="DADADA"/>
            </a:solidFill>
            <a:prstDash val="solid"/>
          </a:ln>
        </p:spPr>
      </p:sp>
      <p:sp>
        <p:nvSpPr>
          <p:cNvPr id="25" name="Text 23"/>
          <p:cNvSpPr/>
          <p:nvPr/>
        </p:nvSpPr>
        <p:spPr>
          <a:xfrm>
            <a:off x="8028432" y="2139696"/>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产能</a:t>
            </a:r>
            <a:endParaRPr lang="en-US" sz="720" dirty="0"/>
          </a:p>
        </p:txBody>
      </p:sp>
      <p:sp>
        <p:nvSpPr>
          <p:cNvPr id="26" name="Text 24"/>
          <p:cNvSpPr/>
          <p:nvPr/>
        </p:nvSpPr>
        <p:spPr>
          <a:xfrm>
            <a:off x="8613648" y="2139696"/>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协鑫科技乐山一期20万吨磷酸铁锂产</a:t>
            </a:r>
            <a:endParaRPr lang="en-US" sz="700" dirty="0"/>
          </a:p>
        </p:txBody>
      </p:sp>
      <p:sp>
        <p:nvSpPr>
          <p:cNvPr id="27" name="Shape 25"/>
          <p:cNvSpPr/>
          <p:nvPr/>
        </p:nvSpPr>
        <p:spPr>
          <a:xfrm>
            <a:off x="8979408" y="2441448"/>
            <a:ext cx="164592" cy="146304"/>
          </a:xfrm>
          <a:prstGeom prst="downArrow">
            <a:avLst/>
          </a:prstGeom>
          <a:solidFill>
            <a:srgbClr val="7F9D84"/>
          </a:solidFill>
          <a:ln w="12700">
            <a:solidFill>
              <a:srgbClr val="7F9D84"/>
            </a:solidFill>
            <a:prstDash val="solid"/>
          </a:ln>
        </p:spPr>
      </p:sp>
      <p:sp>
        <p:nvSpPr>
          <p:cNvPr id="28" name="Shape 26"/>
          <p:cNvSpPr/>
          <p:nvPr/>
        </p:nvSpPr>
        <p:spPr>
          <a:xfrm>
            <a:off x="7882128" y="2596896"/>
            <a:ext cx="2377440" cy="365760"/>
          </a:xfrm>
          <a:prstGeom prst="roundRect">
            <a:avLst>
              <a:gd name="adj" fmla="val 10000"/>
            </a:avLst>
          </a:prstGeom>
          <a:solidFill>
            <a:srgbClr val="FFFFFF"/>
          </a:solidFill>
          <a:ln w="8890">
            <a:solidFill>
              <a:srgbClr val="DADADA"/>
            </a:solidFill>
            <a:prstDash val="solid"/>
          </a:ln>
        </p:spPr>
      </p:sp>
      <p:sp>
        <p:nvSpPr>
          <p:cNvPr id="29" name="Text 27"/>
          <p:cNvSpPr/>
          <p:nvPr/>
        </p:nvSpPr>
        <p:spPr>
          <a:xfrm>
            <a:off x="8028432" y="2706624"/>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客户</a:t>
            </a:r>
            <a:endParaRPr lang="en-US" sz="720" dirty="0"/>
          </a:p>
        </p:txBody>
      </p:sp>
      <p:sp>
        <p:nvSpPr>
          <p:cNvPr id="30" name="Text 28"/>
          <p:cNvSpPr/>
          <p:nvPr/>
        </p:nvSpPr>
        <p:spPr>
          <a:xfrm>
            <a:off x="8613648" y="2706624"/>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[1][6] 协鑫科技宣布乐山一期</a:t>
            </a:r>
            <a:endParaRPr lang="en-US" sz="700" dirty="0"/>
          </a:p>
        </p:txBody>
      </p:sp>
      <p:sp>
        <p:nvSpPr>
          <p:cNvPr id="31" name="Shape 29"/>
          <p:cNvSpPr/>
          <p:nvPr/>
        </p:nvSpPr>
        <p:spPr>
          <a:xfrm>
            <a:off x="8979408" y="3008376"/>
            <a:ext cx="164592" cy="146304"/>
          </a:xfrm>
          <a:prstGeom prst="downArrow">
            <a:avLst/>
          </a:prstGeom>
          <a:solidFill>
            <a:srgbClr val="7F9D84"/>
          </a:solidFill>
          <a:ln w="12700">
            <a:solidFill>
              <a:srgbClr val="7F9D84"/>
            </a:solidFill>
            <a:prstDash val="solid"/>
          </a:ln>
        </p:spPr>
      </p:sp>
      <p:sp>
        <p:nvSpPr>
          <p:cNvPr id="32" name="Shape 30"/>
          <p:cNvSpPr/>
          <p:nvPr/>
        </p:nvSpPr>
        <p:spPr>
          <a:xfrm>
            <a:off x="7882128" y="3163824"/>
            <a:ext cx="2377440" cy="365760"/>
          </a:xfrm>
          <a:prstGeom prst="roundRect">
            <a:avLst>
              <a:gd name="adj" fmla="val 10000"/>
            </a:avLst>
          </a:prstGeom>
          <a:solidFill>
            <a:srgbClr val="F4FAF6"/>
          </a:solidFill>
          <a:ln w="8890">
            <a:solidFill>
              <a:srgbClr val="DADADA"/>
            </a:solidFill>
            <a:prstDash val="solid"/>
          </a:ln>
        </p:spPr>
      </p:sp>
      <p:sp>
        <p:nvSpPr>
          <p:cNvPr id="33" name="Text 31"/>
          <p:cNvSpPr/>
          <p:nvPr/>
        </p:nvSpPr>
        <p:spPr>
          <a:xfrm>
            <a:off x="8028432" y="3273552"/>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落地</a:t>
            </a:r>
            <a:endParaRPr lang="en-US" sz="720" dirty="0"/>
          </a:p>
        </p:txBody>
      </p:sp>
      <p:sp>
        <p:nvSpPr>
          <p:cNvPr id="34" name="Text 32"/>
          <p:cNvSpPr/>
          <p:nvPr/>
        </p:nvSpPr>
        <p:spPr>
          <a:xfrm>
            <a:off x="8613648" y="3273552"/>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该产能的释放将进一步增强协鑫科技在</a:t>
            </a:r>
            <a:endParaRPr lang="en-US" sz="700" dirty="0"/>
          </a:p>
        </p:txBody>
      </p:sp>
      <p:sp>
        <p:nvSpPr>
          <p:cNvPr id="35" name="Text 33"/>
          <p:cNvSpPr/>
          <p:nvPr/>
        </p:nvSpPr>
        <p:spPr>
          <a:xfrm>
            <a:off x="7726680" y="4535424"/>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用企业、项目、产能、客户的链路承接文字结论。</a:t>
            </a:r>
            <a:endParaRPr lang="en-US" sz="760" dirty="0"/>
          </a:p>
        </p:txBody>
      </p:sp>
      <p:sp>
        <p:nvSpPr>
          <p:cNvPr id="36" name="Shape 34"/>
          <p:cNvSpPr/>
          <p:nvPr/>
        </p:nvSpPr>
        <p:spPr>
          <a:xfrm>
            <a:off x="658368" y="5779008"/>
            <a:ext cx="1463040" cy="292608"/>
          </a:xfrm>
          <a:prstGeom prst="rect">
            <a:avLst/>
          </a:prstGeom>
          <a:solidFill>
            <a:srgbClr val="121212"/>
          </a:solidFill>
          <a:ln w="12700">
            <a:solidFill>
              <a:srgbClr val="121212"/>
            </a:solidFill>
            <a:prstDash val="solid"/>
          </a:ln>
        </p:spPr>
      </p:sp>
      <p:sp>
        <p:nvSpPr>
          <p:cNvPr id="37" name="Text 35"/>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8" name="Text 36"/>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若协鑫科技乐山一期产能顺利满产，则可能带动其磷酸铁锂业务规模效应显现，进一步降低成本，对竞争对手形成压力</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碳酸锂价格冲高回落，带动磷酸铁锂价格跟涨，成本端压力有所缓解，但价格上行空间或有限。 [3]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根据伊斯特化学微视界公众号发布的锂电池主要材料价格行情，上周碳酸锂价格冲高回落，磷酸铁锂价格跟涨。这表明成本端的变化正在向磷酸铁锂价格传导。碳酸锂价格回落有助于缓解磷酸铁锂企业的成本压力，但若下游需求不及预期，价格上涨的持续性存疑。</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碳酸锂价格持续回落，则磷酸铁锂价格可能获得成本支撑减弱，价格上行空间受限，需跟踪碳酸锂供需格局变化。若下游需求回暖，则磷酸铁锂价格有望在成本推动下继续上行，需关注电芯厂采购节奏及库存策略。</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因果图</a:t>
            </a:r>
            <a:endParaRPr lang="en-US" sz="1200" dirty="0"/>
          </a:p>
        </p:txBody>
      </p:sp>
      <p:sp>
        <p:nvSpPr>
          <p:cNvPr id="24" name="Shape 22"/>
          <p:cNvSpPr/>
          <p:nvPr/>
        </p:nvSpPr>
        <p:spPr>
          <a:xfrm>
            <a:off x="7845552" y="3063240"/>
            <a:ext cx="2432304" cy="0"/>
          </a:xfrm>
          <a:prstGeom prst="line">
            <a:avLst/>
          </a:prstGeom>
          <a:noFill/>
          <a:ln w="15240">
            <a:solidFill>
              <a:srgbClr val="487052"/>
            </a:solidFill>
            <a:prstDash val="solid"/>
          </a:ln>
        </p:spPr>
      </p:sp>
      <p:sp>
        <p:nvSpPr>
          <p:cNvPr id="25" name="Shape 23"/>
          <p:cNvSpPr/>
          <p:nvPr/>
        </p:nvSpPr>
        <p:spPr>
          <a:xfrm>
            <a:off x="10012680" y="2889504"/>
            <a:ext cx="384048" cy="347472"/>
          </a:xfrm>
          <a:prstGeom prst="rightArrow">
            <a:avLst/>
          </a:prstGeom>
          <a:solidFill>
            <a:srgbClr val="487052"/>
          </a:solidFill>
          <a:ln w="12700">
            <a:solidFill>
              <a:srgbClr val="487052"/>
            </a:solidFill>
            <a:prstDash val="solid"/>
          </a:ln>
        </p:spPr>
      </p:sp>
      <p:sp>
        <p:nvSpPr>
          <p:cNvPr id="26" name="Text 24"/>
          <p:cNvSpPr/>
          <p:nvPr/>
        </p:nvSpPr>
        <p:spPr>
          <a:xfrm>
            <a:off x="9893808" y="3310128"/>
            <a:ext cx="475488" cy="146304"/>
          </a:xfrm>
          <a:prstGeom prst="rect">
            <a:avLst/>
          </a:prstGeom>
          <a:noFill/>
          <a:ln/>
        </p:spPr>
        <p:txBody>
          <a:bodyPr wrap="square" lIns="0" tIns="0" rIns="0" bIns="0" rtlCol="0" anchor="ct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影响</a:t>
            </a:r>
            <a:endParaRPr lang="en-US" sz="740" dirty="0"/>
          </a:p>
        </p:txBody>
      </p:sp>
      <p:sp>
        <p:nvSpPr>
          <p:cNvPr id="27" name="Shape 25"/>
          <p:cNvSpPr/>
          <p:nvPr/>
        </p:nvSpPr>
        <p:spPr>
          <a:xfrm>
            <a:off x="8028432" y="2359152"/>
            <a:ext cx="402336" cy="704088"/>
          </a:xfrm>
          <a:prstGeom prst="line">
            <a:avLst/>
          </a:prstGeom>
          <a:noFill/>
          <a:ln w="11430">
            <a:solidFill>
              <a:srgbClr val="7F9D84"/>
            </a:solidFill>
            <a:prstDash val="solid"/>
          </a:ln>
        </p:spPr>
      </p:sp>
      <p:sp>
        <p:nvSpPr>
          <p:cNvPr id="28" name="Shape 26"/>
          <p:cNvSpPr/>
          <p:nvPr/>
        </p:nvSpPr>
        <p:spPr>
          <a:xfrm>
            <a:off x="7882128" y="2249424"/>
            <a:ext cx="786384" cy="310896"/>
          </a:xfrm>
          <a:prstGeom prst="roundRect">
            <a:avLst>
              <a:gd name="adj" fmla="val 11765"/>
            </a:avLst>
          </a:prstGeom>
          <a:solidFill>
            <a:srgbClr val="F4FAF6"/>
          </a:solidFill>
          <a:ln w="7620">
            <a:solidFill>
              <a:srgbClr val="DADADA"/>
            </a:solidFill>
            <a:prstDash val="solid"/>
          </a:ln>
        </p:spPr>
      </p:sp>
      <p:sp>
        <p:nvSpPr>
          <p:cNvPr id="29" name="Text 27"/>
          <p:cNvSpPr/>
          <p:nvPr/>
        </p:nvSpPr>
        <p:spPr>
          <a:xfrm>
            <a:off x="7973568"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价格</a:t>
            </a:r>
            <a:endParaRPr lang="en-US" sz="680" dirty="0"/>
          </a:p>
        </p:txBody>
      </p:sp>
      <p:sp>
        <p:nvSpPr>
          <p:cNvPr id="30" name="Text 28"/>
          <p:cNvSpPr/>
          <p:nvPr/>
        </p:nvSpPr>
        <p:spPr>
          <a:xfrm>
            <a:off x="7863840"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碳酸锂价格冲高回落</a:t>
            </a:r>
            <a:endParaRPr lang="en-US" sz="640" dirty="0"/>
          </a:p>
        </p:txBody>
      </p:sp>
      <p:sp>
        <p:nvSpPr>
          <p:cNvPr id="31" name="Shape 29"/>
          <p:cNvSpPr/>
          <p:nvPr/>
        </p:nvSpPr>
        <p:spPr>
          <a:xfrm>
            <a:off x="8686800" y="3063240"/>
            <a:ext cx="402336" cy="685800"/>
          </a:xfrm>
          <a:prstGeom prst="line">
            <a:avLst/>
          </a:prstGeom>
          <a:noFill/>
          <a:ln w="11430">
            <a:solidFill>
              <a:srgbClr val="7F9D84"/>
            </a:solidFill>
            <a:prstDash val="solid"/>
          </a:ln>
        </p:spPr>
      </p:sp>
      <p:sp>
        <p:nvSpPr>
          <p:cNvPr id="32" name="Shape 30"/>
          <p:cNvSpPr/>
          <p:nvPr/>
        </p:nvSpPr>
        <p:spPr>
          <a:xfrm>
            <a:off x="8540496" y="3639312"/>
            <a:ext cx="786384" cy="310896"/>
          </a:xfrm>
          <a:prstGeom prst="roundRect">
            <a:avLst>
              <a:gd name="adj" fmla="val 11765"/>
            </a:avLst>
          </a:prstGeom>
          <a:solidFill>
            <a:srgbClr val="F4FAF6"/>
          </a:solidFill>
          <a:ln w="7620">
            <a:solidFill>
              <a:srgbClr val="DADADA"/>
            </a:solidFill>
            <a:prstDash val="solid"/>
          </a:ln>
        </p:spPr>
      </p:sp>
      <p:sp>
        <p:nvSpPr>
          <p:cNvPr id="33" name="Text 31"/>
          <p:cNvSpPr/>
          <p:nvPr/>
        </p:nvSpPr>
        <p:spPr>
          <a:xfrm>
            <a:off x="8631936" y="3739896"/>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成本</a:t>
            </a:r>
            <a:endParaRPr lang="en-US" sz="680" dirty="0"/>
          </a:p>
        </p:txBody>
      </p:sp>
      <p:sp>
        <p:nvSpPr>
          <p:cNvPr id="34" name="Text 32"/>
          <p:cNvSpPr/>
          <p:nvPr/>
        </p:nvSpPr>
        <p:spPr>
          <a:xfrm>
            <a:off x="8522208" y="4005072"/>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[3] 根据伊斯特</a:t>
            </a:r>
            <a:endParaRPr lang="en-US" sz="640" dirty="0"/>
          </a:p>
        </p:txBody>
      </p:sp>
      <p:sp>
        <p:nvSpPr>
          <p:cNvPr id="35" name="Shape 33"/>
          <p:cNvSpPr/>
          <p:nvPr/>
        </p:nvSpPr>
        <p:spPr>
          <a:xfrm>
            <a:off x="9345168" y="2359152"/>
            <a:ext cx="402336" cy="704088"/>
          </a:xfrm>
          <a:prstGeom prst="line">
            <a:avLst/>
          </a:prstGeom>
          <a:noFill/>
          <a:ln w="11430">
            <a:solidFill>
              <a:srgbClr val="7F9D84"/>
            </a:solidFill>
            <a:prstDash val="solid"/>
          </a:ln>
        </p:spPr>
      </p:sp>
      <p:sp>
        <p:nvSpPr>
          <p:cNvPr id="36" name="Shape 34"/>
          <p:cNvSpPr/>
          <p:nvPr/>
        </p:nvSpPr>
        <p:spPr>
          <a:xfrm>
            <a:off x="9198864" y="2249424"/>
            <a:ext cx="786384" cy="310896"/>
          </a:xfrm>
          <a:prstGeom prst="roundRect">
            <a:avLst>
              <a:gd name="adj" fmla="val 11765"/>
            </a:avLst>
          </a:prstGeom>
          <a:solidFill>
            <a:srgbClr val="F4FAF6"/>
          </a:solidFill>
          <a:ln w="7620">
            <a:solidFill>
              <a:srgbClr val="DADADA"/>
            </a:solidFill>
            <a:prstDash val="solid"/>
          </a:ln>
        </p:spPr>
      </p:sp>
      <p:sp>
        <p:nvSpPr>
          <p:cNvPr id="37" name="Text 35"/>
          <p:cNvSpPr/>
          <p:nvPr/>
        </p:nvSpPr>
        <p:spPr>
          <a:xfrm>
            <a:off x="9290304"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利润</a:t>
            </a:r>
            <a:endParaRPr lang="en-US" sz="680" dirty="0"/>
          </a:p>
        </p:txBody>
      </p:sp>
      <p:sp>
        <p:nvSpPr>
          <p:cNvPr id="38" name="Text 36"/>
          <p:cNvSpPr/>
          <p:nvPr/>
        </p:nvSpPr>
        <p:spPr>
          <a:xfrm>
            <a:off x="9180576"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这表明成本端的变化</a:t>
            </a:r>
            <a:endParaRPr lang="en-US" sz="640" dirty="0"/>
          </a:p>
        </p:txBody>
      </p:sp>
      <p:sp>
        <p:nvSpPr>
          <p:cNvPr id="39" name="Text 37"/>
          <p:cNvSpPr/>
          <p:nvPr/>
        </p:nvSpPr>
        <p:spPr>
          <a:xfrm>
            <a:off x="7726680" y="4517136"/>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参考鱼骨图逻辑，只表达来源文本中的原因和影响。</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若碳酸锂价格持续回落，则磷酸铁锂价格可能获得成本支撑减弱，价格上行空间受限，需跟踪碳酸锂供需格局变化</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海南首单新能源汽车动力电池保税维修业务落地，显示电池后市场政策环境趋于完善；行业规范与绿色采购机制持续完善。 [7][8]</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依据：[7][8]</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海南落地首单新能源汽车动力电池保税维修业务，表明电池维修、回收等后市场环节的政策环境正在逐步完善。同时，三峡集团召开能源行业绿色采购创新机制研讨暨绿色采购指标审查会议，显示下游应用端对绿色采购的重视。这些政策动向有利于规范电池全生命周期管理，但也可能对电池生产企业的回收责任提出更高要求。</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电池后市场政策持续完善，则可能催生新的商业模式，对电池生产企业的回收体系提出更高要求，需关注相关配套政策落地情况。若绿色采购成为主流趋势，则可能倒逼磷酸铁锂生产企业提升环保标准，需关注行业规范修订动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海南首单新能源汽车动力电池保税维修</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行业规范与绿色采购机制持续完善</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[7][8] 海南落地首单新能源汽</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若电池后市场政策持续完善，则可能催生新的商业模式，对电池生产企业的回收体系提出更高要求，需关注相关配套政策落地情况</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协鑫科技磷酸铁锂业务开始贡献利润，并推进乐山一期20万吨产能满产，成为行业重要的扩产力量；Aqua Metals与WMC集团签署碳酸锂包销意向书，显示回收领域企业也在积极布局上游资源。 [9][10]</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依据：[9][10]</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协鑫科技在颗粒硅业务之外，磷酸铁锂业务已开始贡献利润，并计划10月底实现乐山一期20万吨产能满产，表明其正快速成为磷酸铁锂领域的重要参与者。同时，Aqua Metals与WMC集团签署碳酸锂包销意向书，显示电池回收企业也在向上游资源环节延伸。这些动态表明行业竞争已从单一的电芯制造扩展到资源回收、材料生产等全产业链。</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协鑫科技磷酸铁锂产能持续释放，则可能改变行业竞争格局，对现有头部企业构成挑战，需跟踪其产能爬坡及客户开拓情况。若回收企业向上游资源延伸成为趋势，则可能影响碳酸锂的供应格局，需关注回收技术的规模化进展。</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路线图</a:t>
            </a:r>
            <a:endParaRPr lang="en-US" sz="1200" dirty="0"/>
          </a:p>
        </p:txBody>
      </p:sp>
      <p:sp>
        <p:nvSpPr>
          <p:cNvPr id="24" name="Shape 22"/>
          <p:cNvSpPr/>
          <p:nvPr/>
        </p:nvSpPr>
        <p:spPr>
          <a:xfrm>
            <a:off x="7754112" y="2249424"/>
            <a:ext cx="612648" cy="402336"/>
          </a:xfrm>
          <a:prstGeom prst="chevron">
            <a:avLst/>
          </a:prstGeom>
          <a:solidFill>
            <a:srgbClr val="DDEBE0"/>
          </a:solidFill>
          <a:ln w="13970">
            <a:solidFill>
              <a:srgbClr val="487052"/>
            </a:solidFill>
            <a:prstDash val="solid"/>
          </a:ln>
        </p:spPr>
      </p:sp>
      <p:sp>
        <p:nvSpPr>
          <p:cNvPr id="25" name="Text 23"/>
          <p:cNvSpPr/>
          <p:nvPr/>
        </p:nvSpPr>
        <p:spPr>
          <a:xfrm>
            <a:off x="7827264"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技术</a:t>
            </a:r>
            <a:endParaRPr lang="en-US" sz="670" dirty="0"/>
          </a:p>
        </p:txBody>
      </p:sp>
      <p:sp>
        <p:nvSpPr>
          <p:cNvPr id="26" name="Shape 24"/>
          <p:cNvSpPr/>
          <p:nvPr/>
        </p:nvSpPr>
        <p:spPr>
          <a:xfrm>
            <a:off x="8375904" y="2249424"/>
            <a:ext cx="612648" cy="402336"/>
          </a:xfrm>
          <a:prstGeom prst="chevron">
            <a:avLst/>
          </a:prstGeom>
          <a:solidFill>
            <a:srgbClr val="FFFFFF"/>
          </a:solidFill>
          <a:ln w="13970">
            <a:solidFill>
              <a:srgbClr val="487052"/>
            </a:solidFill>
            <a:prstDash val="solid"/>
          </a:ln>
        </p:spPr>
      </p:sp>
      <p:sp>
        <p:nvSpPr>
          <p:cNvPr id="27" name="Text 25"/>
          <p:cNvSpPr/>
          <p:nvPr/>
        </p:nvSpPr>
        <p:spPr>
          <a:xfrm>
            <a:off x="8449056"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产品</a:t>
            </a:r>
            <a:endParaRPr lang="en-US" sz="670" dirty="0"/>
          </a:p>
        </p:txBody>
      </p:sp>
      <p:sp>
        <p:nvSpPr>
          <p:cNvPr id="28" name="Shape 26"/>
          <p:cNvSpPr/>
          <p:nvPr/>
        </p:nvSpPr>
        <p:spPr>
          <a:xfrm>
            <a:off x="8997696" y="2249424"/>
            <a:ext cx="612648" cy="402336"/>
          </a:xfrm>
          <a:prstGeom prst="chevron">
            <a:avLst/>
          </a:prstGeom>
          <a:solidFill>
            <a:srgbClr val="FFFFFF"/>
          </a:solidFill>
          <a:ln w="13970">
            <a:solidFill>
              <a:srgbClr val="487052"/>
            </a:solidFill>
            <a:prstDash val="solid"/>
          </a:ln>
        </p:spPr>
      </p:sp>
      <p:sp>
        <p:nvSpPr>
          <p:cNvPr id="29" name="Text 27"/>
          <p:cNvSpPr/>
          <p:nvPr/>
        </p:nvSpPr>
        <p:spPr>
          <a:xfrm>
            <a:off x="9070848"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验证</a:t>
            </a:r>
            <a:endParaRPr lang="en-US" sz="670" dirty="0"/>
          </a:p>
        </p:txBody>
      </p:sp>
      <p:sp>
        <p:nvSpPr>
          <p:cNvPr id="30" name="Shape 28"/>
          <p:cNvSpPr/>
          <p:nvPr/>
        </p:nvSpPr>
        <p:spPr>
          <a:xfrm>
            <a:off x="9619488" y="2249424"/>
            <a:ext cx="612648" cy="402336"/>
          </a:xfrm>
          <a:prstGeom prst="chevron">
            <a:avLst/>
          </a:prstGeom>
          <a:solidFill>
            <a:srgbClr val="FFFFFF"/>
          </a:solidFill>
          <a:ln w="13970">
            <a:solidFill>
              <a:srgbClr val="487052"/>
            </a:solidFill>
            <a:prstDash val="solid"/>
          </a:ln>
        </p:spPr>
      </p:sp>
      <p:sp>
        <p:nvSpPr>
          <p:cNvPr id="31" name="Text 29"/>
          <p:cNvSpPr/>
          <p:nvPr/>
        </p:nvSpPr>
        <p:spPr>
          <a:xfrm>
            <a:off x="9692640"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量产</a:t>
            </a:r>
            <a:endParaRPr lang="en-US" sz="670" dirty="0"/>
          </a:p>
        </p:txBody>
      </p:sp>
      <p:sp>
        <p:nvSpPr>
          <p:cNvPr id="32" name="Shape 30"/>
          <p:cNvSpPr/>
          <p:nvPr/>
        </p:nvSpPr>
        <p:spPr>
          <a:xfrm>
            <a:off x="7882128" y="3063240"/>
            <a:ext cx="2331720" cy="0"/>
          </a:xfrm>
          <a:prstGeom prst="line">
            <a:avLst/>
          </a:prstGeom>
          <a:noFill/>
          <a:ln w="13970">
            <a:solidFill>
              <a:srgbClr val="7F9D84"/>
            </a:solidFill>
            <a:prstDash val="solid"/>
          </a:ln>
        </p:spPr>
      </p:sp>
      <p:sp>
        <p:nvSpPr>
          <p:cNvPr id="33" name="Shape 31"/>
          <p:cNvSpPr/>
          <p:nvPr/>
        </p:nvSpPr>
        <p:spPr>
          <a:xfrm>
            <a:off x="7845552" y="2962656"/>
            <a:ext cx="164592" cy="164592"/>
          </a:xfrm>
          <a:prstGeom prst="ellipse">
            <a:avLst/>
          </a:prstGeom>
          <a:solidFill>
            <a:srgbClr val="487052"/>
          </a:solidFill>
          <a:ln w="12700">
            <a:solidFill>
              <a:srgbClr val="FFFFFF"/>
            </a:solidFill>
            <a:prstDash val="solid"/>
          </a:ln>
        </p:spPr>
      </p:sp>
      <p:sp>
        <p:nvSpPr>
          <p:cNvPr id="34" name="Text 32"/>
          <p:cNvSpPr/>
          <p:nvPr/>
        </p:nvSpPr>
        <p:spPr>
          <a:xfrm>
            <a:off x="7754112"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协鑫科技磷酸铁锂业务开</a:t>
            </a:r>
            <a:endParaRPr lang="en-US" sz="670" dirty="0"/>
          </a:p>
        </p:txBody>
      </p:sp>
      <p:sp>
        <p:nvSpPr>
          <p:cNvPr id="35" name="Shape 33"/>
          <p:cNvSpPr/>
          <p:nvPr/>
        </p:nvSpPr>
        <p:spPr>
          <a:xfrm>
            <a:off x="8503920" y="2962656"/>
            <a:ext cx="164592" cy="164592"/>
          </a:xfrm>
          <a:prstGeom prst="ellipse">
            <a:avLst/>
          </a:prstGeom>
          <a:solidFill>
            <a:srgbClr val="487052"/>
          </a:solidFill>
          <a:ln w="12700">
            <a:solidFill>
              <a:srgbClr val="FFFFFF"/>
            </a:solidFill>
            <a:prstDash val="solid"/>
          </a:ln>
        </p:spPr>
      </p:sp>
      <p:sp>
        <p:nvSpPr>
          <p:cNvPr id="36" name="Text 34"/>
          <p:cNvSpPr/>
          <p:nvPr/>
        </p:nvSpPr>
        <p:spPr>
          <a:xfrm>
            <a:off x="8412480"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Aqua Metals</a:t>
            </a:r>
            <a:endParaRPr lang="en-US" sz="670" dirty="0"/>
          </a:p>
        </p:txBody>
      </p:sp>
      <p:sp>
        <p:nvSpPr>
          <p:cNvPr id="37" name="Shape 35"/>
          <p:cNvSpPr/>
          <p:nvPr/>
        </p:nvSpPr>
        <p:spPr>
          <a:xfrm>
            <a:off x="9162288" y="2962656"/>
            <a:ext cx="164592" cy="164592"/>
          </a:xfrm>
          <a:prstGeom prst="ellipse">
            <a:avLst/>
          </a:prstGeom>
          <a:solidFill>
            <a:srgbClr val="487052"/>
          </a:solidFill>
          <a:ln w="12700">
            <a:solidFill>
              <a:srgbClr val="FFFFFF"/>
            </a:solidFill>
            <a:prstDash val="solid"/>
          </a:ln>
        </p:spPr>
      </p:sp>
      <p:sp>
        <p:nvSpPr>
          <p:cNvPr id="38" name="Text 36"/>
          <p:cNvSpPr/>
          <p:nvPr/>
        </p:nvSpPr>
        <p:spPr>
          <a:xfrm>
            <a:off x="9070848"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[9][10] 协鑫科</a:t>
            </a:r>
            <a:endParaRPr lang="en-US" sz="670" dirty="0"/>
          </a:p>
        </p:txBody>
      </p:sp>
      <p:sp>
        <p:nvSpPr>
          <p:cNvPr id="39" name="Shape 37"/>
          <p:cNvSpPr/>
          <p:nvPr/>
        </p:nvSpPr>
        <p:spPr>
          <a:xfrm>
            <a:off x="9820656" y="2962656"/>
            <a:ext cx="164592" cy="164592"/>
          </a:xfrm>
          <a:prstGeom prst="ellipse">
            <a:avLst/>
          </a:prstGeom>
          <a:solidFill>
            <a:srgbClr val="B85A4A"/>
          </a:solidFill>
          <a:ln w="12700">
            <a:solidFill>
              <a:srgbClr val="FFFFFF"/>
            </a:solidFill>
            <a:prstDash val="solid"/>
          </a:ln>
        </p:spPr>
      </p:sp>
      <p:sp>
        <p:nvSpPr>
          <p:cNvPr id="40" name="Text 38"/>
          <p:cNvSpPr/>
          <p:nvPr/>
        </p:nvSpPr>
        <p:spPr>
          <a:xfrm>
            <a:off x="9729216"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[9][10] 协鑫科</a:t>
            </a:r>
            <a:endParaRPr lang="en-US" sz="670" dirty="0"/>
          </a:p>
        </p:txBody>
      </p:sp>
      <p:sp>
        <p:nvSpPr>
          <p:cNvPr id="41" name="Text 39"/>
          <p:cNvSpPr/>
          <p:nvPr/>
        </p:nvSpPr>
        <p:spPr>
          <a:xfrm>
            <a:off x="7726680" y="4315968"/>
            <a:ext cx="2697480" cy="384048"/>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参考培训 PPT 的阶段路线表达，按事件顺序拆成判断路径。</a:t>
            </a:r>
            <a:endParaRPr lang="en-US" sz="760" dirty="0"/>
          </a:p>
        </p:txBody>
      </p:sp>
      <p:sp>
        <p:nvSpPr>
          <p:cNvPr id="42" name="Shape 40"/>
          <p:cNvSpPr/>
          <p:nvPr/>
        </p:nvSpPr>
        <p:spPr>
          <a:xfrm>
            <a:off x="658368" y="5779008"/>
            <a:ext cx="1463040" cy="292608"/>
          </a:xfrm>
          <a:prstGeom prst="rect">
            <a:avLst/>
          </a:prstGeom>
          <a:solidFill>
            <a:srgbClr val="121212"/>
          </a:solidFill>
          <a:ln w="12700">
            <a:solidFill>
              <a:srgbClr val="121212"/>
            </a:solidFill>
            <a:prstDash val="solid"/>
          </a:ln>
        </p:spPr>
      </p:sp>
      <p:sp>
        <p:nvSpPr>
          <p:cNvPr id="43" name="Text 4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4" name="Text 4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若协鑫科技磷酸铁锂产能持续释放，则可能改变行业竞争格局，对现有头部企业构成挑战，需跟踪其产能爬坡及客户开拓情况</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行业面临产能过剩、技术路线争议等风险，但成本压力缓解、后市场政策完善等也带来机会；需重点关注产能释放、技术迭代及政策落地情况。 [11][12]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依据：[11][12]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当前磷酸铁锂行业面临多重风险与机会。风险方面，协鑫科技等头部企业持续扩产，可能加剧产能过剩；技术路线被淘汰的争议可能影响市场预期。机会方面，碳酸锂价格回落缓解成本压力；电池后市场政策完善可能催生新业务模式。此外，世界动力电池大会的召开或带来新的行业动态。</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行业产能过剩加剧，则可能引发价格战，压缩企业盈利空间，需跟踪行业库存及开工率变化。若技术路线争议影响资本市场情绪，则可能影响企业融资能力，需关注固态电池等技术的产业化进展。若电池后市场政策持续落地，则可能为相关企业带来新的增长点，需关注具体实施细则。</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行业面临产能过剩、技术路线</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需重点关注产能释放、技术迭</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[11][12] 当前磷酸</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行业面临产能过剩、技术路线</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若行业产能过剩加剧，则可能引发价格战，压缩企业盈利空间，需跟踪行业库存及开工率变化</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协鑫科技：乐山一期20万吨磷酸铁锂产能预计10月底满产 - 东方财富</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https://news.google.com/rss/articles/CBMiZkFVX3lxTE12QnNUS3dXV09sZkdWSlVVbmt2aGdoQlFfQ2lrQjFDdVdEYkxDLUZNc0x4SmUyT3NleG00QU9uTWY2aXRQUnA1bGdsVXJmR1V4SDItNmIzZUxlMmhlcmdCMXV2aHE4UQ?oc=5</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博主再谈磷酸铁锂技术路线可能第一个被淘汰：我有逻辑支撑 - 新浪财经</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https://news.google.com/rss/articles/CBMipwFBVV95cUxPTHlvTUk5dUlCREVXTC1nQnRaQmV5ekVaM05DeUVOWDk1RE5sNVFNUzRzRkU5WWgtYkpaOEh3Q1psTko1SHVWSGR2Q1lqQXhBZmg0WFJsQVJxR0lTbnlNdjQ1UWwtVV9GM0FkYjVRaVlBU1VDRGxIZkJoMWhtbjFVMHhMbllQV3FtUGIxdERmOWxCM2hQeS1XbXoyckQ3WWhqT2l6YXI2cw?oc=5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锂电池主要材料价格行情(碳酸锂冲高回落,磷酸铁锂跟涨)</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9J1qB18eBHZoxN4_SNhYTR-GzzbiE4fbVqXa8Fplpd99ZdJvw-SOnM0f84mKzwCQTaJG5jGjkVslUM8R4dgpChmKtvWlBmZ-53EwdGfRzB1OnCpNrQYHciyuQcDQp8xmTVXSgXGdVbhr8dCbR5Kv3TteW5fELyftRIwxg4VTQoqZvheEEXB5Tye96rnKMnL--7FAFKJskwzNcdc6Xo1q3t6VKrzu_4XKA..&amp;type=2&amp;query=%E7%A3%B7%E9%85%B8%E9%93%81%E9%94%82 %E6%AD%A3%E6%9E%81%E6%9D%90%E6%96%99 %E4%BB%B7%E6%A0%BC %E4%BE%9B%E9%9C%80&amp;token=BF8B6B9C6291D6487B7A211E96DE5BAC7C7D55CD6A963C91</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博主再谈磷酸铁锂技术路线可能第一个被淘汰：我有逻辑支撑</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https://finance.sina.cn/stock/jdts/2026-08-31/detail-iniqfkkp7257483.d.html?vt=4&amp;cid=76993&amp;node_id=76993</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固态电池有多乱？一度连“什么叫固态”都说不清</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https://k.sina.com.cn/article_1850988623_6e53d84f01901i92q.html?from=tech</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协鑫科技：乐山一期20万吨磷酸铁锂产能预计10月底满产_7x24快讯_</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https://news.google.com/rss/articles/CBMiT0FVX3lxTE42b0s0RU83WGJQMXAwOGswQkV4bVRSOTd3dWkwblZQSDFHbEVyT0RXbEluQUJSNnFsVjJualcwMHhQcU5nRWhZWEtLbm5GX2M?oc=5</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海南首单新能源汽车动力电池保税维修业务落地 - chinanews.c</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https://news.google.com/rss/articles/CBMiaEFVX3lxTFBKUmNsbkstZnUyUEZaTE5zcjBMQXBRSGx3Sllmc2FadnNyVlpUc2Z1WkZDeUM0NTFGRG0za3V3X0xTa1JtRjJkclg5R1FKUEJMdXBBNFBWclhLM1c2TklKdXhWNlZvdEN6?oc=5</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三峡集团召开能源行业绿色采购创新机制研讨暨绿色采购指标审查会议</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https://finance.sina.cn/2026-08-31/detail-iniqetnt4625301.d.html?vt=4</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协鑫科技寻找周期新解法：颗粒硅控产提质，磷酸铁锂开始贡献利润 - so</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https://news.google.com/rss/articles/CBMiiAFBVV95cUxQSGFObFNCamMxMU9DYmdTNmgzYzVDdklLVUFWcjltS0s0NXpGcEZxaUtibzRsZEY0UWdjUHI2LUdKc0NRYnNjNTBYZWNBV3hfMTZmX2xtVkNoSWc1OG1hTGlkUlBXR3dXdlRzUnpmUldrSS1PcVpzYUtnOHZycjZsd2pidzJOQmhE?oc=5</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Aqua Metals与WMC集团签署碳酸锂包销意向书 提供者 Inv</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https://cn.investing.com/news/company-news/article-93CH-3544862</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主场亮剑！世界动力电池大会携三车赴约 - 汽车之家</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https://news.google.com/rss/articles/CBMiXkFVX3lxTE9HUjI5dGRZbEV5U3BtZGtjemN1U1BBQTZTX1pkXzZSMjgxam5fa19STlRRXzFmLU5uX0VFYjhJOHNfb3BnNW1pQWRZbURiN0VsRmFhcmx5YUR5S3lpTGc?oc=5</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动力电池8年质保到期，新能源车主该怎么办？</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https://chejiahao.m.autohome.com.cn/info/25060967</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关于公开征求全国动力电池回收利用标准化技术委员会组建委员名单意见的公示</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https://www.miit.gov.cn/gzcy/yjzj/art/2026/art_e9c023758a2d4dd5aa00fee95a653b90.html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关于公开征求《锂离子电池正极材料前驱体单位产品能源消耗限额》等15项行</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https://www.miit.gov.cn/zwgk/wjgs/art/2026/art_7ac0ab73c8a84530ab8fdda120d4a005.html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2026-09-01</dc:title>
  <dc:subject>LFP daily briefing</dc:subject>
  <dc:creator>lifepo4_brief</dc:creator>
  <cp:lastModifiedBy>lifepo4_brief</cp:lastModifiedBy>
  <cp:revision>1</cp:revision>
  <dcterms:created xsi:type="dcterms:W3CDTF">2026-09-01T02:47:22Z</dcterms:created>
  <dcterms:modified xsi:type="dcterms:W3CDTF">2026-09-01T02:47:22Z</dcterms:modified>
</cp:coreProperties>
</file>