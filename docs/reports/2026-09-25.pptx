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LFP DAILY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2026-09-25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01</a:t>
            </a:r>
            <a:endParaRPr lang="en-US" sz="730" dirty="0"/>
          </a:p>
        </p:txBody>
      </p:sp>
      <p:sp>
        <p:nvSpPr>
          <p:cNvPr id="9" name="Text 7"/>
          <p:cNvSpPr/>
          <p:nvPr/>
        </p:nvSpPr>
        <p:spPr>
          <a:xfrm>
            <a:off x="640080" y="1051560"/>
            <a:ext cx="1554480" cy="411480"/>
          </a:xfrm>
          <a:prstGeom prst="rect">
            <a:avLst/>
          </a:prstGeom>
          <a:noFill/>
          <a:ln/>
        </p:spPr>
        <p:txBody>
          <a:bodyPr wrap="square" lIns="0" tIns="0" rIns="0" bIns="0" rtlCol="0" anchor="ctr"/>
          <a:lstStyle/>
          <a:p>
            <a:pPr indent="0" marL="0">
              <a:buNone/>
            </a:pPr>
            <a:r>
              <a:rPr lang="en-US" sz="2400" b="1" dirty="0">
                <a:solidFill>
                  <a:srgbClr val="487052"/>
                </a:solidFill>
                <a:latin typeface="Aptos" pitchFamily="34" charset="0"/>
                <a:ea typeface="Aptos" pitchFamily="34" charset="-122"/>
                <a:cs typeface="Aptos" pitchFamily="34" charset="-120"/>
              </a:rPr>
              <a:t>LFP</a:t>
            </a:r>
            <a:endParaRPr lang="en-US" sz="2400" dirty="0"/>
          </a:p>
        </p:txBody>
      </p:sp>
      <p:sp>
        <p:nvSpPr>
          <p:cNvPr id="10" name="Text 8"/>
          <p:cNvSpPr/>
          <p:nvPr/>
        </p:nvSpPr>
        <p:spPr>
          <a:xfrm>
            <a:off x="621792" y="1481328"/>
            <a:ext cx="6035040" cy="621792"/>
          </a:xfrm>
          <a:prstGeom prst="rect">
            <a:avLst/>
          </a:prstGeom>
          <a:noFill/>
          <a:ln/>
        </p:spPr>
        <p:txBody>
          <a:bodyPr wrap="square" lIns="0" tIns="0" rIns="0" bIns="0" rtlCol="0" anchor="ctr">
            <a:normAutofit/>
          </a:bodyPr>
          <a:lstStyle/>
          <a:p>
            <a:pPr indent="0" marL="0">
              <a:buNone/>
            </a:pPr>
            <a:r>
              <a:rPr lang="en-US" sz="2600" b="1" dirty="0">
                <a:solidFill>
                  <a:srgbClr val="121212"/>
                </a:solidFill>
                <a:latin typeface="Microsoft YaHei" pitchFamily="34" charset="0"/>
                <a:ea typeface="Microsoft YaHei" pitchFamily="34" charset="-122"/>
                <a:cs typeface="Microsoft YaHei" pitchFamily="34" charset="-120"/>
              </a:rPr>
              <a:t>磷酸铁锂行业早报</a:t>
            </a:r>
            <a:endParaRPr lang="en-US" sz="2600" dirty="0"/>
          </a:p>
        </p:txBody>
      </p:sp>
      <p:sp>
        <p:nvSpPr>
          <p:cNvPr id="11" name="Text 9"/>
          <p:cNvSpPr/>
          <p:nvPr/>
        </p:nvSpPr>
        <p:spPr>
          <a:xfrm>
            <a:off x="658368" y="2176272"/>
            <a:ext cx="5852160" cy="310896"/>
          </a:xfrm>
          <a:prstGeom prst="rect">
            <a:avLst/>
          </a:prstGeom>
          <a:noFill/>
          <a:ln/>
        </p:spPr>
        <p:txBody>
          <a:bodyPr wrap="square" lIns="0" tIns="0" rIns="0" bIns="0" rtlCol="0" anchor="ctr"/>
          <a:lstStyle/>
          <a:p>
            <a:pPr indent="0" marL="0">
              <a:buNone/>
            </a:pPr>
            <a:r>
              <a:rPr lang="en-US" sz="1200" dirty="0">
                <a:solidFill>
                  <a:srgbClr val="6D756F"/>
                </a:solidFill>
                <a:latin typeface="Microsoft YaHei" pitchFamily="34" charset="0"/>
                <a:ea typeface="Microsoft YaHei" pitchFamily="34" charset="-122"/>
                <a:cs typeface="Microsoft YaHei" pitchFamily="34" charset="-120"/>
              </a:rPr>
              <a:t>从公开事件到产业判断的每日工程化筛选</a:t>
            </a:r>
            <a:endParaRPr lang="en-US" sz="1200" dirty="0"/>
          </a:p>
        </p:txBody>
      </p:sp>
      <p:sp>
        <p:nvSpPr>
          <p:cNvPr id="12" name="Text 10"/>
          <p:cNvSpPr/>
          <p:nvPr/>
        </p:nvSpPr>
        <p:spPr>
          <a:xfrm>
            <a:off x="658368" y="2761488"/>
            <a:ext cx="5715000" cy="1188720"/>
          </a:xfrm>
          <a:prstGeom prst="rect">
            <a:avLst/>
          </a:prstGeom>
          <a:noFill/>
          <a:ln/>
        </p:spPr>
        <p:txBody>
          <a:bodyPr wrap="square" lIns="0" tIns="0" rIns="0" bIns="0" rtlCol="0" anchor="ctr">
            <a:normAutofit/>
          </a:bodyPr>
          <a:lstStyle/>
          <a:p>
            <a:pPr indent="0" marL="0">
              <a:buNone/>
            </a:pPr>
            <a:r>
              <a:rPr lang="en-US" sz="1400" b="1" dirty="0">
                <a:solidFill>
                  <a:srgbClr val="121212"/>
                </a:solidFill>
                <a:latin typeface="Microsoft YaHei" pitchFamily="34" charset="0"/>
                <a:ea typeface="Microsoft YaHei" pitchFamily="34" charset="-122"/>
                <a:cs typeface="Microsoft YaHei" pitchFamily="34" charset="-120"/>
              </a:rPr>
              <a:t>今日磷酸铁锂行业信号集中在产能扩张与储能订单两端：亿纬锂能与Fluence签署206GWh五年电芯大单，容百科技毕节磷酸铁锂一期投产，磷酸铁锂上市公司西班牙项目扩产至16.5亿元，显示需求侧储能拉动与供给侧产能释放同步推进。政策端工信部召开新型储能座谈会，电池回收议题升温。需关注产能集中释放对价格和盈利的压制，以及海外扩产面临的合规与回收体系约束。</a:t>
            </a:r>
            <a:endParaRPr lang="en-US" sz="1400" dirty="0"/>
          </a:p>
        </p:txBody>
      </p:sp>
      <p:sp>
        <p:nvSpPr>
          <p:cNvPr id="13" name="Shape 11"/>
          <p:cNvSpPr/>
          <p:nvPr/>
        </p:nvSpPr>
        <p:spPr>
          <a:xfrm>
            <a:off x="7315200" y="960120"/>
            <a:ext cx="3886200" cy="4526280"/>
          </a:xfrm>
          <a:prstGeom prst="rect">
            <a:avLst/>
          </a:prstGeom>
          <a:solidFill>
            <a:srgbClr val="F4FAF6"/>
          </a:solidFill>
          <a:ln w="10160">
            <a:solidFill>
              <a:srgbClr val="DADADA"/>
            </a:solidFill>
            <a:prstDash val="solid"/>
          </a:ln>
        </p:spPr>
      </p:sp>
      <p:sp>
        <p:nvSpPr>
          <p:cNvPr id="14" name="Text 12"/>
          <p:cNvSpPr/>
          <p:nvPr/>
        </p:nvSpPr>
        <p:spPr>
          <a:xfrm>
            <a:off x="7607808" y="1188720"/>
            <a:ext cx="2011680" cy="310896"/>
          </a:xfrm>
          <a:prstGeom prst="rect">
            <a:avLst/>
          </a:prstGeom>
          <a:noFill/>
          <a:ln/>
        </p:spPr>
        <p:txBody>
          <a:bodyPr wrap="square" lIns="0" tIns="0" rIns="0" bIns="0" rtlCol="0" anchor="ctr"/>
          <a:lstStyle/>
          <a:p>
            <a:pPr indent="0" marL="0">
              <a:buNone/>
            </a:pPr>
            <a:r>
              <a:rPr lang="en-US" sz="1300" b="1" dirty="0">
                <a:solidFill>
                  <a:srgbClr val="121212"/>
                </a:solidFill>
                <a:latin typeface="Microsoft YaHei" pitchFamily="34" charset="0"/>
                <a:ea typeface="Microsoft YaHei" pitchFamily="34" charset="-122"/>
                <a:cs typeface="Microsoft YaHei" pitchFamily="34" charset="-120"/>
              </a:rPr>
              <a:t>今日逻辑主线</a:t>
            </a:r>
            <a:endParaRPr lang="en-US" sz="1300" dirty="0"/>
          </a:p>
        </p:txBody>
      </p:sp>
      <p:sp>
        <p:nvSpPr>
          <p:cNvPr id="15" name="Shape 13"/>
          <p:cNvSpPr/>
          <p:nvPr/>
        </p:nvSpPr>
        <p:spPr>
          <a:xfrm>
            <a:off x="7882128" y="1755648"/>
            <a:ext cx="0" cy="3090672"/>
          </a:xfrm>
          <a:prstGeom prst="line">
            <a:avLst/>
          </a:prstGeom>
          <a:noFill/>
          <a:ln w="15240">
            <a:solidFill>
              <a:srgbClr val="7F9D84"/>
            </a:solidFill>
            <a:prstDash val="solid"/>
          </a:ln>
        </p:spPr>
      </p:sp>
      <p:sp>
        <p:nvSpPr>
          <p:cNvPr id="16" name="Shape 14"/>
          <p:cNvSpPr/>
          <p:nvPr/>
        </p:nvSpPr>
        <p:spPr>
          <a:xfrm>
            <a:off x="7790688" y="1700784"/>
            <a:ext cx="182880" cy="182880"/>
          </a:xfrm>
          <a:prstGeom prst="ellipse">
            <a:avLst/>
          </a:prstGeom>
          <a:solidFill>
            <a:srgbClr val="487052"/>
          </a:solidFill>
          <a:ln w="12700">
            <a:solidFill>
              <a:srgbClr val="487052"/>
            </a:solidFill>
            <a:prstDash val="solid"/>
          </a:ln>
        </p:spPr>
      </p:sp>
      <p:sp>
        <p:nvSpPr>
          <p:cNvPr id="17" name="Shape 15"/>
          <p:cNvSpPr/>
          <p:nvPr/>
        </p:nvSpPr>
        <p:spPr>
          <a:xfrm>
            <a:off x="8183880" y="1627632"/>
            <a:ext cx="2514600" cy="365760"/>
          </a:xfrm>
          <a:prstGeom prst="rect">
            <a:avLst/>
          </a:prstGeom>
          <a:solidFill>
            <a:srgbClr val="DDEBE0"/>
          </a:solidFill>
          <a:ln w="7620">
            <a:solidFill>
              <a:srgbClr val="DADADA"/>
            </a:solidFill>
            <a:prstDash val="solid"/>
          </a:ln>
        </p:spPr>
      </p:sp>
      <p:sp>
        <p:nvSpPr>
          <p:cNvPr id="18" name="Text 16"/>
          <p:cNvSpPr/>
          <p:nvPr/>
        </p:nvSpPr>
        <p:spPr>
          <a:xfrm>
            <a:off x="8321040" y="1709928"/>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技术突破</a:t>
            </a:r>
            <a:endParaRPr lang="en-US" sz="880" dirty="0"/>
          </a:p>
        </p:txBody>
      </p:sp>
      <p:sp>
        <p:nvSpPr>
          <p:cNvPr id="19" name="Shape 17"/>
          <p:cNvSpPr/>
          <p:nvPr/>
        </p:nvSpPr>
        <p:spPr>
          <a:xfrm>
            <a:off x="7790688" y="2267712"/>
            <a:ext cx="182880" cy="182880"/>
          </a:xfrm>
          <a:prstGeom prst="ellipse">
            <a:avLst/>
          </a:prstGeom>
          <a:solidFill>
            <a:srgbClr val="487052"/>
          </a:solidFill>
          <a:ln w="12700">
            <a:solidFill>
              <a:srgbClr val="487052"/>
            </a:solidFill>
            <a:prstDash val="solid"/>
          </a:ln>
        </p:spPr>
      </p:sp>
      <p:sp>
        <p:nvSpPr>
          <p:cNvPr id="20" name="Shape 18"/>
          <p:cNvSpPr/>
          <p:nvPr/>
        </p:nvSpPr>
        <p:spPr>
          <a:xfrm>
            <a:off x="8183880" y="2194560"/>
            <a:ext cx="2514600" cy="365760"/>
          </a:xfrm>
          <a:prstGeom prst="rect">
            <a:avLst/>
          </a:prstGeom>
          <a:solidFill>
            <a:srgbClr val="DDEBE0"/>
          </a:solidFill>
          <a:ln w="7620">
            <a:solidFill>
              <a:srgbClr val="DADADA"/>
            </a:solidFill>
            <a:prstDash val="solid"/>
          </a:ln>
        </p:spPr>
      </p:sp>
      <p:sp>
        <p:nvSpPr>
          <p:cNvPr id="21" name="Text 19"/>
          <p:cNvSpPr/>
          <p:nvPr/>
        </p:nvSpPr>
        <p:spPr>
          <a:xfrm>
            <a:off x="8321040" y="2276856"/>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产能变化</a:t>
            </a:r>
            <a:endParaRPr lang="en-US" sz="880" dirty="0"/>
          </a:p>
        </p:txBody>
      </p:sp>
      <p:sp>
        <p:nvSpPr>
          <p:cNvPr id="22" name="Shape 20"/>
          <p:cNvSpPr/>
          <p:nvPr/>
        </p:nvSpPr>
        <p:spPr>
          <a:xfrm>
            <a:off x="7790688" y="2834640"/>
            <a:ext cx="182880" cy="182880"/>
          </a:xfrm>
          <a:prstGeom prst="ellipse">
            <a:avLst/>
          </a:prstGeom>
          <a:solidFill>
            <a:srgbClr val="487052"/>
          </a:solidFill>
          <a:ln w="12700">
            <a:solidFill>
              <a:srgbClr val="487052"/>
            </a:solidFill>
            <a:prstDash val="solid"/>
          </a:ln>
        </p:spPr>
      </p:sp>
      <p:sp>
        <p:nvSpPr>
          <p:cNvPr id="23" name="Shape 21"/>
          <p:cNvSpPr/>
          <p:nvPr/>
        </p:nvSpPr>
        <p:spPr>
          <a:xfrm>
            <a:off x="8183880" y="2761488"/>
            <a:ext cx="2514600" cy="365760"/>
          </a:xfrm>
          <a:prstGeom prst="rect">
            <a:avLst/>
          </a:prstGeom>
          <a:solidFill>
            <a:srgbClr val="DDEBE0"/>
          </a:solidFill>
          <a:ln w="7620">
            <a:solidFill>
              <a:srgbClr val="DADADA"/>
            </a:solidFill>
            <a:prstDash val="solid"/>
          </a:ln>
        </p:spPr>
      </p:sp>
      <p:sp>
        <p:nvSpPr>
          <p:cNvPr id="24" name="Text 22"/>
          <p:cNvSpPr/>
          <p:nvPr/>
        </p:nvSpPr>
        <p:spPr>
          <a:xfrm>
            <a:off x="8321040" y="2843784"/>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政策合规</a:t>
            </a:r>
            <a:endParaRPr lang="en-US" sz="880" dirty="0"/>
          </a:p>
        </p:txBody>
      </p:sp>
      <p:sp>
        <p:nvSpPr>
          <p:cNvPr id="25" name="Shape 23"/>
          <p:cNvSpPr/>
          <p:nvPr/>
        </p:nvSpPr>
        <p:spPr>
          <a:xfrm>
            <a:off x="7790688" y="3401568"/>
            <a:ext cx="182880" cy="182880"/>
          </a:xfrm>
          <a:prstGeom prst="ellipse">
            <a:avLst/>
          </a:prstGeom>
          <a:solidFill>
            <a:srgbClr val="FFFFFF"/>
          </a:solidFill>
          <a:ln w="12700">
            <a:solidFill>
              <a:srgbClr val="487052"/>
            </a:solidFill>
            <a:prstDash val="solid"/>
          </a:ln>
        </p:spPr>
      </p:sp>
      <p:sp>
        <p:nvSpPr>
          <p:cNvPr id="26" name="Shape 24"/>
          <p:cNvSpPr/>
          <p:nvPr/>
        </p:nvSpPr>
        <p:spPr>
          <a:xfrm>
            <a:off x="8183880" y="3328416"/>
            <a:ext cx="2514600" cy="365760"/>
          </a:xfrm>
          <a:prstGeom prst="rect">
            <a:avLst/>
          </a:prstGeom>
          <a:solidFill>
            <a:srgbClr val="FFFFFF"/>
          </a:solidFill>
          <a:ln w="7620">
            <a:solidFill>
              <a:srgbClr val="DADADA"/>
            </a:solidFill>
            <a:prstDash val="solid"/>
          </a:ln>
        </p:spPr>
      </p:sp>
      <p:sp>
        <p:nvSpPr>
          <p:cNvPr id="27" name="Text 25"/>
          <p:cNvSpPr/>
          <p:nvPr/>
        </p:nvSpPr>
        <p:spPr>
          <a:xfrm>
            <a:off x="8321040" y="3410712"/>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企业信号</a:t>
            </a:r>
            <a:endParaRPr lang="en-US" sz="880" dirty="0"/>
          </a:p>
        </p:txBody>
      </p:sp>
      <p:sp>
        <p:nvSpPr>
          <p:cNvPr id="28" name="Shape 26"/>
          <p:cNvSpPr/>
          <p:nvPr/>
        </p:nvSpPr>
        <p:spPr>
          <a:xfrm>
            <a:off x="7790688" y="3968496"/>
            <a:ext cx="182880" cy="182880"/>
          </a:xfrm>
          <a:prstGeom prst="ellipse">
            <a:avLst/>
          </a:prstGeom>
          <a:solidFill>
            <a:srgbClr val="487052"/>
          </a:solidFill>
          <a:ln w="12700">
            <a:solidFill>
              <a:srgbClr val="487052"/>
            </a:solidFill>
            <a:prstDash val="solid"/>
          </a:ln>
        </p:spPr>
      </p:sp>
      <p:sp>
        <p:nvSpPr>
          <p:cNvPr id="29" name="Shape 27"/>
          <p:cNvSpPr/>
          <p:nvPr/>
        </p:nvSpPr>
        <p:spPr>
          <a:xfrm>
            <a:off x="8183880" y="3895344"/>
            <a:ext cx="2514600" cy="365760"/>
          </a:xfrm>
          <a:prstGeom prst="rect">
            <a:avLst/>
          </a:prstGeom>
          <a:solidFill>
            <a:srgbClr val="DDEBE0"/>
          </a:solidFill>
          <a:ln w="7620">
            <a:solidFill>
              <a:srgbClr val="DADADA"/>
            </a:solidFill>
            <a:prstDash val="solid"/>
          </a:ln>
        </p:spPr>
      </p:sp>
      <p:sp>
        <p:nvSpPr>
          <p:cNvPr id="30" name="Text 28"/>
          <p:cNvSpPr/>
          <p:nvPr/>
        </p:nvSpPr>
        <p:spPr>
          <a:xfrm>
            <a:off x="8321040" y="3977640"/>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风险机会</a:t>
            </a:r>
            <a:endParaRPr lang="en-US" sz="880" dirty="0"/>
          </a:p>
        </p:txBody>
      </p:sp>
      <p:sp>
        <p:nvSpPr>
          <p:cNvPr id="31" name="Shape 29"/>
          <p:cNvSpPr/>
          <p:nvPr/>
        </p:nvSpPr>
        <p:spPr>
          <a:xfrm>
            <a:off x="7790688" y="4535424"/>
            <a:ext cx="182880" cy="182880"/>
          </a:xfrm>
          <a:prstGeom prst="ellipse">
            <a:avLst/>
          </a:prstGeom>
          <a:solidFill>
            <a:srgbClr val="FFFFFF"/>
          </a:solidFill>
          <a:ln w="12700">
            <a:solidFill>
              <a:srgbClr val="487052"/>
            </a:solidFill>
            <a:prstDash val="solid"/>
          </a:ln>
        </p:spPr>
      </p:sp>
      <p:sp>
        <p:nvSpPr>
          <p:cNvPr id="32" name="Shape 30"/>
          <p:cNvSpPr/>
          <p:nvPr/>
        </p:nvSpPr>
        <p:spPr>
          <a:xfrm>
            <a:off x="8183880" y="4462272"/>
            <a:ext cx="2514600" cy="365760"/>
          </a:xfrm>
          <a:prstGeom prst="rect">
            <a:avLst/>
          </a:prstGeom>
          <a:solidFill>
            <a:srgbClr val="FFFFFF"/>
          </a:solidFill>
          <a:ln w="7620">
            <a:solidFill>
              <a:srgbClr val="DADADA"/>
            </a:solidFill>
            <a:prstDash val="solid"/>
          </a:ln>
        </p:spPr>
      </p:sp>
      <p:sp>
        <p:nvSpPr>
          <p:cNvPr id="33" name="Text 31"/>
          <p:cNvSpPr/>
          <p:nvPr/>
        </p:nvSpPr>
        <p:spPr>
          <a:xfrm>
            <a:off x="8321040" y="4544568"/>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来源索引</a:t>
            </a:r>
            <a:endParaRPr lang="en-US" sz="88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核心判断</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今日磷酸铁锂行业信号集中在产能扩张与储能订单两端：亿纬锂能与Fluence签署206GWh五年电芯大单，容百科技毕节磷酸铁锂一期投产，磷酸铁锂</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EXECUTIVE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2026-09-25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02</a:t>
            </a:r>
            <a:endParaRPr lang="en-US" sz="730" dirty="0"/>
          </a:p>
        </p:txBody>
      </p:sp>
      <p:sp>
        <p:nvSpPr>
          <p:cNvPr id="9" name="Text 7"/>
          <p:cNvSpPr/>
          <p:nvPr/>
        </p:nvSpPr>
        <p:spPr>
          <a:xfrm>
            <a:off x="658368" y="932688"/>
            <a:ext cx="237744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今日总览</a:t>
            </a:r>
            <a:endParaRPr lang="en-US" sz="2000" dirty="0"/>
          </a:p>
        </p:txBody>
      </p:sp>
      <p:sp>
        <p:nvSpPr>
          <p:cNvPr id="10" name="Text 8"/>
          <p:cNvSpPr/>
          <p:nvPr/>
        </p:nvSpPr>
        <p:spPr>
          <a:xfrm>
            <a:off x="2880360" y="996696"/>
            <a:ext cx="8138160" cy="219456"/>
          </a:xfrm>
          <a:prstGeom prst="rect">
            <a:avLst/>
          </a:prstGeom>
          <a:noFill/>
          <a:ln/>
        </p:spPr>
        <p:txBody>
          <a:bodyPr wrap="square" lIns="0" tIns="0" rIns="0" bIns="0" rtlCol="0" anchor="ctr">
            <a:normAutofit/>
          </a:bodyPr>
          <a:lstStyle/>
          <a:p>
            <a:pPr indent="0" marL="0">
              <a:buNone/>
            </a:pPr>
            <a:r>
              <a:rPr lang="en-US" sz="940" dirty="0">
                <a:solidFill>
                  <a:srgbClr val="6D756F"/>
                </a:solidFill>
                <a:latin typeface="Microsoft YaHei" pitchFamily="34" charset="0"/>
                <a:ea typeface="Microsoft YaHei" pitchFamily="34" charset="-122"/>
                <a:cs typeface="Microsoft YaHei" pitchFamily="34" charset="-120"/>
              </a:rPr>
              <a:t>今日磷酸铁锂行业信号集中在产能扩张与储能订单两端：亿纬锂能与Fluence签署206GWh五年电芯大单，容百科技毕节磷酸铁锂一期投产，磷酸铁锂</a:t>
            </a:r>
            <a:endParaRPr lang="en-US" sz="940" dirty="0"/>
          </a:p>
        </p:txBody>
      </p:sp>
      <p:sp>
        <p:nvSpPr>
          <p:cNvPr id="11" name="Shape 9"/>
          <p:cNvSpPr/>
          <p:nvPr/>
        </p:nvSpPr>
        <p:spPr>
          <a:xfrm>
            <a:off x="658368" y="1444752"/>
            <a:ext cx="5074920" cy="1737360"/>
          </a:xfrm>
          <a:prstGeom prst="rect">
            <a:avLst/>
          </a:prstGeom>
          <a:solidFill>
            <a:srgbClr val="F4FAF6"/>
          </a:solidFill>
          <a:ln w="8890">
            <a:solidFill>
              <a:srgbClr val="DADADA"/>
            </a:solidFill>
            <a:prstDash val="solid"/>
          </a:ln>
        </p:spPr>
      </p:sp>
      <p:sp>
        <p:nvSpPr>
          <p:cNvPr id="12" name="Shape 10"/>
          <p:cNvSpPr/>
          <p:nvPr/>
        </p:nvSpPr>
        <p:spPr>
          <a:xfrm>
            <a:off x="658368" y="1444752"/>
            <a:ext cx="384048" cy="1737360"/>
          </a:xfrm>
          <a:prstGeom prst="rect">
            <a:avLst/>
          </a:prstGeom>
          <a:solidFill>
            <a:srgbClr val="121212"/>
          </a:solidFill>
          <a:ln w="12700">
            <a:solidFill>
              <a:srgbClr val="121212"/>
            </a:solidFill>
            <a:prstDash val="solid"/>
          </a:ln>
        </p:spPr>
      </p:sp>
      <p:sp>
        <p:nvSpPr>
          <p:cNvPr id="13" name="Text 11"/>
          <p:cNvSpPr/>
          <p:nvPr/>
        </p:nvSpPr>
        <p:spPr>
          <a:xfrm>
            <a:off x="78638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4" name="Text 12"/>
          <p:cNvSpPr/>
          <p:nvPr/>
        </p:nvSpPr>
        <p:spPr>
          <a:xfrm>
            <a:off x="118872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今日结论</a:t>
            </a:r>
            <a:endParaRPr lang="en-US" sz="920" dirty="0"/>
          </a:p>
        </p:txBody>
      </p:sp>
      <p:sp>
        <p:nvSpPr>
          <p:cNvPr id="15" name="Shape 13"/>
          <p:cNvSpPr/>
          <p:nvPr/>
        </p:nvSpPr>
        <p:spPr>
          <a:xfrm>
            <a:off x="1188720" y="1883664"/>
            <a:ext cx="2194560" cy="54864"/>
          </a:xfrm>
          <a:prstGeom prst="rect">
            <a:avLst/>
          </a:prstGeom>
          <a:solidFill>
            <a:srgbClr val="487052"/>
          </a:solidFill>
          <a:ln w="12700">
            <a:solidFill>
              <a:srgbClr val="487052"/>
            </a:solidFill>
            <a:prstDash val="solid"/>
          </a:ln>
        </p:spPr>
      </p:sp>
      <p:sp>
        <p:nvSpPr>
          <p:cNvPr id="16" name="Text 14"/>
          <p:cNvSpPr/>
          <p:nvPr/>
        </p:nvSpPr>
        <p:spPr>
          <a:xfrm>
            <a:off x="118872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储能端出现206GWh五年期大单，验证磷酸铁锂在储能场景的需求韧性；同时容百科技毕节一期投产、西班牙项目扩产至16.5亿元，供给端产能继续释放。需求增长与产能扩张并行，短期对</a:t>
            </a:r>
            <a:endParaRPr lang="en-US" sz="920" dirty="0"/>
          </a:p>
        </p:txBody>
      </p:sp>
      <p:sp>
        <p:nvSpPr>
          <p:cNvPr id="17" name="Text 15"/>
          <p:cNvSpPr/>
          <p:nvPr/>
        </p:nvSpPr>
        <p:spPr>
          <a:xfrm>
            <a:off x="118872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[1][2][3]</a:t>
            </a:r>
            <a:endParaRPr lang="en-US" sz="750" dirty="0"/>
          </a:p>
        </p:txBody>
      </p:sp>
      <p:sp>
        <p:nvSpPr>
          <p:cNvPr id="18" name="Shape 16"/>
          <p:cNvSpPr/>
          <p:nvPr/>
        </p:nvSpPr>
        <p:spPr>
          <a:xfrm>
            <a:off x="6236208" y="1444752"/>
            <a:ext cx="5074920" cy="1737360"/>
          </a:xfrm>
          <a:prstGeom prst="rect">
            <a:avLst/>
          </a:prstGeom>
          <a:solidFill>
            <a:srgbClr val="FFFFFF"/>
          </a:solidFill>
          <a:ln w="8890">
            <a:solidFill>
              <a:srgbClr val="DADADA"/>
            </a:solidFill>
            <a:prstDash val="solid"/>
          </a:ln>
        </p:spPr>
      </p:sp>
      <p:sp>
        <p:nvSpPr>
          <p:cNvPr id="19" name="Shape 17"/>
          <p:cNvSpPr/>
          <p:nvPr/>
        </p:nvSpPr>
        <p:spPr>
          <a:xfrm>
            <a:off x="6236208" y="1444752"/>
            <a:ext cx="384048" cy="1737360"/>
          </a:xfrm>
          <a:prstGeom prst="rect">
            <a:avLst/>
          </a:prstGeom>
          <a:solidFill>
            <a:srgbClr val="121212"/>
          </a:solidFill>
          <a:ln w="12700">
            <a:solidFill>
              <a:srgbClr val="121212"/>
            </a:solidFill>
            <a:prstDash val="solid"/>
          </a:ln>
        </p:spPr>
      </p:sp>
      <p:sp>
        <p:nvSpPr>
          <p:cNvPr id="20" name="Text 18"/>
          <p:cNvSpPr/>
          <p:nvPr/>
        </p:nvSpPr>
        <p:spPr>
          <a:xfrm>
            <a:off x="636422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1" name="Text 19"/>
          <p:cNvSpPr/>
          <p:nvPr/>
        </p:nvSpPr>
        <p:spPr>
          <a:xfrm>
            <a:off x="676656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技术/产品路线</a:t>
            </a:r>
            <a:endParaRPr lang="en-US" sz="920" dirty="0"/>
          </a:p>
        </p:txBody>
      </p:sp>
      <p:sp>
        <p:nvSpPr>
          <p:cNvPr id="22" name="Shape 20"/>
          <p:cNvSpPr/>
          <p:nvPr/>
        </p:nvSpPr>
        <p:spPr>
          <a:xfrm>
            <a:off x="6766560" y="1883664"/>
            <a:ext cx="1316736" cy="54864"/>
          </a:xfrm>
          <a:prstGeom prst="rect">
            <a:avLst/>
          </a:prstGeom>
          <a:solidFill>
            <a:srgbClr val="487052"/>
          </a:solidFill>
          <a:ln w="12700">
            <a:solidFill>
              <a:srgbClr val="487052"/>
            </a:solidFill>
            <a:prstDash val="solid"/>
          </a:ln>
        </p:spPr>
      </p:sp>
      <p:sp>
        <p:nvSpPr>
          <p:cNvPr id="23" name="Text 21"/>
          <p:cNvSpPr/>
          <p:nvPr/>
        </p:nvSpPr>
        <p:spPr>
          <a:xfrm>
            <a:off x="676656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宝马第六代动力电池能量智控系统在沈阳基地启动试产，采用800V高压平台方案；比亚迪第2000座闪充高速站落成，闪充技术持续推进。高压平台与快充技术迭代对磷酸铁锂提出更高倍率要</a:t>
            </a:r>
            <a:endParaRPr lang="en-US" sz="920" dirty="0"/>
          </a:p>
        </p:txBody>
      </p:sp>
      <p:sp>
        <p:nvSpPr>
          <p:cNvPr id="24" name="Text 22"/>
          <p:cNvSpPr/>
          <p:nvPr/>
        </p:nvSpPr>
        <p:spPr>
          <a:xfrm>
            <a:off x="676656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[4][5]</a:t>
            </a:r>
            <a:endParaRPr lang="en-US" sz="750" dirty="0"/>
          </a:p>
        </p:txBody>
      </p:sp>
      <p:sp>
        <p:nvSpPr>
          <p:cNvPr id="25" name="Shape 23"/>
          <p:cNvSpPr/>
          <p:nvPr/>
        </p:nvSpPr>
        <p:spPr>
          <a:xfrm>
            <a:off x="658368" y="3566160"/>
            <a:ext cx="5074920" cy="1737360"/>
          </a:xfrm>
          <a:prstGeom prst="rect">
            <a:avLst/>
          </a:prstGeom>
          <a:solidFill>
            <a:srgbClr val="F4FAF6"/>
          </a:solidFill>
          <a:ln w="8890">
            <a:solidFill>
              <a:srgbClr val="DADADA"/>
            </a:solidFill>
            <a:prstDash val="solid"/>
          </a:ln>
        </p:spPr>
      </p:sp>
      <p:sp>
        <p:nvSpPr>
          <p:cNvPr id="26" name="Shape 24"/>
          <p:cNvSpPr/>
          <p:nvPr/>
        </p:nvSpPr>
        <p:spPr>
          <a:xfrm>
            <a:off x="658368" y="3566160"/>
            <a:ext cx="384048" cy="1737360"/>
          </a:xfrm>
          <a:prstGeom prst="rect">
            <a:avLst/>
          </a:prstGeom>
          <a:solidFill>
            <a:srgbClr val="121212"/>
          </a:solidFill>
          <a:ln w="12700">
            <a:solidFill>
              <a:srgbClr val="121212"/>
            </a:solidFill>
            <a:prstDash val="solid"/>
          </a:ln>
        </p:spPr>
      </p:sp>
      <p:sp>
        <p:nvSpPr>
          <p:cNvPr id="27" name="Text 25"/>
          <p:cNvSpPr/>
          <p:nvPr/>
        </p:nvSpPr>
        <p:spPr>
          <a:xfrm>
            <a:off x="78638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6"/>
          <p:cNvSpPr/>
          <p:nvPr/>
        </p:nvSpPr>
        <p:spPr>
          <a:xfrm>
            <a:off x="118872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产能/客户/订单</a:t>
            </a:r>
            <a:endParaRPr lang="en-US" sz="920" dirty="0"/>
          </a:p>
        </p:txBody>
      </p:sp>
      <p:sp>
        <p:nvSpPr>
          <p:cNvPr id="29" name="Shape 27"/>
          <p:cNvSpPr/>
          <p:nvPr/>
        </p:nvSpPr>
        <p:spPr>
          <a:xfrm>
            <a:off x="1188720" y="4005072"/>
            <a:ext cx="2194560" cy="54864"/>
          </a:xfrm>
          <a:prstGeom prst="rect">
            <a:avLst/>
          </a:prstGeom>
          <a:solidFill>
            <a:srgbClr val="487052"/>
          </a:solidFill>
          <a:ln w="12700">
            <a:solidFill>
              <a:srgbClr val="487052"/>
            </a:solidFill>
            <a:prstDash val="solid"/>
          </a:ln>
        </p:spPr>
      </p:sp>
      <p:sp>
        <p:nvSpPr>
          <p:cNvPr id="30" name="Text 28"/>
          <p:cNvSpPr/>
          <p:nvPr/>
        </p:nvSpPr>
        <p:spPr>
          <a:xfrm>
            <a:off x="118872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亿纬锂能与Fluence签署206GWh五年期电芯大单，储能客户绑定加深；容百科技毕节高新磷酸铁锂项目一期建成投产；磷酸铁锂上市公司西班牙项目总投资升至16.5亿元。产能扩张</a:t>
            </a:r>
            <a:endParaRPr lang="en-US" sz="920" dirty="0"/>
          </a:p>
        </p:txBody>
      </p:sp>
      <p:sp>
        <p:nvSpPr>
          <p:cNvPr id="31" name="Text 29"/>
          <p:cNvSpPr/>
          <p:nvPr/>
        </p:nvSpPr>
        <p:spPr>
          <a:xfrm>
            <a:off x="118872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[1][2][3]</a:t>
            </a:r>
            <a:endParaRPr lang="en-US" sz="750" dirty="0"/>
          </a:p>
        </p:txBody>
      </p:sp>
      <p:sp>
        <p:nvSpPr>
          <p:cNvPr id="32" name="Shape 30"/>
          <p:cNvSpPr/>
          <p:nvPr/>
        </p:nvSpPr>
        <p:spPr>
          <a:xfrm>
            <a:off x="6236208" y="3566160"/>
            <a:ext cx="5074920" cy="1737360"/>
          </a:xfrm>
          <a:prstGeom prst="rect">
            <a:avLst/>
          </a:prstGeom>
          <a:solidFill>
            <a:srgbClr val="FFFFFF"/>
          </a:solidFill>
          <a:ln w="8890">
            <a:solidFill>
              <a:srgbClr val="DADADA"/>
            </a:solidFill>
            <a:prstDash val="solid"/>
          </a:ln>
        </p:spPr>
      </p:sp>
      <p:sp>
        <p:nvSpPr>
          <p:cNvPr id="33" name="Shape 31"/>
          <p:cNvSpPr/>
          <p:nvPr/>
        </p:nvSpPr>
        <p:spPr>
          <a:xfrm>
            <a:off x="6236208" y="3566160"/>
            <a:ext cx="384048" cy="1737360"/>
          </a:xfrm>
          <a:prstGeom prst="rect">
            <a:avLst/>
          </a:prstGeom>
          <a:solidFill>
            <a:srgbClr val="121212"/>
          </a:solidFill>
          <a:ln w="12700">
            <a:solidFill>
              <a:srgbClr val="121212"/>
            </a:solidFill>
            <a:prstDash val="solid"/>
          </a:ln>
        </p:spPr>
      </p:sp>
      <p:sp>
        <p:nvSpPr>
          <p:cNvPr id="34" name="Text 32"/>
          <p:cNvSpPr/>
          <p:nvPr/>
        </p:nvSpPr>
        <p:spPr>
          <a:xfrm>
            <a:off x="636422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5" name="Text 33"/>
          <p:cNvSpPr/>
          <p:nvPr/>
        </p:nvSpPr>
        <p:spPr>
          <a:xfrm>
            <a:off x="676656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价格/盈利压力</a:t>
            </a:r>
            <a:endParaRPr lang="en-US" sz="920" dirty="0"/>
          </a:p>
        </p:txBody>
      </p:sp>
      <p:sp>
        <p:nvSpPr>
          <p:cNvPr id="36" name="Shape 34"/>
          <p:cNvSpPr/>
          <p:nvPr/>
        </p:nvSpPr>
        <p:spPr>
          <a:xfrm>
            <a:off x="6766560" y="4005072"/>
            <a:ext cx="1316736" cy="54864"/>
          </a:xfrm>
          <a:prstGeom prst="rect">
            <a:avLst/>
          </a:prstGeom>
          <a:solidFill>
            <a:srgbClr val="487052"/>
          </a:solidFill>
          <a:ln w="12700">
            <a:solidFill>
              <a:srgbClr val="487052"/>
            </a:solidFill>
            <a:prstDash val="solid"/>
          </a:ln>
        </p:spPr>
      </p:sp>
      <p:sp>
        <p:nvSpPr>
          <p:cNvPr id="37" name="Text 35"/>
          <p:cNvSpPr/>
          <p:nvPr/>
        </p:nvSpPr>
        <p:spPr>
          <a:xfrm>
            <a:off x="676656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磷酸铁锂上市公司西班牙项目总投资升至16.5亿元，海外扩产资本开支加大；容百科技毕节一期投产，国内产能继续释放。供给端产能集中释放可能对材料价格形成压制，叠加海外建厂成本较高</a:t>
            </a:r>
            <a:endParaRPr lang="en-US" sz="920" dirty="0"/>
          </a:p>
        </p:txBody>
      </p:sp>
      <p:sp>
        <p:nvSpPr>
          <p:cNvPr id="38" name="Text 36"/>
          <p:cNvSpPr/>
          <p:nvPr/>
        </p:nvSpPr>
        <p:spPr>
          <a:xfrm>
            <a:off x="676656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[3][2]</a:t>
            </a:r>
            <a:endParaRPr lang="en-US" sz="750" dirty="0"/>
          </a:p>
        </p:txBody>
      </p:sp>
      <p:sp>
        <p:nvSpPr>
          <p:cNvPr id="39" name="Shape 37"/>
          <p:cNvSpPr/>
          <p:nvPr/>
        </p:nvSpPr>
        <p:spPr>
          <a:xfrm>
            <a:off x="658368" y="5779008"/>
            <a:ext cx="1463040" cy="292608"/>
          </a:xfrm>
          <a:prstGeom prst="rect">
            <a:avLst/>
          </a:prstGeom>
          <a:solidFill>
            <a:srgbClr val="121212"/>
          </a:solidFill>
          <a:ln w="12700">
            <a:solidFill>
              <a:srgbClr val="121212"/>
            </a:solidFill>
            <a:prstDash val="solid"/>
          </a:ln>
        </p:spPr>
      </p:sp>
      <p:sp>
        <p:nvSpPr>
          <p:cNvPr id="40" name="Text 3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总览结论</a:t>
            </a:r>
            <a:endParaRPr lang="en-US" sz="780" dirty="0"/>
          </a:p>
        </p:txBody>
      </p:sp>
      <p:sp>
        <p:nvSpPr>
          <p:cNvPr id="41" name="Text 3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今日磷酸铁锂行业信号集中在产能扩张与储能订单两端：亿纬锂能与Fluence签署206GWh五年电芯大单，容百科技毕节磷酸铁锂一期投产，磷酸铁锂</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3.</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2026-09-25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03</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今日结论</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储能端出现206GWh五年期大单，验证磷酸铁锂在储能场景的需求韧性；同时容百科技毕节一期投产、西班牙项目扩产至16.5亿元，供给端产能继续释放。需求增长与产能扩张并行，短期对价格形成支撑，但中期供给压力不容忽视；回收政策与海外合规成为新增变量。 [1][2][3]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亿纬锂能与Fluence的206GWh订单属于储能系统集成商与电芯厂的长期绑定，说明海外储能需求正在转化为对磷酸铁锂电芯的确定性采购；容百科技毕节项目投产和西班牙扩产则代表材料端产能跟进。两者叠加意味着产业链上下游均在加码，但若产能释放速度快于需求兑现，价格竞争可能加剧。目前缺少订单具体交付节奏和产能爬坡进度的细节，需进一步验证。</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储能大单按期交付且海外扩产项目顺利落地，则磷酸铁锂需求端将获得实质性支撑，材料企业产能利用率有望提升；若产能释放快于订单兑现，则价格承压风险上升。跟踪指标包括亿纬锂能交付公告、容百科技产能爬坡数据、磷酸铁锂现货报价。证据边界限于当前公开信息，实际执行节奏尚待验证。</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储能端出现206GWh五年</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同时容百科技毕节一期投产、</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需求增长与产能扩张并行，短</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储能端出现206GWh五年</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若储能大单按期交付且海外扩产项目顺利落地，则磷酸铁锂需求端将获得实质性支撑，材料企业产能利用率有望提升</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4.</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2026-09-25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04</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技术/产品路线</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宝马第六代动力电池能量智控系统在沈阳基地启动试产，采用800V高压平台方案；比亚迪第2000座闪充高速站落成，闪充技术持续推进。高压平台与快充技术迭代对磷酸铁锂提出更高倍率要求，可能推动材料改性升级。 [4][5]</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依据：[4][5]</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宝马第六代电池试产和比亚迪闪充站落成分别代表外资车企与本土龙头在高压快充路线上的推进。800V平台和闪充技术对电池倍率性能、热管理提出更高要求，磷酸铁锂需通过掺杂、包覆等改性手段提升快充能力。若高压快充成为主流配置，具备高倍率磷酸铁锂产品能力的材料企业将获得差异化优势。目前缺少宝马第六代电池具体化学体系信息，需确认是否涉及磷酸铁锂路线。</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800V高压平台和闪充技术加速渗透，则磷酸铁锂正极材料需向高倍率方向升级，具备改性技术储备的企业可能获得溢价空间。跟踪指标包括宝马第六代电池化学体系披露、比亚迪闪充站建设进度、高倍率磷酸铁锂产品出货占比。证据边界在于当前未确认宝马方案是否采用磷酸铁锂，需等待官方技术细节。</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宝马第六代动力电池能量智控</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比亚迪第2000座闪充高速</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高压平台与快充技术迭代对磷</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宝马第六代动力电池能量智控</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若800V高压平台和闪充技术加速渗透，则磷酸铁锂正极材料需向高倍率方向升级，具备改性技术储备的企业可能获得溢价空间</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5.</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2026-09-25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05</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产能/客户/订单</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亿纬锂能与Fluence签署206GWh五年期电芯大单，储能客户绑定加深；容百科技毕节高新磷酸铁锂项目一期建成投产；磷酸铁锂上市公司西班牙项目总投资升至16.5亿元。产能扩张与订单锁定同步推进，行业景气度维持。 [1][2][3]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亿纬锂能与Fluence的五年期大单是储能领域标志性长协，206GWh规模对应年均约41GWh，对电芯厂产能消化形成有力支撑。容百科技毕节一期投产和西班牙项目扩产则从材料端呼应需求增长。三者串联显示储能需求正在向上游材料传导，但需注意西班牙项目涉及海外建厂，面临欧盟电池法规合规成本。目前缺少容百科技毕节项目具体产能规模和西班牙项目投产时间表。</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亿纬锂能按计划交付Fluence订单且容百科技产能顺利爬坡，则磷酸铁锂材料需求将获得实质性拉动，行业开工率有望维持高位。跟踪指标包括亿纬锂能季度出货量、容百科技毕节项目产能利用率、西班牙项目审批进展。证据边界在于订单交付节奏和海外项目落地时间尚未明确，需持续跟踪公告。</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亿纬锂能与Fluence签</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容百科技毕节高新磷酸铁锂项</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磷酸铁锂上市公司西班牙项目</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亿纬锂能与Fluence签</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若亿纬锂能按计划交付Fluence订单且容百科技产能顺利爬坡，则磷酸铁锂材料需求将获得实质性拉动，行业开工率有望维持高位</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6.</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2026-09-25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06</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价格/盈利压力</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磷酸铁锂上市公司西班牙项目总投资升至16.5亿元，海外扩产资本开支加大；容百科技毕节一期投产，国内产能继续释放。供给端产能集中释放可能对材料价格形成压制，叠加海外建厂成本较高，企业盈利空间面临考验。 [3][2]</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依据：[3][2]</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西班牙项目扩产至16.5亿元和容百科技毕节一期投产共同指向磷酸铁锂正极材料产能仍在扩张。若下游需求增速不及产能释放速度，材料价格可能承压。海外建厂虽可规避贸易壁垒，但人工、能源和合规成本高于国内，可能拉低海外项目毛利率。当前缺少磷酸铁锂现货价格最新数据和两家企业具体成本结构，需进一步调研。</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磷酸铁锂产能释放速度持续快于需求增速，则材料价格可能进一步下行，企业单位盈利承压。跟踪指标包括磷酸铁锂现货报价、行业开工率、容百科技及西班牙项目毛利率。证据边界在于当前缺少最新价格数据和成本明细，需等待季报或行业数据验证。</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因果图</a:t>
            </a:r>
            <a:endParaRPr lang="en-US" sz="1200" dirty="0"/>
          </a:p>
        </p:txBody>
      </p:sp>
      <p:sp>
        <p:nvSpPr>
          <p:cNvPr id="24" name="Shape 22"/>
          <p:cNvSpPr/>
          <p:nvPr/>
        </p:nvSpPr>
        <p:spPr>
          <a:xfrm>
            <a:off x="7845552" y="3063240"/>
            <a:ext cx="2432304" cy="0"/>
          </a:xfrm>
          <a:prstGeom prst="line">
            <a:avLst/>
          </a:prstGeom>
          <a:noFill/>
          <a:ln w="15240">
            <a:solidFill>
              <a:srgbClr val="487052"/>
            </a:solidFill>
            <a:prstDash val="solid"/>
          </a:ln>
        </p:spPr>
      </p:sp>
      <p:sp>
        <p:nvSpPr>
          <p:cNvPr id="25" name="Shape 23"/>
          <p:cNvSpPr/>
          <p:nvPr/>
        </p:nvSpPr>
        <p:spPr>
          <a:xfrm>
            <a:off x="10012680" y="2889504"/>
            <a:ext cx="384048" cy="347472"/>
          </a:xfrm>
          <a:prstGeom prst="rightArrow">
            <a:avLst/>
          </a:prstGeom>
          <a:solidFill>
            <a:srgbClr val="487052"/>
          </a:solidFill>
          <a:ln w="12700">
            <a:solidFill>
              <a:srgbClr val="487052"/>
            </a:solidFill>
            <a:prstDash val="solid"/>
          </a:ln>
        </p:spPr>
      </p:sp>
      <p:sp>
        <p:nvSpPr>
          <p:cNvPr id="26" name="Text 24"/>
          <p:cNvSpPr/>
          <p:nvPr/>
        </p:nvSpPr>
        <p:spPr>
          <a:xfrm>
            <a:off x="9893808" y="3310128"/>
            <a:ext cx="475488" cy="146304"/>
          </a:xfrm>
          <a:prstGeom prst="rect">
            <a:avLst/>
          </a:prstGeom>
          <a:noFill/>
          <a:ln/>
        </p:spPr>
        <p:txBody>
          <a:bodyPr wrap="square" lIns="0" tIns="0" rIns="0" bIns="0" rtlCol="0" anchor="ct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影响</a:t>
            </a:r>
            <a:endParaRPr lang="en-US" sz="740" dirty="0"/>
          </a:p>
        </p:txBody>
      </p:sp>
      <p:sp>
        <p:nvSpPr>
          <p:cNvPr id="27" name="Shape 25"/>
          <p:cNvSpPr/>
          <p:nvPr/>
        </p:nvSpPr>
        <p:spPr>
          <a:xfrm>
            <a:off x="8028432" y="2359152"/>
            <a:ext cx="402336" cy="704088"/>
          </a:xfrm>
          <a:prstGeom prst="line">
            <a:avLst/>
          </a:prstGeom>
          <a:noFill/>
          <a:ln w="11430">
            <a:solidFill>
              <a:srgbClr val="7F9D84"/>
            </a:solidFill>
            <a:prstDash val="solid"/>
          </a:ln>
        </p:spPr>
      </p:sp>
      <p:sp>
        <p:nvSpPr>
          <p:cNvPr id="28" name="Shape 26"/>
          <p:cNvSpPr/>
          <p:nvPr/>
        </p:nvSpPr>
        <p:spPr>
          <a:xfrm>
            <a:off x="7882128" y="2249424"/>
            <a:ext cx="786384" cy="310896"/>
          </a:xfrm>
          <a:prstGeom prst="roundRect">
            <a:avLst>
              <a:gd name="adj" fmla="val 11765"/>
            </a:avLst>
          </a:prstGeom>
          <a:solidFill>
            <a:srgbClr val="F4FAF6"/>
          </a:solidFill>
          <a:ln w="7620">
            <a:solidFill>
              <a:srgbClr val="DADADA"/>
            </a:solidFill>
            <a:prstDash val="solid"/>
          </a:ln>
        </p:spPr>
      </p:sp>
      <p:sp>
        <p:nvSpPr>
          <p:cNvPr id="29" name="Text 27"/>
          <p:cNvSpPr/>
          <p:nvPr/>
        </p:nvSpPr>
        <p:spPr>
          <a:xfrm>
            <a:off x="7973568" y="2350008"/>
            <a:ext cx="603504" cy="91440"/>
          </a:xfrm>
          <a:prstGeom prst="rect">
            <a:avLst/>
          </a:prstGeom>
          <a:noFill/>
          <a:ln/>
        </p:spPr>
        <p:txBody>
          <a:bodyPr wrap="square" lIns="0" tIns="0" rIns="0" bIns="0" rtlCol="0" anchor="ctr">
            <a:normAutofit/>
          </a:bodyPr>
          <a:lstStyle/>
          <a:p>
            <a:pPr algn="ctr" indent="0" marL="0">
              <a:buNone/>
            </a:pPr>
            <a:r>
              <a:rPr lang="en-US" sz="680" b="1" dirty="0">
                <a:solidFill>
                  <a:srgbClr val="487052"/>
                </a:solidFill>
                <a:latin typeface="Microsoft YaHei" pitchFamily="34" charset="0"/>
                <a:ea typeface="Microsoft YaHei" pitchFamily="34" charset="-122"/>
                <a:cs typeface="Microsoft YaHei" pitchFamily="34" charset="-120"/>
              </a:rPr>
              <a:t>价格</a:t>
            </a:r>
            <a:endParaRPr lang="en-US" sz="680" dirty="0"/>
          </a:p>
        </p:txBody>
      </p:sp>
      <p:sp>
        <p:nvSpPr>
          <p:cNvPr id="30" name="Text 28"/>
          <p:cNvSpPr/>
          <p:nvPr/>
        </p:nvSpPr>
        <p:spPr>
          <a:xfrm>
            <a:off x="7863840" y="1956816"/>
            <a:ext cx="822960" cy="219456"/>
          </a:xfrm>
          <a:prstGeom prst="rect">
            <a:avLst/>
          </a:prstGeom>
          <a:noFill/>
          <a:ln/>
        </p:spPr>
        <p:txBody>
          <a:bodyPr wrap="square" lIns="0" tIns="0" rIns="0" bIns="0" rtlCol="0" anchor="t">
            <a:normAutofit/>
          </a:bodyPr>
          <a:lstStyle/>
          <a:p>
            <a:pPr algn="ctr" indent="0" marL="0">
              <a:buNone/>
            </a:pPr>
            <a:r>
              <a:rPr lang="en-US" sz="640" dirty="0">
                <a:solidFill>
                  <a:srgbClr val="121212"/>
                </a:solidFill>
                <a:latin typeface="Microsoft YaHei" pitchFamily="34" charset="0"/>
                <a:ea typeface="Microsoft YaHei" pitchFamily="34" charset="-122"/>
                <a:cs typeface="Microsoft YaHei" pitchFamily="34" charset="-120"/>
              </a:rPr>
              <a:t>磷酸铁锂上市公司西</a:t>
            </a:r>
            <a:endParaRPr lang="en-US" sz="640" dirty="0"/>
          </a:p>
        </p:txBody>
      </p:sp>
      <p:sp>
        <p:nvSpPr>
          <p:cNvPr id="31" name="Shape 29"/>
          <p:cNvSpPr/>
          <p:nvPr/>
        </p:nvSpPr>
        <p:spPr>
          <a:xfrm>
            <a:off x="8686800" y="3063240"/>
            <a:ext cx="402336" cy="685800"/>
          </a:xfrm>
          <a:prstGeom prst="line">
            <a:avLst/>
          </a:prstGeom>
          <a:noFill/>
          <a:ln w="11430">
            <a:solidFill>
              <a:srgbClr val="7F9D84"/>
            </a:solidFill>
            <a:prstDash val="solid"/>
          </a:ln>
        </p:spPr>
      </p:sp>
      <p:sp>
        <p:nvSpPr>
          <p:cNvPr id="32" name="Shape 30"/>
          <p:cNvSpPr/>
          <p:nvPr/>
        </p:nvSpPr>
        <p:spPr>
          <a:xfrm>
            <a:off x="8540496" y="3639312"/>
            <a:ext cx="786384" cy="310896"/>
          </a:xfrm>
          <a:prstGeom prst="roundRect">
            <a:avLst>
              <a:gd name="adj" fmla="val 11765"/>
            </a:avLst>
          </a:prstGeom>
          <a:solidFill>
            <a:srgbClr val="F4FAF6"/>
          </a:solidFill>
          <a:ln w="7620">
            <a:solidFill>
              <a:srgbClr val="DADADA"/>
            </a:solidFill>
            <a:prstDash val="solid"/>
          </a:ln>
        </p:spPr>
      </p:sp>
      <p:sp>
        <p:nvSpPr>
          <p:cNvPr id="33" name="Text 31"/>
          <p:cNvSpPr/>
          <p:nvPr/>
        </p:nvSpPr>
        <p:spPr>
          <a:xfrm>
            <a:off x="8631936" y="3739896"/>
            <a:ext cx="603504" cy="91440"/>
          </a:xfrm>
          <a:prstGeom prst="rect">
            <a:avLst/>
          </a:prstGeom>
          <a:noFill/>
          <a:ln/>
        </p:spPr>
        <p:txBody>
          <a:bodyPr wrap="square" lIns="0" tIns="0" rIns="0" bIns="0" rtlCol="0" anchor="ctr">
            <a:normAutofit/>
          </a:bodyPr>
          <a:lstStyle/>
          <a:p>
            <a:pPr algn="ctr" indent="0" marL="0">
              <a:buNone/>
            </a:pPr>
            <a:r>
              <a:rPr lang="en-US" sz="680" b="1" dirty="0">
                <a:solidFill>
                  <a:srgbClr val="487052"/>
                </a:solidFill>
                <a:latin typeface="Microsoft YaHei" pitchFamily="34" charset="0"/>
                <a:ea typeface="Microsoft YaHei" pitchFamily="34" charset="-122"/>
                <a:cs typeface="Microsoft YaHei" pitchFamily="34" charset="-120"/>
              </a:rPr>
              <a:t>成本</a:t>
            </a:r>
            <a:endParaRPr lang="en-US" sz="680" dirty="0"/>
          </a:p>
        </p:txBody>
      </p:sp>
      <p:sp>
        <p:nvSpPr>
          <p:cNvPr id="34" name="Text 32"/>
          <p:cNvSpPr/>
          <p:nvPr/>
        </p:nvSpPr>
        <p:spPr>
          <a:xfrm>
            <a:off x="8522208" y="4005072"/>
            <a:ext cx="822960" cy="219456"/>
          </a:xfrm>
          <a:prstGeom prst="rect">
            <a:avLst/>
          </a:prstGeom>
          <a:noFill/>
          <a:ln/>
        </p:spPr>
        <p:txBody>
          <a:bodyPr wrap="square" lIns="0" tIns="0" rIns="0" bIns="0" rtlCol="0" anchor="t">
            <a:normAutofit/>
          </a:bodyPr>
          <a:lstStyle/>
          <a:p>
            <a:pPr algn="ctr" indent="0" marL="0">
              <a:buNone/>
            </a:pPr>
            <a:r>
              <a:rPr lang="en-US" sz="640" dirty="0">
                <a:solidFill>
                  <a:srgbClr val="121212"/>
                </a:solidFill>
                <a:latin typeface="Microsoft YaHei" pitchFamily="34" charset="0"/>
                <a:ea typeface="Microsoft YaHei" pitchFamily="34" charset="-122"/>
                <a:cs typeface="Microsoft YaHei" pitchFamily="34" charset="-120"/>
              </a:rPr>
              <a:t>容百科技毕节一期投</a:t>
            </a:r>
            <a:endParaRPr lang="en-US" sz="640" dirty="0"/>
          </a:p>
        </p:txBody>
      </p:sp>
      <p:sp>
        <p:nvSpPr>
          <p:cNvPr id="35" name="Shape 33"/>
          <p:cNvSpPr/>
          <p:nvPr/>
        </p:nvSpPr>
        <p:spPr>
          <a:xfrm>
            <a:off x="9345168" y="2359152"/>
            <a:ext cx="402336" cy="704088"/>
          </a:xfrm>
          <a:prstGeom prst="line">
            <a:avLst/>
          </a:prstGeom>
          <a:noFill/>
          <a:ln w="11430">
            <a:solidFill>
              <a:srgbClr val="7F9D84"/>
            </a:solidFill>
            <a:prstDash val="solid"/>
          </a:ln>
        </p:spPr>
      </p:sp>
      <p:sp>
        <p:nvSpPr>
          <p:cNvPr id="36" name="Shape 34"/>
          <p:cNvSpPr/>
          <p:nvPr/>
        </p:nvSpPr>
        <p:spPr>
          <a:xfrm>
            <a:off x="9198864" y="2249424"/>
            <a:ext cx="786384" cy="310896"/>
          </a:xfrm>
          <a:prstGeom prst="roundRect">
            <a:avLst>
              <a:gd name="adj" fmla="val 11765"/>
            </a:avLst>
          </a:prstGeom>
          <a:solidFill>
            <a:srgbClr val="F4FAF6"/>
          </a:solidFill>
          <a:ln w="7620">
            <a:solidFill>
              <a:srgbClr val="DADADA"/>
            </a:solidFill>
            <a:prstDash val="solid"/>
          </a:ln>
        </p:spPr>
      </p:sp>
      <p:sp>
        <p:nvSpPr>
          <p:cNvPr id="37" name="Text 35"/>
          <p:cNvSpPr/>
          <p:nvPr/>
        </p:nvSpPr>
        <p:spPr>
          <a:xfrm>
            <a:off x="9290304" y="2350008"/>
            <a:ext cx="603504" cy="91440"/>
          </a:xfrm>
          <a:prstGeom prst="rect">
            <a:avLst/>
          </a:prstGeom>
          <a:noFill/>
          <a:ln/>
        </p:spPr>
        <p:txBody>
          <a:bodyPr wrap="square" lIns="0" tIns="0" rIns="0" bIns="0" rtlCol="0" anchor="ctr">
            <a:normAutofit/>
          </a:bodyPr>
          <a:lstStyle/>
          <a:p>
            <a:pPr algn="ctr" indent="0" marL="0">
              <a:buNone/>
            </a:pPr>
            <a:r>
              <a:rPr lang="en-US" sz="680" b="1" dirty="0">
                <a:solidFill>
                  <a:srgbClr val="487052"/>
                </a:solidFill>
                <a:latin typeface="Microsoft YaHei" pitchFamily="34" charset="0"/>
                <a:ea typeface="Microsoft YaHei" pitchFamily="34" charset="-122"/>
                <a:cs typeface="Microsoft YaHei" pitchFamily="34" charset="-120"/>
              </a:rPr>
              <a:t>利润</a:t>
            </a:r>
            <a:endParaRPr lang="en-US" sz="680" dirty="0"/>
          </a:p>
        </p:txBody>
      </p:sp>
      <p:sp>
        <p:nvSpPr>
          <p:cNvPr id="38" name="Text 36"/>
          <p:cNvSpPr/>
          <p:nvPr/>
        </p:nvSpPr>
        <p:spPr>
          <a:xfrm>
            <a:off x="9180576" y="1956816"/>
            <a:ext cx="822960" cy="219456"/>
          </a:xfrm>
          <a:prstGeom prst="rect">
            <a:avLst/>
          </a:prstGeom>
          <a:noFill/>
          <a:ln/>
        </p:spPr>
        <p:txBody>
          <a:bodyPr wrap="square" lIns="0" tIns="0" rIns="0" bIns="0" rtlCol="0" anchor="t">
            <a:normAutofit/>
          </a:bodyPr>
          <a:lstStyle/>
          <a:p>
            <a:pPr algn="ctr" indent="0" marL="0">
              <a:buNone/>
            </a:pPr>
            <a:r>
              <a:rPr lang="en-US" sz="640" dirty="0">
                <a:solidFill>
                  <a:srgbClr val="121212"/>
                </a:solidFill>
                <a:latin typeface="Microsoft YaHei" pitchFamily="34" charset="0"/>
                <a:ea typeface="Microsoft YaHei" pitchFamily="34" charset="-122"/>
                <a:cs typeface="Microsoft YaHei" pitchFamily="34" charset="-120"/>
              </a:rPr>
              <a:t>供给端产能集中释放</a:t>
            </a:r>
            <a:endParaRPr lang="en-US" sz="640" dirty="0"/>
          </a:p>
        </p:txBody>
      </p:sp>
      <p:sp>
        <p:nvSpPr>
          <p:cNvPr id="39" name="Text 37"/>
          <p:cNvSpPr/>
          <p:nvPr/>
        </p:nvSpPr>
        <p:spPr>
          <a:xfrm>
            <a:off x="7726680" y="4517136"/>
            <a:ext cx="2697480" cy="31089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参考鱼骨图逻辑，只表达来源文本中的原因和影响。</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若磷酸铁锂产能释放速度持续快于需求增速，则材料价格可能进一步下行，企业单位盈利承压</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7.</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2026-09-25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07</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政策/合规风险</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工信部电子信息司召开新型储能产业发展座谈会，释放政策支持信号；中国动力电池出海提速但回收面临挑战，欧盟电池法规对回收材料比例提出要求。海外扩产需同步应对回收合规和碳足迹核算。 [6][7]</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依据：[6][7]</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工信部新型储能座谈会表明政策层面对储能产业持续关注，可能后续出台支持措施。与此同时，动力电池出海与回收难题并存，观察者网报道指出回收体系面临‘九九八十一难’，意味着海外市场对电池回收和碳足迹的合规要求正在提高。磷酸铁锂企业西班牙扩产需提前布局回收渠道和碳足迹认证，否则可能面临市场准入障碍。目前缺少座谈会具体政策内容和欧盟电池法规最新执行细则。</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欧盟电池法规对回收材料比例要求按期收紧，则未布局回收体系的磷酸铁锂出海企业可能面临合规成本上升或市场准入受限。跟踪指标包括工信部座谈会后续政策文件、欧盟电池法规执行细则、企业回收网络建设公告。证据边界在于政策落地时间和具体条款尚不明确，需持续跟踪官方发布。</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合规风险金字塔</a:t>
            </a:r>
            <a:endParaRPr lang="en-US" sz="1200" dirty="0"/>
          </a:p>
        </p:txBody>
      </p:sp>
      <p:sp>
        <p:nvSpPr>
          <p:cNvPr id="24" name="Shape 22"/>
          <p:cNvSpPr/>
          <p:nvPr/>
        </p:nvSpPr>
        <p:spPr>
          <a:xfrm>
            <a:off x="8503920" y="1975104"/>
            <a:ext cx="1097280" cy="512064"/>
          </a:xfrm>
          <a:prstGeom prst="trapezoid">
            <a:avLst/>
          </a:prstGeom>
          <a:solidFill>
            <a:srgbClr val="B85A4A"/>
          </a:solidFill>
          <a:ln w="8890">
            <a:solidFill>
              <a:srgbClr val="487052"/>
            </a:solidFill>
            <a:prstDash val="solid"/>
          </a:ln>
        </p:spPr>
      </p:sp>
      <p:sp>
        <p:nvSpPr>
          <p:cNvPr id="25" name="Text 23"/>
          <p:cNvSpPr/>
          <p:nvPr/>
        </p:nvSpPr>
        <p:spPr>
          <a:xfrm>
            <a:off x="8595360" y="2066544"/>
            <a:ext cx="914400" cy="11887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Microsoft YaHei" pitchFamily="34" charset="0"/>
                <a:ea typeface="Microsoft YaHei" pitchFamily="34" charset="-122"/>
                <a:cs typeface="Microsoft YaHei" pitchFamily="34" charset="-120"/>
              </a:rPr>
              <a:t>监管红线</a:t>
            </a:r>
            <a:endParaRPr lang="en-US" sz="740" dirty="0"/>
          </a:p>
        </p:txBody>
      </p:sp>
      <p:sp>
        <p:nvSpPr>
          <p:cNvPr id="26" name="Text 24"/>
          <p:cNvSpPr/>
          <p:nvPr/>
        </p:nvSpPr>
        <p:spPr>
          <a:xfrm>
            <a:off x="7808976" y="249631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工信部电子信息司召开新型储能产业发</a:t>
            </a:r>
            <a:endParaRPr lang="en-US" sz="660" dirty="0"/>
          </a:p>
        </p:txBody>
      </p:sp>
      <p:sp>
        <p:nvSpPr>
          <p:cNvPr id="27" name="Shape 25"/>
          <p:cNvSpPr/>
          <p:nvPr/>
        </p:nvSpPr>
        <p:spPr>
          <a:xfrm>
            <a:off x="8183880" y="2615184"/>
            <a:ext cx="1737360" cy="512064"/>
          </a:xfrm>
          <a:prstGeom prst="trapezoid">
            <a:avLst/>
          </a:prstGeom>
          <a:solidFill>
            <a:srgbClr val="DDEBE0"/>
          </a:solidFill>
          <a:ln w="8890">
            <a:solidFill>
              <a:srgbClr val="487052"/>
            </a:solidFill>
            <a:prstDash val="solid"/>
          </a:ln>
        </p:spPr>
      </p:sp>
      <p:sp>
        <p:nvSpPr>
          <p:cNvPr id="28" name="Text 26"/>
          <p:cNvSpPr/>
          <p:nvPr/>
        </p:nvSpPr>
        <p:spPr>
          <a:xfrm>
            <a:off x="8275320" y="2706624"/>
            <a:ext cx="155448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合规动作</a:t>
            </a:r>
            <a:endParaRPr lang="en-US" sz="740" dirty="0"/>
          </a:p>
        </p:txBody>
      </p:sp>
      <p:sp>
        <p:nvSpPr>
          <p:cNvPr id="29" name="Text 27"/>
          <p:cNvSpPr/>
          <p:nvPr/>
        </p:nvSpPr>
        <p:spPr>
          <a:xfrm>
            <a:off x="7808976" y="313639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中国动力电池出海提速但回收面临挑战</a:t>
            </a:r>
            <a:endParaRPr lang="en-US" sz="660" dirty="0"/>
          </a:p>
        </p:txBody>
      </p:sp>
      <p:sp>
        <p:nvSpPr>
          <p:cNvPr id="30" name="Shape 28"/>
          <p:cNvSpPr/>
          <p:nvPr/>
        </p:nvSpPr>
        <p:spPr>
          <a:xfrm>
            <a:off x="7863840" y="3255264"/>
            <a:ext cx="2377440" cy="512064"/>
          </a:xfrm>
          <a:prstGeom prst="trapezoid">
            <a:avLst/>
          </a:prstGeom>
          <a:solidFill>
            <a:srgbClr val="F4FAF6"/>
          </a:solidFill>
          <a:ln w="8890">
            <a:solidFill>
              <a:srgbClr val="487052"/>
            </a:solidFill>
            <a:prstDash val="solid"/>
          </a:ln>
        </p:spPr>
      </p:sp>
      <p:sp>
        <p:nvSpPr>
          <p:cNvPr id="31" name="Text 29"/>
          <p:cNvSpPr/>
          <p:nvPr/>
        </p:nvSpPr>
        <p:spPr>
          <a:xfrm>
            <a:off x="7955280" y="3346704"/>
            <a:ext cx="219456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经营影响/观察</a:t>
            </a:r>
            <a:endParaRPr lang="en-US" sz="740" dirty="0"/>
          </a:p>
        </p:txBody>
      </p:sp>
      <p:sp>
        <p:nvSpPr>
          <p:cNvPr id="32" name="Text 30"/>
          <p:cNvSpPr/>
          <p:nvPr/>
        </p:nvSpPr>
        <p:spPr>
          <a:xfrm>
            <a:off x="7808976" y="377647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海外扩产需同步应对回收合规和碳足迹</a:t>
            </a:r>
            <a:endParaRPr lang="en-US" sz="66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若欧盟电池法规对回收材料比例要求按期收紧，则未布局回收体系的磷酸铁锂出海企业可能面临合规成本上升或市场准入受限</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8.</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2026-09-25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08</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竞品观察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通用汽车两度出售电池工厂股权，转向下一代电芯技术研发；津鲁合作布局固态电池项目，总规模预计100GWh；2026锂金属电池前沿论坛聚焦产业化。固态电池和锂金属电池产业化推进，对磷酸铁锂形成长期技术替代压力。 [8][9][10]</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依据：[8][9][10]</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通用汽车出售电池工厂股权并转向下一代电芯研发，反映传统车企在电池技术路线上的调整。津鲁固态电池项目100GWh规模和锂金属电池论坛的召开，表明固态和锂金属电池产业化正在加速。虽然短期内磷酸铁锂仍是主流，但固态电池若在能量密度和安全性上取得突破，可能在中高端市场形成替代。当前固态电池量产时间和成本仍不明确，需持续跟踪。</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固态电池或锂金属电池在未来2-3年内实现规模化量产，则磷酸铁锂在中高端动力电池市场的份额可能受到挤压。跟踪指标包括津鲁固态电池项目投产时间、锂金属电池量产进展、通用汽车下一代电芯技术路线披露。证据边界在于当前固态电池成本高、量产工艺不成熟，短期替代风险有限。</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通用汽车两度出售电池工厂股</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津鲁合作布局固态电池项目，</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2026锂金属电池前沿论坛</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通用汽车两度出售电池工厂股</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若固态电池或锂金属电池在未来2-3年内实现规模化量产，则磷酸铁锂在中高端动力电池市场的份额可能受到挤压</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9.</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2026-09-25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09</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风险/机会/观察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机会端：储能大单锁定长期需求，政策座谈会释放支持信号；风险端：产能集中释放压制价格，海外回收合规成本上升，固态电池长期替代压力。需重点观察产能利用率、价格走势和海外政策落地节奏。 [1][6][7]</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依据：[1][6][7]</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综合今日信息，磷酸铁锂行业处于需求增长与供给扩张并行的阶段。亿纬锂能大单和容百科技投产分别代表需求确定性和供给增量，但产能释放节奏若快于需求兑现，价格和盈利将承压。政策端新型储能座谈会和电池回收议题提示合规成本可能上升。固态电池和锂金属电池的产业化进展构成长期技术替代风险。当前需验证订单交付节奏、产能爬坡速度和海外政策执行细则。</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储能订单交付顺利且政策支持措施落地，则磷酸铁锂需求端有望维持高景气；若产能释放超预期或海外合规成本大幅上升，则企业盈利可能承压。跟踪指标包括月度磷酸铁锂产量、现货价格、欧盟电池法规执行进展、固态电池量产时间表。证据边界在于当前信息多为定性判断，需等待季度数据和政策文件验证。</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机会端：储能大单锁定长期需</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风险端：产能集中释放压制价</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需重点观察产能利用率、价格</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机会端：储能大单锁定长期需</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若储能订单交付顺利且政策支持措施落地，则磷酸铁锂需求端有望维持高景气</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10.</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2026-09-25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10</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206GWh！亿纬锂能与Fluence签下5年电芯大单！ - 碳索储能网</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https://news.google.com/rss/articles/CBMiYEFVX3lxTE9nLTRpUnZLMVRpRUI5RlJBZXlfbk5CUEhYcUFxdGFyVm52TjhqQ3FQUXZOM3dtMGllZkxZaTFjdDRUc1NFRkwxa2k3cWQyOXEyU1NXcmNDdW1XU0RZLXN5OA?oc=5</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容百科技毕节高新磷酸铁锂项目（一期）建成投产 - 新浪财经</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https://news.google.com/rss/articles/CBMieEFVX3lxTE5tR18yWlBpQnZzckUwY2NRRWgzTWdNZkxLSjNSamh2aVdYYmRCS0Q4WWgwVDhoXzZIVUxCOG9YNTlzMmNja0hKUkVtbDdPZ095RFZjX0JLSGlrNWRwYTFuT0tJeDYwMW9BcFo5RU51QVlXUG9LajRiVA?oc=5</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[3]</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总投资升至16.5亿元！磷酸铁锂上市公司西班牙项目再扩产 - 手机新浪网</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https://news.google.com/rss/articles/CBMickFVX3lxTE1kc3hqSDQ2OUszZzFaVjA0V3VoWFBzdV9iSVVkQWpJcDg3Nkk4MXRPbGp6QjFWS1NGYlZxdDgxSjd0emUxTDh4SlBNbzdNUGxDbTAyVzN6S3lmSnRIeUx4bUJnbFYtbUNFdGNaTFpLRU5pUQ?oc=5</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[4]</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宝马第六代动力电池能量智控系统启动试产，800V高压平台三电方案解读 </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https://news.google.com/rss/articles/CBMiW0FVX3lxTE1KdjNyTEhoTVFuVUFkN0VhbFQxUG1uY21wSlE1UjFWTjNhQkhhT1NKN3h1dU9SYWIzZW5KY3JYU2dhbHhTdVFURDFRQ2YxT3hEVk4tTW1YUUxlcnc?oc=5</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[5]</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闪充技术新进展，比亚迪第2000座闪充高速站落成及充电方案解读 - 网</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https://m.news18a.com/news/storys_299932.html</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[6]</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工业和信息化部电子信息司召开新型储能产业发展座谈会 - 新浪财经</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https://news.google.com/rss/articles/CBMioAFBVV95cUxNc3VYMXhYLTZSdGdHTkdMN0YxQWh2RzhGUGI2TDZJTGlyc3lZOVctdEo0dzQwbEpLby1lczN2c3JDMmtfU1BmTzdnZ1d6cEtsd3hMR3N4WVBqV1F4QUF3RFFXWUowM2ZJNXZtM2NoUi0ydWJ5X1Jra0hNVFlZQ3dWS0xOeVJfM1Q0d3JEWlZaSkp5WDFBRlowWTRJUXFBaUNn?oc=5</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[7]</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中国动力电池出海提速，回收却面临“九九八十一难” - 观察者网</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https://www.guancha.cn/qiche/2026_09_24_902070.shtml?s=syyldbkx</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[8]</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通用汽车两度出售电池工厂股权 转向下一代电芯技术研发 - 虎嗅</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https://news.google.com/rss/articles/CBMiX0FVX3lxTE1hR21xbFJRZFRjbjlzcU1lM29IWHloVGowY1VKUFhUcDFCUHRPTFI2ZmlJZ2FxZWcyTi1iek9SNjlwbHJMWnVGczF0Nm9NYUdBZFBaLURJNlFCLXVIM3NR?oc=5</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[9]</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津鲁合作布局固态电池项目 总规模预计100GWH - 威海新闻网</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https://news.google.com/rss/articles/CBMib0FVX3lxTE10ZXRiWFZ0azJPSlpuMS03R3dBaHpMQUdpdHktZElmcXlCQ0pReXA5UDh5ZW9xb1VETEEtTkh6di1RbVMzNmdoeFhMT0F1dUhsTFpQVi1BSWtxRnRrbENiTnVNMnkxVDE5aDhkczdVdw?oc=5</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[10]</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2026锂金属电池前沿论坛｜聚焦真实场景应用，锂金属电池产业化走向纵深</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https://news.google.com/rss/articles/CBMibkFVX3lxTE54aGdnNlNPdmtkZy1SV2Q4TXc0bVpaUV92ZjFSTlhwbUY3RjAyaTVxN0k1bEFhN0lQTVpLQkszcl9XMG04N2NNZFp2MV9iVnhCb25TMWo4VkJpa1VMSjY3MVlEbzlhd3J2dk9BeUZ3?oc=5</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[11]</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正力新能上半年动力电池收入45.77亿元 储能电池收入增长近8倍_电池网</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https://www.itdcw.com/news/qiye/0Z115L232026.html</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[12]</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同体积容量击穿行业纪录！多氟多两款大圆柱磷酸铁锂换电方案发布_电池网</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https://www.itdcw.com/news/chanpinxinwen/06251562M2026.html</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2026-09-25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11</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[13]</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【正极材料周报】厦钨新能年产4万吨材料项目开工！宁德时代再度加码锂资源</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https://www.itdcw.com/news/dczk/092115P3R026.html</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[14]</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磷酸铁锂动力型电池与磷酸铁锂储能型电池的区别分析_电池网</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https://www.itdcw.com/news/dianchibaike/06301359262023.html</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[15]</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https://www.icbattery.com/</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[16]</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https://www.gg-lb.com/</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[17]</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https://www.cbea.com/</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[18]</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https://www.stcn.com/</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[19]</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https://www.jiemian.com/</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[20]</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国新办举行国务院政策例行吹风会 介绍加强中小企业回款难问题治理有关工作</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http://www.miit.gov.cn/xwfb/bldhd/art/2026/art_7285ee48244d4f20b0f127c7f013ec11.html</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[21]</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工业和信息化部政策文件库</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https://www.miit.gov.cn/search/zcwjk.html?websiteid=110000000000000&amp;pg=&amp;p=&amp;tpl=14&amp;category=183&amp;q=</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[22]</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国新办举行国务院政策例行吹风会 介绍加强中小企业回款难问题治理有关工作</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https://www.miit.gov.cn/xwfb/bldhd/art/2026/art_7285ee48244d4f20b0f127c7f013ec11.html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[23]</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最新政策</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https://www.miit.gov.cn/xwfb/zxzc/index.html</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[24]</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https://www.ndrc.gov.cn/</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lifepo4_brief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磷酸铁锂行业早报 2026-09-25</dc:title>
  <dc:subject>LFP daily briefing</dc:subject>
  <dc:creator>lifepo4_brief</dc:creator>
  <cp:lastModifiedBy>lifepo4_brief</cp:lastModifiedBy>
  <cp:revision>1</cp:revision>
  <dcterms:created xsi:type="dcterms:W3CDTF">2026-09-25T02:40:21Z</dcterms:created>
  <dcterms:modified xsi:type="dcterms:W3CDTF">2026-09-25T02:40:21Z</dcterms:modified>
</cp:coreProperties>
</file>