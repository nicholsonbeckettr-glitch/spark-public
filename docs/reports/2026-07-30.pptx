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1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143000" y="39319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LFP DAILY BRIEF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287000" y="39319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2026-07-30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786384"/>
            <a:ext cx="11201400" cy="0"/>
          </a:xfrm>
          <a:prstGeom prst="line">
            <a:avLst/>
          </a:prstGeom>
          <a:noFill/>
          <a:ln w="10160">
            <a:solidFill>
              <a:srgbClr val="DADAD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6327648"/>
            <a:ext cx="11201400" cy="0"/>
          </a:xfrm>
          <a:prstGeom prst="line">
            <a:avLst/>
          </a:prstGeom>
          <a:noFill/>
          <a:ln w="8890">
            <a:solidFill>
              <a:srgbClr val="DADAD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437376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磷酸铁锂行业早报｜公开来源自动生成｜仅作行业观察，不构成投资建议</a:t>
            </a:r>
            <a:endParaRPr lang="en-US" sz="730" dirty="0"/>
          </a:p>
        </p:txBody>
      </p:sp>
      <p:sp>
        <p:nvSpPr>
          <p:cNvPr id="8" name="Text 6"/>
          <p:cNvSpPr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730" dirty="0"/>
          </a:p>
        </p:txBody>
      </p:sp>
      <p:sp>
        <p:nvSpPr>
          <p:cNvPr id="9" name="Text 7"/>
          <p:cNvSpPr/>
          <p:nvPr/>
        </p:nvSpPr>
        <p:spPr>
          <a:xfrm>
            <a:off x="640080" y="105156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LFP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621792" y="1481328"/>
            <a:ext cx="6035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磷酸铁锂行业早报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658368" y="2176272"/>
            <a:ext cx="5852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从公开事件到产业判断的每日工程化筛选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58368" y="2761488"/>
            <a:ext cx="5715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日磷酸铁锂行业呈现多重信号：技术端，AI算力驱动快充电池突破，但热管理问题引发行业反思；政策端，电池消费税落地与回收规范趋严，成本压力传导至全产业链；市场端，磷酸铁锂涨价预期升温，上下游博弈加剧；产能端，山东两大储能项目并网，万华化学入股上游锂盐项目，产业链整合加速。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315200" y="960120"/>
            <a:ext cx="3886200" cy="4526280"/>
          </a:xfrm>
          <a:prstGeom prst="rect">
            <a:avLst/>
          </a:prstGeom>
          <a:solidFill>
            <a:srgbClr val="F4FAF6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607808" y="1188720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今日逻辑主线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882128" y="1755648"/>
            <a:ext cx="0" cy="3090672"/>
          </a:xfrm>
          <a:prstGeom prst="line">
            <a:avLst/>
          </a:prstGeom>
          <a:noFill/>
          <a:ln w="15240">
            <a:solidFill>
              <a:srgbClr val="7F9D8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790688" y="1700784"/>
            <a:ext cx="182880" cy="182880"/>
          </a:xfrm>
          <a:prstGeom prst="ellipse">
            <a:avLst/>
          </a:prstGeom>
          <a:solidFill>
            <a:srgbClr val="487052"/>
          </a:solidFill>
          <a:ln w="12700">
            <a:solidFill>
              <a:srgbClr val="48705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183880" y="1627632"/>
            <a:ext cx="2514600" cy="365760"/>
          </a:xfrm>
          <a:prstGeom prst="rect">
            <a:avLst/>
          </a:prstGeom>
          <a:solidFill>
            <a:srgbClr val="DDEBE0"/>
          </a:solidFill>
          <a:ln w="7620">
            <a:solidFill>
              <a:srgbClr val="DADAD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321040" y="1709928"/>
            <a:ext cx="2240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技术突破</a:t>
            </a:r>
            <a:endParaRPr lang="en-US" sz="880" dirty="0"/>
          </a:p>
        </p:txBody>
      </p:sp>
      <p:sp>
        <p:nvSpPr>
          <p:cNvPr id="19" name="Shape 17"/>
          <p:cNvSpPr/>
          <p:nvPr/>
        </p:nvSpPr>
        <p:spPr>
          <a:xfrm>
            <a:off x="7790688" y="2267712"/>
            <a:ext cx="182880" cy="182880"/>
          </a:xfrm>
          <a:prstGeom prst="ellipse">
            <a:avLst/>
          </a:prstGeom>
          <a:solidFill>
            <a:srgbClr val="487052"/>
          </a:solidFill>
          <a:ln w="12700">
            <a:solidFill>
              <a:srgbClr val="48705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183880" y="2194560"/>
            <a:ext cx="2514600" cy="365760"/>
          </a:xfrm>
          <a:prstGeom prst="rect">
            <a:avLst/>
          </a:prstGeom>
          <a:solidFill>
            <a:srgbClr val="DDEBE0"/>
          </a:solidFill>
          <a:ln w="7620">
            <a:solidFill>
              <a:srgbClr val="DADAD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321040" y="2276856"/>
            <a:ext cx="2240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产能变化</a:t>
            </a:r>
            <a:endParaRPr lang="en-US" sz="880" dirty="0"/>
          </a:p>
        </p:txBody>
      </p:sp>
      <p:sp>
        <p:nvSpPr>
          <p:cNvPr id="22" name="Shape 20"/>
          <p:cNvSpPr/>
          <p:nvPr/>
        </p:nvSpPr>
        <p:spPr>
          <a:xfrm>
            <a:off x="7790688" y="2834640"/>
            <a:ext cx="182880" cy="182880"/>
          </a:xfrm>
          <a:prstGeom prst="ellipse">
            <a:avLst/>
          </a:prstGeom>
          <a:solidFill>
            <a:srgbClr val="487052"/>
          </a:solidFill>
          <a:ln w="12700">
            <a:solidFill>
              <a:srgbClr val="48705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183880" y="2761488"/>
            <a:ext cx="2514600" cy="365760"/>
          </a:xfrm>
          <a:prstGeom prst="rect">
            <a:avLst/>
          </a:prstGeom>
          <a:solidFill>
            <a:srgbClr val="DDEBE0"/>
          </a:solidFill>
          <a:ln w="7620">
            <a:solidFill>
              <a:srgbClr val="DADAD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321040" y="2843784"/>
            <a:ext cx="2240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政策合规</a:t>
            </a:r>
            <a:endParaRPr lang="en-US" sz="880" dirty="0"/>
          </a:p>
        </p:txBody>
      </p:sp>
      <p:sp>
        <p:nvSpPr>
          <p:cNvPr id="25" name="Shape 23"/>
          <p:cNvSpPr/>
          <p:nvPr/>
        </p:nvSpPr>
        <p:spPr>
          <a:xfrm>
            <a:off x="7790688" y="3401568"/>
            <a:ext cx="182880" cy="1828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48705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183880" y="3328416"/>
            <a:ext cx="2514600" cy="365760"/>
          </a:xfrm>
          <a:prstGeom prst="rect">
            <a:avLst/>
          </a:prstGeom>
          <a:solidFill>
            <a:srgbClr val="FFFFFF"/>
          </a:solidFill>
          <a:ln w="7620">
            <a:solidFill>
              <a:srgbClr val="DADAD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321040" y="3410712"/>
            <a:ext cx="2240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企业信号</a:t>
            </a:r>
            <a:endParaRPr lang="en-US" sz="880" dirty="0"/>
          </a:p>
        </p:txBody>
      </p:sp>
      <p:sp>
        <p:nvSpPr>
          <p:cNvPr id="28" name="Shape 26"/>
          <p:cNvSpPr/>
          <p:nvPr/>
        </p:nvSpPr>
        <p:spPr>
          <a:xfrm>
            <a:off x="7790688" y="3968496"/>
            <a:ext cx="182880" cy="182880"/>
          </a:xfrm>
          <a:prstGeom prst="ellipse">
            <a:avLst/>
          </a:prstGeom>
          <a:solidFill>
            <a:srgbClr val="487052"/>
          </a:solidFill>
          <a:ln w="12700">
            <a:solidFill>
              <a:srgbClr val="48705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183880" y="3895344"/>
            <a:ext cx="2514600" cy="365760"/>
          </a:xfrm>
          <a:prstGeom prst="rect">
            <a:avLst/>
          </a:prstGeom>
          <a:solidFill>
            <a:srgbClr val="DDEBE0"/>
          </a:solidFill>
          <a:ln w="7620">
            <a:solidFill>
              <a:srgbClr val="DADAD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321040" y="3977640"/>
            <a:ext cx="2240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风险机会</a:t>
            </a:r>
            <a:endParaRPr lang="en-US" sz="880" dirty="0"/>
          </a:p>
        </p:txBody>
      </p:sp>
      <p:sp>
        <p:nvSpPr>
          <p:cNvPr id="31" name="Shape 29"/>
          <p:cNvSpPr/>
          <p:nvPr/>
        </p:nvSpPr>
        <p:spPr>
          <a:xfrm>
            <a:off x="7790688" y="4535424"/>
            <a:ext cx="182880" cy="1828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48705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183880" y="4462272"/>
            <a:ext cx="2514600" cy="365760"/>
          </a:xfrm>
          <a:prstGeom prst="rect">
            <a:avLst/>
          </a:prstGeom>
          <a:solidFill>
            <a:srgbClr val="FFFFFF"/>
          </a:solidFill>
          <a:ln w="7620">
            <a:solidFill>
              <a:srgbClr val="DADAD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321040" y="4544568"/>
            <a:ext cx="2240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来源索引</a:t>
            </a:r>
            <a:endParaRPr lang="en-US" sz="880" dirty="0"/>
          </a:p>
        </p:txBody>
      </p:sp>
      <p:sp>
        <p:nvSpPr>
          <p:cNvPr id="34" name="Shape 32"/>
          <p:cNvSpPr/>
          <p:nvPr/>
        </p:nvSpPr>
        <p:spPr>
          <a:xfrm>
            <a:off x="658368" y="5779008"/>
            <a:ext cx="1463040" cy="292608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04672" y="5870448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核心判断</a:t>
            </a:r>
            <a:endParaRPr lang="en-US" sz="780" dirty="0"/>
          </a:p>
        </p:txBody>
      </p:sp>
      <p:sp>
        <p:nvSpPr>
          <p:cNvPr id="36" name="Text 34"/>
          <p:cNvSpPr/>
          <p:nvPr/>
        </p:nvSpPr>
        <p:spPr>
          <a:xfrm>
            <a:off x="2286000" y="5843016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今日磷酸铁锂行业呈现多重信号：技术端，AI算力驱动快充电池突破，但热管理问题引发行业反思；政策端，电池消费税落地与回收规范趋严，成本压力传导至</a:t>
            </a:r>
            <a:endParaRPr lang="en-US" sz="102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1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143000" y="39319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EXECUTIVE BRIEF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287000" y="39319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2026-07-30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786384"/>
            <a:ext cx="11201400" cy="0"/>
          </a:xfrm>
          <a:prstGeom prst="line">
            <a:avLst/>
          </a:prstGeom>
          <a:noFill/>
          <a:ln w="10160">
            <a:solidFill>
              <a:srgbClr val="DADAD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6327648"/>
            <a:ext cx="11201400" cy="0"/>
          </a:xfrm>
          <a:prstGeom prst="line">
            <a:avLst/>
          </a:prstGeom>
          <a:noFill/>
          <a:ln w="8890">
            <a:solidFill>
              <a:srgbClr val="DADAD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437376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磷酸铁锂行业早报｜公开来源自动生成｜仅作行业观察，不构成投资建议</a:t>
            </a:r>
            <a:endParaRPr lang="en-US" sz="730" dirty="0"/>
          </a:p>
        </p:txBody>
      </p:sp>
      <p:sp>
        <p:nvSpPr>
          <p:cNvPr id="8" name="Text 6"/>
          <p:cNvSpPr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730" dirty="0"/>
          </a:p>
        </p:txBody>
      </p:sp>
      <p:sp>
        <p:nvSpPr>
          <p:cNvPr id="9" name="Text 7"/>
          <p:cNvSpPr/>
          <p:nvPr/>
        </p:nvSpPr>
        <p:spPr>
          <a:xfrm>
            <a:off x="658368" y="932688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今日总览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2880360" y="996696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今日磷酸铁锂行业呈现多重信号：技术端，AI算力驱动快充电池突破，但热管理问题引发行业反思；政策端，电池消费税落地与回收规范趋严，成本压力传导至</a:t>
            </a:r>
            <a:endParaRPr lang="en-US" sz="940" dirty="0"/>
          </a:p>
        </p:txBody>
      </p:sp>
      <p:sp>
        <p:nvSpPr>
          <p:cNvPr id="11" name="Shape 9"/>
          <p:cNvSpPr/>
          <p:nvPr/>
        </p:nvSpPr>
        <p:spPr>
          <a:xfrm>
            <a:off x="658368" y="1444752"/>
            <a:ext cx="5074920" cy="1737360"/>
          </a:xfrm>
          <a:prstGeom prst="rect">
            <a:avLst/>
          </a:prstGeom>
          <a:solidFill>
            <a:srgbClr val="F4FAF6"/>
          </a:solidFill>
          <a:ln w="8890">
            <a:solidFill>
              <a:srgbClr val="DADAD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58368" y="1444752"/>
            <a:ext cx="384048" cy="1737360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86384" y="1627632"/>
            <a:ext cx="128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188720" y="1609344"/>
            <a:ext cx="4233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今日结论</a:t>
            </a:r>
            <a:endParaRPr lang="en-US" sz="920" dirty="0"/>
          </a:p>
        </p:txBody>
      </p:sp>
      <p:sp>
        <p:nvSpPr>
          <p:cNvPr id="15" name="Shape 13"/>
          <p:cNvSpPr/>
          <p:nvPr/>
        </p:nvSpPr>
        <p:spPr>
          <a:xfrm>
            <a:off x="1188720" y="1883664"/>
            <a:ext cx="2194560" cy="54864"/>
          </a:xfrm>
          <a:prstGeom prst="rect">
            <a:avLst/>
          </a:prstGeom>
          <a:solidFill>
            <a:srgbClr val="487052"/>
          </a:solidFill>
          <a:ln w="12700">
            <a:solidFill>
              <a:srgbClr val="48705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88720" y="2029968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AI算力驱动快充电池技术突破，但热管理问题暴露行业短板；电池消费税落地推高成本，磷酸铁锂涨价预期升温；山东两大储能项目并网，万华化学入股上游锂盐项目，产业链整合加速。</a:t>
            </a:r>
            <a:endParaRPr lang="en-US" sz="920" dirty="0"/>
          </a:p>
        </p:txBody>
      </p:sp>
      <p:sp>
        <p:nvSpPr>
          <p:cNvPr id="17" name="Text 15"/>
          <p:cNvSpPr/>
          <p:nvPr/>
        </p:nvSpPr>
        <p:spPr>
          <a:xfrm>
            <a:off x="1188720" y="2862072"/>
            <a:ext cx="42336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[1][2][3][4][5][6]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6236208" y="1444752"/>
            <a:ext cx="5074920" cy="1737360"/>
          </a:xfrm>
          <a:prstGeom prst="rect">
            <a:avLst/>
          </a:prstGeom>
          <a:solidFill>
            <a:srgbClr val="FFFFFF"/>
          </a:solidFill>
          <a:ln w="8890">
            <a:solidFill>
              <a:srgbClr val="DADAD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36208" y="1444752"/>
            <a:ext cx="384048" cy="1737360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64224" y="1627632"/>
            <a:ext cx="128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766560" y="1609344"/>
            <a:ext cx="4233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技术/产品路线</a:t>
            </a:r>
            <a:endParaRPr lang="en-US" sz="920" dirty="0"/>
          </a:p>
        </p:txBody>
      </p:sp>
      <p:sp>
        <p:nvSpPr>
          <p:cNvPr id="22" name="Shape 20"/>
          <p:cNvSpPr/>
          <p:nvPr/>
        </p:nvSpPr>
        <p:spPr>
          <a:xfrm>
            <a:off x="6766560" y="1883664"/>
            <a:ext cx="1316736" cy="54864"/>
          </a:xfrm>
          <a:prstGeom prst="rect">
            <a:avLst/>
          </a:prstGeom>
          <a:solidFill>
            <a:srgbClr val="487052"/>
          </a:solidFill>
          <a:ln w="12700">
            <a:solidFill>
              <a:srgbClr val="48705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766560" y="2029968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AI算力驱动快充电池技术突破，但热管理问题暴露行业短板；磷酸锰铁锂复合正极+硅碳负极成为主流路线，但需解决高温循环衰减问题。</a:t>
            </a:r>
            <a:endParaRPr lang="en-US" sz="920" dirty="0"/>
          </a:p>
        </p:txBody>
      </p:sp>
      <p:sp>
        <p:nvSpPr>
          <p:cNvPr id="24" name="Text 22"/>
          <p:cNvSpPr/>
          <p:nvPr/>
        </p:nvSpPr>
        <p:spPr>
          <a:xfrm>
            <a:off x="6766560" y="2862072"/>
            <a:ext cx="42336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[1][2]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658368" y="3566160"/>
            <a:ext cx="5074920" cy="1737360"/>
          </a:xfrm>
          <a:prstGeom prst="rect">
            <a:avLst/>
          </a:prstGeom>
          <a:solidFill>
            <a:srgbClr val="F4FAF6"/>
          </a:solidFill>
          <a:ln w="8890">
            <a:solidFill>
              <a:srgbClr val="DADAD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58368" y="3566160"/>
            <a:ext cx="384048" cy="1737360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86384" y="3749040"/>
            <a:ext cx="128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1188720" y="3730752"/>
            <a:ext cx="4233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产能/客户/订单</a:t>
            </a:r>
            <a:endParaRPr lang="en-US" sz="920" dirty="0"/>
          </a:p>
        </p:txBody>
      </p:sp>
      <p:sp>
        <p:nvSpPr>
          <p:cNvPr id="29" name="Shape 27"/>
          <p:cNvSpPr/>
          <p:nvPr/>
        </p:nvSpPr>
        <p:spPr>
          <a:xfrm>
            <a:off x="1188720" y="4005072"/>
            <a:ext cx="1316736" cy="54864"/>
          </a:xfrm>
          <a:prstGeom prst="rect">
            <a:avLst/>
          </a:prstGeom>
          <a:solidFill>
            <a:srgbClr val="487052"/>
          </a:solidFill>
          <a:ln w="12700">
            <a:solidFill>
              <a:srgbClr val="48705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188720" y="4151376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山东两大磷酸铁锂储能项目并网，总投资7.2亿元；万华化学入股大中矿业20万吨级锂盐项目，产业链纵向整合加速。</a:t>
            </a:r>
            <a:endParaRPr lang="en-US" sz="920" dirty="0"/>
          </a:p>
        </p:txBody>
      </p:sp>
      <p:sp>
        <p:nvSpPr>
          <p:cNvPr id="31" name="Text 29"/>
          <p:cNvSpPr/>
          <p:nvPr/>
        </p:nvSpPr>
        <p:spPr>
          <a:xfrm>
            <a:off x="1188720" y="4983480"/>
            <a:ext cx="42336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[4][6]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6236208" y="3566160"/>
            <a:ext cx="5074920" cy="1737360"/>
          </a:xfrm>
          <a:prstGeom prst="rect">
            <a:avLst/>
          </a:prstGeom>
          <a:solidFill>
            <a:srgbClr val="FFFFFF"/>
          </a:solidFill>
          <a:ln w="8890">
            <a:solidFill>
              <a:srgbClr val="DADAD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236208" y="3566160"/>
            <a:ext cx="384048" cy="1737360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364224" y="3749040"/>
            <a:ext cx="128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6766560" y="3730752"/>
            <a:ext cx="4233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价格/盈利压力</a:t>
            </a:r>
            <a:endParaRPr lang="en-US" sz="920" dirty="0"/>
          </a:p>
        </p:txBody>
      </p:sp>
      <p:sp>
        <p:nvSpPr>
          <p:cNvPr id="36" name="Shape 34"/>
          <p:cNvSpPr/>
          <p:nvPr/>
        </p:nvSpPr>
        <p:spPr>
          <a:xfrm>
            <a:off x="6766560" y="4005072"/>
            <a:ext cx="1316736" cy="54864"/>
          </a:xfrm>
          <a:prstGeom prst="rect">
            <a:avLst/>
          </a:prstGeom>
          <a:solidFill>
            <a:srgbClr val="487052"/>
          </a:solidFill>
          <a:ln w="12700">
            <a:solidFill>
              <a:srgbClr val="48705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766560" y="4151376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磷酸铁锂涨价预期升温，上下游议价博弈进入新阶段；电池消费税落地直接增加电芯成本，行业盈利承压。</a:t>
            </a:r>
            <a:endParaRPr lang="en-US" sz="920" dirty="0"/>
          </a:p>
        </p:txBody>
      </p:sp>
      <p:sp>
        <p:nvSpPr>
          <p:cNvPr id="38" name="Text 36"/>
          <p:cNvSpPr/>
          <p:nvPr/>
        </p:nvSpPr>
        <p:spPr>
          <a:xfrm>
            <a:off x="6766560" y="4983480"/>
            <a:ext cx="42336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[5][3]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658368" y="5779008"/>
            <a:ext cx="1463040" cy="292608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04672" y="5870448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总览结论</a:t>
            </a:r>
            <a:endParaRPr lang="en-US" sz="780" dirty="0"/>
          </a:p>
        </p:txBody>
      </p:sp>
      <p:sp>
        <p:nvSpPr>
          <p:cNvPr id="41" name="Text 39"/>
          <p:cNvSpPr/>
          <p:nvPr/>
        </p:nvSpPr>
        <p:spPr>
          <a:xfrm>
            <a:off x="2286000" y="5843016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今日磷酸铁锂行业呈现多重信号：技术端，AI算力驱动快充电池突破，但热管理问题引发行业反思；政策端，电池消费税落地与回收规范趋严，成本压力传导至</a:t>
            </a:r>
            <a:endParaRPr lang="en-US" sz="102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1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143000" y="39319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SECTION DEEP DIVE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287000" y="39319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2026-07-30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786384"/>
            <a:ext cx="11201400" cy="0"/>
          </a:xfrm>
          <a:prstGeom prst="line">
            <a:avLst/>
          </a:prstGeom>
          <a:noFill/>
          <a:ln w="10160">
            <a:solidFill>
              <a:srgbClr val="DADAD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6327648"/>
            <a:ext cx="11201400" cy="0"/>
          </a:xfrm>
          <a:prstGeom prst="line">
            <a:avLst/>
          </a:prstGeom>
          <a:noFill/>
          <a:ln w="8890">
            <a:solidFill>
              <a:srgbClr val="DADAD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437376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磷酸铁锂行业早报｜公开来源自动生成｜仅作行业观察，不构成投资建议</a:t>
            </a:r>
            <a:endParaRPr lang="en-US" sz="730" dirty="0"/>
          </a:p>
        </p:txBody>
      </p:sp>
      <p:sp>
        <p:nvSpPr>
          <p:cNvPr id="8" name="Text 6"/>
          <p:cNvSpPr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730" dirty="0"/>
          </a:p>
        </p:txBody>
      </p:sp>
      <p:sp>
        <p:nvSpPr>
          <p:cNvPr id="9" name="Text 7"/>
          <p:cNvSpPr/>
          <p:nvPr/>
        </p:nvSpPr>
        <p:spPr>
          <a:xfrm>
            <a:off x="658368" y="91440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今日结论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749040" y="1005840"/>
            <a:ext cx="7132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 条公开来源交叉验证｜事实、影响与后续研判</a:t>
            </a:r>
            <a:endParaRPr lang="en-US" sz="860" dirty="0"/>
          </a:p>
        </p:txBody>
      </p:sp>
      <p:sp>
        <p:nvSpPr>
          <p:cNvPr id="11" name="Shape 9"/>
          <p:cNvSpPr/>
          <p:nvPr/>
        </p:nvSpPr>
        <p:spPr>
          <a:xfrm>
            <a:off x="658368" y="144475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F4FAF6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2688" y="166420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事实判断</a:t>
            </a:r>
            <a:endParaRPr lang="en-US" sz="1080" dirty="0"/>
          </a:p>
        </p:txBody>
      </p:sp>
      <p:sp>
        <p:nvSpPr>
          <p:cNvPr id="13" name="Text 11"/>
          <p:cNvSpPr/>
          <p:nvPr/>
        </p:nvSpPr>
        <p:spPr>
          <a:xfrm>
            <a:off x="2487168" y="1645920"/>
            <a:ext cx="43159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AI算力驱动快充电池技术突破，但热管理问题暴露行业短板；电池消费税落地推高成本，磷酸铁锂涨价预期升温；山东两大储能项目并网，万华化学入股上游锂盐项目，产业链整合加速。 [1][2][3][4][5][6]</a:t>
            </a:r>
            <a:endParaRPr lang="en-US" sz="960" dirty="0"/>
          </a:p>
        </p:txBody>
      </p:sp>
      <p:sp>
        <p:nvSpPr>
          <p:cNvPr id="14" name="Text 12"/>
          <p:cNvSpPr/>
          <p:nvPr/>
        </p:nvSpPr>
        <p:spPr>
          <a:xfrm>
            <a:off x="2487168" y="2432304"/>
            <a:ext cx="3931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依据：[1][2][3][4][5][6]</a:t>
            </a:r>
            <a:endParaRPr lang="en-US" sz="740" dirty="0"/>
          </a:p>
        </p:txBody>
      </p:sp>
      <p:sp>
        <p:nvSpPr>
          <p:cNvPr id="15" name="Shape 13"/>
          <p:cNvSpPr/>
          <p:nvPr/>
        </p:nvSpPr>
        <p:spPr>
          <a:xfrm>
            <a:off x="658368" y="290779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32688" y="312724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影响分析</a:t>
            </a:r>
            <a:endParaRPr lang="en-US" sz="1080" dirty="0"/>
          </a:p>
        </p:txBody>
      </p:sp>
      <p:sp>
        <p:nvSpPr>
          <p:cNvPr id="17" name="Text 15"/>
          <p:cNvSpPr/>
          <p:nvPr/>
        </p:nvSpPr>
        <p:spPr>
          <a:xfrm>
            <a:off x="2487168" y="3108960"/>
            <a:ext cx="43159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算力与快充电池的结合成为技术热点，但中创新航177Ah电芯鼓包事件揭示了快充带来的热管理挑战。电池消费税落地直接增加电芯成本，而磷酸铁锂涨价预期则反映上游议价能力增强。山东两大储能项目并网（7.2亿元）和万华化学入股大中矿业锂盐项目，表明资本正加速向储能和上游资源端布局。这些信号共同指向行业正从单纯追求能量密度转向兼顾安全、成本与循环利用的综合竞争。</a:t>
            </a:r>
            <a:endParaRPr lang="en-US" sz="960" dirty="0"/>
          </a:p>
        </p:txBody>
      </p:sp>
      <p:sp>
        <p:nvSpPr>
          <p:cNvPr id="18" name="Shape 16"/>
          <p:cNvSpPr/>
          <p:nvPr/>
        </p:nvSpPr>
        <p:spPr>
          <a:xfrm>
            <a:off x="658368" y="437083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DDEBE0"/>
          </a:solidFill>
          <a:ln w="13970">
            <a:solidFill>
              <a:srgbClr val="12121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" y="4370832"/>
            <a:ext cx="109728" cy="1207008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32688" y="459028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后续研判</a:t>
            </a:r>
            <a:endParaRPr lang="en-US" sz="1080" dirty="0"/>
          </a:p>
        </p:txBody>
      </p:sp>
      <p:sp>
        <p:nvSpPr>
          <p:cNvPr id="21" name="Text 19"/>
          <p:cNvSpPr/>
          <p:nvPr/>
        </p:nvSpPr>
        <p:spPr>
          <a:xfrm>
            <a:off x="2487168" y="4572000"/>
            <a:ext cx="43159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若电池消费税全面执行，电芯成本将上升3-5%，可能加速低端产能出清；若磷酸铁锂涨价落地，则下游储能项目IRR将承压，需跟踪Q3招标价格和碳酸锂库存变化。</a:t>
            </a:r>
            <a:endParaRPr lang="en-US" sz="960" dirty="0"/>
          </a:p>
        </p:txBody>
      </p:sp>
      <p:sp>
        <p:nvSpPr>
          <p:cNvPr id="22" name="Shape 20"/>
          <p:cNvSpPr/>
          <p:nvPr/>
        </p:nvSpPr>
        <p:spPr>
          <a:xfrm>
            <a:off x="7479792" y="1444752"/>
            <a:ext cx="3273552" cy="3730752"/>
          </a:xfrm>
          <a:prstGeom prst="roundRect">
            <a:avLst>
              <a:gd name="adj" fmla="val 2235"/>
            </a:avLst>
          </a:prstGeom>
          <a:solidFill>
            <a:srgbClr val="FFFFFF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26680" y="1700784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关键数据解读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772400" y="1993392"/>
            <a:ext cx="2560320" cy="1389888"/>
          </a:xfrm>
          <a:prstGeom prst="roundRect">
            <a:avLst>
              <a:gd name="adj" fmla="val 2632"/>
            </a:avLst>
          </a:prstGeom>
          <a:solidFill>
            <a:srgbClr val="F4FAF6"/>
          </a:solidFill>
          <a:ln w="7620">
            <a:solidFill>
              <a:srgbClr val="DADAD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918704" y="2103120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5%</a:t>
            </a:r>
            <a:endParaRPr lang="en-US" sz="2100" dirty="0"/>
          </a:p>
        </p:txBody>
      </p:sp>
      <p:sp>
        <p:nvSpPr>
          <p:cNvPr id="26" name="Text 24"/>
          <p:cNvSpPr/>
          <p:nvPr/>
        </p:nvSpPr>
        <p:spPr>
          <a:xfrm>
            <a:off x="8759952" y="216712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电芯成本将上升3-</a:t>
            </a:r>
            <a:endParaRPr lang="en-US" sz="820" dirty="0"/>
          </a:p>
        </p:txBody>
      </p:sp>
      <p:sp>
        <p:nvSpPr>
          <p:cNvPr id="27" name="Text 25"/>
          <p:cNvSpPr/>
          <p:nvPr/>
        </p:nvSpPr>
        <p:spPr>
          <a:xfrm>
            <a:off x="7918704" y="2578608"/>
            <a:ext cx="21762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公开信息：若电池消费税全面执行，电芯成本将上升3-5%，可能加速低端产能出清</a:t>
            </a:r>
            <a:endParaRPr lang="en-US" sz="840" dirty="0"/>
          </a:p>
        </p:txBody>
      </p:sp>
      <p:sp>
        <p:nvSpPr>
          <p:cNvPr id="28" name="Text 26"/>
          <p:cNvSpPr/>
          <p:nvPr/>
        </p:nvSpPr>
        <p:spPr>
          <a:xfrm>
            <a:off x="7772400" y="4498848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阅读提示：仅按公开报道原文呈现；不同企业、时间和统计范围不可直接横向比较。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658368" y="5779008"/>
            <a:ext cx="1463040" cy="292608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04672" y="5870448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核心研判</a:t>
            </a:r>
            <a:endParaRPr lang="en-US" sz="780" dirty="0"/>
          </a:p>
        </p:txBody>
      </p:sp>
      <p:sp>
        <p:nvSpPr>
          <p:cNvPr id="31" name="Text 29"/>
          <p:cNvSpPr/>
          <p:nvPr/>
        </p:nvSpPr>
        <p:spPr>
          <a:xfrm>
            <a:off x="2286000" y="5843016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若电池消费税全面执行，电芯成本将上升3-5%，可能加速低端产能出清</a:t>
            </a:r>
            <a:endParaRPr lang="en-US" sz="102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1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143000" y="39319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SECTION DEEP DIVE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287000" y="39319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2026-07-30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786384"/>
            <a:ext cx="11201400" cy="0"/>
          </a:xfrm>
          <a:prstGeom prst="line">
            <a:avLst/>
          </a:prstGeom>
          <a:noFill/>
          <a:ln w="10160">
            <a:solidFill>
              <a:srgbClr val="DADAD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6327648"/>
            <a:ext cx="11201400" cy="0"/>
          </a:xfrm>
          <a:prstGeom prst="line">
            <a:avLst/>
          </a:prstGeom>
          <a:noFill/>
          <a:ln w="8890">
            <a:solidFill>
              <a:srgbClr val="DADAD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437376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磷酸铁锂行业早报｜公开来源自动生成｜仅作行业观察，不构成投资建议</a:t>
            </a:r>
            <a:endParaRPr lang="en-US" sz="730" dirty="0"/>
          </a:p>
        </p:txBody>
      </p:sp>
      <p:sp>
        <p:nvSpPr>
          <p:cNvPr id="8" name="Text 6"/>
          <p:cNvSpPr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730" dirty="0"/>
          </a:p>
        </p:txBody>
      </p:sp>
      <p:sp>
        <p:nvSpPr>
          <p:cNvPr id="9" name="Text 7"/>
          <p:cNvSpPr/>
          <p:nvPr/>
        </p:nvSpPr>
        <p:spPr>
          <a:xfrm>
            <a:off x="658368" y="91440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技术/产品路线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749040" y="1005840"/>
            <a:ext cx="7132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条公开来源交叉验证｜事实、影响与后续研判</a:t>
            </a:r>
            <a:endParaRPr lang="en-US" sz="860" dirty="0"/>
          </a:p>
        </p:txBody>
      </p:sp>
      <p:sp>
        <p:nvSpPr>
          <p:cNvPr id="11" name="Shape 9"/>
          <p:cNvSpPr/>
          <p:nvPr/>
        </p:nvSpPr>
        <p:spPr>
          <a:xfrm>
            <a:off x="658368" y="144475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F4FAF6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2688" y="166420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事实判断</a:t>
            </a:r>
            <a:endParaRPr lang="en-US" sz="1080" dirty="0"/>
          </a:p>
        </p:txBody>
      </p:sp>
      <p:sp>
        <p:nvSpPr>
          <p:cNvPr id="13" name="Text 11"/>
          <p:cNvSpPr/>
          <p:nvPr/>
        </p:nvSpPr>
        <p:spPr>
          <a:xfrm>
            <a:off x="2487168" y="1645920"/>
            <a:ext cx="43159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AI算力驱动快充电池技术突破，但热管理问题暴露行业短板；磷酸锰铁锂复合正极+硅碳负极成为主流路线，但需解决高温循环衰减问题。 [1][2]</a:t>
            </a:r>
            <a:endParaRPr lang="en-US" sz="960" dirty="0"/>
          </a:p>
        </p:txBody>
      </p:sp>
      <p:sp>
        <p:nvSpPr>
          <p:cNvPr id="14" name="Text 12"/>
          <p:cNvSpPr/>
          <p:nvPr/>
        </p:nvSpPr>
        <p:spPr>
          <a:xfrm>
            <a:off x="2487168" y="2432304"/>
            <a:ext cx="3931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依据：[1][2]</a:t>
            </a:r>
            <a:endParaRPr lang="en-US" sz="740" dirty="0"/>
          </a:p>
        </p:txBody>
      </p:sp>
      <p:sp>
        <p:nvSpPr>
          <p:cNvPr id="15" name="Shape 13"/>
          <p:cNvSpPr/>
          <p:nvPr/>
        </p:nvSpPr>
        <p:spPr>
          <a:xfrm>
            <a:off x="658368" y="290779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32688" y="312724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影响分析</a:t>
            </a:r>
            <a:endParaRPr lang="en-US" sz="1080" dirty="0"/>
          </a:p>
        </p:txBody>
      </p:sp>
      <p:sp>
        <p:nvSpPr>
          <p:cNvPr id="17" name="Text 15"/>
          <p:cNvSpPr/>
          <p:nvPr/>
        </p:nvSpPr>
        <p:spPr>
          <a:xfrm>
            <a:off x="2487168" y="3108960"/>
            <a:ext cx="43159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众号文章指出，AI算力已成为快充电池研发的核心引擎，第二代刀片电池采用磷酸锰铁锂复合正极+硅碳负极，实现快充与续航的平衡。然而，中创新航177Ah电芯鼓包事件揭示了快充带来的热管理挑战，网约车高频快充场景下电池长期在35-45°C工作，电解液分解风险增加。这表明技术突破与工程可靠性之间存在差距，行业需在材料创新与热管理设计上同步投入。</a:t>
            </a:r>
            <a:endParaRPr lang="en-US" sz="960" dirty="0"/>
          </a:p>
        </p:txBody>
      </p:sp>
      <p:sp>
        <p:nvSpPr>
          <p:cNvPr id="18" name="Shape 16"/>
          <p:cNvSpPr/>
          <p:nvPr/>
        </p:nvSpPr>
        <p:spPr>
          <a:xfrm>
            <a:off x="658368" y="437083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DDEBE0"/>
          </a:solidFill>
          <a:ln w="13970">
            <a:solidFill>
              <a:srgbClr val="12121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" y="4370832"/>
            <a:ext cx="109728" cy="1207008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32688" y="459028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后续研判</a:t>
            </a:r>
            <a:endParaRPr lang="en-US" sz="1080" dirty="0"/>
          </a:p>
        </p:txBody>
      </p:sp>
      <p:sp>
        <p:nvSpPr>
          <p:cNvPr id="21" name="Text 19"/>
          <p:cNvSpPr/>
          <p:nvPr/>
        </p:nvSpPr>
        <p:spPr>
          <a:xfrm>
            <a:off x="2487168" y="4572000"/>
            <a:ext cx="43159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若快充电池热管理问题未获有效解决，则可能引发大规模召回或运营事故，倒逼行业制定快充电池热安全标准；需跟踪中创新航177Ah电芯的后续处理方案及第三方热管理技术进展。</a:t>
            </a:r>
            <a:endParaRPr lang="en-US" sz="960" dirty="0"/>
          </a:p>
        </p:txBody>
      </p:sp>
      <p:sp>
        <p:nvSpPr>
          <p:cNvPr id="22" name="Shape 20"/>
          <p:cNvSpPr/>
          <p:nvPr/>
        </p:nvSpPr>
        <p:spPr>
          <a:xfrm>
            <a:off x="7479792" y="1444752"/>
            <a:ext cx="3273552" cy="3730752"/>
          </a:xfrm>
          <a:prstGeom prst="roundRect">
            <a:avLst>
              <a:gd name="adj" fmla="val 2235"/>
            </a:avLst>
          </a:prstGeom>
          <a:solidFill>
            <a:srgbClr val="FFFFFF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26680" y="1700784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路线图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754112" y="2249424"/>
            <a:ext cx="612648" cy="402336"/>
          </a:xfrm>
          <a:prstGeom prst="chevron">
            <a:avLst/>
          </a:prstGeom>
          <a:solidFill>
            <a:srgbClr val="DDEBE0"/>
          </a:solidFill>
          <a:ln w="13970">
            <a:solidFill>
              <a:srgbClr val="48705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827264" y="2386584"/>
            <a:ext cx="4480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7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</a:t>
            </a:r>
            <a:endParaRPr lang="en-US" sz="670" dirty="0"/>
          </a:p>
        </p:txBody>
      </p:sp>
      <p:sp>
        <p:nvSpPr>
          <p:cNvPr id="26" name="Shape 24"/>
          <p:cNvSpPr/>
          <p:nvPr/>
        </p:nvSpPr>
        <p:spPr>
          <a:xfrm>
            <a:off x="8375904" y="2249424"/>
            <a:ext cx="612648" cy="402336"/>
          </a:xfrm>
          <a:prstGeom prst="chevron">
            <a:avLst/>
          </a:prstGeom>
          <a:solidFill>
            <a:srgbClr val="FFFFFF"/>
          </a:solidFill>
          <a:ln w="13970">
            <a:solidFill>
              <a:srgbClr val="48705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449056" y="2386584"/>
            <a:ext cx="4480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7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</a:t>
            </a:r>
            <a:endParaRPr lang="en-US" sz="670" dirty="0"/>
          </a:p>
        </p:txBody>
      </p:sp>
      <p:sp>
        <p:nvSpPr>
          <p:cNvPr id="28" name="Shape 26"/>
          <p:cNvSpPr/>
          <p:nvPr/>
        </p:nvSpPr>
        <p:spPr>
          <a:xfrm>
            <a:off x="8997696" y="2249424"/>
            <a:ext cx="612648" cy="402336"/>
          </a:xfrm>
          <a:prstGeom prst="chevron">
            <a:avLst/>
          </a:prstGeom>
          <a:solidFill>
            <a:srgbClr val="FFFFFF"/>
          </a:solidFill>
          <a:ln w="13970">
            <a:solidFill>
              <a:srgbClr val="48705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070848" y="2386584"/>
            <a:ext cx="4480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7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</a:t>
            </a:r>
            <a:endParaRPr lang="en-US" sz="670" dirty="0"/>
          </a:p>
        </p:txBody>
      </p:sp>
      <p:sp>
        <p:nvSpPr>
          <p:cNvPr id="30" name="Shape 28"/>
          <p:cNvSpPr/>
          <p:nvPr/>
        </p:nvSpPr>
        <p:spPr>
          <a:xfrm>
            <a:off x="9619488" y="2249424"/>
            <a:ext cx="612648" cy="402336"/>
          </a:xfrm>
          <a:prstGeom prst="chevron">
            <a:avLst/>
          </a:prstGeom>
          <a:solidFill>
            <a:srgbClr val="FFFFFF"/>
          </a:solidFill>
          <a:ln w="13970">
            <a:solidFill>
              <a:srgbClr val="48705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692640" y="2386584"/>
            <a:ext cx="4480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7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量产</a:t>
            </a:r>
            <a:endParaRPr lang="en-US" sz="670" dirty="0"/>
          </a:p>
        </p:txBody>
      </p:sp>
      <p:sp>
        <p:nvSpPr>
          <p:cNvPr id="32" name="Shape 30"/>
          <p:cNvSpPr/>
          <p:nvPr/>
        </p:nvSpPr>
        <p:spPr>
          <a:xfrm>
            <a:off x="7882128" y="3063240"/>
            <a:ext cx="2331720" cy="0"/>
          </a:xfrm>
          <a:prstGeom prst="line">
            <a:avLst/>
          </a:prstGeom>
          <a:noFill/>
          <a:ln w="13970">
            <a:solidFill>
              <a:srgbClr val="7F9D84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845552" y="2962656"/>
            <a:ext cx="164592" cy="164592"/>
          </a:xfrm>
          <a:prstGeom prst="ellipse">
            <a:avLst/>
          </a:prstGeom>
          <a:solidFill>
            <a:srgbClr val="48705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754112" y="3291840"/>
            <a:ext cx="6035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67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AI算力驱动快充电池技</a:t>
            </a:r>
            <a:endParaRPr lang="en-US" sz="670" dirty="0"/>
          </a:p>
        </p:txBody>
      </p:sp>
      <p:sp>
        <p:nvSpPr>
          <p:cNvPr id="35" name="Shape 33"/>
          <p:cNvSpPr/>
          <p:nvPr/>
        </p:nvSpPr>
        <p:spPr>
          <a:xfrm>
            <a:off x="8503920" y="2962656"/>
            <a:ext cx="164592" cy="164592"/>
          </a:xfrm>
          <a:prstGeom prst="ellipse">
            <a:avLst/>
          </a:prstGeom>
          <a:solidFill>
            <a:srgbClr val="48705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412480" y="3291840"/>
            <a:ext cx="6035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67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磷酸锰铁锂复合正极+硅</a:t>
            </a:r>
            <a:endParaRPr lang="en-US" sz="670" dirty="0"/>
          </a:p>
        </p:txBody>
      </p:sp>
      <p:sp>
        <p:nvSpPr>
          <p:cNvPr id="37" name="Shape 35"/>
          <p:cNvSpPr/>
          <p:nvPr/>
        </p:nvSpPr>
        <p:spPr>
          <a:xfrm>
            <a:off x="9162288" y="2962656"/>
            <a:ext cx="164592" cy="164592"/>
          </a:xfrm>
          <a:prstGeom prst="ellipse">
            <a:avLst/>
          </a:prstGeom>
          <a:solidFill>
            <a:srgbClr val="48705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070848" y="3291840"/>
            <a:ext cx="6035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67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[1][2] 公众号文</a:t>
            </a:r>
            <a:endParaRPr lang="en-US" sz="670" dirty="0"/>
          </a:p>
        </p:txBody>
      </p:sp>
      <p:sp>
        <p:nvSpPr>
          <p:cNvPr id="39" name="Shape 37"/>
          <p:cNvSpPr/>
          <p:nvPr/>
        </p:nvSpPr>
        <p:spPr>
          <a:xfrm>
            <a:off x="9820656" y="2962656"/>
            <a:ext cx="164592" cy="164592"/>
          </a:xfrm>
          <a:prstGeom prst="ellipse">
            <a:avLst/>
          </a:prstGeom>
          <a:solidFill>
            <a:srgbClr val="B85A4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729216" y="3291840"/>
            <a:ext cx="6035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67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[1][2] 公众号文</a:t>
            </a:r>
            <a:endParaRPr lang="en-US" sz="670" dirty="0"/>
          </a:p>
        </p:txBody>
      </p:sp>
      <p:sp>
        <p:nvSpPr>
          <p:cNvPr id="41" name="Text 39"/>
          <p:cNvSpPr/>
          <p:nvPr/>
        </p:nvSpPr>
        <p:spPr>
          <a:xfrm>
            <a:off x="7726680" y="4315968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参考培训 PPT 的阶段路线表达，按事件顺序拆成判断路径。</a:t>
            </a:r>
            <a:endParaRPr lang="en-US" sz="760" dirty="0"/>
          </a:p>
        </p:txBody>
      </p:sp>
      <p:sp>
        <p:nvSpPr>
          <p:cNvPr id="42" name="Shape 40"/>
          <p:cNvSpPr/>
          <p:nvPr/>
        </p:nvSpPr>
        <p:spPr>
          <a:xfrm>
            <a:off x="658368" y="5779008"/>
            <a:ext cx="1463040" cy="292608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04672" y="5870448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核心研判</a:t>
            </a:r>
            <a:endParaRPr lang="en-US" sz="780" dirty="0"/>
          </a:p>
        </p:txBody>
      </p:sp>
      <p:sp>
        <p:nvSpPr>
          <p:cNvPr id="44" name="Text 42"/>
          <p:cNvSpPr/>
          <p:nvPr/>
        </p:nvSpPr>
        <p:spPr>
          <a:xfrm>
            <a:off x="2286000" y="5843016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若快充电池热管理问题未获有效解决，则可能引发大规模召回或运营事故，倒逼行业制定快充电池热安全标准</a:t>
            </a:r>
            <a:endParaRPr lang="en-US" sz="102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1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143000" y="39319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SECTION DEEP DIVE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287000" y="39319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2026-07-30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786384"/>
            <a:ext cx="11201400" cy="0"/>
          </a:xfrm>
          <a:prstGeom prst="line">
            <a:avLst/>
          </a:prstGeom>
          <a:noFill/>
          <a:ln w="10160">
            <a:solidFill>
              <a:srgbClr val="DADAD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6327648"/>
            <a:ext cx="11201400" cy="0"/>
          </a:xfrm>
          <a:prstGeom prst="line">
            <a:avLst/>
          </a:prstGeom>
          <a:noFill/>
          <a:ln w="8890">
            <a:solidFill>
              <a:srgbClr val="DADAD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437376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磷酸铁锂行业早报｜公开来源自动生成｜仅作行业观察，不构成投资建议</a:t>
            </a:r>
            <a:endParaRPr lang="en-US" sz="730" dirty="0"/>
          </a:p>
        </p:txBody>
      </p:sp>
      <p:sp>
        <p:nvSpPr>
          <p:cNvPr id="8" name="Text 6"/>
          <p:cNvSpPr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730" dirty="0"/>
          </a:p>
        </p:txBody>
      </p:sp>
      <p:sp>
        <p:nvSpPr>
          <p:cNvPr id="9" name="Text 7"/>
          <p:cNvSpPr/>
          <p:nvPr/>
        </p:nvSpPr>
        <p:spPr>
          <a:xfrm>
            <a:off x="658368" y="91440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产能/客户/订单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749040" y="1005840"/>
            <a:ext cx="7132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条公开来源交叉验证｜事实、影响与后续研判</a:t>
            </a:r>
            <a:endParaRPr lang="en-US" sz="860" dirty="0"/>
          </a:p>
        </p:txBody>
      </p:sp>
      <p:sp>
        <p:nvSpPr>
          <p:cNvPr id="11" name="Shape 9"/>
          <p:cNvSpPr/>
          <p:nvPr/>
        </p:nvSpPr>
        <p:spPr>
          <a:xfrm>
            <a:off x="658368" y="144475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F4FAF6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2688" y="166420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事实判断</a:t>
            </a:r>
            <a:endParaRPr lang="en-US" sz="1080" dirty="0"/>
          </a:p>
        </p:txBody>
      </p:sp>
      <p:sp>
        <p:nvSpPr>
          <p:cNvPr id="13" name="Text 11"/>
          <p:cNvSpPr/>
          <p:nvPr/>
        </p:nvSpPr>
        <p:spPr>
          <a:xfrm>
            <a:off x="2487168" y="1645920"/>
            <a:ext cx="43159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山东两大磷酸铁锂储能项目并网，总投资7.2亿元；万华化学入股大中矿业20万吨级锂盐项目，产业链纵向整合加速。 [4][6]</a:t>
            </a:r>
            <a:endParaRPr lang="en-US" sz="960" dirty="0"/>
          </a:p>
        </p:txBody>
      </p:sp>
      <p:sp>
        <p:nvSpPr>
          <p:cNvPr id="14" name="Text 12"/>
          <p:cNvSpPr/>
          <p:nvPr/>
        </p:nvSpPr>
        <p:spPr>
          <a:xfrm>
            <a:off x="2487168" y="2432304"/>
            <a:ext cx="3931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依据：[4][6]</a:t>
            </a:r>
            <a:endParaRPr lang="en-US" sz="740" dirty="0"/>
          </a:p>
        </p:txBody>
      </p:sp>
      <p:sp>
        <p:nvSpPr>
          <p:cNvPr id="15" name="Shape 13"/>
          <p:cNvSpPr/>
          <p:nvPr/>
        </p:nvSpPr>
        <p:spPr>
          <a:xfrm>
            <a:off x="658368" y="290779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32688" y="312724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影响分析</a:t>
            </a:r>
            <a:endParaRPr lang="en-US" sz="1080" dirty="0"/>
          </a:p>
        </p:txBody>
      </p:sp>
      <p:sp>
        <p:nvSpPr>
          <p:cNvPr id="17" name="Text 15"/>
          <p:cNvSpPr/>
          <p:nvPr/>
        </p:nvSpPr>
        <p:spPr>
          <a:xfrm>
            <a:off x="2487168" y="3108960"/>
            <a:ext cx="43159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山东青岛及德州两大储能项目并网，总投资7.2亿元，显示磷酸铁锂在储能领域的应用持续扩张。万华化学入股大中矿业锂盐项目，标志着化工巨头向上游资源端延伸，旨在锁定锂盐供应并降低原料成本波动风险。这种上下游联动的整合模式，可能改变行业议价格局，中小材料企业面临更大竞争压力。</a:t>
            </a:r>
            <a:endParaRPr lang="en-US" sz="960" dirty="0"/>
          </a:p>
        </p:txBody>
      </p:sp>
      <p:sp>
        <p:nvSpPr>
          <p:cNvPr id="18" name="Shape 16"/>
          <p:cNvSpPr/>
          <p:nvPr/>
        </p:nvSpPr>
        <p:spPr>
          <a:xfrm>
            <a:off x="658368" y="437083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DDEBE0"/>
          </a:solidFill>
          <a:ln w="13970">
            <a:solidFill>
              <a:srgbClr val="12121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" y="4370832"/>
            <a:ext cx="109728" cy="1207008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32688" y="459028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后续研判</a:t>
            </a:r>
            <a:endParaRPr lang="en-US" sz="1080" dirty="0"/>
          </a:p>
        </p:txBody>
      </p:sp>
      <p:sp>
        <p:nvSpPr>
          <p:cNvPr id="21" name="Text 19"/>
          <p:cNvSpPr/>
          <p:nvPr/>
        </p:nvSpPr>
        <p:spPr>
          <a:xfrm>
            <a:off x="2487168" y="4572000"/>
            <a:ext cx="43159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若万华化学成功整合锂盐产能，则可能推动磷酸铁锂成本下降，但需关注其技术适配性和产能爬坡进度；若储能项目收益率持续改善，则将进一步拉动磷酸铁锂需求。</a:t>
            </a:r>
            <a:endParaRPr lang="en-US" sz="960" dirty="0"/>
          </a:p>
        </p:txBody>
      </p:sp>
      <p:sp>
        <p:nvSpPr>
          <p:cNvPr id="22" name="Shape 20"/>
          <p:cNvSpPr/>
          <p:nvPr/>
        </p:nvSpPr>
        <p:spPr>
          <a:xfrm>
            <a:off x="7479792" y="1444752"/>
            <a:ext cx="3273552" cy="3730752"/>
          </a:xfrm>
          <a:prstGeom prst="roundRect">
            <a:avLst>
              <a:gd name="adj" fmla="val 2235"/>
            </a:avLst>
          </a:prstGeom>
          <a:solidFill>
            <a:srgbClr val="FFFFFF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26680" y="1700784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对比矩阵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818120" y="2176272"/>
            <a:ext cx="2487168" cy="1609344"/>
          </a:xfrm>
          <a:prstGeom prst="rect">
            <a:avLst/>
          </a:prstGeom>
          <a:solidFill>
            <a:srgbClr val="FFFFFF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061704" y="2176272"/>
            <a:ext cx="0" cy="1609344"/>
          </a:xfrm>
          <a:prstGeom prst="line">
            <a:avLst/>
          </a:prstGeom>
          <a:noFill/>
          <a:ln w="8890">
            <a:solidFill>
              <a:srgbClr val="DADAD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818120" y="2980944"/>
            <a:ext cx="2487168" cy="0"/>
          </a:xfrm>
          <a:prstGeom prst="line">
            <a:avLst/>
          </a:prstGeom>
          <a:noFill/>
          <a:ln w="8890">
            <a:solidFill>
              <a:srgbClr val="DADAD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818120" y="2176272"/>
            <a:ext cx="1243584" cy="804672"/>
          </a:xfrm>
          <a:prstGeom prst="rect">
            <a:avLst/>
          </a:prstGeom>
          <a:solidFill>
            <a:srgbClr val="DDEBE0"/>
          </a:solidFill>
          <a:ln w="3810">
            <a:solidFill>
              <a:srgbClr val="DADAD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891272" y="2286000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路线A</a:t>
            </a:r>
            <a:endParaRPr lang="en-US" sz="710" dirty="0"/>
          </a:p>
        </p:txBody>
      </p:sp>
      <p:sp>
        <p:nvSpPr>
          <p:cNvPr id="29" name="Text 27"/>
          <p:cNvSpPr/>
          <p:nvPr/>
        </p:nvSpPr>
        <p:spPr>
          <a:xfrm>
            <a:off x="7891272" y="2505456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山东两大磷酸铁锂储能项目并</a:t>
            </a:r>
            <a:endParaRPr lang="en-US" sz="670" dirty="0"/>
          </a:p>
        </p:txBody>
      </p:sp>
      <p:sp>
        <p:nvSpPr>
          <p:cNvPr id="30" name="Shape 28"/>
          <p:cNvSpPr/>
          <p:nvPr/>
        </p:nvSpPr>
        <p:spPr>
          <a:xfrm>
            <a:off x="9061704" y="2176272"/>
            <a:ext cx="1243584" cy="804672"/>
          </a:xfrm>
          <a:prstGeom prst="rect">
            <a:avLst/>
          </a:prstGeom>
          <a:solidFill>
            <a:srgbClr val="FFFFFF"/>
          </a:solidFill>
          <a:ln w="3810">
            <a:solidFill>
              <a:srgbClr val="DADAD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134856" y="2286000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路线B</a:t>
            </a:r>
            <a:endParaRPr lang="en-US" sz="710" dirty="0"/>
          </a:p>
        </p:txBody>
      </p:sp>
      <p:sp>
        <p:nvSpPr>
          <p:cNvPr id="32" name="Text 30"/>
          <p:cNvSpPr/>
          <p:nvPr/>
        </p:nvSpPr>
        <p:spPr>
          <a:xfrm>
            <a:off x="9134856" y="2505456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万华化学入股大中矿业20万</a:t>
            </a:r>
            <a:endParaRPr lang="en-US" sz="670" dirty="0"/>
          </a:p>
        </p:txBody>
      </p:sp>
      <p:sp>
        <p:nvSpPr>
          <p:cNvPr id="33" name="Shape 31"/>
          <p:cNvSpPr/>
          <p:nvPr/>
        </p:nvSpPr>
        <p:spPr>
          <a:xfrm>
            <a:off x="7818120" y="2980944"/>
            <a:ext cx="1243584" cy="804672"/>
          </a:xfrm>
          <a:prstGeom prst="rect">
            <a:avLst/>
          </a:prstGeom>
          <a:solidFill>
            <a:srgbClr val="FFFFFF"/>
          </a:solidFill>
          <a:ln w="3810">
            <a:solidFill>
              <a:srgbClr val="DADAD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891272" y="3090672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机会</a:t>
            </a:r>
            <a:endParaRPr lang="en-US" sz="710" dirty="0"/>
          </a:p>
        </p:txBody>
      </p:sp>
      <p:sp>
        <p:nvSpPr>
          <p:cNvPr id="35" name="Text 33"/>
          <p:cNvSpPr/>
          <p:nvPr/>
        </p:nvSpPr>
        <p:spPr>
          <a:xfrm>
            <a:off x="7891272" y="3310128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[4][6] 山东青岛及德</a:t>
            </a:r>
            <a:endParaRPr lang="en-US" sz="670" dirty="0"/>
          </a:p>
        </p:txBody>
      </p:sp>
      <p:sp>
        <p:nvSpPr>
          <p:cNvPr id="36" name="Shape 34"/>
          <p:cNvSpPr/>
          <p:nvPr/>
        </p:nvSpPr>
        <p:spPr>
          <a:xfrm>
            <a:off x="9061704" y="2980944"/>
            <a:ext cx="1243584" cy="804672"/>
          </a:xfrm>
          <a:prstGeom prst="rect">
            <a:avLst/>
          </a:prstGeom>
          <a:solidFill>
            <a:srgbClr val="F4FAF6"/>
          </a:solidFill>
          <a:ln w="3810">
            <a:solidFill>
              <a:srgbClr val="DADAD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134856" y="3090672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约束</a:t>
            </a:r>
            <a:endParaRPr lang="en-US" sz="710" dirty="0"/>
          </a:p>
        </p:txBody>
      </p:sp>
      <p:sp>
        <p:nvSpPr>
          <p:cNvPr id="38" name="Text 36"/>
          <p:cNvSpPr/>
          <p:nvPr/>
        </p:nvSpPr>
        <p:spPr>
          <a:xfrm>
            <a:off x="9134856" y="3310128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山东两大磷酸铁锂储能项目并</a:t>
            </a:r>
            <a:endParaRPr lang="en-US" sz="670" dirty="0"/>
          </a:p>
        </p:txBody>
      </p:sp>
      <p:sp>
        <p:nvSpPr>
          <p:cNvPr id="39" name="Text 37"/>
          <p:cNvSpPr/>
          <p:nvPr/>
        </p:nvSpPr>
        <p:spPr>
          <a:xfrm>
            <a:off x="7726680" y="4187952"/>
            <a:ext cx="2697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检测到对比/分类信号，用矩阵压缩呈现，不新增外部判断。</a:t>
            </a:r>
            <a:endParaRPr lang="en-US" sz="760" dirty="0"/>
          </a:p>
        </p:txBody>
      </p:sp>
      <p:sp>
        <p:nvSpPr>
          <p:cNvPr id="40" name="Shape 38"/>
          <p:cNvSpPr/>
          <p:nvPr/>
        </p:nvSpPr>
        <p:spPr>
          <a:xfrm>
            <a:off x="658368" y="5779008"/>
            <a:ext cx="1463040" cy="292608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04672" y="5870448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核心研判</a:t>
            </a:r>
            <a:endParaRPr lang="en-US" sz="780" dirty="0"/>
          </a:p>
        </p:txBody>
      </p:sp>
      <p:sp>
        <p:nvSpPr>
          <p:cNvPr id="42" name="Text 40"/>
          <p:cNvSpPr/>
          <p:nvPr/>
        </p:nvSpPr>
        <p:spPr>
          <a:xfrm>
            <a:off x="2286000" y="5843016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若万华化学成功整合锂盐产能，则可能推动磷酸铁锂成本下降，但需关注其技术适配性和产能爬坡进度</a:t>
            </a:r>
            <a:endParaRPr lang="en-US" sz="102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1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6.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143000" y="39319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SECTION DEEP DIVE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287000" y="39319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2026-07-30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786384"/>
            <a:ext cx="11201400" cy="0"/>
          </a:xfrm>
          <a:prstGeom prst="line">
            <a:avLst/>
          </a:prstGeom>
          <a:noFill/>
          <a:ln w="10160">
            <a:solidFill>
              <a:srgbClr val="DADAD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6327648"/>
            <a:ext cx="11201400" cy="0"/>
          </a:xfrm>
          <a:prstGeom prst="line">
            <a:avLst/>
          </a:prstGeom>
          <a:noFill/>
          <a:ln w="8890">
            <a:solidFill>
              <a:srgbClr val="DADAD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437376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磷酸铁锂行业早报｜公开来源自动生成｜仅作行业观察，不构成投资建议</a:t>
            </a:r>
            <a:endParaRPr lang="en-US" sz="730" dirty="0"/>
          </a:p>
        </p:txBody>
      </p:sp>
      <p:sp>
        <p:nvSpPr>
          <p:cNvPr id="8" name="Text 6"/>
          <p:cNvSpPr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730" dirty="0"/>
          </a:p>
        </p:txBody>
      </p:sp>
      <p:sp>
        <p:nvSpPr>
          <p:cNvPr id="9" name="Text 7"/>
          <p:cNvSpPr/>
          <p:nvPr/>
        </p:nvSpPr>
        <p:spPr>
          <a:xfrm>
            <a:off x="658368" y="91440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价格/盈利压力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749040" y="1005840"/>
            <a:ext cx="7132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条公开来源交叉验证｜事实、影响与后续研判</a:t>
            </a:r>
            <a:endParaRPr lang="en-US" sz="860" dirty="0"/>
          </a:p>
        </p:txBody>
      </p:sp>
      <p:sp>
        <p:nvSpPr>
          <p:cNvPr id="11" name="Shape 9"/>
          <p:cNvSpPr/>
          <p:nvPr/>
        </p:nvSpPr>
        <p:spPr>
          <a:xfrm>
            <a:off x="658368" y="144475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F4FAF6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2688" y="166420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事实判断</a:t>
            </a:r>
            <a:endParaRPr lang="en-US" sz="1080" dirty="0"/>
          </a:p>
        </p:txBody>
      </p:sp>
      <p:sp>
        <p:nvSpPr>
          <p:cNvPr id="13" name="Text 11"/>
          <p:cNvSpPr/>
          <p:nvPr/>
        </p:nvSpPr>
        <p:spPr>
          <a:xfrm>
            <a:off x="2487168" y="1645920"/>
            <a:ext cx="43159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磷酸铁锂涨价预期升温，上下游议价博弈进入新阶段；电池消费税落地直接增加电芯成本，行业盈利承压。 [5][3]</a:t>
            </a:r>
            <a:endParaRPr lang="en-US" sz="960" dirty="0"/>
          </a:p>
        </p:txBody>
      </p:sp>
      <p:sp>
        <p:nvSpPr>
          <p:cNvPr id="14" name="Text 12"/>
          <p:cNvSpPr/>
          <p:nvPr/>
        </p:nvSpPr>
        <p:spPr>
          <a:xfrm>
            <a:off x="2487168" y="2432304"/>
            <a:ext cx="3931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依据：[5][3]</a:t>
            </a:r>
            <a:endParaRPr lang="en-US" sz="740" dirty="0"/>
          </a:p>
        </p:txBody>
      </p:sp>
      <p:sp>
        <p:nvSpPr>
          <p:cNvPr id="15" name="Shape 13"/>
          <p:cNvSpPr/>
          <p:nvPr/>
        </p:nvSpPr>
        <p:spPr>
          <a:xfrm>
            <a:off x="658368" y="290779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32688" y="312724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影响分析</a:t>
            </a:r>
            <a:endParaRPr lang="en-US" sz="1080" dirty="0"/>
          </a:p>
        </p:txBody>
      </p:sp>
      <p:sp>
        <p:nvSpPr>
          <p:cNvPr id="17" name="Text 15"/>
          <p:cNvSpPr/>
          <p:nvPr/>
        </p:nvSpPr>
        <p:spPr>
          <a:xfrm>
            <a:off x="2487168" y="3108960"/>
            <a:ext cx="43159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浪网报道指出，磷酸铁锂新一轮涨价来袭，上下游议价博弈加剧。同时，电池消费税落地（来源：auto.news18a.com）将直接增加电芯成本，对电池企业和整车厂形成双重压力。涨价预期与成本增加并存，行业盈利空间面临挤压，可能加速低端产能出清，龙头企业凭借规模和技术优势有望维持较高利润。</a:t>
            </a:r>
            <a:endParaRPr lang="en-US" sz="960" dirty="0"/>
          </a:p>
        </p:txBody>
      </p:sp>
      <p:sp>
        <p:nvSpPr>
          <p:cNvPr id="18" name="Shape 16"/>
          <p:cNvSpPr/>
          <p:nvPr/>
        </p:nvSpPr>
        <p:spPr>
          <a:xfrm>
            <a:off x="658368" y="437083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DDEBE0"/>
          </a:solidFill>
          <a:ln w="13970">
            <a:solidFill>
              <a:srgbClr val="12121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" y="4370832"/>
            <a:ext cx="109728" cy="1207008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32688" y="459028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后续研判</a:t>
            </a:r>
            <a:endParaRPr lang="en-US" sz="1080" dirty="0"/>
          </a:p>
        </p:txBody>
      </p:sp>
      <p:sp>
        <p:nvSpPr>
          <p:cNvPr id="21" name="Text 19"/>
          <p:cNvSpPr/>
          <p:nvPr/>
        </p:nvSpPr>
        <p:spPr>
          <a:xfrm>
            <a:off x="2487168" y="4572000"/>
            <a:ext cx="43159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若磷酸铁锂涨价落地且消费税全面执行，则下游储能和整车项目IRR将下降1-2个百分点，需跟踪Q3碳酸锂价格和电池企业毛利率变化。</a:t>
            </a:r>
            <a:endParaRPr lang="en-US" sz="960" dirty="0"/>
          </a:p>
        </p:txBody>
      </p:sp>
      <p:sp>
        <p:nvSpPr>
          <p:cNvPr id="22" name="Shape 20"/>
          <p:cNvSpPr/>
          <p:nvPr/>
        </p:nvSpPr>
        <p:spPr>
          <a:xfrm>
            <a:off x="7479792" y="1444752"/>
            <a:ext cx="3273552" cy="3730752"/>
          </a:xfrm>
          <a:prstGeom prst="roundRect">
            <a:avLst>
              <a:gd name="adj" fmla="val 2235"/>
            </a:avLst>
          </a:prstGeom>
          <a:solidFill>
            <a:srgbClr val="FFFFFF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26680" y="1700784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对比矩阵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818120" y="2176272"/>
            <a:ext cx="2487168" cy="1609344"/>
          </a:xfrm>
          <a:prstGeom prst="rect">
            <a:avLst/>
          </a:prstGeom>
          <a:solidFill>
            <a:srgbClr val="FFFFFF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061704" y="2176272"/>
            <a:ext cx="0" cy="1609344"/>
          </a:xfrm>
          <a:prstGeom prst="line">
            <a:avLst/>
          </a:prstGeom>
          <a:noFill/>
          <a:ln w="8890">
            <a:solidFill>
              <a:srgbClr val="DADAD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818120" y="2980944"/>
            <a:ext cx="2487168" cy="0"/>
          </a:xfrm>
          <a:prstGeom prst="line">
            <a:avLst/>
          </a:prstGeom>
          <a:noFill/>
          <a:ln w="8890">
            <a:solidFill>
              <a:srgbClr val="DADAD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818120" y="2176272"/>
            <a:ext cx="1243584" cy="804672"/>
          </a:xfrm>
          <a:prstGeom prst="rect">
            <a:avLst/>
          </a:prstGeom>
          <a:solidFill>
            <a:srgbClr val="DDEBE0"/>
          </a:solidFill>
          <a:ln w="3810">
            <a:solidFill>
              <a:srgbClr val="DADAD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891272" y="2286000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路线A</a:t>
            </a:r>
            <a:endParaRPr lang="en-US" sz="710" dirty="0"/>
          </a:p>
        </p:txBody>
      </p:sp>
      <p:sp>
        <p:nvSpPr>
          <p:cNvPr id="29" name="Text 27"/>
          <p:cNvSpPr/>
          <p:nvPr/>
        </p:nvSpPr>
        <p:spPr>
          <a:xfrm>
            <a:off x="7891272" y="2505456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磷酸铁锂涨价预期升温，上下</a:t>
            </a:r>
            <a:endParaRPr lang="en-US" sz="670" dirty="0"/>
          </a:p>
        </p:txBody>
      </p:sp>
      <p:sp>
        <p:nvSpPr>
          <p:cNvPr id="30" name="Shape 28"/>
          <p:cNvSpPr/>
          <p:nvPr/>
        </p:nvSpPr>
        <p:spPr>
          <a:xfrm>
            <a:off x="9061704" y="2176272"/>
            <a:ext cx="1243584" cy="804672"/>
          </a:xfrm>
          <a:prstGeom prst="rect">
            <a:avLst/>
          </a:prstGeom>
          <a:solidFill>
            <a:srgbClr val="FFFFFF"/>
          </a:solidFill>
          <a:ln w="3810">
            <a:solidFill>
              <a:srgbClr val="DADAD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134856" y="2286000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路线B</a:t>
            </a:r>
            <a:endParaRPr lang="en-US" sz="710" dirty="0"/>
          </a:p>
        </p:txBody>
      </p:sp>
      <p:sp>
        <p:nvSpPr>
          <p:cNvPr id="32" name="Text 30"/>
          <p:cNvSpPr/>
          <p:nvPr/>
        </p:nvSpPr>
        <p:spPr>
          <a:xfrm>
            <a:off x="9134856" y="2505456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电池消费税落地直接增加电芯</a:t>
            </a:r>
            <a:endParaRPr lang="en-US" sz="670" dirty="0"/>
          </a:p>
        </p:txBody>
      </p:sp>
      <p:sp>
        <p:nvSpPr>
          <p:cNvPr id="33" name="Shape 31"/>
          <p:cNvSpPr/>
          <p:nvPr/>
        </p:nvSpPr>
        <p:spPr>
          <a:xfrm>
            <a:off x="7818120" y="2980944"/>
            <a:ext cx="1243584" cy="804672"/>
          </a:xfrm>
          <a:prstGeom prst="rect">
            <a:avLst/>
          </a:prstGeom>
          <a:solidFill>
            <a:srgbClr val="FFFFFF"/>
          </a:solidFill>
          <a:ln w="3810">
            <a:solidFill>
              <a:srgbClr val="DADAD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891272" y="3090672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机会</a:t>
            </a:r>
            <a:endParaRPr lang="en-US" sz="710" dirty="0"/>
          </a:p>
        </p:txBody>
      </p:sp>
      <p:sp>
        <p:nvSpPr>
          <p:cNvPr id="35" name="Text 33"/>
          <p:cNvSpPr/>
          <p:nvPr/>
        </p:nvSpPr>
        <p:spPr>
          <a:xfrm>
            <a:off x="7891272" y="3310128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[5][3] 新浪网报道指</a:t>
            </a:r>
            <a:endParaRPr lang="en-US" sz="670" dirty="0"/>
          </a:p>
        </p:txBody>
      </p:sp>
      <p:sp>
        <p:nvSpPr>
          <p:cNvPr id="36" name="Shape 34"/>
          <p:cNvSpPr/>
          <p:nvPr/>
        </p:nvSpPr>
        <p:spPr>
          <a:xfrm>
            <a:off x="9061704" y="2980944"/>
            <a:ext cx="1243584" cy="804672"/>
          </a:xfrm>
          <a:prstGeom prst="rect">
            <a:avLst/>
          </a:prstGeom>
          <a:solidFill>
            <a:srgbClr val="F4FAF6"/>
          </a:solidFill>
          <a:ln w="3810">
            <a:solidFill>
              <a:srgbClr val="DADAD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134856" y="3090672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约束</a:t>
            </a:r>
            <a:endParaRPr lang="en-US" sz="710" dirty="0"/>
          </a:p>
        </p:txBody>
      </p:sp>
      <p:sp>
        <p:nvSpPr>
          <p:cNvPr id="38" name="Text 36"/>
          <p:cNvSpPr/>
          <p:nvPr/>
        </p:nvSpPr>
        <p:spPr>
          <a:xfrm>
            <a:off x="9134856" y="3310128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磷酸铁锂涨价预期升温，上下</a:t>
            </a:r>
            <a:endParaRPr lang="en-US" sz="670" dirty="0"/>
          </a:p>
        </p:txBody>
      </p:sp>
      <p:sp>
        <p:nvSpPr>
          <p:cNvPr id="39" name="Text 37"/>
          <p:cNvSpPr/>
          <p:nvPr/>
        </p:nvSpPr>
        <p:spPr>
          <a:xfrm>
            <a:off x="7726680" y="4187952"/>
            <a:ext cx="2697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检测到对比/分类信号，用矩阵压缩呈现，不新增外部判断。</a:t>
            </a:r>
            <a:endParaRPr lang="en-US" sz="760" dirty="0"/>
          </a:p>
        </p:txBody>
      </p:sp>
      <p:sp>
        <p:nvSpPr>
          <p:cNvPr id="40" name="Shape 38"/>
          <p:cNvSpPr/>
          <p:nvPr/>
        </p:nvSpPr>
        <p:spPr>
          <a:xfrm>
            <a:off x="658368" y="5779008"/>
            <a:ext cx="1463040" cy="292608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04672" y="5870448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核心研判</a:t>
            </a:r>
            <a:endParaRPr lang="en-US" sz="780" dirty="0"/>
          </a:p>
        </p:txBody>
      </p:sp>
      <p:sp>
        <p:nvSpPr>
          <p:cNvPr id="42" name="Text 40"/>
          <p:cNvSpPr/>
          <p:nvPr/>
        </p:nvSpPr>
        <p:spPr>
          <a:xfrm>
            <a:off x="2286000" y="5843016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若磷酸铁锂涨价落地且消费税全面执行，则下游储能和整车项目IRR将下降1-2个百分点，需跟踪Q3碳酸锂价格和电池企业毛利率变化</a:t>
            </a:r>
            <a:endParaRPr lang="en-US" sz="102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1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7.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143000" y="39319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SECTION DEEP DIVE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287000" y="39319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2026-07-30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786384"/>
            <a:ext cx="11201400" cy="0"/>
          </a:xfrm>
          <a:prstGeom prst="line">
            <a:avLst/>
          </a:prstGeom>
          <a:noFill/>
          <a:ln w="10160">
            <a:solidFill>
              <a:srgbClr val="DADAD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6327648"/>
            <a:ext cx="11201400" cy="0"/>
          </a:xfrm>
          <a:prstGeom prst="line">
            <a:avLst/>
          </a:prstGeom>
          <a:noFill/>
          <a:ln w="8890">
            <a:solidFill>
              <a:srgbClr val="DADAD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437376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磷酸铁锂行业早报｜公开来源自动生成｜仅作行业观察，不构成投资建议</a:t>
            </a:r>
            <a:endParaRPr lang="en-US" sz="730" dirty="0"/>
          </a:p>
        </p:txBody>
      </p:sp>
      <p:sp>
        <p:nvSpPr>
          <p:cNvPr id="8" name="Text 6"/>
          <p:cNvSpPr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730" dirty="0"/>
          </a:p>
        </p:txBody>
      </p:sp>
      <p:sp>
        <p:nvSpPr>
          <p:cNvPr id="9" name="Text 7"/>
          <p:cNvSpPr/>
          <p:nvPr/>
        </p:nvSpPr>
        <p:spPr>
          <a:xfrm>
            <a:off x="658368" y="91440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政策/合规风险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749040" y="1005840"/>
            <a:ext cx="7132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条公开来源交叉验证｜事实、影响与后续研判</a:t>
            </a:r>
            <a:endParaRPr lang="en-US" sz="860" dirty="0"/>
          </a:p>
        </p:txBody>
      </p:sp>
      <p:sp>
        <p:nvSpPr>
          <p:cNvPr id="11" name="Shape 9"/>
          <p:cNvSpPr/>
          <p:nvPr/>
        </p:nvSpPr>
        <p:spPr>
          <a:xfrm>
            <a:off x="658368" y="144475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F4FAF6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2688" y="166420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事实判断</a:t>
            </a:r>
            <a:endParaRPr lang="en-US" sz="1080" dirty="0"/>
          </a:p>
        </p:txBody>
      </p:sp>
      <p:sp>
        <p:nvSpPr>
          <p:cNvPr id="13" name="Text 11"/>
          <p:cNvSpPr/>
          <p:nvPr/>
        </p:nvSpPr>
        <p:spPr>
          <a:xfrm>
            <a:off x="2487168" y="1645920"/>
            <a:ext cx="43159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电池消费税落地，新能源车三电成本与可靠性标准趋严；锂电池运输规范加强，违规快递被查；电池回收政策持续完善。 [3][7][8][9][10]</a:t>
            </a:r>
            <a:endParaRPr lang="en-US" sz="960" dirty="0"/>
          </a:p>
        </p:txBody>
      </p:sp>
      <p:sp>
        <p:nvSpPr>
          <p:cNvPr id="14" name="Text 12"/>
          <p:cNvSpPr/>
          <p:nvPr/>
        </p:nvSpPr>
        <p:spPr>
          <a:xfrm>
            <a:off x="2487168" y="2432304"/>
            <a:ext cx="3931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依据：[3][7][8][9][10]</a:t>
            </a:r>
            <a:endParaRPr lang="en-US" sz="740" dirty="0"/>
          </a:p>
        </p:txBody>
      </p:sp>
      <p:sp>
        <p:nvSpPr>
          <p:cNvPr id="15" name="Shape 13"/>
          <p:cNvSpPr/>
          <p:nvPr/>
        </p:nvSpPr>
        <p:spPr>
          <a:xfrm>
            <a:off x="658368" y="290779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32688" y="312724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影响分析</a:t>
            </a:r>
            <a:endParaRPr lang="en-US" sz="1080" dirty="0"/>
          </a:p>
        </p:txBody>
      </p:sp>
      <p:sp>
        <p:nvSpPr>
          <p:cNvPr id="17" name="Text 15"/>
          <p:cNvSpPr/>
          <p:nvPr/>
        </p:nvSpPr>
        <p:spPr>
          <a:xfrm>
            <a:off x="2487168" y="3108960"/>
            <a:ext cx="43159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池消费税落地直接增加电芯成本，同时新能源车安全国标和购置税新政（来源：k.sina.com.cn）对三电系统提出更高要求。锂电池运输方面，泉州查处一起将锂电池当普通快递运送的案例（来源：qzwb.com），显示监管趋严。此外，电池回收政策（来源：jfdaily.com）和宜宾“十五五”动力电池产值目标（3000亿元）表明政策端正引导行业向循环经济和规模化发展。</a:t>
            </a:r>
            <a:endParaRPr lang="en-US" sz="960" dirty="0"/>
          </a:p>
        </p:txBody>
      </p:sp>
      <p:sp>
        <p:nvSpPr>
          <p:cNvPr id="18" name="Shape 16"/>
          <p:cNvSpPr/>
          <p:nvPr/>
        </p:nvSpPr>
        <p:spPr>
          <a:xfrm>
            <a:off x="658368" y="437083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DDEBE0"/>
          </a:solidFill>
          <a:ln w="13970">
            <a:solidFill>
              <a:srgbClr val="12121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" y="4370832"/>
            <a:ext cx="109728" cy="1207008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32688" y="459028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后续研判</a:t>
            </a:r>
            <a:endParaRPr lang="en-US" sz="1080" dirty="0"/>
          </a:p>
        </p:txBody>
      </p:sp>
      <p:sp>
        <p:nvSpPr>
          <p:cNvPr id="21" name="Text 19"/>
          <p:cNvSpPr/>
          <p:nvPr/>
        </p:nvSpPr>
        <p:spPr>
          <a:xfrm>
            <a:off x="2487168" y="4572000"/>
            <a:ext cx="43159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若电池消费税全面执行，则电芯成本上升将传导至整车价格，可能影响新能源车销量；若锂电池运输监管持续收紧，则物流成本上升，需跟踪政策执行力度和行业应对措施。</a:t>
            </a:r>
            <a:endParaRPr lang="en-US" sz="960" dirty="0"/>
          </a:p>
        </p:txBody>
      </p:sp>
      <p:sp>
        <p:nvSpPr>
          <p:cNvPr id="22" name="Shape 20"/>
          <p:cNvSpPr/>
          <p:nvPr/>
        </p:nvSpPr>
        <p:spPr>
          <a:xfrm>
            <a:off x="7479792" y="1444752"/>
            <a:ext cx="3273552" cy="3730752"/>
          </a:xfrm>
          <a:prstGeom prst="roundRect">
            <a:avLst>
              <a:gd name="adj" fmla="val 2235"/>
            </a:avLst>
          </a:prstGeom>
          <a:solidFill>
            <a:srgbClr val="FFFFFF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26680" y="1700784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合规风险金字塔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503920" y="1975104"/>
            <a:ext cx="1097280" cy="512064"/>
          </a:xfrm>
          <a:prstGeom prst="trapezoid">
            <a:avLst/>
          </a:prstGeom>
          <a:solidFill>
            <a:srgbClr val="B85A4A"/>
          </a:solidFill>
          <a:ln w="8890">
            <a:solidFill>
              <a:srgbClr val="48705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595360" y="2066544"/>
            <a:ext cx="9144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监管红线</a:t>
            </a:r>
            <a:endParaRPr lang="en-US" sz="740" dirty="0"/>
          </a:p>
        </p:txBody>
      </p:sp>
      <p:sp>
        <p:nvSpPr>
          <p:cNvPr id="26" name="Text 24"/>
          <p:cNvSpPr/>
          <p:nvPr/>
        </p:nvSpPr>
        <p:spPr>
          <a:xfrm>
            <a:off x="7808976" y="2496312"/>
            <a:ext cx="25146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6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电池消费税落地，新能源车三电成本与</a:t>
            </a:r>
            <a:endParaRPr lang="en-US" sz="660" dirty="0"/>
          </a:p>
        </p:txBody>
      </p:sp>
      <p:sp>
        <p:nvSpPr>
          <p:cNvPr id="27" name="Shape 25"/>
          <p:cNvSpPr/>
          <p:nvPr/>
        </p:nvSpPr>
        <p:spPr>
          <a:xfrm>
            <a:off x="8183880" y="2615184"/>
            <a:ext cx="1737360" cy="512064"/>
          </a:xfrm>
          <a:prstGeom prst="trapezoid">
            <a:avLst/>
          </a:prstGeom>
          <a:solidFill>
            <a:srgbClr val="DDEBE0"/>
          </a:solidFill>
          <a:ln w="8890">
            <a:solidFill>
              <a:srgbClr val="48705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75320" y="2706624"/>
            <a:ext cx="15544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合规动作</a:t>
            </a:r>
            <a:endParaRPr lang="en-US" sz="740" dirty="0"/>
          </a:p>
        </p:txBody>
      </p:sp>
      <p:sp>
        <p:nvSpPr>
          <p:cNvPr id="29" name="Text 27"/>
          <p:cNvSpPr/>
          <p:nvPr/>
        </p:nvSpPr>
        <p:spPr>
          <a:xfrm>
            <a:off x="7808976" y="3136392"/>
            <a:ext cx="25146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6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锂电池运输规范加强，违规快递被查</a:t>
            </a:r>
            <a:endParaRPr lang="en-US" sz="660" dirty="0"/>
          </a:p>
        </p:txBody>
      </p:sp>
      <p:sp>
        <p:nvSpPr>
          <p:cNvPr id="30" name="Shape 28"/>
          <p:cNvSpPr/>
          <p:nvPr/>
        </p:nvSpPr>
        <p:spPr>
          <a:xfrm>
            <a:off x="7863840" y="3255264"/>
            <a:ext cx="2377440" cy="512064"/>
          </a:xfrm>
          <a:prstGeom prst="trapezoid">
            <a:avLst/>
          </a:prstGeom>
          <a:solidFill>
            <a:srgbClr val="F4FAF6"/>
          </a:solidFill>
          <a:ln w="8890">
            <a:solidFill>
              <a:srgbClr val="48705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955280" y="3346704"/>
            <a:ext cx="21945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经营影响/观察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7808976" y="3776472"/>
            <a:ext cx="25146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6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电池回收政策持续完善</a:t>
            </a:r>
            <a:endParaRPr lang="en-US" sz="660" dirty="0"/>
          </a:p>
        </p:txBody>
      </p:sp>
      <p:sp>
        <p:nvSpPr>
          <p:cNvPr id="33" name="Shape 31"/>
          <p:cNvSpPr/>
          <p:nvPr/>
        </p:nvSpPr>
        <p:spPr>
          <a:xfrm>
            <a:off x="658368" y="5779008"/>
            <a:ext cx="1463040" cy="292608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04672" y="5870448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核心研判</a:t>
            </a:r>
            <a:endParaRPr lang="en-US" sz="780" dirty="0"/>
          </a:p>
        </p:txBody>
      </p:sp>
      <p:sp>
        <p:nvSpPr>
          <p:cNvPr id="35" name="Text 33"/>
          <p:cNvSpPr/>
          <p:nvPr/>
        </p:nvSpPr>
        <p:spPr>
          <a:xfrm>
            <a:off x="2286000" y="5843016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若电池消费税全面执行，则电芯成本上升将传导至整车价格，可能影响新能源车销量</a:t>
            </a:r>
            <a:endParaRPr lang="en-US" sz="102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1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8.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143000" y="39319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SECTION DEEP DIVE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287000" y="39319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2026-07-30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786384"/>
            <a:ext cx="11201400" cy="0"/>
          </a:xfrm>
          <a:prstGeom prst="line">
            <a:avLst/>
          </a:prstGeom>
          <a:noFill/>
          <a:ln w="10160">
            <a:solidFill>
              <a:srgbClr val="DADAD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6327648"/>
            <a:ext cx="11201400" cy="0"/>
          </a:xfrm>
          <a:prstGeom prst="line">
            <a:avLst/>
          </a:prstGeom>
          <a:noFill/>
          <a:ln w="8890">
            <a:solidFill>
              <a:srgbClr val="DADAD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437376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磷酸铁锂行业早报｜公开来源自动生成｜仅作行业观察，不构成投资建议</a:t>
            </a:r>
            <a:endParaRPr lang="en-US" sz="730" dirty="0"/>
          </a:p>
        </p:txBody>
      </p:sp>
      <p:sp>
        <p:nvSpPr>
          <p:cNvPr id="8" name="Text 6"/>
          <p:cNvSpPr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730" dirty="0"/>
          </a:p>
        </p:txBody>
      </p:sp>
      <p:sp>
        <p:nvSpPr>
          <p:cNvPr id="9" name="Text 7"/>
          <p:cNvSpPr/>
          <p:nvPr/>
        </p:nvSpPr>
        <p:spPr>
          <a:xfrm>
            <a:off x="658368" y="91440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竞品观察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749040" y="1005840"/>
            <a:ext cx="7132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条公开来源交叉验证｜事实、影响与后续研判</a:t>
            </a:r>
            <a:endParaRPr lang="en-US" sz="860" dirty="0"/>
          </a:p>
        </p:txBody>
      </p:sp>
      <p:sp>
        <p:nvSpPr>
          <p:cNvPr id="11" name="Shape 9"/>
          <p:cNvSpPr/>
          <p:nvPr/>
        </p:nvSpPr>
        <p:spPr>
          <a:xfrm>
            <a:off x="658368" y="144475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F4FAF6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2688" y="166420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事实判断</a:t>
            </a:r>
            <a:endParaRPr lang="en-US" sz="1080" dirty="0"/>
          </a:p>
        </p:txBody>
      </p:sp>
      <p:sp>
        <p:nvSpPr>
          <p:cNvPr id="13" name="Text 11"/>
          <p:cNvSpPr/>
          <p:nvPr/>
        </p:nvSpPr>
        <p:spPr>
          <a:xfrm>
            <a:off x="2487168" y="1645920"/>
            <a:ext cx="43159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比亚迪第二代刀片电池采用磷酸锰铁锂复合正极+硅碳负极，技术领先；中创新航177Ah电芯鼓包事件暴露热管理短板；万华化学向上游锂盐延伸，化工巨头跨界竞争加剧。 [1][2][6]</a:t>
            </a:r>
            <a:endParaRPr lang="en-US" sz="960" dirty="0"/>
          </a:p>
        </p:txBody>
      </p:sp>
      <p:sp>
        <p:nvSpPr>
          <p:cNvPr id="14" name="Text 12"/>
          <p:cNvSpPr/>
          <p:nvPr/>
        </p:nvSpPr>
        <p:spPr>
          <a:xfrm>
            <a:off x="2487168" y="2432304"/>
            <a:ext cx="3931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依据：[1][2][6]</a:t>
            </a:r>
            <a:endParaRPr lang="en-US" sz="740" dirty="0"/>
          </a:p>
        </p:txBody>
      </p:sp>
      <p:sp>
        <p:nvSpPr>
          <p:cNvPr id="15" name="Shape 13"/>
          <p:cNvSpPr/>
          <p:nvPr/>
        </p:nvSpPr>
        <p:spPr>
          <a:xfrm>
            <a:off x="658368" y="290779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32688" y="312724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影响分析</a:t>
            </a:r>
            <a:endParaRPr lang="en-US" sz="1080" dirty="0"/>
          </a:p>
        </p:txBody>
      </p:sp>
      <p:sp>
        <p:nvSpPr>
          <p:cNvPr id="17" name="Text 15"/>
          <p:cNvSpPr/>
          <p:nvPr/>
        </p:nvSpPr>
        <p:spPr>
          <a:xfrm>
            <a:off x="2487168" y="3108960"/>
            <a:ext cx="43159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比亚迪通过AI算力驱动快充电池研发，第二代刀片电池在材料体系上领先，但需关注其量产良率和成本。中创新航电芯鼓包事件可能影响其客户信任和市场份额，尤其在网约车等高频使用场景。万华化学作为化工龙头，其入股大中矿业锂盐项目，可能凭借成本和技术优势，对传统锂盐企业形成竞争压力。</a:t>
            </a:r>
            <a:endParaRPr lang="en-US" sz="960" dirty="0"/>
          </a:p>
        </p:txBody>
      </p:sp>
      <p:sp>
        <p:nvSpPr>
          <p:cNvPr id="18" name="Shape 16"/>
          <p:cNvSpPr/>
          <p:nvPr/>
        </p:nvSpPr>
        <p:spPr>
          <a:xfrm>
            <a:off x="658368" y="437083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DDEBE0"/>
          </a:solidFill>
          <a:ln w="13970">
            <a:solidFill>
              <a:srgbClr val="12121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" y="4370832"/>
            <a:ext cx="109728" cy="1207008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32688" y="459028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后续研判</a:t>
            </a:r>
            <a:endParaRPr lang="en-US" sz="1080" dirty="0"/>
          </a:p>
        </p:txBody>
      </p:sp>
      <p:sp>
        <p:nvSpPr>
          <p:cNvPr id="21" name="Text 19"/>
          <p:cNvSpPr/>
          <p:nvPr/>
        </p:nvSpPr>
        <p:spPr>
          <a:xfrm>
            <a:off x="2487168" y="4572000"/>
            <a:ext cx="43159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若中创新航未能有效解决热管理问题，则可能失去部分网约车和商用车订单；若万华化学锂盐项目顺利投产，则可能改变上游供应格局，需跟踪其产能释放节奏和成本优势。</a:t>
            </a:r>
            <a:endParaRPr lang="en-US" sz="960" dirty="0"/>
          </a:p>
        </p:txBody>
      </p:sp>
      <p:sp>
        <p:nvSpPr>
          <p:cNvPr id="22" name="Shape 20"/>
          <p:cNvSpPr/>
          <p:nvPr/>
        </p:nvSpPr>
        <p:spPr>
          <a:xfrm>
            <a:off x="7479792" y="1444752"/>
            <a:ext cx="3273552" cy="3730752"/>
          </a:xfrm>
          <a:prstGeom prst="roundRect">
            <a:avLst>
              <a:gd name="adj" fmla="val 2235"/>
            </a:avLst>
          </a:prstGeom>
          <a:solidFill>
            <a:srgbClr val="FFFFFF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26680" y="1700784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路线图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754112" y="2249424"/>
            <a:ext cx="612648" cy="402336"/>
          </a:xfrm>
          <a:prstGeom prst="chevron">
            <a:avLst/>
          </a:prstGeom>
          <a:solidFill>
            <a:srgbClr val="DDEBE0"/>
          </a:solidFill>
          <a:ln w="13970">
            <a:solidFill>
              <a:srgbClr val="48705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827264" y="2386584"/>
            <a:ext cx="4480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7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</a:t>
            </a:r>
            <a:endParaRPr lang="en-US" sz="670" dirty="0"/>
          </a:p>
        </p:txBody>
      </p:sp>
      <p:sp>
        <p:nvSpPr>
          <p:cNvPr id="26" name="Shape 24"/>
          <p:cNvSpPr/>
          <p:nvPr/>
        </p:nvSpPr>
        <p:spPr>
          <a:xfrm>
            <a:off x="8375904" y="2249424"/>
            <a:ext cx="612648" cy="402336"/>
          </a:xfrm>
          <a:prstGeom prst="chevron">
            <a:avLst/>
          </a:prstGeom>
          <a:solidFill>
            <a:srgbClr val="FFFFFF"/>
          </a:solidFill>
          <a:ln w="13970">
            <a:solidFill>
              <a:srgbClr val="48705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449056" y="2386584"/>
            <a:ext cx="4480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7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</a:t>
            </a:r>
            <a:endParaRPr lang="en-US" sz="670" dirty="0"/>
          </a:p>
        </p:txBody>
      </p:sp>
      <p:sp>
        <p:nvSpPr>
          <p:cNvPr id="28" name="Shape 26"/>
          <p:cNvSpPr/>
          <p:nvPr/>
        </p:nvSpPr>
        <p:spPr>
          <a:xfrm>
            <a:off x="8997696" y="2249424"/>
            <a:ext cx="612648" cy="402336"/>
          </a:xfrm>
          <a:prstGeom prst="chevron">
            <a:avLst/>
          </a:prstGeom>
          <a:solidFill>
            <a:srgbClr val="FFFFFF"/>
          </a:solidFill>
          <a:ln w="13970">
            <a:solidFill>
              <a:srgbClr val="48705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070848" y="2386584"/>
            <a:ext cx="4480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7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</a:t>
            </a:r>
            <a:endParaRPr lang="en-US" sz="670" dirty="0"/>
          </a:p>
        </p:txBody>
      </p:sp>
      <p:sp>
        <p:nvSpPr>
          <p:cNvPr id="30" name="Shape 28"/>
          <p:cNvSpPr/>
          <p:nvPr/>
        </p:nvSpPr>
        <p:spPr>
          <a:xfrm>
            <a:off x="9619488" y="2249424"/>
            <a:ext cx="612648" cy="402336"/>
          </a:xfrm>
          <a:prstGeom prst="chevron">
            <a:avLst/>
          </a:prstGeom>
          <a:solidFill>
            <a:srgbClr val="FFFFFF"/>
          </a:solidFill>
          <a:ln w="13970">
            <a:solidFill>
              <a:srgbClr val="48705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692640" y="2386584"/>
            <a:ext cx="4480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7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量产</a:t>
            </a:r>
            <a:endParaRPr lang="en-US" sz="670" dirty="0"/>
          </a:p>
        </p:txBody>
      </p:sp>
      <p:sp>
        <p:nvSpPr>
          <p:cNvPr id="32" name="Shape 30"/>
          <p:cNvSpPr/>
          <p:nvPr/>
        </p:nvSpPr>
        <p:spPr>
          <a:xfrm>
            <a:off x="7882128" y="3063240"/>
            <a:ext cx="2331720" cy="0"/>
          </a:xfrm>
          <a:prstGeom prst="line">
            <a:avLst/>
          </a:prstGeom>
          <a:noFill/>
          <a:ln w="13970">
            <a:solidFill>
              <a:srgbClr val="7F9D84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845552" y="2962656"/>
            <a:ext cx="164592" cy="164592"/>
          </a:xfrm>
          <a:prstGeom prst="ellipse">
            <a:avLst/>
          </a:prstGeom>
          <a:solidFill>
            <a:srgbClr val="48705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754112" y="3291840"/>
            <a:ext cx="6035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67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比亚迪第二代刀片电池采</a:t>
            </a:r>
            <a:endParaRPr lang="en-US" sz="670" dirty="0"/>
          </a:p>
        </p:txBody>
      </p:sp>
      <p:sp>
        <p:nvSpPr>
          <p:cNvPr id="35" name="Shape 33"/>
          <p:cNvSpPr/>
          <p:nvPr/>
        </p:nvSpPr>
        <p:spPr>
          <a:xfrm>
            <a:off x="8503920" y="2962656"/>
            <a:ext cx="164592" cy="164592"/>
          </a:xfrm>
          <a:prstGeom prst="ellipse">
            <a:avLst/>
          </a:prstGeom>
          <a:solidFill>
            <a:srgbClr val="48705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412480" y="3291840"/>
            <a:ext cx="6035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67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中创新航177Ah电芯</a:t>
            </a:r>
            <a:endParaRPr lang="en-US" sz="670" dirty="0"/>
          </a:p>
        </p:txBody>
      </p:sp>
      <p:sp>
        <p:nvSpPr>
          <p:cNvPr id="37" name="Shape 35"/>
          <p:cNvSpPr/>
          <p:nvPr/>
        </p:nvSpPr>
        <p:spPr>
          <a:xfrm>
            <a:off x="9162288" y="2962656"/>
            <a:ext cx="164592" cy="164592"/>
          </a:xfrm>
          <a:prstGeom prst="ellipse">
            <a:avLst/>
          </a:prstGeom>
          <a:solidFill>
            <a:srgbClr val="48705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070848" y="3291840"/>
            <a:ext cx="6035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67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万华化学向上游锂盐延伸</a:t>
            </a:r>
            <a:endParaRPr lang="en-US" sz="670" dirty="0"/>
          </a:p>
        </p:txBody>
      </p:sp>
      <p:sp>
        <p:nvSpPr>
          <p:cNvPr id="39" name="Shape 37"/>
          <p:cNvSpPr/>
          <p:nvPr/>
        </p:nvSpPr>
        <p:spPr>
          <a:xfrm>
            <a:off x="9820656" y="2962656"/>
            <a:ext cx="164592" cy="164592"/>
          </a:xfrm>
          <a:prstGeom prst="ellipse">
            <a:avLst/>
          </a:prstGeom>
          <a:solidFill>
            <a:srgbClr val="B85A4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729216" y="3291840"/>
            <a:ext cx="6035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67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万华化学向上游锂盐延伸</a:t>
            </a:r>
            <a:endParaRPr lang="en-US" sz="670" dirty="0"/>
          </a:p>
        </p:txBody>
      </p:sp>
      <p:sp>
        <p:nvSpPr>
          <p:cNvPr id="41" name="Text 39"/>
          <p:cNvSpPr/>
          <p:nvPr/>
        </p:nvSpPr>
        <p:spPr>
          <a:xfrm>
            <a:off x="7726680" y="4315968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参考培训 PPT 的阶段路线表达，按事件顺序拆成判断路径。</a:t>
            </a:r>
            <a:endParaRPr lang="en-US" sz="760" dirty="0"/>
          </a:p>
        </p:txBody>
      </p:sp>
      <p:sp>
        <p:nvSpPr>
          <p:cNvPr id="42" name="Shape 40"/>
          <p:cNvSpPr/>
          <p:nvPr/>
        </p:nvSpPr>
        <p:spPr>
          <a:xfrm>
            <a:off x="658368" y="5779008"/>
            <a:ext cx="1463040" cy="292608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04672" y="5870448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核心研判</a:t>
            </a:r>
            <a:endParaRPr lang="en-US" sz="780" dirty="0"/>
          </a:p>
        </p:txBody>
      </p:sp>
      <p:sp>
        <p:nvSpPr>
          <p:cNvPr id="44" name="Text 42"/>
          <p:cNvSpPr/>
          <p:nvPr/>
        </p:nvSpPr>
        <p:spPr>
          <a:xfrm>
            <a:off x="2286000" y="5843016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若中创新航未能有效解决热管理问题，则可能失去部分网约车和商用车订单</a:t>
            </a:r>
            <a:endParaRPr lang="en-US" sz="102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1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9.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143000" y="39319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SECTION DEEP DIVE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287000" y="39319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2026-07-30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786384"/>
            <a:ext cx="11201400" cy="0"/>
          </a:xfrm>
          <a:prstGeom prst="line">
            <a:avLst/>
          </a:prstGeom>
          <a:noFill/>
          <a:ln w="10160">
            <a:solidFill>
              <a:srgbClr val="DADAD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6327648"/>
            <a:ext cx="11201400" cy="0"/>
          </a:xfrm>
          <a:prstGeom prst="line">
            <a:avLst/>
          </a:prstGeom>
          <a:noFill/>
          <a:ln w="8890">
            <a:solidFill>
              <a:srgbClr val="DADAD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437376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磷酸铁锂行业早报｜公开来源自动生成｜仅作行业观察，不构成投资建议</a:t>
            </a:r>
            <a:endParaRPr lang="en-US" sz="730" dirty="0"/>
          </a:p>
        </p:txBody>
      </p:sp>
      <p:sp>
        <p:nvSpPr>
          <p:cNvPr id="8" name="Text 6"/>
          <p:cNvSpPr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730" dirty="0"/>
          </a:p>
        </p:txBody>
      </p:sp>
      <p:sp>
        <p:nvSpPr>
          <p:cNvPr id="9" name="Text 7"/>
          <p:cNvSpPr/>
          <p:nvPr/>
        </p:nvSpPr>
        <p:spPr>
          <a:xfrm>
            <a:off x="658368" y="91440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风险/机会/观察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749040" y="1005840"/>
            <a:ext cx="7132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 条公开来源交叉验证｜事实、影响与后续研判</a:t>
            </a:r>
            <a:endParaRPr lang="en-US" sz="860" dirty="0"/>
          </a:p>
        </p:txBody>
      </p:sp>
      <p:sp>
        <p:nvSpPr>
          <p:cNvPr id="11" name="Shape 9"/>
          <p:cNvSpPr/>
          <p:nvPr/>
        </p:nvSpPr>
        <p:spPr>
          <a:xfrm>
            <a:off x="658368" y="144475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F4FAF6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2688" y="166420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事实判断</a:t>
            </a:r>
            <a:endParaRPr lang="en-US" sz="1080" dirty="0"/>
          </a:p>
        </p:txBody>
      </p:sp>
      <p:sp>
        <p:nvSpPr>
          <p:cNvPr id="13" name="Text 11"/>
          <p:cNvSpPr/>
          <p:nvPr/>
        </p:nvSpPr>
        <p:spPr>
          <a:xfrm>
            <a:off x="2487168" y="1645920"/>
            <a:ext cx="43159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风险：电池消费税落地推高成本，热管理问题可能引发安全事件；机会：AI算力驱动快充技术突破，储能项目并网拉动需求；观察：磷酸铁锂涨价落地情况、万华化学锂盐项目进展、宜宾动力电池大会政策信号。 [3][5][1][4][6][10]</a:t>
            </a:r>
            <a:endParaRPr lang="en-US" sz="960" dirty="0"/>
          </a:p>
        </p:txBody>
      </p:sp>
      <p:sp>
        <p:nvSpPr>
          <p:cNvPr id="14" name="Text 12"/>
          <p:cNvSpPr/>
          <p:nvPr/>
        </p:nvSpPr>
        <p:spPr>
          <a:xfrm>
            <a:off x="2487168" y="2432304"/>
            <a:ext cx="3931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依据：[3][5][1][4][6][10]</a:t>
            </a:r>
            <a:endParaRPr lang="en-US" sz="740" dirty="0"/>
          </a:p>
        </p:txBody>
      </p:sp>
      <p:sp>
        <p:nvSpPr>
          <p:cNvPr id="15" name="Shape 13"/>
          <p:cNvSpPr/>
          <p:nvPr/>
        </p:nvSpPr>
        <p:spPr>
          <a:xfrm>
            <a:off x="658368" y="290779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32688" y="312724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影响分析</a:t>
            </a:r>
            <a:endParaRPr lang="en-US" sz="1080" dirty="0"/>
          </a:p>
        </p:txBody>
      </p:sp>
      <p:sp>
        <p:nvSpPr>
          <p:cNvPr id="17" name="Text 15"/>
          <p:cNvSpPr/>
          <p:nvPr/>
        </p:nvSpPr>
        <p:spPr>
          <a:xfrm>
            <a:off x="2487168" y="3108960"/>
            <a:ext cx="43159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池消费税和涨价预期叠加，行业盈利承压，但龙头企业有望受益于产能出清。AI算力与快充技术的结合为行业带来新增长点，但热管理问题需警惕。山东储能项目并网和万华化学入股上游，显示资本正加速布局。宜宾“十五五”动力电池产值目标3000亿元，预示政策支持力度不减。需重点关注Q3碳酸锂价格、电池企业毛利率和热管理技术进展。</a:t>
            </a:r>
            <a:endParaRPr lang="en-US" sz="960" dirty="0"/>
          </a:p>
        </p:txBody>
      </p:sp>
      <p:sp>
        <p:nvSpPr>
          <p:cNvPr id="18" name="Shape 16"/>
          <p:cNvSpPr/>
          <p:nvPr/>
        </p:nvSpPr>
        <p:spPr>
          <a:xfrm>
            <a:off x="658368" y="437083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DDEBE0"/>
          </a:solidFill>
          <a:ln w="13970">
            <a:solidFill>
              <a:srgbClr val="12121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" y="4370832"/>
            <a:ext cx="109728" cy="1207008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32688" y="459028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后续研判</a:t>
            </a:r>
            <a:endParaRPr lang="en-US" sz="1080" dirty="0"/>
          </a:p>
        </p:txBody>
      </p:sp>
      <p:sp>
        <p:nvSpPr>
          <p:cNvPr id="21" name="Text 19"/>
          <p:cNvSpPr/>
          <p:nvPr/>
        </p:nvSpPr>
        <p:spPr>
          <a:xfrm>
            <a:off x="2487168" y="4572000"/>
            <a:ext cx="43159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若Q3碳酸锂价格维持低位，则磷酸铁锂涨价空间有限，行业盈利改善需依赖技术降本；若宜宾动力电池大会出台新的补贴或标准，则可能影响行业竞争格局，需跟踪会议议程和官方文件。</a:t>
            </a:r>
            <a:endParaRPr lang="en-US" sz="960" dirty="0"/>
          </a:p>
        </p:txBody>
      </p:sp>
      <p:sp>
        <p:nvSpPr>
          <p:cNvPr id="22" name="Shape 20"/>
          <p:cNvSpPr/>
          <p:nvPr/>
        </p:nvSpPr>
        <p:spPr>
          <a:xfrm>
            <a:off x="7479792" y="1444752"/>
            <a:ext cx="3273552" cy="3730752"/>
          </a:xfrm>
          <a:prstGeom prst="roundRect">
            <a:avLst>
              <a:gd name="adj" fmla="val 2235"/>
            </a:avLst>
          </a:prstGeom>
          <a:solidFill>
            <a:srgbClr val="FFFFFF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26680" y="1700784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对比矩阵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818120" y="2176272"/>
            <a:ext cx="2487168" cy="1609344"/>
          </a:xfrm>
          <a:prstGeom prst="rect">
            <a:avLst/>
          </a:prstGeom>
          <a:solidFill>
            <a:srgbClr val="FFFFFF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061704" y="2176272"/>
            <a:ext cx="0" cy="1609344"/>
          </a:xfrm>
          <a:prstGeom prst="line">
            <a:avLst/>
          </a:prstGeom>
          <a:noFill/>
          <a:ln w="8890">
            <a:solidFill>
              <a:srgbClr val="DADAD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818120" y="2980944"/>
            <a:ext cx="2487168" cy="0"/>
          </a:xfrm>
          <a:prstGeom prst="line">
            <a:avLst/>
          </a:prstGeom>
          <a:noFill/>
          <a:ln w="8890">
            <a:solidFill>
              <a:srgbClr val="DADAD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818120" y="2176272"/>
            <a:ext cx="1243584" cy="804672"/>
          </a:xfrm>
          <a:prstGeom prst="rect">
            <a:avLst/>
          </a:prstGeom>
          <a:solidFill>
            <a:srgbClr val="DDEBE0"/>
          </a:solidFill>
          <a:ln w="3810">
            <a:solidFill>
              <a:srgbClr val="DADAD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891272" y="2286000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路线A</a:t>
            </a:r>
            <a:endParaRPr lang="en-US" sz="710" dirty="0"/>
          </a:p>
        </p:txBody>
      </p:sp>
      <p:sp>
        <p:nvSpPr>
          <p:cNvPr id="29" name="Text 27"/>
          <p:cNvSpPr/>
          <p:nvPr/>
        </p:nvSpPr>
        <p:spPr>
          <a:xfrm>
            <a:off x="7891272" y="2505456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风险：电池消费税落地推高成</a:t>
            </a:r>
            <a:endParaRPr lang="en-US" sz="670" dirty="0"/>
          </a:p>
        </p:txBody>
      </p:sp>
      <p:sp>
        <p:nvSpPr>
          <p:cNvPr id="30" name="Shape 28"/>
          <p:cNvSpPr/>
          <p:nvPr/>
        </p:nvSpPr>
        <p:spPr>
          <a:xfrm>
            <a:off x="9061704" y="2176272"/>
            <a:ext cx="1243584" cy="804672"/>
          </a:xfrm>
          <a:prstGeom prst="rect">
            <a:avLst/>
          </a:prstGeom>
          <a:solidFill>
            <a:srgbClr val="FFFFFF"/>
          </a:solidFill>
          <a:ln w="3810">
            <a:solidFill>
              <a:srgbClr val="DADAD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134856" y="2286000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路线B</a:t>
            </a:r>
            <a:endParaRPr lang="en-US" sz="710" dirty="0"/>
          </a:p>
        </p:txBody>
      </p:sp>
      <p:sp>
        <p:nvSpPr>
          <p:cNvPr id="32" name="Text 30"/>
          <p:cNvSpPr/>
          <p:nvPr/>
        </p:nvSpPr>
        <p:spPr>
          <a:xfrm>
            <a:off x="9134856" y="2505456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机会：AI算力驱动快充技术</a:t>
            </a:r>
            <a:endParaRPr lang="en-US" sz="670" dirty="0"/>
          </a:p>
        </p:txBody>
      </p:sp>
      <p:sp>
        <p:nvSpPr>
          <p:cNvPr id="33" name="Shape 31"/>
          <p:cNvSpPr/>
          <p:nvPr/>
        </p:nvSpPr>
        <p:spPr>
          <a:xfrm>
            <a:off x="7818120" y="2980944"/>
            <a:ext cx="1243584" cy="804672"/>
          </a:xfrm>
          <a:prstGeom prst="rect">
            <a:avLst/>
          </a:prstGeom>
          <a:solidFill>
            <a:srgbClr val="FFFFFF"/>
          </a:solidFill>
          <a:ln w="3810">
            <a:solidFill>
              <a:srgbClr val="DADAD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891272" y="3090672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机会</a:t>
            </a:r>
            <a:endParaRPr lang="en-US" sz="710" dirty="0"/>
          </a:p>
        </p:txBody>
      </p:sp>
      <p:sp>
        <p:nvSpPr>
          <p:cNvPr id="35" name="Text 33"/>
          <p:cNvSpPr/>
          <p:nvPr/>
        </p:nvSpPr>
        <p:spPr>
          <a:xfrm>
            <a:off x="7891272" y="3310128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观察：磷酸铁锂涨价落地情况</a:t>
            </a:r>
            <a:endParaRPr lang="en-US" sz="670" dirty="0"/>
          </a:p>
        </p:txBody>
      </p:sp>
      <p:sp>
        <p:nvSpPr>
          <p:cNvPr id="36" name="Shape 34"/>
          <p:cNvSpPr/>
          <p:nvPr/>
        </p:nvSpPr>
        <p:spPr>
          <a:xfrm>
            <a:off x="9061704" y="2980944"/>
            <a:ext cx="1243584" cy="804672"/>
          </a:xfrm>
          <a:prstGeom prst="rect">
            <a:avLst/>
          </a:prstGeom>
          <a:solidFill>
            <a:srgbClr val="F4FAF6"/>
          </a:solidFill>
          <a:ln w="3810">
            <a:solidFill>
              <a:srgbClr val="DADAD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134856" y="3090672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约束</a:t>
            </a:r>
            <a:endParaRPr lang="en-US" sz="710" dirty="0"/>
          </a:p>
        </p:txBody>
      </p:sp>
      <p:sp>
        <p:nvSpPr>
          <p:cNvPr id="38" name="Text 36"/>
          <p:cNvSpPr/>
          <p:nvPr/>
        </p:nvSpPr>
        <p:spPr>
          <a:xfrm>
            <a:off x="9134856" y="3310128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风险：电池消费税落地推高成</a:t>
            </a:r>
            <a:endParaRPr lang="en-US" sz="670" dirty="0"/>
          </a:p>
        </p:txBody>
      </p:sp>
      <p:sp>
        <p:nvSpPr>
          <p:cNvPr id="39" name="Text 37"/>
          <p:cNvSpPr/>
          <p:nvPr/>
        </p:nvSpPr>
        <p:spPr>
          <a:xfrm>
            <a:off x="7726680" y="4187952"/>
            <a:ext cx="2697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检测到对比/分类信号，用矩阵压缩呈现，不新增外部判断。</a:t>
            </a:r>
            <a:endParaRPr lang="en-US" sz="760" dirty="0"/>
          </a:p>
        </p:txBody>
      </p:sp>
      <p:sp>
        <p:nvSpPr>
          <p:cNvPr id="40" name="Shape 38"/>
          <p:cNvSpPr/>
          <p:nvPr/>
        </p:nvSpPr>
        <p:spPr>
          <a:xfrm>
            <a:off x="658368" y="5779008"/>
            <a:ext cx="1463040" cy="292608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04672" y="5870448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核心研判</a:t>
            </a:r>
            <a:endParaRPr lang="en-US" sz="780" dirty="0"/>
          </a:p>
        </p:txBody>
      </p:sp>
      <p:sp>
        <p:nvSpPr>
          <p:cNvPr id="42" name="Text 40"/>
          <p:cNvSpPr/>
          <p:nvPr/>
        </p:nvSpPr>
        <p:spPr>
          <a:xfrm>
            <a:off x="2286000" y="5843016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若Q3碳酸锂价格维持低位，则磷酸铁锂涨价空间有限，行业盈利改善需依赖技术降本</a:t>
            </a:r>
            <a:endParaRPr lang="en-US" sz="102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1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10.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143000" y="39319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 INDEX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287000" y="39319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2026-07-30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786384"/>
            <a:ext cx="11201400" cy="0"/>
          </a:xfrm>
          <a:prstGeom prst="line">
            <a:avLst/>
          </a:prstGeom>
          <a:noFill/>
          <a:ln w="10160">
            <a:solidFill>
              <a:srgbClr val="DADAD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6327648"/>
            <a:ext cx="11201400" cy="0"/>
          </a:xfrm>
          <a:prstGeom prst="line">
            <a:avLst/>
          </a:prstGeom>
          <a:noFill/>
          <a:ln w="8890">
            <a:solidFill>
              <a:srgbClr val="DADAD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437376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磷酸铁锂行业早报｜公开来源自动生成｜仅作行业观察，不构成投资建议</a:t>
            </a:r>
            <a:endParaRPr lang="en-US" sz="730" dirty="0"/>
          </a:p>
        </p:txBody>
      </p:sp>
      <p:sp>
        <p:nvSpPr>
          <p:cNvPr id="8" name="Text 6"/>
          <p:cNvSpPr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730" dirty="0"/>
          </a:p>
        </p:txBody>
      </p:sp>
      <p:sp>
        <p:nvSpPr>
          <p:cNvPr id="9" name="Text 7"/>
          <p:cNvSpPr/>
          <p:nvPr/>
        </p:nvSpPr>
        <p:spPr>
          <a:xfrm>
            <a:off x="1143000" y="932688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来源索引与可追溯性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658368" y="1444752"/>
            <a:ext cx="566928" cy="310896"/>
          </a:xfrm>
          <a:prstGeom prst="rect">
            <a:avLst/>
          </a:prstGeom>
          <a:solidFill>
            <a:srgbClr val="121212"/>
          </a:solidFill>
          <a:ln w="6350">
            <a:solidFill>
              <a:srgbClr val="DADAD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1536192"/>
            <a:ext cx="4206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编号</a:t>
            </a:r>
            <a:endParaRPr lang="en-US" sz="780" dirty="0"/>
          </a:p>
        </p:txBody>
      </p:sp>
      <p:sp>
        <p:nvSpPr>
          <p:cNvPr id="12" name="Shape 10"/>
          <p:cNvSpPr/>
          <p:nvPr/>
        </p:nvSpPr>
        <p:spPr>
          <a:xfrm>
            <a:off x="1225296" y="1444752"/>
            <a:ext cx="1234440" cy="310896"/>
          </a:xfrm>
          <a:prstGeom prst="rect">
            <a:avLst/>
          </a:prstGeom>
          <a:solidFill>
            <a:srgbClr val="DDEBE0"/>
          </a:solidFill>
          <a:ln w="6350">
            <a:solidFill>
              <a:srgbClr val="DADAD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98448" y="1536192"/>
            <a:ext cx="10881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</a:t>
            </a:r>
            <a:endParaRPr lang="en-US" sz="780" dirty="0"/>
          </a:p>
        </p:txBody>
      </p:sp>
      <p:sp>
        <p:nvSpPr>
          <p:cNvPr id="14" name="Shape 12"/>
          <p:cNvSpPr/>
          <p:nvPr/>
        </p:nvSpPr>
        <p:spPr>
          <a:xfrm>
            <a:off x="2459736" y="1444752"/>
            <a:ext cx="3977640" cy="310896"/>
          </a:xfrm>
          <a:prstGeom prst="rect">
            <a:avLst/>
          </a:prstGeom>
          <a:solidFill>
            <a:srgbClr val="DDEBE0"/>
          </a:solidFill>
          <a:ln w="6350">
            <a:solidFill>
              <a:srgbClr val="DADAD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32888" y="1536192"/>
            <a:ext cx="38313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标题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6437376" y="1444752"/>
            <a:ext cx="4645152" cy="310896"/>
          </a:xfrm>
          <a:prstGeom prst="rect">
            <a:avLst/>
          </a:prstGeom>
          <a:solidFill>
            <a:srgbClr val="DDEBE0"/>
          </a:solidFill>
          <a:ln w="6350">
            <a:solidFill>
              <a:srgbClr val="DADAD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10528" y="1536192"/>
            <a:ext cx="44988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链接</a:t>
            </a:r>
            <a:endParaRPr lang="en-US" sz="780" dirty="0"/>
          </a:p>
        </p:txBody>
      </p:sp>
      <p:sp>
        <p:nvSpPr>
          <p:cNvPr id="18" name="Shape 16"/>
          <p:cNvSpPr/>
          <p:nvPr/>
        </p:nvSpPr>
        <p:spPr>
          <a:xfrm>
            <a:off x="658368" y="1755648"/>
            <a:ext cx="10424160" cy="274320"/>
          </a:xfrm>
          <a:prstGeom prst="rect">
            <a:avLst/>
          </a:prstGeom>
          <a:solidFill>
            <a:srgbClr val="F4FAF6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49808" y="1828800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[1]</a:t>
            </a:r>
            <a:endParaRPr lang="en-US" sz="680" dirty="0"/>
          </a:p>
        </p:txBody>
      </p:sp>
      <p:sp>
        <p:nvSpPr>
          <p:cNvPr id="20" name="Text 18"/>
          <p:cNvSpPr/>
          <p:nvPr/>
        </p:nvSpPr>
        <p:spPr>
          <a:xfrm>
            <a:off x="1261872" y="1828800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磷酸铁锂材料与电芯公众号广</a:t>
            </a:r>
            <a:endParaRPr lang="en-US" sz="680" dirty="0"/>
          </a:p>
        </p:txBody>
      </p:sp>
      <p:sp>
        <p:nvSpPr>
          <p:cNvPr id="21" name="Text 19"/>
          <p:cNvSpPr/>
          <p:nvPr/>
        </p:nvSpPr>
        <p:spPr>
          <a:xfrm>
            <a:off x="2487168" y="1828800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锐评 / AI算力已成为下一代高性能快充电池的核心引擎</a:t>
            </a:r>
            <a:endParaRPr lang="en-US" sz="680" dirty="0"/>
          </a:p>
        </p:txBody>
      </p:sp>
      <p:sp>
        <p:nvSpPr>
          <p:cNvPr id="22" name="Text 20"/>
          <p:cNvSpPr/>
          <p:nvPr/>
        </p:nvSpPr>
        <p:spPr>
          <a:xfrm>
            <a:off x="6510528" y="1828800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eixin.sogou.com/link?url=dn9a_-gY295K0Rci_xozVXfdMkSQTLW6cwJThYulHEtVjXrGTiVgS9zM7uvAVj3XjV-4HlNjzevpvG90rCLXTVqXa8Fplpd9mqGErATNfuw-OC86aO9poqL-l51lV3mywwcW7V6rbev8NzTIV9_W78VR7wRUOi002HDo-A2DdiWqIIh1Enn0r4I-7pTi0Qqgr0hdQIXNQ7UAdnTVcyqtaA7f6F5uWP3pa3BmsnUHEhsYTEaWLlLhiPALacLcpsEHO3-YxNDvk9XdrgozfSg6bw..&amp;type=2&amp;query=%E9%93%81%E9%94%82 %E5%BF%AB%E5%85%85 %E7%94%B5%E8%8A%AF %E5%8F%91%E5%B8%83&amp;token=C9F7F6B53658B1928681D14C8D9A0DB68726C43E6A6AA9A6</a:t>
            </a:r>
            <a:endParaRPr lang="en-US" sz="580" dirty="0"/>
          </a:p>
        </p:txBody>
      </p:sp>
      <p:sp>
        <p:nvSpPr>
          <p:cNvPr id="23" name="Shape 21"/>
          <p:cNvSpPr/>
          <p:nvPr/>
        </p:nvSpPr>
        <p:spPr>
          <a:xfrm>
            <a:off x="658368" y="2066544"/>
            <a:ext cx="10424160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49808" y="2139696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[2]</a:t>
            </a:r>
            <a:endParaRPr lang="en-US" sz="680" dirty="0"/>
          </a:p>
        </p:txBody>
      </p:sp>
      <p:sp>
        <p:nvSpPr>
          <p:cNvPr id="25" name="Text 23"/>
          <p:cNvSpPr/>
          <p:nvPr/>
        </p:nvSpPr>
        <p:spPr>
          <a:xfrm>
            <a:off x="1261872" y="2139696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磷酸铁锂材料与电芯公众号广</a:t>
            </a:r>
            <a:endParaRPr lang="en-US" sz="680" dirty="0"/>
          </a:p>
        </p:txBody>
      </p:sp>
      <p:sp>
        <p:nvSpPr>
          <p:cNvPr id="26" name="Text 24"/>
          <p:cNvSpPr/>
          <p:nvPr/>
        </p:nvSpPr>
        <p:spPr>
          <a:xfrm>
            <a:off x="2487168" y="2139696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香蕉电池炸出了磷酸铁锂最大的谎言:热管理设计,从来不是＂省＂出来的</a:t>
            </a:r>
            <a:endParaRPr lang="en-US" sz="680" dirty="0"/>
          </a:p>
        </p:txBody>
      </p:sp>
      <p:sp>
        <p:nvSpPr>
          <p:cNvPr id="27" name="Text 25"/>
          <p:cNvSpPr/>
          <p:nvPr/>
        </p:nvSpPr>
        <p:spPr>
          <a:xfrm>
            <a:off x="6510528" y="2139696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eixin.sogou.com/link?url=dn9a_-gY295K0Rci_xozVXfdMkSQTLW6cwJThYulHEtVjXrGTiVgS9zM7uvAVj3XjV-4HlNjzevpvG90rCLXTVqXa8Fplpd9qbKZUvhzUc0-qyvkiCaSlZ3olN5jVYxlrXarMQfk_sgHbvhiBGIBkQYSgKAOZmrRPEoeANjKVpH-6i_cUhDcRK-eRFN8FTMVFYAEPRpvjckBptJxY04E2jm0jGlt5U2w-eu9_eEUTamesD-aLGEp8pU-GvQcK4fz9vxQqEHLV8eAFV_3u-a3OQ..&amp;type=2&amp;query=%E9%93%81%E9%94%82 %E5%BF%AB%E5%85%85 %E7%94%B5%E8%8A%AF %E5%8F%91%E5%B8%83&amp;token=C9F7F6B53658B1928681D14C8D9A0DB68726C43E6A6AA9A6</a:t>
            </a:r>
            <a:endParaRPr lang="en-US" sz="580" dirty="0"/>
          </a:p>
        </p:txBody>
      </p:sp>
      <p:sp>
        <p:nvSpPr>
          <p:cNvPr id="28" name="Shape 26"/>
          <p:cNvSpPr/>
          <p:nvPr/>
        </p:nvSpPr>
        <p:spPr>
          <a:xfrm>
            <a:off x="658368" y="2377440"/>
            <a:ext cx="10424160" cy="274320"/>
          </a:xfrm>
          <a:prstGeom prst="rect">
            <a:avLst/>
          </a:prstGeom>
          <a:solidFill>
            <a:srgbClr val="F4FAF6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49808" y="2450592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[3]</a:t>
            </a:r>
            <a:endParaRPr lang="en-US" sz="680" dirty="0"/>
          </a:p>
        </p:txBody>
      </p:sp>
      <p:sp>
        <p:nvSpPr>
          <p:cNvPr id="30" name="Text 28"/>
          <p:cNvSpPr/>
          <p:nvPr/>
        </p:nvSpPr>
        <p:spPr>
          <a:xfrm>
            <a:off x="1261872" y="2450592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中国磷酸铁锂行业官方政策与</a:t>
            </a:r>
            <a:endParaRPr lang="en-US" sz="680" dirty="0"/>
          </a:p>
        </p:txBody>
      </p:sp>
      <p:sp>
        <p:nvSpPr>
          <p:cNvPr id="31" name="Text 29"/>
          <p:cNvSpPr/>
          <p:nvPr/>
        </p:nvSpPr>
        <p:spPr>
          <a:xfrm>
            <a:off x="2487168" y="2450592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电池消费税落地，新能源车三电成本与可靠性标准全拆解</a:t>
            </a:r>
            <a:endParaRPr lang="en-US" sz="680" dirty="0"/>
          </a:p>
        </p:txBody>
      </p:sp>
      <p:sp>
        <p:nvSpPr>
          <p:cNvPr id="32" name="Text 30"/>
          <p:cNvSpPr/>
          <p:nvPr/>
        </p:nvSpPr>
        <p:spPr>
          <a:xfrm>
            <a:off x="6510528" y="2450592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http://auto.news18a.com/news/storys_280494.html</a:t>
            </a:r>
            <a:endParaRPr lang="en-US" sz="580" dirty="0"/>
          </a:p>
        </p:txBody>
      </p:sp>
      <p:sp>
        <p:nvSpPr>
          <p:cNvPr id="33" name="Shape 31"/>
          <p:cNvSpPr/>
          <p:nvPr/>
        </p:nvSpPr>
        <p:spPr>
          <a:xfrm>
            <a:off x="658368" y="2688336"/>
            <a:ext cx="10424160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49808" y="2761488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[4]</a:t>
            </a:r>
            <a:endParaRPr lang="en-US" sz="680" dirty="0"/>
          </a:p>
        </p:txBody>
      </p:sp>
      <p:sp>
        <p:nvSpPr>
          <p:cNvPr id="35" name="Text 33"/>
          <p:cNvSpPr/>
          <p:nvPr/>
        </p:nvSpPr>
        <p:spPr>
          <a:xfrm>
            <a:off x="1261872" y="2761488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中国磷酸铁锂行业官方政策与</a:t>
            </a:r>
            <a:endParaRPr lang="en-US" sz="680" dirty="0"/>
          </a:p>
        </p:txBody>
      </p:sp>
      <p:sp>
        <p:nvSpPr>
          <p:cNvPr id="36" name="Text 34"/>
          <p:cNvSpPr/>
          <p:nvPr/>
        </p:nvSpPr>
        <p:spPr>
          <a:xfrm>
            <a:off x="2487168" y="2761488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7.2亿元！山东青岛及德州两大磷酸铁锂储能项目并网 - 上海有色金属</a:t>
            </a:r>
            <a:endParaRPr lang="en-US" sz="680" dirty="0"/>
          </a:p>
        </p:txBody>
      </p:sp>
      <p:sp>
        <p:nvSpPr>
          <p:cNvPr id="37" name="Text 35"/>
          <p:cNvSpPr/>
          <p:nvPr/>
        </p:nvSpPr>
        <p:spPr>
          <a:xfrm>
            <a:off x="6510528" y="2761488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https://news.google.com/rss/articles/CBMiSkFVX3lxTE1WRklPNUFTQnd0Y2lkbDdyLTB3cks1NEdZWGlwWWliMENYX1BwcGRZazgxZW42YUNCNkdSX05MMHR5WUpyUHdUQlVn?oc=5</a:t>
            </a:r>
            <a:endParaRPr lang="en-US" sz="580" dirty="0"/>
          </a:p>
        </p:txBody>
      </p:sp>
      <p:sp>
        <p:nvSpPr>
          <p:cNvPr id="38" name="Shape 36"/>
          <p:cNvSpPr/>
          <p:nvPr/>
        </p:nvSpPr>
        <p:spPr>
          <a:xfrm>
            <a:off x="658368" y="2999232"/>
            <a:ext cx="10424160" cy="274320"/>
          </a:xfrm>
          <a:prstGeom prst="rect">
            <a:avLst/>
          </a:prstGeom>
          <a:solidFill>
            <a:srgbClr val="F4FAF6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49808" y="3072384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[5]</a:t>
            </a:r>
            <a:endParaRPr lang="en-US" sz="680" dirty="0"/>
          </a:p>
        </p:txBody>
      </p:sp>
      <p:sp>
        <p:nvSpPr>
          <p:cNvPr id="40" name="Text 38"/>
          <p:cNvSpPr/>
          <p:nvPr/>
        </p:nvSpPr>
        <p:spPr>
          <a:xfrm>
            <a:off x="1261872" y="3072384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中国磷酸铁锂行业官方政策与</a:t>
            </a:r>
            <a:endParaRPr lang="en-US" sz="680" dirty="0"/>
          </a:p>
        </p:txBody>
      </p:sp>
      <p:sp>
        <p:nvSpPr>
          <p:cNvPr id="41" name="Text 39"/>
          <p:cNvSpPr/>
          <p:nvPr/>
        </p:nvSpPr>
        <p:spPr>
          <a:xfrm>
            <a:off x="2487168" y="3072384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磷酸铁锂，新一轮涨价来袭！上下游议价博弈进入新阶段 - 新浪网</a:t>
            </a:r>
            <a:endParaRPr lang="en-US" sz="680" dirty="0"/>
          </a:p>
        </p:txBody>
      </p:sp>
      <p:sp>
        <p:nvSpPr>
          <p:cNvPr id="42" name="Text 40"/>
          <p:cNvSpPr/>
          <p:nvPr/>
        </p:nvSpPr>
        <p:spPr>
          <a:xfrm>
            <a:off x="6510528" y="3072384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https://news.google.com/rss/articles/CBMimAFBVV95cUxOODlYRFNjbjFoMklZdHN4N0N4U2dfRmwtZ0RvU2ZWcU9ESVptTTc0WXJNQkZTMGwySkFfOGtVclVPMldLeVllWlFzX3ZlTkp5V2dvNl81eVA5SUo5dVBPSUZUWlM3UkhuLVZPelNtNmhVOFhmeDF3aDZDMmFWejg3TWxFNU5kQlU5UTIzVjItdWlhcGtoY1ZXVQ?oc=5</a:t>
            </a:r>
            <a:endParaRPr lang="en-US" sz="580" dirty="0"/>
          </a:p>
        </p:txBody>
      </p:sp>
      <p:sp>
        <p:nvSpPr>
          <p:cNvPr id="43" name="Shape 41"/>
          <p:cNvSpPr/>
          <p:nvPr/>
        </p:nvSpPr>
        <p:spPr>
          <a:xfrm>
            <a:off x="658368" y="3310128"/>
            <a:ext cx="10424160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49808" y="3383280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[6]</a:t>
            </a:r>
            <a:endParaRPr lang="en-US" sz="680" dirty="0"/>
          </a:p>
        </p:txBody>
      </p:sp>
      <p:sp>
        <p:nvSpPr>
          <p:cNvPr id="45" name="Text 43"/>
          <p:cNvSpPr/>
          <p:nvPr/>
        </p:nvSpPr>
        <p:spPr>
          <a:xfrm>
            <a:off x="1261872" y="3383280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中国磷酸铁锂行业官方政策与</a:t>
            </a:r>
            <a:endParaRPr lang="en-US" sz="680" dirty="0"/>
          </a:p>
        </p:txBody>
      </p:sp>
      <p:sp>
        <p:nvSpPr>
          <p:cNvPr id="46" name="Text 44"/>
          <p:cNvSpPr/>
          <p:nvPr/>
        </p:nvSpPr>
        <p:spPr>
          <a:xfrm>
            <a:off x="2487168" y="3383280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万华化学入股大中矿业20万吨级锂盐项目：一场上下游龙头的战略合围</a:t>
            </a:r>
            <a:endParaRPr lang="en-US" sz="680" dirty="0"/>
          </a:p>
        </p:txBody>
      </p:sp>
      <p:sp>
        <p:nvSpPr>
          <p:cNvPr id="47" name="Text 45"/>
          <p:cNvSpPr/>
          <p:nvPr/>
        </p:nvSpPr>
        <p:spPr>
          <a:xfrm>
            <a:off x="6510528" y="3383280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https://www.cls.cn/detail/2321918</a:t>
            </a:r>
            <a:endParaRPr lang="en-US" sz="580" dirty="0"/>
          </a:p>
        </p:txBody>
      </p:sp>
      <p:sp>
        <p:nvSpPr>
          <p:cNvPr id="48" name="Shape 46"/>
          <p:cNvSpPr/>
          <p:nvPr/>
        </p:nvSpPr>
        <p:spPr>
          <a:xfrm>
            <a:off x="658368" y="3621024"/>
            <a:ext cx="10424160" cy="274320"/>
          </a:xfrm>
          <a:prstGeom prst="rect">
            <a:avLst/>
          </a:prstGeom>
          <a:solidFill>
            <a:srgbClr val="F4FAF6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49808" y="3694176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[7]</a:t>
            </a:r>
            <a:endParaRPr lang="en-US" sz="680" dirty="0"/>
          </a:p>
        </p:txBody>
      </p:sp>
      <p:sp>
        <p:nvSpPr>
          <p:cNvPr id="50" name="Text 48"/>
          <p:cNvSpPr/>
          <p:nvPr/>
        </p:nvSpPr>
        <p:spPr>
          <a:xfrm>
            <a:off x="1261872" y="3694176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中国磷酸铁锂行业官方政策与</a:t>
            </a:r>
            <a:endParaRPr lang="en-US" sz="680" dirty="0"/>
          </a:p>
        </p:txBody>
      </p:sp>
      <p:sp>
        <p:nvSpPr>
          <p:cNvPr id="51" name="Text 49"/>
          <p:cNvSpPr/>
          <p:nvPr/>
        </p:nvSpPr>
        <p:spPr>
          <a:xfrm>
            <a:off x="2487168" y="3694176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2026选新能源车：安全国标+购置税新政，这几点必须看</a:t>
            </a:r>
            <a:endParaRPr lang="en-US" sz="680" dirty="0"/>
          </a:p>
        </p:txBody>
      </p:sp>
      <p:sp>
        <p:nvSpPr>
          <p:cNvPr id="52" name="Text 50"/>
          <p:cNvSpPr/>
          <p:nvPr/>
        </p:nvSpPr>
        <p:spPr>
          <a:xfrm>
            <a:off x="6510528" y="3694176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https://k.sina.com.cn/article_7880068201_1d5b04c6906802c20e.html?from=auto</a:t>
            </a:r>
            <a:endParaRPr lang="en-US" sz="580" dirty="0"/>
          </a:p>
        </p:txBody>
      </p:sp>
      <p:sp>
        <p:nvSpPr>
          <p:cNvPr id="53" name="Shape 51"/>
          <p:cNvSpPr/>
          <p:nvPr/>
        </p:nvSpPr>
        <p:spPr>
          <a:xfrm>
            <a:off x="658368" y="3931920"/>
            <a:ext cx="10424160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49808" y="4005072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[8]</a:t>
            </a:r>
            <a:endParaRPr lang="en-US" sz="680" dirty="0"/>
          </a:p>
        </p:txBody>
      </p:sp>
      <p:sp>
        <p:nvSpPr>
          <p:cNvPr id="55" name="Text 53"/>
          <p:cNvSpPr/>
          <p:nvPr/>
        </p:nvSpPr>
        <p:spPr>
          <a:xfrm>
            <a:off x="1261872" y="4005072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中国磷酸铁锂行业官方政策与</a:t>
            </a:r>
            <a:endParaRPr lang="en-US" sz="680" dirty="0"/>
          </a:p>
        </p:txBody>
      </p:sp>
      <p:sp>
        <p:nvSpPr>
          <p:cNvPr id="56" name="Text 54"/>
          <p:cNvSpPr/>
          <p:nvPr/>
        </p:nvSpPr>
        <p:spPr>
          <a:xfrm>
            <a:off x="2487168" y="4005072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【以案释法】锂电池竟当普通快递运送 查</a:t>
            </a:r>
            <a:endParaRPr lang="en-US" sz="680" dirty="0"/>
          </a:p>
        </p:txBody>
      </p:sp>
      <p:sp>
        <p:nvSpPr>
          <p:cNvPr id="57" name="Text 55"/>
          <p:cNvSpPr/>
          <p:nvPr/>
        </p:nvSpPr>
        <p:spPr>
          <a:xfrm>
            <a:off x="6510528" y="4005072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https://www.qzwb.com/gb/content/2026-07/30/content_9244241.htm</a:t>
            </a:r>
            <a:endParaRPr lang="en-US" sz="580" dirty="0"/>
          </a:p>
        </p:txBody>
      </p:sp>
      <p:sp>
        <p:nvSpPr>
          <p:cNvPr id="58" name="Shape 56"/>
          <p:cNvSpPr/>
          <p:nvPr/>
        </p:nvSpPr>
        <p:spPr>
          <a:xfrm>
            <a:off x="658368" y="4242816"/>
            <a:ext cx="10424160" cy="274320"/>
          </a:xfrm>
          <a:prstGeom prst="rect">
            <a:avLst/>
          </a:prstGeom>
          <a:solidFill>
            <a:srgbClr val="F4FAF6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49808" y="4315968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[9]</a:t>
            </a:r>
            <a:endParaRPr lang="en-US" sz="680" dirty="0"/>
          </a:p>
        </p:txBody>
      </p:sp>
      <p:sp>
        <p:nvSpPr>
          <p:cNvPr id="60" name="Text 58"/>
          <p:cNvSpPr/>
          <p:nvPr/>
        </p:nvSpPr>
        <p:spPr>
          <a:xfrm>
            <a:off x="1261872" y="4315968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中国磷酸铁锂行业官方政策与</a:t>
            </a:r>
            <a:endParaRPr lang="en-US" sz="680" dirty="0"/>
          </a:p>
        </p:txBody>
      </p:sp>
      <p:sp>
        <p:nvSpPr>
          <p:cNvPr id="61" name="Text 59"/>
          <p:cNvSpPr/>
          <p:nvPr/>
        </p:nvSpPr>
        <p:spPr>
          <a:xfrm>
            <a:off x="2487168" y="4315968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张荣琪：新三样制造领跑迈向新固废“循环领跑”|文汇讲堂</a:t>
            </a:r>
            <a:endParaRPr lang="en-US" sz="680" dirty="0"/>
          </a:p>
        </p:txBody>
      </p:sp>
      <p:sp>
        <p:nvSpPr>
          <p:cNvPr id="62" name="Text 60"/>
          <p:cNvSpPr/>
          <p:nvPr/>
        </p:nvSpPr>
        <p:spPr>
          <a:xfrm>
            <a:off x="6510528" y="4315968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https://www.jfdaily.com/news/detail?id=1152417</a:t>
            </a:r>
            <a:endParaRPr lang="en-US" sz="580" dirty="0"/>
          </a:p>
        </p:txBody>
      </p:sp>
      <p:sp>
        <p:nvSpPr>
          <p:cNvPr id="63" name="Shape 61"/>
          <p:cNvSpPr/>
          <p:nvPr/>
        </p:nvSpPr>
        <p:spPr>
          <a:xfrm>
            <a:off x="658368" y="4553712"/>
            <a:ext cx="10424160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49808" y="4626864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[10]</a:t>
            </a:r>
            <a:endParaRPr lang="en-US" sz="680" dirty="0"/>
          </a:p>
        </p:txBody>
      </p:sp>
      <p:sp>
        <p:nvSpPr>
          <p:cNvPr id="65" name="Text 63"/>
          <p:cNvSpPr/>
          <p:nvPr/>
        </p:nvSpPr>
        <p:spPr>
          <a:xfrm>
            <a:off x="1261872" y="4626864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中国磷酸铁锂行业官方政策与</a:t>
            </a:r>
            <a:endParaRPr lang="en-US" sz="680" dirty="0"/>
          </a:p>
        </p:txBody>
      </p:sp>
      <p:sp>
        <p:nvSpPr>
          <p:cNvPr id="66" name="Text 64"/>
          <p:cNvSpPr/>
          <p:nvPr/>
        </p:nvSpPr>
        <p:spPr>
          <a:xfrm>
            <a:off x="2487168" y="4626864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四川宜宾：“十五五”动力电池全产业链产值锚定3000亿元 - Sohu</a:t>
            </a:r>
            <a:endParaRPr lang="en-US" sz="680" dirty="0"/>
          </a:p>
        </p:txBody>
      </p:sp>
      <p:sp>
        <p:nvSpPr>
          <p:cNvPr id="67" name="Text 65"/>
          <p:cNvSpPr/>
          <p:nvPr/>
        </p:nvSpPr>
        <p:spPr>
          <a:xfrm>
            <a:off x="6510528" y="4626864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https://news.google.com/rss/articles/CBMiiAFBVV95cUxPMnFHYXhTX1ZPYmYzZHE1dTdFREdYOWJpSG1MZkJxWDY3NlZaZGYzT1R5SkJhazZHWUR2QksyZV9IWEFGRGdiYk9aSFpRenJ6Mlowck94c2VmN290SFVCaVFLNmhlQXhUN3NVVjZJV1VhZW5rbmRIbExRM2VOZWgtTklRWm1DSFVv?oc=5</a:t>
            </a:r>
            <a:endParaRPr lang="en-US" sz="580" dirty="0"/>
          </a:p>
        </p:txBody>
      </p:sp>
      <p:sp>
        <p:nvSpPr>
          <p:cNvPr id="68" name="Shape 66"/>
          <p:cNvSpPr/>
          <p:nvPr/>
        </p:nvSpPr>
        <p:spPr>
          <a:xfrm>
            <a:off x="658368" y="4864608"/>
            <a:ext cx="10424160" cy="274320"/>
          </a:xfrm>
          <a:prstGeom prst="rect">
            <a:avLst/>
          </a:prstGeom>
          <a:solidFill>
            <a:srgbClr val="F4FAF6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749808" y="4937760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[11]</a:t>
            </a:r>
            <a:endParaRPr lang="en-US" sz="680" dirty="0"/>
          </a:p>
        </p:txBody>
      </p:sp>
      <p:sp>
        <p:nvSpPr>
          <p:cNvPr id="70" name="Text 68"/>
          <p:cNvSpPr/>
          <p:nvPr/>
        </p:nvSpPr>
        <p:spPr>
          <a:xfrm>
            <a:off x="1261872" y="4937760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中国电池网</a:t>
            </a:r>
            <a:endParaRPr lang="en-US" sz="680" dirty="0"/>
          </a:p>
        </p:txBody>
      </p:sp>
      <p:sp>
        <p:nvSpPr>
          <p:cNvPr id="71" name="Text 69"/>
          <p:cNvSpPr/>
          <p:nvPr/>
        </p:nvSpPr>
        <p:spPr>
          <a:xfrm>
            <a:off x="2487168" y="4937760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同体积容量击穿行业纪录！多氟多两款大圆柱磷酸铁锂换电方案发布_电池网</a:t>
            </a:r>
            <a:endParaRPr lang="en-US" sz="680" dirty="0"/>
          </a:p>
        </p:txBody>
      </p:sp>
      <p:sp>
        <p:nvSpPr>
          <p:cNvPr id="72" name="Text 70"/>
          <p:cNvSpPr/>
          <p:nvPr/>
        </p:nvSpPr>
        <p:spPr>
          <a:xfrm>
            <a:off x="6510528" y="4937760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https://www.itdcw.com/news/chanpinxinwen/06251562M2026.html</a:t>
            </a:r>
            <a:endParaRPr lang="en-US" sz="580" dirty="0"/>
          </a:p>
        </p:txBody>
      </p:sp>
      <p:sp>
        <p:nvSpPr>
          <p:cNvPr id="73" name="Shape 71"/>
          <p:cNvSpPr/>
          <p:nvPr/>
        </p:nvSpPr>
        <p:spPr>
          <a:xfrm>
            <a:off x="658368" y="5175504"/>
            <a:ext cx="10424160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749808" y="5248656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[12]</a:t>
            </a:r>
            <a:endParaRPr lang="en-US" sz="680" dirty="0"/>
          </a:p>
        </p:txBody>
      </p:sp>
      <p:sp>
        <p:nvSpPr>
          <p:cNvPr id="75" name="Text 73"/>
          <p:cNvSpPr/>
          <p:nvPr/>
        </p:nvSpPr>
        <p:spPr>
          <a:xfrm>
            <a:off x="1261872" y="5248656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中国电池网</a:t>
            </a:r>
            <a:endParaRPr lang="en-US" sz="680" dirty="0"/>
          </a:p>
        </p:txBody>
      </p:sp>
      <p:sp>
        <p:nvSpPr>
          <p:cNvPr id="76" name="Text 74"/>
          <p:cNvSpPr/>
          <p:nvPr/>
        </p:nvSpPr>
        <p:spPr>
          <a:xfrm>
            <a:off x="2487168" y="5248656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【正极材料周报】湖南裕能斥资240亿元扩产！正极材料公司中报预告密集出</a:t>
            </a:r>
            <a:endParaRPr lang="en-US" sz="680" dirty="0"/>
          </a:p>
        </p:txBody>
      </p:sp>
      <p:sp>
        <p:nvSpPr>
          <p:cNvPr id="77" name="Text 75"/>
          <p:cNvSpPr/>
          <p:nvPr/>
        </p:nvSpPr>
        <p:spPr>
          <a:xfrm>
            <a:off x="6510528" y="5248656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https://www.itdcw.com/news/dczk/0H015CU2026.html</a:t>
            </a:r>
            <a:endParaRPr lang="en-US" sz="580" dirty="0"/>
          </a:p>
        </p:txBody>
      </p:sp>
      <p:sp>
        <p:nvSpPr>
          <p:cNvPr id="78" name="Shape 76"/>
          <p:cNvSpPr/>
          <p:nvPr/>
        </p:nvSpPr>
        <p:spPr>
          <a:xfrm>
            <a:off x="658368" y="5779008"/>
            <a:ext cx="1463040" cy="292608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804672" y="5870448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引用规则</a:t>
            </a:r>
            <a:endParaRPr lang="en-US" sz="780" dirty="0"/>
          </a:p>
        </p:txBody>
      </p:sp>
      <p:sp>
        <p:nvSpPr>
          <p:cNvPr id="80" name="Text 78"/>
          <p:cNvSpPr/>
          <p:nvPr/>
        </p:nvSpPr>
        <p:spPr>
          <a:xfrm>
            <a:off x="2286000" y="5843016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正文引用编号与本页来源一一对应，未进入正文的公开来源保留在 JSON 审计记录中。</a:t>
            </a:r>
            <a:endParaRPr lang="en-US" sz="102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1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11.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143000" y="39319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 INDEX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287000" y="39319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2026-07-30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786384"/>
            <a:ext cx="11201400" cy="0"/>
          </a:xfrm>
          <a:prstGeom prst="line">
            <a:avLst/>
          </a:prstGeom>
          <a:noFill/>
          <a:ln w="10160">
            <a:solidFill>
              <a:srgbClr val="DADAD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6327648"/>
            <a:ext cx="11201400" cy="0"/>
          </a:xfrm>
          <a:prstGeom prst="line">
            <a:avLst/>
          </a:prstGeom>
          <a:noFill/>
          <a:ln w="8890">
            <a:solidFill>
              <a:srgbClr val="DADAD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437376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磷酸铁锂行业早报｜公开来源自动生成｜仅作行业观察，不构成投资建议</a:t>
            </a:r>
            <a:endParaRPr lang="en-US" sz="730" dirty="0"/>
          </a:p>
        </p:txBody>
      </p:sp>
      <p:sp>
        <p:nvSpPr>
          <p:cNvPr id="8" name="Text 6"/>
          <p:cNvSpPr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730" dirty="0"/>
          </a:p>
        </p:txBody>
      </p:sp>
      <p:sp>
        <p:nvSpPr>
          <p:cNvPr id="9" name="Text 7"/>
          <p:cNvSpPr/>
          <p:nvPr/>
        </p:nvSpPr>
        <p:spPr>
          <a:xfrm>
            <a:off x="1143000" y="932688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来源索引与可追溯性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658368" y="1444752"/>
            <a:ext cx="566928" cy="310896"/>
          </a:xfrm>
          <a:prstGeom prst="rect">
            <a:avLst/>
          </a:prstGeom>
          <a:solidFill>
            <a:srgbClr val="121212"/>
          </a:solidFill>
          <a:ln w="6350">
            <a:solidFill>
              <a:srgbClr val="DADAD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1536192"/>
            <a:ext cx="4206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编号</a:t>
            </a:r>
            <a:endParaRPr lang="en-US" sz="780" dirty="0"/>
          </a:p>
        </p:txBody>
      </p:sp>
      <p:sp>
        <p:nvSpPr>
          <p:cNvPr id="12" name="Shape 10"/>
          <p:cNvSpPr/>
          <p:nvPr/>
        </p:nvSpPr>
        <p:spPr>
          <a:xfrm>
            <a:off x="1225296" y="1444752"/>
            <a:ext cx="1234440" cy="310896"/>
          </a:xfrm>
          <a:prstGeom prst="rect">
            <a:avLst/>
          </a:prstGeom>
          <a:solidFill>
            <a:srgbClr val="DDEBE0"/>
          </a:solidFill>
          <a:ln w="6350">
            <a:solidFill>
              <a:srgbClr val="DADAD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98448" y="1536192"/>
            <a:ext cx="10881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</a:t>
            </a:r>
            <a:endParaRPr lang="en-US" sz="780" dirty="0"/>
          </a:p>
        </p:txBody>
      </p:sp>
      <p:sp>
        <p:nvSpPr>
          <p:cNvPr id="14" name="Shape 12"/>
          <p:cNvSpPr/>
          <p:nvPr/>
        </p:nvSpPr>
        <p:spPr>
          <a:xfrm>
            <a:off x="2459736" y="1444752"/>
            <a:ext cx="3977640" cy="310896"/>
          </a:xfrm>
          <a:prstGeom prst="rect">
            <a:avLst/>
          </a:prstGeom>
          <a:solidFill>
            <a:srgbClr val="DDEBE0"/>
          </a:solidFill>
          <a:ln w="6350">
            <a:solidFill>
              <a:srgbClr val="DADAD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32888" y="1536192"/>
            <a:ext cx="38313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标题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6437376" y="1444752"/>
            <a:ext cx="4645152" cy="310896"/>
          </a:xfrm>
          <a:prstGeom prst="rect">
            <a:avLst/>
          </a:prstGeom>
          <a:solidFill>
            <a:srgbClr val="DDEBE0"/>
          </a:solidFill>
          <a:ln w="6350">
            <a:solidFill>
              <a:srgbClr val="DADAD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10528" y="1536192"/>
            <a:ext cx="44988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链接</a:t>
            </a:r>
            <a:endParaRPr lang="en-US" sz="780" dirty="0"/>
          </a:p>
        </p:txBody>
      </p:sp>
      <p:sp>
        <p:nvSpPr>
          <p:cNvPr id="18" name="Shape 16"/>
          <p:cNvSpPr/>
          <p:nvPr/>
        </p:nvSpPr>
        <p:spPr>
          <a:xfrm>
            <a:off x="658368" y="1755648"/>
            <a:ext cx="10424160" cy="274320"/>
          </a:xfrm>
          <a:prstGeom prst="rect">
            <a:avLst/>
          </a:prstGeom>
          <a:solidFill>
            <a:srgbClr val="F4FAF6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49808" y="1828800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[13]</a:t>
            </a:r>
            <a:endParaRPr lang="en-US" sz="680" dirty="0"/>
          </a:p>
        </p:txBody>
      </p:sp>
      <p:sp>
        <p:nvSpPr>
          <p:cNvPr id="20" name="Text 18"/>
          <p:cNvSpPr/>
          <p:nvPr/>
        </p:nvSpPr>
        <p:spPr>
          <a:xfrm>
            <a:off x="1261872" y="1828800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中国电池网</a:t>
            </a:r>
            <a:endParaRPr lang="en-US" sz="680" dirty="0"/>
          </a:p>
        </p:txBody>
      </p:sp>
      <p:sp>
        <p:nvSpPr>
          <p:cNvPr id="21" name="Text 19"/>
          <p:cNvSpPr/>
          <p:nvPr/>
        </p:nvSpPr>
        <p:spPr>
          <a:xfrm>
            <a:off x="2487168" y="1828800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【正极材料周报】宁德时代“天价锂矿”采矿规模将达150万吨/年！今年国</a:t>
            </a:r>
            <a:endParaRPr lang="en-US" sz="680" dirty="0"/>
          </a:p>
        </p:txBody>
      </p:sp>
      <p:sp>
        <p:nvSpPr>
          <p:cNvPr id="22" name="Text 20"/>
          <p:cNvSpPr/>
          <p:nvPr/>
        </p:nvSpPr>
        <p:spPr>
          <a:xfrm>
            <a:off x="6510528" y="1828800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https://www.itdcw.com/news/dczk/0HG5E312026.html</a:t>
            </a:r>
            <a:endParaRPr lang="en-US" sz="580" dirty="0"/>
          </a:p>
        </p:txBody>
      </p:sp>
      <p:sp>
        <p:nvSpPr>
          <p:cNvPr id="23" name="Shape 21"/>
          <p:cNvSpPr/>
          <p:nvPr/>
        </p:nvSpPr>
        <p:spPr>
          <a:xfrm>
            <a:off x="658368" y="2066544"/>
            <a:ext cx="10424160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49808" y="2139696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[14]</a:t>
            </a:r>
            <a:endParaRPr lang="en-US" sz="680" dirty="0"/>
          </a:p>
        </p:txBody>
      </p:sp>
      <p:sp>
        <p:nvSpPr>
          <p:cNvPr id="25" name="Text 23"/>
          <p:cNvSpPr/>
          <p:nvPr/>
        </p:nvSpPr>
        <p:spPr>
          <a:xfrm>
            <a:off x="1261872" y="2139696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中国电池网</a:t>
            </a:r>
            <a:endParaRPr lang="en-US" sz="680" dirty="0"/>
          </a:p>
        </p:txBody>
      </p:sp>
      <p:sp>
        <p:nvSpPr>
          <p:cNvPr id="26" name="Text 24"/>
          <p:cNvSpPr/>
          <p:nvPr/>
        </p:nvSpPr>
        <p:spPr>
          <a:xfrm>
            <a:off x="2487168" y="2139696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磷酸铁锂动力型电池与磷酸铁锂储能型电池的区别分析_电池网</a:t>
            </a:r>
            <a:endParaRPr lang="en-US" sz="680" dirty="0"/>
          </a:p>
        </p:txBody>
      </p:sp>
      <p:sp>
        <p:nvSpPr>
          <p:cNvPr id="27" name="Text 25"/>
          <p:cNvSpPr/>
          <p:nvPr/>
        </p:nvSpPr>
        <p:spPr>
          <a:xfrm>
            <a:off x="6510528" y="2139696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https://www.itdcw.com/news/dianchibaike/06301359262023.html</a:t>
            </a:r>
            <a:endParaRPr lang="en-US" sz="580" dirty="0"/>
          </a:p>
        </p:txBody>
      </p:sp>
      <p:sp>
        <p:nvSpPr>
          <p:cNvPr id="28" name="Shape 26"/>
          <p:cNvSpPr/>
          <p:nvPr/>
        </p:nvSpPr>
        <p:spPr>
          <a:xfrm>
            <a:off x="658368" y="2377440"/>
            <a:ext cx="10424160" cy="274320"/>
          </a:xfrm>
          <a:prstGeom prst="rect">
            <a:avLst/>
          </a:prstGeom>
          <a:solidFill>
            <a:srgbClr val="F4FAF6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49808" y="2450592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[15]</a:t>
            </a:r>
            <a:endParaRPr lang="en-US" sz="680" dirty="0"/>
          </a:p>
        </p:txBody>
      </p:sp>
      <p:sp>
        <p:nvSpPr>
          <p:cNvPr id="30" name="Text 28"/>
          <p:cNvSpPr/>
          <p:nvPr/>
        </p:nvSpPr>
        <p:spPr>
          <a:xfrm>
            <a:off x="1261872" y="2450592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鑫椤锂电</a:t>
            </a:r>
            <a:endParaRPr lang="en-US" sz="680" dirty="0"/>
          </a:p>
        </p:txBody>
      </p:sp>
      <p:sp>
        <p:nvSpPr>
          <p:cNvPr id="31" name="Text 29"/>
          <p:cNvSpPr/>
          <p:nvPr/>
        </p:nvSpPr>
        <p:spPr>
          <a:xfrm>
            <a:off x="2487168" y="2450592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鑫椤锂电</a:t>
            </a:r>
            <a:endParaRPr lang="en-US" sz="680" dirty="0"/>
          </a:p>
        </p:txBody>
      </p:sp>
      <p:sp>
        <p:nvSpPr>
          <p:cNvPr id="32" name="Text 30"/>
          <p:cNvSpPr/>
          <p:nvPr/>
        </p:nvSpPr>
        <p:spPr>
          <a:xfrm>
            <a:off x="6510528" y="2450592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https://www.icbattery.com/</a:t>
            </a:r>
            <a:endParaRPr lang="en-US" sz="580" dirty="0"/>
          </a:p>
        </p:txBody>
      </p:sp>
      <p:sp>
        <p:nvSpPr>
          <p:cNvPr id="33" name="Shape 31"/>
          <p:cNvSpPr/>
          <p:nvPr/>
        </p:nvSpPr>
        <p:spPr>
          <a:xfrm>
            <a:off x="658368" y="2688336"/>
            <a:ext cx="10424160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49808" y="2761488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[16]</a:t>
            </a:r>
            <a:endParaRPr lang="en-US" sz="680" dirty="0"/>
          </a:p>
        </p:txBody>
      </p:sp>
      <p:sp>
        <p:nvSpPr>
          <p:cNvPr id="35" name="Text 33"/>
          <p:cNvSpPr/>
          <p:nvPr/>
        </p:nvSpPr>
        <p:spPr>
          <a:xfrm>
            <a:off x="1261872" y="2761488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高工锂电</a:t>
            </a:r>
            <a:endParaRPr lang="en-US" sz="680" dirty="0"/>
          </a:p>
        </p:txBody>
      </p:sp>
      <p:sp>
        <p:nvSpPr>
          <p:cNvPr id="36" name="Text 34"/>
          <p:cNvSpPr/>
          <p:nvPr/>
        </p:nvSpPr>
        <p:spPr>
          <a:xfrm>
            <a:off x="2487168" y="2761488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高工锂电</a:t>
            </a:r>
            <a:endParaRPr lang="en-US" sz="680" dirty="0"/>
          </a:p>
        </p:txBody>
      </p:sp>
      <p:sp>
        <p:nvSpPr>
          <p:cNvPr id="37" name="Text 35"/>
          <p:cNvSpPr/>
          <p:nvPr/>
        </p:nvSpPr>
        <p:spPr>
          <a:xfrm>
            <a:off x="6510528" y="2761488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https://www.gg-lb.com/</a:t>
            </a:r>
            <a:endParaRPr lang="en-US" sz="580" dirty="0"/>
          </a:p>
        </p:txBody>
      </p:sp>
      <p:sp>
        <p:nvSpPr>
          <p:cNvPr id="38" name="Shape 36"/>
          <p:cNvSpPr/>
          <p:nvPr/>
        </p:nvSpPr>
        <p:spPr>
          <a:xfrm>
            <a:off x="658368" y="2999232"/>
            <a:ext cx="10424160" cy="274320"/>
          </a:xfrm>
          <a:prstGeom prst="rect">
            <a:avLst/>
          </a:prstGeom>
          <a:solidFill>
            <a:srgbClr val="F4FAF6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49808" y="3072384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[17]</a:t>
            </a:r>
            <a:endParaRPr lang="en-US" sz="680" dirty="0"/>
          </a:p>
        </p:txBody>
      </p:sp>
      <p:sp>
        <p:nvSpPr>
          <p:cNvPr id="40" name="Text 38"/>
          <p:cNvSpPr/>
          <p:nvPr/>
        </p:nvSpPr>
        <p:spPr>
          <a:xfrm>
            <a:off x="1261872" y="3072384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电池中国</a:t>
            </a:r>
            <a:endParaRPr lang="en-US" sz="680" dirty="0"/>
          </a:p>
        </p:txBody>
      </p:sp>
      <p:sp>
        <p:nvSpPr>
          <p:cNvPr id="41" name="Text 39"/>
          <p:cNvSpPr/>
          <p:nvPr/>
        </p:nvSpPr>
        <p:spPr>
          <a:xfrm>
            <a:off x="2487168" y="3072384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电池中国</a:t>
            </a:r>
            <a:endParaRPr lang="en-US" sz="680" dirty="0"/>
          </a:p>
        </p:txBody>
      </p:sp>
      <p:sp>
        <p:nvSpPr>
          <p:cNvPr id="42" name="Text 40"/>
          <p:cNvSpPr/>
          <p:nvPr/>
        </p:nvSpPr>
        <p:spPr>
          <a:xfrm>
            <a:off x="6510528" y="3072384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https://www.cbea.com/</a:t>
            </a:r>
            <a:endParaRPr lang="en-US" sz="580" dirty="0"/>
          </a:p>
        </p:txBody>
      </p:sp>
      <p:sp>
        <p:nvSpPr>
          <p:cNvPr id="43" name="Shape 41"/>
          <p:cNvSpPr/>
          <p:nvPr/>
        </p:nvSpPr>
        <p:spPr>
          <a:xfrm>
            <a:off x="658368" y="3310128"/>
            <a:ext cx="10424160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49808" y="3383280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[18]</a:t>
            </a:r>
            <a:endParaRPr lang="en-US" sz="680" dirty="0"/>
          </a:p>
        </p:txBody>
      </p:sp>
      <p:sp>
        <p:nvSpPr>
          <p:cNvPr id="45" name="Text 43"/>
          <p:cNvSpPr/>
          <p:nvPr/>
        </p:nvSpPr>
        <p:spPr>
          <a:xfrm>
            <a:off x="1261872" y="3383280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证券时报</a:t>
            </a:r>
            <a:endParaRPr lang="en-US" sz="680" dirty="0"/>
          </a:p>
        </p:txBody>
      </p:sp>
      <p:sp>
        <p:nvSpPr>
          <p:cNvPr id="46" name="Text 44"/>
          <p:cNvSpPr/>
          <p:nvPr/>
        </p:nvSpPr>
        <p:spPr>
          <a:xfrm>
            <a:off x="2487168" y="3383280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证券时报</a:t>
            </a:r>
            <a:endParaRPr lang="en-US" sz="680" dirty="0"/>
          </a:p>
        </p:txBody>
      </p:sp>
      <p:sp>
        <p:nvSpPr>
          <p:cNvPr id="47" name="Text 45"/>
          <p:cNvSpPr/>
          <p:nvPr/>
        </p:nvSpPr>
        <p:spPr>
          <a:xfrm>
            <a:off x="6510528" y="3383280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https://www.stcn.com/</a:t>
            </a:r>
            <a:endParaRPr lang="en-US" sz="580" dirty="0"/>
          </a:p>
        </p:txBody>
      </p:sp>
      <p:sp>
        <p:nvSpPr>
          <p:cNvPr id="48" name="Shape 46"/>
          <p:cNvSpPr/>
          <p:nvPr/>
        </p:nvSpPr>
        <p:spPr>
          <a:xfrm>
            <a:off x="658368" y="3621024"/>
            <a:ext cx="10424160" cy="274320"/>
          </a:xfrm>
          <a:prstGeom prst="rect">
            <a:avLst/>
          </a:prstGeom>
          <a:solidFill>
            <a:srgbClr val="F4FAF6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49808" y="3694176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[19]</a:t>
            </a:r>
            <a:endParaRPr lang="en-US" sz="680" dirty="0"/>
          </a:p>
        </p:txBody>
      </p:sp>
      <p:sp>
        <p:nvSpPr>
          <p:cNvPr id="50" name="Text 48"/>
          <p:cNvSpPr/>
          <p:nvPr/>
        </p:nvSpPr>
        <p:spPr>
          <a:xfrm>
            <a:off x="1261872" y="3694176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界面新闻</a:t>
            </a:r>
            <a:endParaRPr lang="en-US" sz="680" dirty="0"/>
          </a:p>
        </p:txBody>
      </p:sp>
      <p:sp>
        <p:nvSpPr>
          <p:cNvPr id="51" name="Text 49"/>
          <p:cNvSpPr/>
          <p:nvPr/>
        </p:nvSpPr>
        <p:spPr>
          <a:xfrm>
            <a:off x="2487168" y="3694176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界面新闻</a:t>
            </a:r>
            <a:endParaRPr lang="en-US" sz="680" dirty="0"/>
          </a:p>
        </p:txBody>
      </p:sp>
      <p:sp>
        <p:nvSpPr>
          <p:cNvPr id="52" name="Text 50"/>
          <p:cNvSpPr/>
          <p:nvPr/>
        </p:nvSpPr>
        <p:spPr>
          <a:xfrm>
            <a:off x="6510528" y="3694176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https://www.jiemian.com/</a:t>
            </a:r>
            <a:endParaRPr lang="en-US" sz="580" dirty="0"/>
          </a:p>
        </p:txBody>
      </p:sp>
      <p:sp>
        <p:nvSpPr>
          <p:cNvPr id="53" name="Shape 51"/>
          <p:cNvSpPr/>
          <p:nvPr/>
        </p:nvSpPr>
        <p:spPr>
          <a:xfrm>
            <a:off x="658368" y="3931920"/>
            <a:ext cx="10424160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49808" y="4005072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[20]</a:t>
            </a:r>
            <a:endParaRPr lang="en-US" sz="680" dirty="0"/>
          </a:p>
        </p:txBody>
      </p:sp>
      <p:sp>
        <p:nvSpPr>
          <p:cNvPr id="55" name="Text 53"/>
          <p:cNvSpPr/>
          <p:nvPr/>
        </p:nvSpPr>
        <p:spPr>
          <a:xfrm>
            <a:off x="1261872" y="4005072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工业和信息化部</a:t>
            </a:r>
            <a:endParaRPr lang="en-US" sz="680" dirty="0"/>
          </a:p>
        </p:txBody>
      </p:sp>
      <p:sp>
        <p:nvSpPr>
          <p:cNvPr id="56" name="Text 54"/>
          <p:cNvSpPr/>
          <p:nvPr/>
        </p:nvSpPr>
        <p:spPr>
          <a:xfrm>
            <a:off x="2487168" y="4005072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三部门关于做好科技型企业孵化器相关政策衔接工作的通知</a:t>
            </a:r>
            <a:endParaRPr lang="en-US" sz="680" dirty="0"/>
          </a:p>
        </p:txBody>
      </p:sp>
      <p:sp>
        <p:nvSpPr>
          <p:cNvPr id="57" name="Text 55"/>
          <p:cNvSpPr/>
          <p:nvPr/>
        </p:nvSpPr>
        <p:spPr>
          <a:xfrm>
            <a:off x="6510528" y="4005072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http://www.miit.gov.cn/zwgk/zcwj/wjfb/tz/art/2026/art_21446a8c153f4fae86121552fe1e9fd4.html</a:t>
            </a:r>
            <a:endParaRPr lang="en-US" sz="580" dirty="0"/>
          </a:p>
        </p:txBody>
      </p:sp>
      <p:sp>
        <p:nvSpPr>
          <p:cNvPr id="58" name="Shape 56"/>
          <p:cNvSpPr/>
          <p:nvPr/>
        </p:nvSpPr>
        <p:spPr>
          <a:xfrm>
            <a:off x="658368" y="4242816"/>
            <a:ext cx="10424160" cy="274320"/>
          </a:xfrm>
          <a:prstGeom prst="rect">
            <a:avLst/>
          </a:prstGeom>
          <a:solidFill>
            <a:srgbClr val="F4FAF6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49808" y="4315968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[21]</a:t>
            </a:r>
            <a:endParaRPr lang="en-US" sz="680" dirty="0"/>
          </a:p>
        </p:txBody>
      </p:sp>
      <p:sp>
        <p:nvSpPr>
          <p:cNvPr id="60" name="Text 58"/>
          <p:cNvSpPr/>
          <p:nvPr/>
        </p:nvSpPr>
        <p:spPr>
          <a:xfrm>
            <a:off x="1261872" y="4315968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工业和信息化部</a:t>
            </a:r>
            <a:endParaRPr lang="en-US" sz="680" dirty="0"/>
          </a:p>
        </p:txBody>
      </p:sp>
      <p:sp>
        <p:nvSpPr>
          <p:cNvPr id="61" name="Text 59"/>
          <p:cNvSpPr/>
          <p:nvPr/>
        </p:nvSpPr>
        <p:spPr>
          <a:xfrm>
            <a:off x="2487168" y="4315968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工业和信息化部政策文件库</a:t>
            </a:r>
            <a:endParaRPr lang="en-US" sz="680" dirty="0"/>
          </a:p>
        </p:txBody>
      </p:sp>
      <p:sp>
        <p:nvSpPr>
          <p:cNvPr id="62" name="Text 60"/>
          <p:cNvSpPr/>
          <p:nvPr/>
        </p:nvSpPr>
        <p:spPr>
          <a:xfrm>
            <a:off x="6510528" y="4315968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https://www.miit.gov.cn/search/zcwjk.html?websiteid=110000000000000&amp;pg=&amp;p=&amp;tpl=14&amp;category=183&amp;q=</a:t>
            </a:r>
            <a:endParaRPr lang="en-US" sz="580" dirty="0"/>
          </a:p>
        </p:txBody>
      </p:sp>
      <p:sp>
        <p:nvSpPr>
          <p:cNvPr id="63" name="Shape 61"/>
          <p:cNvSpPr/>
          <p:nvPr/>
        </p:nvSpPr>
        <p:spPr>
          <a:xfrm>
            <a:off x="658368" y="4553712"/>
            <a:ext cx="10424160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49808" y="4626864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[22]</a:t>
            </a:r>
            <a:endParaRPr lang="en-US" sz="680" dirty="0"/>
          </a:p>
        </p:txBody>
      </p:sp>
      <p:sp>
        <p:nvSpPr>
          <p:cNvPr id="65" name="Text 63"/>
          <p:cNvSpPr/>
          <p:nvPr/>
        </p:nvSpPr>
        <p:spPr>
          <a:xfrm>
            <a:off x="1261872" y="4626864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工业和信息化部</a:t>
            </a:r>
            <a:endParaRPr lang="en-US" sz="680" dirty="0"/>
          </a:p>
        </p:txBody>
      </p:sp>
      <p:sp>
        <p:nvSpPr>
          <p:cNvPr id="66" name="Text 64"/>
          <p:cNvSpPr/>
          <p:nvPr/>
        </p:nvSpPr>
        <p:spPr>
          <a:xfrm>
            <a:off x="2487168" y="4626864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最新政策</a:t>
            </a:r>
            <a:endParaRPr lang="en-US" sz="680" dirty="0"/>
          </a:p>
        </p:txBody>
      </p:sp>
      <p:sp>
        <p:nvSpPr>
          <p:cNvPr id="67" name="Text 65"/>
          <p:cNvSpPr/>
          <p:nvPr/>
        </p:nvSpPr>
        <p:spPr>
          <a:xfrm>
            <a:off x="6510528" y="4626864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https://www.miit.gov.cn/xwfb/zxzc/index.html</a:t>
            </a:r>
            <a:endParaRPr lang="en-US" sz="580" dirty="0"/>
          </a:p>
        </p:txBody>
      </p:sp>
      <p:sp>
        <p:nvSpPr>
          <p:cNvPr id="68" name="Shape 66"/>
          <p:cNvSpPr/>
          <p:nvPr/>
        </p:nvSpPr>
        <p:spPr>
          <a:xfrm>
            <a:off x="658368" y="4864608"/>
            <a:ext cx="10424160" cy="274320"/>
          </a:xfrm>
          <a:prstGeom prst="rect">
            <a:avLst/>
          </a:prstGeom>
          <a:solidFill>
            <a:srgbClr val="F4FAF6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749808" y="4937760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[23]</a:t>
            </a:r>
            <a:endParaRPr lang="en-US" sz="680" dirty="0"/>
          </a:p>
        </p:txBody>
      </p:sp>
      <p:sp>
        <p:nvSpPr>
          <p:cNvPr id="70" name="Text 68"/>
          <p:cNvSpPr/>
          <p:nvPr/>
        </p:nvSpPr>
        <p:spPr>
          <a:xfrm>
            <a:off x="1261872" y="4937760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工业和信息化部</a:t>
            </a:r>
            <a:endParaRPr lang="en-US" sz="680" dirty="0"/>
          </a:p>
        </p:txBody>
      </p:sp>
      <p:sp>
        <p:nvSpPr>
          <p:cNvPr id="71" name="Text 69"/>
          <p:cNvSpPr/>
          <p:nvPr/>
        </p:nvSpPr>
        <p:spPr>
          <a:xfrm>
            <a:off x="2487168" y="4937760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政策解读</a:t>
            </a:r>
            <a:endParaRPr lang="en-US" sz="680" dirty="0"/>
          </a:p>
        </p:txBody>
      </p:sp>
      <p:sp>
        <p:nvSpPr>
          <p:cNvPr id="72" name="Text 70"/>
          <p:cNvSpPr/>
          <p:nvPr/>
        </p:nvSpPr>
        <p:spPr>
          <a:xfrm>
            <a:off x="6510528" y="4937760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https://www.miit.gov.cn/zwgk/zcjd/index.html</a:t>
            </a:r>
            <a:endParaRPr lang="en-US" sz="580" dirty="0"/>
          </a:p>
        </p:txBody>
      </p:sp>
      <p:sp>
        <p:nvSpPr>
          <p:cNvPr id="73" name="Shape 71"/>
          <p:cNvSpPr/>
          <p:nvPr/>
        </p:nvSpPr>
        <p:spPr>
          <a:xfrm>
            <a:off x="658368" y="5175504"/>
            <a:ext cx="10424160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749808" y="5248656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[24]</a:t>
            </a:r>
            <a:endParaRPr lang="en-US" sz="680" dirty="0"/>
          </a:p>
        </p:txBody>
      </p:sp>
      <p:sp>
        <p:nvSpPr>
          <p:cNvPr id="75" name="Text 73"/>
          <p:cNvSpPr/>
          <p:nvPr/>
        </p:nvSpPr>
        <p:spPr>
          <a:xfrm>
            <a:off x="1261872" y="5248656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国家发展改革委</a:t>
            </a:r>
            <a:endParaRPr lang="en-US" sz="680" dirty="0"/>
          </a:p>
        </p:txBody>
      </p:sp>
      <p:sp>
        <p:nvSpPr>
          <p:cNvPr id="76" name="Text 74"/>
          <p:cNvSpPr/>
          <p:nvPr/>
        </p:nvSpPr>
        <p:spPr>
          <a:xfrm>
            <a:off x="2487168" y="5248656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国家发展改革委</a:t>
            </a:r>
            <a:endParaRPr lang="en-US" sz="680" dirty="0"/>
          </a:p>
        </p:txBody>
      </p:sp>
      <p:sp>
        <p:nvSpPr>
          <p:cNvPr id="77" name="Text 75"/>
          <p:cNvSpPr/>
          <p:nvPr/>
        </p:nvSpPr>
        <p:spPr>
          <a:xfrm>
            <a:off x="6510528" y="5248656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https://www.ndrc.gov.cn/</a:t>
            </a:r>
            <a:endParaRPr lang="en-US" sz="580" dirty="0"/>
          </a:p>
        </p:txBody>
      </p:sp>
      <p:sp>
        <p:nvSpPr>
          <p:cNvPr id="78" name="Shape 76"/>
          <p:cNvSpPr/>
          <p:nvPr/>
        </p:nvSpPr>
        <p:spPr>
          <a:xfrm>
            <a:off x="658368" y="5779008"/>
            <a:ext cx="1463040" cy="292608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804672" y="5870448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引用规则</a:t>
            </a:r>
            <a:endParaRPr lang="en-US" sz="780" dirty="0"/>
          </a:p>
        </p:txBody>
      </p:sp>
      <p:sp>
        <p:nvSpPr>
          <p:cNvPr id="80" name="Text 78"/>
          <p:cNvSpPr/>
          <p:nvPr/>
        </p:nvSpPr>
        <p:spPr>
          <a:xfrm>
            <a:off x="2286000" y="5843016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正文引用编号与本页来源一一对应，未进入正文的公开来源保留在 JSON 审计记录中。</a:t>
            </a:r>
            <a:endParaRPr lang="en-US" sz="102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lifepo4_brief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磷酸铁锂行业早报 2026-07-30</dc:title>
  <dc:subject>LFP daily briefing</dc:subject>
  <dc:creator>lifepo4_brief</dc:creator>
  <cp:lastModifiedBy>lifepo4_brief</cp:lastModifiedBy>
  <cp:revision>1</cp:revision>
  <dcterms:created xsi:type="dcterms:W3CDTF">2026-07-30T01:33:29Z</dcterms:created>
  <dcterms:modified xsi:type="dcterms:W3CDTF">2026-07-30T01:33:29Z</dcterms:modified>
</cp:coreProperties>
</file>