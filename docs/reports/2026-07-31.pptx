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聚焦于技术路线竞争、产能扩张与政策监管。二代刀片电池强化磷酸铁锂在动力电池领域的优势，对三元路线形成压力。同时，行业产能扩张持续，容百科技拟投建大型钠电正极项目，显示多元化技术布局。政策端，工信部发文整治废旧动力电池梯次利用乱象，并发布工业绿色低碳发展“十五五”规划，强调规范与回收。锂辉科技工商业储能柜落地，显示应用端需求。整体看，行业在技术升级、产能扩张与政策规范中前行。</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今日磷酸铁锂行业聚焦于技术路线竞争、产能扩张与政策监管。二代刀片电池强化磷酸铁锂在动力电池领域的优势，对三元路线形成压力。同时，行业产能扩张持</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今日磷酸铁锂行业聚焦于技术路线竞争、产能扩张与政策监管。二代刀片电池强化磷酸铁锂在动力电池领域的优势，对三元路线形成压力。同时，行业产能扩张持</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二代刀片电池上市强化磷酸铁锂技术优势，与三元锂竞争格局生变；容百科技拟47亿投建30万吨钠电正极项目，显示头部企业多元化布局；工信部发文整治废旧动力电池梯次利用乱象，并发布“</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1316736"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二代刀片电池上市，被部分观点视为磷酸铁锂与三元锂竞争的分水岭，技术优势进一步巩固。同时，容百科技宣布投建30万吨钠电正极材料项目，显示行业在锂电之外探索新路线，技术路线呈现多</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锂辉科技261kWh工商业储能柜首批交付，显示储能应用端订单落地。容百科技拟投建仙桃年产30万吨钠电正极材料一体化项目，投资额47亿元，产能扩张明显，显示头部企业正积极布局新</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[4][2]</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今日信息未直接提及磷酸铁锂材料或电芯价格变动。但行业整体扩产（如容百科技钠电项目）和激烈的技术竞争（二代刀片电池）可能对现有产品价格和盈利能力构成潜在压力。</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[2][3]</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今日磷酸铁锂行业聚焦于技术路线竞争、产能扩张与政策监管。二代刀片电池强化磷酸铁锂在动力电池领域的优势，对三元路线形成压力。同时，行业产能扩张持</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二代刀片电池上市强化磷酸铁锂技术优势，与三元锂竞争格局生变；容百科技拟47亿投建30万吨钠电正极项目，显示头部企业多元化布局；工信部发文整治废旧动力电池梯次利用乱象，并发布“十五五”工业绿色低碳规划，政策监管趋严。锂辉科技261kWh工商业储能柜首批交付，应用端需求持续释放。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二代刀片电池的技术突破是今日核心信号，直接巩固了磷酸铁锂在动力电池领域的市场地位，对三元锂电池构成更大竞争压力。容百科技作为三元正极材料头部企业，转而大规模投资钠电，表明其正在为未来技术路线变化做准备，也反映出磷酸铁锂的强势可能挤压了三元材料的市场空间。工信部对梯次利用的整治，将影响电池回收行业的商业模式，利好有资质、技术规范的企业。这些信号共同指向行业正经历技术路线分化、产能结构优化和政策规范化的多重变革。</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二代刀片电池持续放量并获更多车企采用，则磷酸铁锂在乘用车市场的渗透率将进一步提升，可能加速三元锂电池在低端车型中的退出。跟踪指标包括比亚迪及搭载该电池车型的月度销量、其他电池厂商的跟进技术。若容百科技钠电项目顺利推进，则可能改变正极材料供应格局，对锂资源依赖度降低，需关注项目投产进度及钠电成本下降曲线。</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二代刀片电池上市强化磷酸铁</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容百科技拟47亿投建30万</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工信部发文整治废旧动力电池</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二代刀片电池上市强化磷酸铁</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若二代刀片电池持续放量并获更多车企采用，则磷酸铁锂在乘用车市场的渗透率将进一步提升，可能加速三元锂电池在低端车型中的退出</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二代刀片电池上市，被部分观点视为磷酸铁锂与三元锂竞争的分水岭，技术优势进一步巩固。同时，容百科技宣布投建30万吨钠电正极材料项目，显示行业在锂电之外探索新路线，技术路线呈现多元化。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二代刀片电池的发布是今日技术层面的核心事件，其能量密度和安全性提升，直接增强了磷酸铁锂的竞争力，对三元路线形成挤压。容百科技作为三元材料龙头，投资钠电正极，表明其正为潜在的技术替代风险做准备，也反映出市场对锂资源供应和成本长期担忧。两条新闻关联，说明行业技术竞争已从单一锂电路线，扩展到锂电与钠电的并行发展。</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二代刀片电池的技术优势（如能量密度、安全性和成本）在市场中持续得到验证，则可能推动更多车企从三元锂转向磷酸铁锂，进而影响上游材料（如镍、钴）需求。跟踪指标包括新车型的电池选型公告、电池包能量密度数据。若钠电池成本快速下降并实现规模化应用，则可能在中低端储能和两轮车市场对磷酸铁锂形成补充或替代，需关注钠电产业链的成熟度。</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二代刀片电池上市，被部分观</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同时，容百科技宣布投建30</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[1][2] 二代刀片电池</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二代刀片电池上市，被部分观</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若二代刀片电池的技术优势（如能量密度、安全性和成本）在市场中持续得到验证，则可能推动更多车企从三元锂转向磷酸铁锂，进而影响上游材料（如镍、钴）需求</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锂辉科技261kWh工商业储能柜首批交付，显示储能应用端订单落地。容百科技拟投建仙桃年产30万吨钠电正极材料一体化项目，投资额47亿元，产能扩张明显，显示头部企业正积极布局新产能。 [4][2]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锂辉科技储能柜的交付是应用端需求的具体体现，表明工商业储能市场正在放量，对磷酸铁锂电池的需求形成支撑。容百科技的大规模钠电正极投资，是产能端的重大信号，虽然产品不同，但反映了行业整体扩产趋势和资本开支热度。两者关联，说明从材料到应用端的产业链都在积极扩张，以满足未来市场需求。</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工商业储能市场需求持续增长，则锂辉科技等储能系统集成商的订单有望增加，带动上游磷酸铁锂电芯需求。跟踪指标包括储能项目招标量、并网数据。若容百科技钠电项目按计划投产，则可能对现有锂电正极材料市场形成结构性冲击，需关注项目环评、建设进度及客户认证情况。</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锂辉科技261kWh工商业</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容百科技拟投建仙桃年产30</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[4][2] 锂辉科技储能</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锂辉科技261kWh工商业</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若工商业储能市场需求持续增长，则锂辉科技等储能系统集成商的订单有望增加，带动上游磷酸铁锂电芯需求</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价格/盈利压力</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今日信息未直接提及磷酸铁锂材料或电芯价格变动。但行业整体扩产（如容百科技钠电项目）和激烈的技术竞争（二代刀片电池）可能对现有产品价格和盈利能力构成潜在压力。 [2][3]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虽然今日没有直接的价格数据，但可以从行业动态推断。容百科技大规模投资新产能，以及比亚迪通过技术升级强化产品力，都表明市场竞争在加剧。这种竞争通常会导致产品降价或加速折旧，对行业内企业的盈利能力构成挑战。此外，工信部对梯次利用的整治，可能增加电池回收企业的合规成本，影响其盈利。</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行业扩产潮持续且新产能集中释放，则可能导致磷酸铁锂及正极材料出现阶段性供过于求，价格承压，企业利润率可能下滑。跟踪指标包括行业月度产量、库存水平、主要厂商报价。若工信部对梯次利用的监管严格执行，则可能提高回收企业运营成本，部分不合规产能出清，长期利好规范企业。</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因果图</a:t>
            </a:r>
            <a:endParaRPr lang="en-US" sz="1200" dirty="0"/>
          </a:p>
        </p:txBody>
      </p:sp>
      <p:sp>
        <p:nvSpPr>
          <p:cNvPr id="24" name="Shape 22"/>
          <p:cNvSpPr/>
          <p:nvPr/>
        </p:nvSpPr>
        <p:spPr>
          <a:xfrm>
            <a:off x="7845552" y="3063240"/>
            <a:ext cx="2432304" cy="0"/>
          </a:xfrm>
          <a:prstGeom prst="line">
            <a:avLst/>
          </a:prstGeom>
          <a:noFill/>
          <a:ln w="15240">
            <a:solidFill>
              <a:srgbClr val="487052"/>
            </a:solidFill>
            <a:prstDash val="solid"/>
          </a:ln>
        </p:spPr>
      </p:sp>
      <p:sp>
        <p:nvSpPr>
          <p:cNvPr id="25" name="Shape 23"/>
          <p:cNvSpPr/>
          <p:nvPr/>
        </p:nvSpPr>
        <p:spPr>
          <a:xfrm>
            <a:off x="10012680" y="2889504"/>
            <a:ext cx="384048" cy="347472"/>
          </a:xfrm>
          <a:prstGeom prst="rightArrow">
            <a:avLst/>
          </a:prstGeom>
          <a:solidFill>
            <a:srgbClr val="487052"/>
          </a:solidFill>
          <a:ln w="12700">
            <a:solidFill>
              <a:srgbClr val="487052"/>
            </a:solidFill>
            <a:prstDash val="solid"/>
          </a:ln>
        </p:spPr>
      </p:sp>
      <p:sp>
        <p:nvSpPr>
          <p:cNvPr id="26" name="Text 24"/>
          <p:cNvSpPr/>
          <p:nvPr/>
        </p:nvSpPr>
        <p:spPr>
          <a:xfrm>
            <a:off x="9893808" y="3310128"/>
            <a:ext cx="475488" cy="146304"/>
          </a:xfrm>
          <a:prstGeom prst="rect">
            <a:avLst/>
          </a:prstGeom>
          <a:noFill/>
          <a:ln/>
        </p:spPr>
        <p:txBody>
          <a:bodyPr wrap="square" lIns="0" tIns="0" rIns="0" bIns="0" rtlCol="0" anchor="ct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影响</a:t>
            </a:r>
            <a:endParaRPr lang="en-US" sz="740" dirty="0"/>
          </a:p>
        </p:txBody>
      </p:sp>
      <p:sp>
        <p:nvSpPr>
          <p:cNvPr id="27" name="Shape 25"/>
          <p:cNvSpPr/>
          <p:nvPr/>
        </p:nvSpPr>
        <p:spPr>
          <a:xfrm>
            <a:off x="8028432" y="2359152"/>
            <a:ext cx="402336" cy="704088"/>
          </a:xfrm>
          <a:prstGeom prst="line">
            <a:avLst/>
          </a:prstGeom>
          <a:noFill/>
          <a:ln w="11430">
            <a:solidFill>
              <a:srgbClr val="7F9D84"/>
            </a:solidFill>
            <a:prstDash val="solid"/>
          </a:ln>
        </p:spPr>
      </p:sp>
      <p:sp>
        <p:nvSpPr>
          <p:cNvPr id="28" name="Shape 26"/>
          <p:cNvSpPr/>
          <p:nvPr/>
        </p:nvSpPr>
        <p:spPr>
          <a:xfrm>
            <a:off x="7882128" y="2249424"/>
            <a:ext cx="786384" cy="310896"/>
          </a:xfrm>
          <a:prstGeom prst="roundRect">
            <a:avLst>
              <a:gd name="adj" fmla="val 11765"/>
            </a:avLst>
          </a:prstGeom>
          <a:solidFill>
            <a:srgbClr val="F4FAF6"/>
          </a:solidFill>
          <a:ln w="7620">
            <a:solidFill>
              <a:srgbClr val="DADADA"/>
            </a:solidFill>
            <a:prstDash val="solid"/>
          </a:ln>
        </p:spPr>
      </p:sp>
      <p:sp>
        <p:nvSpPr>
          <p:cNvPr id="29" name="Text 27"/>
          <p:cNvSpPr/>
          <p:nvPr/>
        </p:nvSpPr>
        <p:spPr>
          <a:xfrm>
            <a:off x="7973568"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价格</a:t>
            </a:r>
            <a:endParaRPr lang="en-US" sz="680" dirty="0"/>
          </a:p>
        </p:txBody>
      </p:sp>
      <p:sp>
        <p:nvSpPr>
          <p:cNvPr id="30" name="Text 28"/>
          <p:cNvSpPr/>
          <p:nvPr/>
        </p:nvSpPr>
        <p:spPr>
          <a:xfrm>
            <a:off x="7863840"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今日信息未直接提及</a:t>
            </a:r>
            <a:endParaRPr lang="en-US" sz="640" dirty="0"/>
          </a:p>
        </p:txBody>
      </p:sp>
      <p:sp>
        <p:nvSpPr>
          <p:cNvPr id="31" name="Shape 29"/>
          <p:cNvSpPr/>
          <p:nvPr/>
        </p:nvSpPr>
        <p:spPr>
          <a:xfrm>
            <a:off x="8686800" y="3063240"/>
            <a:ext cx="402336" cy="685800"/>
          </a:xfrm>
          <a:prstGeom prst="line">
            <a:avLst/>
          </a:prstGeom>
          <a:noFill/>
          <a:ln w="11430">
            <a:solidFill>
              <a:srgbClr val="7F9D84"/>
            </a:solidFill>
            <a:prstDash val="solid"/>
          </a:ln>
        </p:spPr>
      </p:sp>
      <p:sp>
        <p:nvSpPr>
          <p:cNvPr id="32" name="Shape 30"/>
          <p:cNvSpPr/>
          <p:nvPr/>
        </p:nvSpPr>
        <p:spPr>
          <a:xfrm>
            <a:off x="8540496" y="3639312"/>
            <a:ext cx="786384" cy="310896"/>
          </a:xfrm>
          <a:prstGeom prst="roundRect">
            <a:avLst>
              <a:gd name="adj" fmla="val 11765"/>
            </a:avLst>
          </a:prstGeom>
          <a:solidFill>
            <a:srgbClr val="F4FAF6"/>
          </a:solidFill>
          <a:ln w="7620">
            <a:solidFill>
              <a:srgbClr val="DADADA"/>
            </a:solidFill>
            <a:prstDash val="solid"/>
          </a:ln>
        </p:spPr>
      </p:sp>
      <p:sp>
        <p:nvSpPr>
          <p:cNvPr id="33" name="Text 31"/>
          <p:cNvSpPr/>
          <p:nvPr/>
        </p:nvSpPr>
        <p:spPr>
          <a:xfrm>
            <a:off x="8631936" y="3739896"/>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成本</a:t>
            </a:r>
            <a:endParaRPr lang="en-US" sz="680" dirty="0"/>
          </a:p>
        </p:txBody>
      </p:sp>
      <p:sp>
        <p:nvSpPr>
          <p:cNvPr id="34" name="Text 32"/>
          <p:cNvSpPr/>
          <p:nvPr/>
        </p:nvSpPr>
        <p:spPr>
          <a:xfrm>
            <a:off x="8522208" y="4005072"/>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但行业整体扩产（如</a:t>
            </a:r>
            <a:endParaRPr lang="en-US" sz="640" dirty="0"/>
          </a:p>
        </p:txBody>
      </p:sp>
      <p:sp>
        <p:nvSpPr>
          <p:cNvPr id="35" name="Shape 33"/>
          <p:cNvSpPr/>
          <p:nvPr/>
        </p:nvSpPr>
        <p:spPr>
          <a:xfrm>
            <a:off x="9345168" y="2359152"/>
            <a:ext cx="402336" cy="704088"/>
          </a:xfrm>
          <a:prstGeom prst="line">
            <a:avLst/>
          </a:prstGeom>
          <a:noFill/>
          <a:ln w="11430">
            <a:solidFill>
              <a:srgbClr val="7F9D84"/>
            </a:solidFill>
            <a:prstDash val="solid"/>
          </a:ln>
        </p:spPr>
      </p:sp>
      <p:sp>
        <p:nvSpPr>
          <p:cNvPr id="36" name="Shape 34"/>
          <p:cNvSpPr/>
          <p:nvPr/>
        </p:nvSpPr>
        <p:spPr>
          <a:xfrm>
            <a:off x="9198864" y="2249424"/>
            <a:ext cx="786384" cy="310896"/>
          </a:xfrm>
          <a:prstGeom prst="roundRect">
            <a:avLst>
              <a:gd name="adj" fmla="val 11765"/>
            </a:avLst>
          </a:prstGeom>
          <a:solidFill>
            <a:srgbClr val="F4FAF6"/>
          </a:solidFill>
          <a:ln w="7620">
            <a:solidFill>
              <a:srgbClr val="DADADA"/>
            </a:solidFill>
            <a:prstDash val="solid"/>
          </a:ln>
        </p:spPr>
      </p:sp>
      <p:sp>
        <p:nvSpPr>
          <p:cNvPr id="37" name="Text 35"/>
          <p:cNvSpPr/>
          <p:nvPr/>
        </p:nvSpPr>
        <p:spPr>
          <a:xfrm>
            <a:off x="9290304" y="2350008"/>
            <a:ext cx="603504" cy="91440"/>
          </a:xfrm>
          <a:prstGeom prst="rect">
            <a:avLst/>
          </a:prstGeom>
          <a:noFill/>
          <a:ln/>
        </p:spPr>
        <p:txBody>
          <a:bodyPr wrap="square" lIns="0" tIns="0" rIns="0" bIns="0" rtlCol="0" anchor="ctr">
            <a:normAutofit/>
          </a:bodyPr>
          <a:lstStyle/>
          <a:p>
            <a:pPr algn="ctr" indent="0" marL="0">
              <a:buNone/>
            </a:pPr>
            <a:r>
              <a:rPr lang="en-US" sz="680" b="1" dirty="0">
                <a:solidFill>
                  <a:srgbClr val="487052"/>
                </a:solidFill>
                <a:latin typeface="Microsoft YaHei" pitchFamily="34" charset="0"/>
                <a:ea typeface="Microsoft YaHei" pitchFamily="34" charset="-122"/>
                <a:cs typeface="Microsoft YaHei" pitchFamily="34" charset="-120"/>
              </a:rPr>
              <a:t>利润</a:t>
            </a:r>
            <a:endParaRPr lang="en-US" sz="680" dirty="0"/>
          </a:p>
        </p:txBody>
      </p:sp>
      <p:sp>
        <p:nvSpPr>
          <p:cNvPr id="38" name="Text 36"/>
          <p:cNvSpPr/>
          <p:nvPr/>
        </p:nvSpPr>
        <p:spPr>
          <a:xfrm>
            <a:off x="9180576" y="1956816"/>
            <a:ext cx="822960" cy="219456"/>
          </a:xfrm>
          <a:prstGeom prst="rect">
            <a:avLst/>
          </a:prstGeom>
          <a:noFill/>
          <a:ln/>
        </p:spPr>
        <p:txBody>
          <a:bodyPr wrap="square" lIns="0" tIns="0" rIns="0" bIns="0" rtlCol="0" anchor="t">
            <a:normAutofit/>
          </a:bodyPr>
          <a:lstStyle/>
          <a:p>
            <a:pPr algn="ctr" indent="0" marL="0">
              <a:buNone/>
            </a:pPr>
            <a:r>
              <a:rPr lang="en-US" sz="640" dirty="0">
                <a:solidFill>
                  <a:srgbClr val="121212"/>
                </a:solidFill>
                <a:latin typeface="Microsoft YaHei" pitchFamily="34" charset="0"/>
                <a:ea typeface="Microsoft YaHei" pitchFamily="34" charset="-122"/>
                <a:cs typeface="Microsoft YaHei" pitchFamily="34" charset="-120"/>
              </a:rPr>
              <a:t>[2][3] 虽然</a:t>
            </a:r>
            <a:endParaRPr lang="en-US" sz="640" dirty="0"/>
          </a:p>
        </p:txBody>
      </p:sp>
      <p:sp>
        <p:nvSpPr>
          <p:cNvPr id="39" name="Text 37"/>
          <p:cNvSpPr/>
          <p:nvPr/>
        </p:nvSpPr>
        <p:spPr>
          <a:xfrm>
            <a:off x="7726680" y="4517136"/>
            <a:ext cx="2697480" cy="31089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参考鱼骨图逻辑，只表达来源文本中的原因和影响。</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若行业扩产潮持续且新产能集中释放，则可能导致磷酸铁锂及正极材料出现阶段性供过于求，价格承压，企业利润率可能下滑</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发文明确新能源汽车废旧动力电池不得再“梯次利用”，整治行业乱象。同时，工信部印发《工业绿色低碳发展“十五五”规划》，对锂离子电池行业提出绿色规范要求。湖南省发布通知，加强废旧动力电池回收监管。政策监管明显趋严。 [3][5][6]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依据：[3][5][6]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对梯次利用的禁令是今日最重磅的政策信号，直接改变了废旧动力电池的处置路径，对现有梯次利用企业构成重大合规风险，可能重塑电池回收行业格局。同时，“十五五”绿色低碳规划为行业设定了更高的环保门槛。湖南省的常态化监管通知，是地方对中央政策的响应，预示着全国范围内将加强执行。这些政策叠加，要求企业必须提升回收技术和合规水平。</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不得梯次利用”政策全面严格执行，则废旧动力电池将更多流向再生利用环节，利好具备湿法冶金或干法回收技术且环保合规的企业，而依赖梯次利用的商业模式将受挫。跟踪指标包括政策实施细则、各省执法案例、回收企业资质审批。若“十五五”规划中的绿色标准落地，则可能提高行业准入门槛，加速落后产能退出。</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工信部发文明确新能源汽车废旧动力电</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同时，工信部印发《工业绿色低碳发展</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湖南省发布通知，加强废旧动力电池回</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若“不得梯次利用”政策全面严格执行，则废旧动力电池将更多流向再生利用环节，利好具备湿法冶金或干法回收技术且环保合规的企业，而依赖梯次利用的商业模式将受挫</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竞品观察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比亚迪二代刀片电池被视为压制三元锂电池的有力武器，加剧了与宁德时代等三元路线企业的竞争。容百科技作为三元正极龙头，投资钠电项目，显示其在应对磷酸铁锂竞争和布局未来路线。 [1][2]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比亚迪与宁德时代的竞争是行业焦点。二代刀片电池的发布，直接提升了比亚迪产品的竞争力，对宁德时代的三元锂和磷酸铁锂产品都构成压力。容百科技作为宁德时代等电池厂的上游供应商，其投资钠电，一方面是为应对磷酸铁锂对三元材料市场的挤压，另一方面也是为未来技术路线变化做准备。这些动态显示，竞争已从电池环节延伸到材料环节，且技术路线选择成为竞争核心。</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二代刀片电池在市场上获得成功，则可能迫使宁德时代等竞争对手加快技术迭代或调整价格策略，以维持市场份额。跟踪指标包括两家公司的市场份额变化、新车型定点情况。若容百科技钠电项目进展顺利，则可能使其在未来的钠电市场中占据先机，对现有锂电正极材料供应商形成新的竞争威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路线图</a:t>
            </a:r>
            <a:endParaRPr lang="en-US" sz="1200" dirty="0"/>
          </a:p>
        </p:txBody>
      </p:sp>
      <p:sp>
        <p:nvSpPr>
          <p:cNvPr id="24" name="Shape 22"/>
          <p:cNvSpPr/>
          <p:nvPr/>
        </p:nvSpPr>
        <p:spPr>
          <a:xfrm>
            <a:off x="7754112" y="2249424"/>
            <a:ext cx="612648" cy="402336"/>
          </a:xfrm>
          <a:prstGeom prst="chevron">
            <a:avLst/>
          </a:prstGeom>
          <a:solidFill>
            <a:srgbClr val="DDEBE0"/>
          </a:solidFill>
          <a:ln w="13970">
            <a:solidFill>
              <a:srgbClr val="487052"/>
            </a:solidFill>
            <a:prstDash val="solid"/>
          </a:ln>
        </p:spPr>
      </p:sp>
      <p:sp>
        <p:nvSpPr>
          <p:cNvPr id="25" name="Text 23"/>
          <p:cNvSpPr/>
          <p:nvPr/>
        </p:nvSpPr>
        <p:spPr>
          <a:xfrm>
            <a:off x="7827264"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技术</a:t>
            </a:r>
            <a:endParaRPr lang="en-US" sz="670" dirty="0"/>
          </a:p>
        </p:txBody>
      </p:sp>
      <p:sp>
        <p:nvSpPr>
          <p:cNvPr id="26" name="Shape 24"/>
          <p:cNvSpPr/>
          <p:nvPr/>
        </p:nvSpPr>
        <p:spPr>
          <a:xfrm>
            <a:off x="8375904" y="2249424"/>
            <a:ext cx="612648" cy="402336"/>
          </a:xfrm>
          <a:prstGeom prst="chevron">
            <a:avLst/>
          </a:prstGeom>
          <a:solidFill>
            <a:srgbClr val="FFFFFF"/>
          </a:solidFill>
          <a:ln w="13970">
            <a:solidFill>
              <a:srgbClr val="487052"/>
            </a:solidFill>
            <a:prstDash val="solid"/>
          </a:ln>
        </p:spPr>
      </p:sp>
      <p:sp>
        <p:nvSpPr>
          <p:cNvPr id="27" name="Text 25"/>
          <p:cNvSpPr/>
          <p:nvPr/>
        </p:nvSpPr>
        <p:spPr>
          <a:xfrm>
            <a:off x="8449056"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产品</a:t>
            </a:r>
            <a:endParaRPr lang="en-US" sz="670" dirty="0"/>
          </a:p>
        </p:txBody>
      </p:sp>
      <p:sp>
        <p:nvSpPr>
          <p:cNvPr id="28" name="Shape 26"/>
          <p:cNvSpPr/>
          <p:nvPr/>
        </p:nvSpPr>
        <p:spPr>
          <a:xfrm>
            <a:off x="8997696" y="2249424"/>
            <a:ext cx="612648" cy="402336"/>
          </a:xfrm>
          <a:prstGeom prst="chevron">
            <a:avLst/>
          </a:prstGeom>
          <a:solidFill>
            <a:srgbClr val="FFFFFF"/>
          </a:solidFill>
          <a:ln w="13970">
            <a:solidFill>
              <a:srgbClr val="487052"/>
            </a:solidFill>
            <a:prstDash val="solid"/>
          </a:ln>
        </p:spPr>
      </p:sp>
      <p:sp>
        <p:nvSpPr>
          <p:cNvPr id="29" name="Text 27"/>
          <p:cNvSpPr/>
          <p:nvPr/>
        </p:nvSpPr>
        <p:spPr>
          <a:xfrm>
            <a:off x="9070848"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验证</a:t>
            </a:r>
            <a:endParaRPr lang="en-US" sz="670" dirty="0"/>
          </a:p>
        </p:txBody>
      </p:sp>
      <p:sp>
        <p:nvSpPr>
          <p:cNvPr id="30" name="Shape 28"/>
          <p:cNvSpPr/>
          <p:nvPr/>
        </p:nvSpPr>
        <p:spPr>
          <a:xfrm>
            <a:off x="9619488" y="2249424"/>
            <a:ext cx="612648" cy="402336"/>
          </a:xfrm>
          <a:prstGeom prst="chevron">
            <a:avLst/>
          </a:prstGeom>
          <a:solidFill>
            <a:srgbClr val="FFFFFF"/>
          </a:solidFill>
          <a:ln w="13970">
            <a:solidFill>
              <a:srgbClr val="487052"/>
            </a:solidFill>
            <a:prstDash val="solid"/>
          </a:ln>
        </p:spPr>
      </p:sp>
      <p:sp>
        <p:nvSpPr>
          <p:cNvPr id="31" name="Text 29"/>
          <p:cNvSpPr/>
          <p:nvPr/>
        </p:nvSpPr>
        <p:spPr>
          <a:xfrm>
            <a:off x="9692640" y="2386584"/>
            <a:ext cx="448056" cy="109728"/>
          </a:xfrm>
          <a:prstGeom prst="rect">
            <a:avLst/>
          </a:prstGeom>
          <a:noFill/>
          <a:ln/>
        </p:spPr>
        <p:txBody>
          <a:bodyPr wrap="square" lIns="0" tIns="0" rIns="0" bIns="0" rtlCol="0" anchor="ctr">
            <a:normAutofit/>
          </a:bodyPr>
          <a:lstStyle/>
          <a:p>
            <a:pPr algn="ctr" indent="0" marL="0">
              <a:buNone/>
            </a:pPr>
            <a:r>
              <a:rPr lang="en-US" sz="670" b="1" dirty="0">
                <a:solidFill>
                  <a:srgbClr val="121212"/>
                </a:solidFill>
                <a:latin typeface="Microsoft YaHei" pitchFamily="34" charset="0"/>
                <a:ea typeface="Microsoft YaHei" pitchFamily="34" charset="-122"/>
                <a:cs typeface="Microsoft YaHei" pitchFamily="34" charset="-120"/>
              </a:rPr>
              <a:t>量产</a:t>
            </a:r>
            <a:endParaRPr lang="en-US" sz="670" dirty="0"/>
          </a:p>
        </p:txBody>
      </p:sp>
      <p:sp>
        <p:nvSpPr>
          <p:cNvPr id="32" name="Shape 30"/>
          <p:cNvSpPr/>
          <p:nvPr/>
        </p:nvSpPr>
        <p:spPr>
          <a:xfrm>
            <a:off x="7882128" y="3063240"/>
            <a:ext cx="2331720" cy="0"/>
          </a:xfrm>
          <a:prstGeom prst="line">
            <a:avLst/>
          </a:prstGeom>
          <a:noFill/>
          <a:ln w="13970">
            <a:solidFill>
              <a:srgbClr val="7F9D84"/>
            </a:solidFill>
            <a:prstDash val="solid"/>
          </a:ln>
        </p:spPr>
      </p:sp>
      <p:sp>
        <p:nvSpPr>
          <p:cNvPr id="33" name="Shape 31"/>
          <p:cNvSpPr/>
          <p:nvPr/>
        </p:nvSpPr>
        <p:spPr>
          <a:xfrm>
            <a:off x="7845552" y="2962656"/>
            <a:ext cx="164592" cy="164592"/>
          </a:xfrm>
          <a:prstGeom prst="ellipse">
            <a:avLst/>
          </a:prstGeom>
          <a:solidFill>
            <a:srgbClr val="487052"/>
          </a:solidFill>
          <a:ln w="12700">
            <a:solidFill>
              <a:srgbClr val="FFFFFF"/>
            </a:solidFill>
            <a:prstDash val="solid"/>
          </a:ln>
        </p:spPr>
      </p:sp>
      <p:sp>
        <p:nvSpPr>
          <p:cNvPr id="34" name="Text 32"/>
          <p:cNvSpPr/>
          <p:nvPr/>
        </p:nvSpPr>
        <p:spPr>
          <a:xfrm>
            <a:off x="7754112"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比亚迪二代刀片电池被视</a:t>
            </a:r>
            <a:endParaRPr lang="en-US" sz="670" dirty="0"/>
          </a:p>
        </p:txBody>
      </p:sp>
      <p:sp>
        <p:nvSpPr>
          <p:cNvPr id="35" name="Shape 33"/>
          <p:cNvSpPr/>
          <p:nvPr/>
        </p:nvSpPr>
        <p:spPr>
          <a:xfrm>
            <a:off x="8503920" y="2962656"/>
            <a:ext cx="164592" cy="164592"/>
          </a:xfrm>
          <a:prstGeom prst="ellipse">
            <a:avLst/>
          </a:prstGeom>
          <a:solidFill>
            <a:srgbClr val="487052"/>
          </a:solidFill>
          <a:ln w="12700">
            <a:solidFill>
              <a:srgbClr val="FFFFFF"/>
            </a:solidFill>
            <a:prstDash val="solid"/>
          </a:ln>
        </p:spPr>
      </p:sp>
      <p:sp>
        <p:nvSpPr>
          <p:cNvPr id="36" name="Text 34"/>
          <p:cNvSpPr/>
          <p:nvPr/>
        </p:nvSpPr>
        <p:spPr>
          <a:xfrm>
            <a:off x="8412480"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容百科技作为三元正极龙</a:t>
            </a:r>
            <a:endParaRPr lang="en-US" sz="670" dirty="0"/>
          </a:p>
        </p:txBody>
      </p:sp>
      <p:sp>
        <p:nvSpPr>
          <p:cNvPr id="37" name="Shape 35"/>
          <p:cNvSpPr/>
          <p:nvPr/>
        </p:nvSpPr>
        <p:spPr>
          <a:xfrm>
            <a:off x="9162288" y="2962656"/>
            <a:ext cx="164592" cy="164592"/>
          </a:xfrm>
          <a:prstGeom prst="ellipse">
            <a:avLst/>
          </a:prstGeom>
          <a:solidFill>
            <a:srgbClr val="487052"/>
          </a:solidFill>
          <a:ln w="12700">
            <a:solidFill>
              <a:srgbClr val="FFFFFF"/>
            </a:solidFill>
            <a:prstDash val="solid"/>
          </a:ln>
        </p:spPr>
      </p:sp>
      <p:sp>
        <p:nvSpPr>
          <p:cNvPr id="38" name="Text 36"/>
          <p:cNvSpPr/>
          <p:nvPr/>
        </p:nvSpPr>
        <p:spPr>
          <a:xfrm>
            <a:off x="9070848"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[1][2] 比亚迪与</a:t>
            </a:r>
            <a:endParaRPr lang="en-US" sz="670" dirty="0"/>
          </a:p>
        </p:txBody>
      </p:sp>
      <p:sp>
        <p:nvSpPr>
          <p:cNvPr id="39" name="Shape 37"/>
          <p:cNvSpPr/>
          <p:nvPr/>
        </p:nvSpPr>
        <p:spPr>
          <a:xfrm>
            <a:off x="9820656" y="2962656"/>
            <a:ext cx="164592" cy="164592"/>
          </a:xfrm>
          <a:prstGeom prst="ellipse">
            <a:avLst/>
          </a:prstGeom>
          <a:solidFill>
            <a:srgbClr val="B85A4A"/>
          </a:solidFill>
          <a:ln w="12700">
            <a:solidFill>
              <a:srgbClr val="FFFFFF"/>
            </a:solidFill>
            <a:prstDash val="solid"/>
          </a:ln>
        </p:spPr>
      </p:sp>
      <p:sp>
        <p:nvSpPr>
          <p:cNvPr id="40" name="Text 38"/>
          <p:cNvSpPr/>
          <p:nvPr/>
        </p:nvSpPr>
        <p:spPr>
          <a:xfrm>
            <a:off x="9729216" y="3291840"/>
            <a:ext cx="603504" cy="310896"/>
          </a:xfrm>
          <a:prstGeom prst="rect">
            <a:avLst/>
          </a:prstGeom>
          <a:noFill/>
          <a:ln/>
        </p:spPr>
        <p:txBody>
          <a:bodyPr wrap="square" lIns="0" tIns="0" rIns="0" bIns="0" rtlCol="0" anchor="t">
            <a:normAutofit/>
          </a:bodyPr>
          <a:lstStyle/>
          <a:p>
            <a:pPr algn="ctr" indent="0" marL="0">
              <a:buNone/>
            </a:pPr>
            <a:r>
              <a:rPr lang="en-US" sz="670" dirty="0">
                <a:solidFill>
                  <a:srgbClr val="121212"/>
                </a:solidFill>
                <a:latin typeface="Microsoft YaHei" pitchFamily="34" charset="0"/>
                <a:ea typeface="Microsoft YaHei" pitchFamily="34" charset="-122"/>
                <a:cs typeface="Microsoft YaHei" pitchFamily="34" charset="-120"/>
              </a:rPr>
              <a:t>[1][2] 比亚迪与</a:t>
            </a:r>
            <a:endParaRPr lang="en-US" sz="670" dirty="0"/>
          </a:p>
        </p:txBody>
      </p:sp>
      <p:sp>
        <p:nvSpPr>
          <p:cNvPr id="41" name="Text 39"/>
          <p:cNvSpPr/>
          <p:nvPr/>
        </p:nvSpPr>
        <p:spPr>
          <a:xfrm>
            <a:off x="7726680" y="4315968"/>
            <a:ext cx="2697480" cy="384048"/>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参考培训 PPT 的阶段路线表达，按事件顺序拆成判断路径。</a:t>
            </a:r>
            <a:endParaRPr lang="en-US" sz="760" dirty="0"/>
          </a:p>
        </p:txBody>
      </p:sp>
      <p:sp>
        <p:nvSpPr>
          <p:cNvPr id="42" name="Shape 40"/>
          <p:cNvSpPr/>
          <p:nvPr/>
        </p:nvSpPr>
        <p:spPr>
          <a:xfrm>
            <a:off x="658368" y="5779008"/>
            <a:ext cx="1463040" cy="292608"/>
          </a:xfrm>
          <a:prstGeom prst="rect">
            <a:avLst/>
          </a:prstGeom>
          <a:solidFill>
            <a:srgbClr val="121212"/>
          </a:solidFill>
          <a:ln w="12700">
            <a:solidFill>
              <a:srgbClr val="121212"/>
            </a:solidFill>
            <a:prstDash val="solid"/>
          </a:ln>
        </p:spPr>
      </p:sp>
      <p:sp>
        <p:nvSpPr>
          <p:cNvPr id="43" name="Text 41"/>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4" name="Text 42"/>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若二代刀片电池在市场上获得成功，则可能迫使宁德时代等竞争对手加快技术迭代或调整价格策略，以维持市场份额</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机会：储能市场订单落地（锂辉科技），技术升级（二代刀片电池）带来竞争优势。风险：政策监管趋严（梯次利用禁令）增加合规成本，行业大规模扩产（容百科技）可能导致未来产能过剩。观察：钠电技术产业化进程，以及“十五五”规划对行业的具体影响。 [4][3][2]</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依据：[4][3][2]</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今日信息呈现明显的机遇与风险并存。储能订单落地和二代刀片电池技术突破是积极信号，显示市场需求和技术进步。然而，工信部的禁令和“十五五”规划，预示着行业将面临更严格的环保和回收监管，这既是挑战也是机遇，合规企业将受益。容百科技的大规模扩产，虽然显示行业信心，但也埋下未来产能过剩的隐患。需要持续观察这些动态的后续发展。</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储能市场需求持续超预期，则具备技术优势和产能储备的电芯及系统集成商将获得更多订单，业绩有望提升。跟踪指标包括储能项目中标价格、装机量数据。若行业扩产速度超过需求增速，则未来1-2年内可能出现产能利用率下降和价格战风险，需关注行业月度开工率。若“十五五”规划中的绿色制造标准强制执行，则可能催生新的设备改造和环保技术需求，为相关企业带来机会。</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机会：储能市场订单落地（锂</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风险：政策监管趋严（梯次利</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观察：钠电技术产业化进程，</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机会：储能市场订单落地（锂</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若储能市场需求持续超预期，则具备技术优势和产能储备的电芯及系统集成商将获得更多订单，业绩有望提升</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二代刀片电池上市后，磷酸铁锂和三元锂电池胜负已分！ - 汽车之家</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https://news.google.com/rss/articles/CBMiXkFVX3lxTFBXTjdZTXV2dGVRRXlpQXpSQzRhMDltcG9YU0pObDFaX2toMVpxZ1RoMHEyaVJGS0tiYUxYNm01enZpbVM5TWZzRFhQV0RwZ3dOc0p5Vzh5Ym1La2w0SUE?oc=5</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容百科技：拟投建仙桃年产30万吨钠电正极材料一体化项目 - 东方财富</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https://news.google.com/rss/articles/CBMiZkFVX3lxTE9FMGpfNjBsNUxLMlJXZWhSVVYyUDZFZUFRa2Q0bW9zbTlxMkZqRjBndjlHTm9YdEYxZ1pWNTVGa0pCUzhwMUFDNm01cDlybGRKQ1dDT2NDN3N6Tk1URXhEQVlaWkppZw?oc=5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整治乱象，工信部发文明确：新能源汽车废旧动力电池不得再“梯次利用” -</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vgFBVV95cUxOVzBRWjJtUTVPdE9nbGVLZmNmVEt4MWNqY0x0azhKWEpCZmh3TE9nOVJWbFV2ZlpjTzBOdkQxUkZaQ0JVYjhNM3VpQ2drN0FqZ3JqQk1WblRTZlFxZFdOdnJEaU5uWHA0OHZ0aVlGQU9UcE5GdmNWU2FyN0RzTldCb1pxTm5FaU5oY2NHWGF1aWZKNm1oZzJFbUk3Z0sxU3YySlRzQTNPbGlzbHhxQWdvM2c3VGMzQWpyMmxnQ1J3?oc=5</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首批交付 | 锂辉科技261kWh工商业储能柜正式落地</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https://mcn.solarbe.com/news/20260731/50026884.html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工信部印发《工业绿色低碳发展“十五五”规划》</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https://www.infoobs.com/article/20260731/71724.html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湖南省工业和信息化厅关于做好新能源汽车废旧动力电池回收和综合利用常态化</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https://news.google.com/rss/articles/CBMiV0FVX3lxTE9vbHdkUDhTN3JBcklkQVZwMUI0N0RtUkluLUxON2hCLXZZN3dlYnFpZjRfOHFKSDRabUp2dG0xVnA5VjdfWlhjUUdERU84ei01YVlwdkNNVQ?oc=5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【正极材料周报】宁德时代“天价锂矿”采矿规模将达150万吨/年！今年国</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https://www.itdcw.com/news/dczk/0HG5E312026.html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本周碳酸锂降价约6500元/吨 磷酸铁锂价格走低_电池网</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https://www.itdcw.com/news/focus/03221544952026.html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2026-07-31</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工信部：推动新一代动力电池、车规级芯片、车用操作系统创新应用</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https://www.stcn.com/article/detail/4051326.html</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容百科技：关于投资建设仙桃年产30万吨钠电正极材料一体化项目的公告</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https://xp.stcn.com/index/pdf?id=1215650128&amp;stock_code=688005&amp;type=rm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三部门关于做好科技型企业孵化器相关政策衔接工作的通知</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http://www.miit.gov.cn/zwgk/zcwj/wjfb/tz/art/2026/art_21446a8c153f4fae86121552fe1e9fd4.html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云南省省长王予波强调 系统提升固废综合治理能力水平_中华人民共和国生态</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https://www.mee.gov.cn/ywdt/dfnews/202607/t20260708_1161158.shtml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2026-07-31</dc:title>
  <dc:subject>LFP daily briefing</dc:subject>
  <dc:creator>lifepo4_brief</dc:creator>
  <cp:lastModifiedBy>lifepo4_brief</cp:lastModifiedBy>
  <cp:revision>1</cp:revision>
  <dcterms:created xsi:type="dcterms:W3CDTF">2026-07-31T02:00:33Z</dcterms:created>
  <dcterms:modified xsi:type="dcterms:W3CDTF">2026-07-31T02:00:33Z</dcterms:modified>
</cp:coreProperties>
</file>