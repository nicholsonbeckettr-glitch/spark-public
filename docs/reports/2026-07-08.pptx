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呈现“技术突破与产能分化并行”格局。多氟多发布同体积容量行业纪录的大圆柱换电方案，技术路线创新活跃；但正极材料项目一边扩产一边叫停，显示行业投资趋于理性。政策层面，工信部启动2026年首台套保险补偿及动力电池拆解安全国标征求意见，将影响技术推广与回收合规。碳酸锂期货国际化引入境外交易者，或加剧价格波动。整体看，行业正从粗放扩产转向技术驱动与精细化运营。</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今日磷酸铁锂行业呈现“技术突破与产能分化并行”格局。多氟多发布同体积容量行业纪录的大圆柱换电方案，技术路线创新活跃；但正极材料项目一边扩产一边</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今日磷酸铁锂行业呈现“技术突破与产能分化并行”格局。多氟多发布同体积容量行业纪录的大圆柱换电方案，技术路线创新活跃；但正极材料项目一边扩产一边</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磷酸铁锂行业技术突破与产能分化并存。多氟多发布同体积容量行业纪录的大圆柱换电方案，技术路线创新活跃；但正极材料项目一边扩产一边叫停，显示行业投资趋于理性。政策层面，工信部启动</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[1][2][3][4][5]</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2194560"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多氟多发布两款大圆柱磷酸铁锂换电模组，实现同体积容量行业纪录突破，并通过通用化设计推动产业落地。同时，万润新能源展示高容量、高压实、高能量密度LFP材料，技术路线聚焦能量密度</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[1][6][7]</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1316736"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正极材料项目呈现一边扩产一边叫停的态势，钠电正极市场规模化出货企业较少，预计下半年供应紧张。贵州毕节百万吨级磷酸铁锂项目刷新进展，显示头部企业仍在扩张。富临精工持续加码前驱体</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[2][5]</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1316736"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广期所碳酸锂期货及期权自7月3日起对境外交易者开放，国际化将增加价格波动性。正极材料供应紧张态势预计下半年显现，局部环节或出现供需缺口，可能推升价格。但项目叫停也反映部分企业</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[5][2]</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今日磷酸铁锂行业呈现“技术突破与产能分化并行”格局。多氟多发布同体积容量行业纪录的大圆柱换电方案，技术路线创新活跃；但正极材料项目一边扩产一边</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DYNAMIC SIGNALS</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1143000" y="932688"/>
            <a:ext cx="256032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重点板块</a:t>
            </a:r>
            <a:endParaRPr lang="en-US" sz="2000" dirty="0"/>
          </a:p>
        </p:txBody>
      </p:sp>
      <p:sp>
        <p:nvSpPr>
          <p:cNvPr id="10" name="Shape 8"/>
          <p:cNvSpPr/>
          <p:nvPr/>
        </p:nvSpPr>
        <p:spPr>
          <a:xfrm>
            <a:off x="658368" y="1371600"/>
            <a:ext cx="10881360" cy="1225296"/>
          </a:xfrm>
          <a:prstGeom prst="roundRect">
            <a:avLst>
              <a:gd name="adj" fmla="val 5970"/>
            </a:avLst>
          </a:prstGeom>
          <a:solidFill>
            <a:srgbClr val="F4FAF6"/>
          </a:solidFill>
          <a:ln w="10160">
            <a:solidFill>
              <a:srgbClr val="DADADA"/>
            </a:solidFill>
            <a:prstDash val="solid"/>
          </a:ln>
        </p:spPr>
      </p:sp>
      <p:sp>
        <p:nvSpPr>
          <p:cNvPr id="11" name="Text 9"/>
          <p:cNvSpPr/>
          <p:nvPr/>
        </p:nvSpPr>
        <p:spPr>
          <a:xfrm>
            <a:off x="932688" y="1536192"/>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今日结论 1/3</a:t>
            </a:r>
            <a:endParaRPr lang="en-US" sz="1250" dirty="0"/>
          </a:p>
        </p:txBody>
      </p:sp>
      <p:sp>
        <p:nvSpPr>
          <p:cNvPr id="12" name="Text 10"/>
          <p:cNvSpPr/>
          <p:nvPr/>
        </p:nvSpPr>
        <p:spPr>
          <a:xfrm>
            <a:off x="2788920" y="1536192"/>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磷酸铁锂行业技术突破与产能分化并存。多氟多发布同体积容量行业纪录的大圆柱换电方案，技术路线创新活跃；但正极材料项目一边扩产一边叫停，显示行业投资趋于理性。政策层面，工信部启动2026年首台套保险补偿及动力电池拆解安全国标征求意见，将影响技术推广与回收合规。碳酸锂期货国际化引入境外交易者，</a:t>
            </a:r>
            <a:endParaRPr lang="en-US" sz="910" dirty="0"/>
          </a:p>
        </p:txBody>
      </p:sp>
      <p:sp>
        <p:nvSpPr>
          <p:cNvPr id="13" name="Text 11"/>
          <p:cNvSpPr/>
          <p:nvPr/>
        </p:nvSpPr>
        <p:spPr>
          <a:xfrm>
            <a:off x="2788920" y="2322576"/>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依据：[1][2][3][4][5]</a:t>
            </a:r>
            <a:endParaRPr lang="en-US" sz="740" dirty="0"/>
          </a:p>
        </p:txBody>
      </p:sp>
      <p:sp>
        <p:nvSpPr>
          <p:cNvPr id="14" name="Shape 12"/>
          <p:cNvSpPr/>
          <p:nvPr/>
        </p:nvSpPr>
        <p:spPr>
          <a:xfrm>
            <a:off x="658368" y="2889504"/>
            <a:ext cx="10881360" cy="1225296"/>
          </a:xfrm>
          <a:prstGeom prst="roundRect">
            <a:avLst>
              <a:gd name="adj" fmla="val 5970"/>
            </a:avLst>
          </a:prstGeom>
          <a:solidFill>
            <a:srgbClr val="FFFFFF"/>
          </a:solidFill>
          <a:ln w="10160">
            <a:solidFill>
              <a:srgbClr val="DADADA"/>
            </a:solidFill>
            <a:prstDash val="solid"/>
          </a:ln>
        </p:spPr>
      </p:sp>
      <p:sp>
        <p:nvSpPr>
          <p:cNvPr id="15" name="Text 13"/>
          <p:cNvSpPr/>
          <p:nvPr/>
        </p:nvSpPr>
        <p:spPr>
          <a:xfrm>
            <a:off x="932688" y="3054096"/>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今日结论 2/3</a:t>
            </a:r>
            <a:endParaRPr lang="en-US" sz="1250" dirty="0"/>
          </a:p>
        </p:txBody>
      </p:sp>
      <p:sp>
        <p:nvSpPr>
          <p:cNvPr id="16" name="Text 14"/>
          <p:cNvSpPr/>
          <p:nvPr/>
        </p:nvSpPr>
        <p:spPr>
          <a:xfrm>
            <a:off x="2788920" y="3054096"/>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或加剧价格波动。整体看，行业正从粗放扩产转向技术驱动与精细化运营。 [1][2][3][4][5] 分析：多氟多的技术突破与项目叫停形成鲜明对比，表明行业正从规模竞争转向技术竞争。工信部两项政策分别从技术推广（首台套保险）和回收安全（拆解国标）两端发力，将加速淘汰落后产能。</a:t>
            </a:r>
            <a:endParaRPr lang="en-US" sz="910" dirty="0"/>
          </a:p>
        </p:txBody>
      </p:sp>
      <p:sp>
        <p:nvSpPr>
          <p:cNvPr id="17" name="Text 15"/>
          <p:cNvSpPr/>
          <p:nvPr/>
        </p:nvSpPr>
        <p:spPr>
          <a:xfrm>
            <a:off x="2788920" y="3840480"/>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依据：[1][2][3][4][5]</a:t>
            </a:r>
            <a:endParaRPr lang="en-US" sz="740" dirty="0"/>
          </a:p>
        </p:txBody>
      </p:sp>
      <p:sp>
        <p:nvSpPr>
          <p:cNvPr id="18" name="Shape 16"/>
          <p:cNvSpPr/>
          <p:nvPr/>
        </p:nvSpPr>
        <p:spPr>
          <a:xfrm>
            <a:off x="658368" y="4407408"/>
            <a:ext cx="10881360" cy="1225296"/>
          </a:xfrm>
          <a:prstGeom prst="roundRect">
            <a:avLst>
              <a:gd name="adj" fmla="val 5970"/>
            </a:avLst>
          </a:prstGeom>
          <a:solidFill>
            <a:srgbClr val="F4FAF6"/>
          </a:solidFill>
          <a:ln w="10160">
            <a:solidFill>
              <a:srgbClr val="DADADA"/>
            </a:solidFill>
            <a:prstDash val="solid"/>
          </a:ln>
        </p:spPr>
      </p:sp>
      <p:sp>
        <p:nvSpPr>
          <p:cNvPr id="19" name="Text 17"/>
          <p:cNvSpPr/>
          <p:nvPr/>
        </p:nvSpPr>
        <p:spPr>
          <a:xfrm>
            <a:off x="932688" y="4572000"/>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今日结论 3/3</a:t>
            </a:r>
            <a:endParaRPr lang="en-US" sz="1250" dirty="0"/>
          </a:p>
        </p:txBody>
      </p:sp>
      <p:sp>
        <p:nvSpPr>
          <p:cNvPr id="20" name="Text 18"/>
          <p:cNvSpPr/>
          <p:nvPr/>
        </p:nvSpPr>
        <p:spPr>
          <a:xfrm>
            <a:off x="2788920" y="4572000"/>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碳酸锂期货国际化则增加了上游原料的价格不确定性，对中游材料企业盈利构成潜在压力。 推测：未使用推测</a:t>
            </a:r>
            <a:endParaRPr lang="en-US" sz="910" dirty="0"/>
          </a:p>
        </p:txBody>
      </p:sp>
      <p:sp>
        <p:nvSpPr>
          <p:cNvPr id="21" name="Text 19"/>
          <p:cNvSpPr/>
          <p:nvPr/>
        </p:nvSpPr>
        <p:spPr>
          <a:xfrm>
            <a:off x="2788920" y="5358384"/>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依据：[1][2][3][4][5]</a:t>
            </a:r>
            <a:endParaRPr lang="en-US" sz="740" dirty="0"/>
          </a:p>
        </p:txBody>
      </p:sp>
      <p:sp>
        <p:nvSpPr>
          <p:cNvPr id="22" name="Shape 20"/>
          <p:cNvSpPr/>
          <p:nvPr/>
        </p:nvSpPr>
        <p:spPr>
          <a:xfrm>
            <a:off x="658368" y="5779008"/>
            <a:ext cx="1463040" cy="292608"/>
          </a:xfrm>
          <a:prstGeom prst="rect">
            <a:avLst/>
          </a:prstGeom>
          <a:solidFill>
            <a:srgbClr val="121212"/>
          </a:solidFill>
          <a:ln w="12700">
            <a:solidFill>
              <a:srgbClr val="121212"/>
            </a:solidFill>
            <a:prstDash val="solid"/>
          </a:ln>
        </p:spPr>
      </p:sp>
      <p:sp>
        <p:nvSpPr>
          <p:cNvPr id="23" name="Text 21"/>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分页规则</a:t>
            </a:r>
            <a:endParaRPr lang="en-US" sz="780" dirty="0"/>
          </a:p>
        </p:txBody>
      </p:sp>
      <p:sp>
        <p:nvSpPr>
          <p:cNvPr id="24" name="Text 22"/>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信息多的板块会自动拆成续页；正文保留引用编号，完整链接集中在来源索引。</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DYNAMIC SIGNALS</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1143000" y="932688"/>
            <a:ext cx="256032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重点板块</a:t>
            </a:r>
            <a:endParaRPr lang="en-US" sz="2000" dirty="0"/>
          </a:p>
        </p:txBody>
      </p:sp>
      <p:sp>
        <p:nvSpPr>
          <p:cNvPr id="10" name="Shape 8"/>
          <p:cNvSpPr/>
          <p:nvPr/>
        </p:nvSpPr>
        <p:spPr>
          <a:xfrm>
            <a:off x="658368" y="1371600"/>
            <a:ext cx="10881360" cy="1225296"/>
          </a:xfrm>
          <a:prstGeom prst="roundRect">
            <a:avLst>
              <a:gd name="adj" fmla="val 5970"/>
            </a:avLst>
          </a:prstGeom>
          <a:solidFill>
            <a:srgbClr val="F4FAF6"/>
          </a:solidFill>
          <a:ln w="10160">
            <a:solidFill>
              <a:srgbClr val="DADADA"/>
            </a:solidFill>
            <a:prstDash val="solid"/>
          </a:ln>
        </p:spPr>
      </p:sp>
      <p:sp>
        <p:nvSpPr>
          <p:cNvPr id="11" name="Text 9"/>
          <p:cNvSpPr/>
          <p:nvPr/>
        </p:nvSpPr>
        <p:spPr>
          <a:xfrm>
            <a:off x="932688" y="1536192"/>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技术/产品路线 1/2</a:t>
            </a:r>
            <a:endParaRPr lang="en-US" sz="1250" dirty="0"/>
          </a:p>
        </p:txBody>
      </p:sp>
      <p:sp>
        <p:nvSpPr>
          <p:cNvPr id="12" name="Text 10"/>
          <p:cNvSpPr/>
          <p:nvPr/>
        </p:nvSpPr>
        <p:spPr>
          <a:xfrm>
            <a:off x="2788920" y="1536192"/>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多氟多发布两款大圆柱磷酸铁锂换电模组，实现同体积容量行业纪录突破，并通过通用化设计推动产业落地。同时，万润新能源展示高容量、高压实、高能量密度LFP材料，技术路线聚焦能量密度提升。动力电池与储能电池在容量、BMS、电芯种类上存在显著差异，细分市场技术分化明显。</a:t>
            </a:r>
            <a:endParaRPr lang="en-US" sz="910" dirty="0"/>
          </a:p>
        </p:txBody>
      </p:sp>
      <p:sp>
        <p:nvSpPr>
          <p:cNvPr id="13" name="Text 11"/>
          <p:cNvSpPr/>
          <p:nvPr/>
        </p:nvSpPr>
        <p:spPr>
          <a:xfrm>
            <a:off x="2788920" y="2322576"/>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依据：[1][6][7]</a:t>
            </a:r>
            <a:endParaRPr lang="en-US" sz="740" dirty="0"/>
          </a:p>
        </p:txBody>
      </p:sp>
      <p:sp>
        <p:nvSpPr>
          <p:cNvPr id="14" name="Shape 12"/>
          <p:cNvSpPr/>
          <p:nvPr/>
        </p:nvSpPr>
        <p:spPr>
          <a:xfrm>
            <a:off x="658368" y="2889504"/>
            <a:ext cx="10881360" cy="1225296"/>
          </a:xfrm>
          <a:prstGeom prst="roundRect">
            <a:avLst>
              <a:gd name="adj" fmla="val 5970"/>
            </a:avLst>
          </a:prstGeom>
          <a:solidFill>
            <a:srgbClr val="FFFFFF"/>
          </a:solidFill>
          <a:ln w="10160">
            <a:solidFill>
              <a:srgbClr val="DADADA"/>
            </a:solidFill>
            <a:prstDash val="solid"/>
          </a:ln>
        </p:spPr>
      </p:sp>
      <p:sp>
        <p:nvSpPr>
          <p:cNvPr id="15" name="Text 13"/>
          <p:cNvSpPr/>
          <p:nvPr/>
        </p:nvSpPr>
        <p:spPr>
          <a:xfrm>
            <a:off x="932688" y="3054096"/>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技术/产品路线 2/2</a:t>
            </a:r>
            <a:endParaRPr lang="en-US" sz="1250" dirty="0"/>
          </a:p>
        </p:txBody>
      </p:sp>
      <p:sp>
        <p:nvSpPr>
          <p:cNvPr id="16" name="Text 14"/>
          <p:cNvSpPr/>
          <p:nvPr/>
        </p:nvSpPr>
        <p:spPr>
          <a:xfrm>
            <a:off x="2788920" y="3054096"/>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[1][6][7] 分析：多氟多的技术突破表明大圆柱路线在换电领域具备竞争力，可能带动换电标准统一。万润新能源的高压实材料则指向动力电池对能量密度的持续追求。技术分化意味着企业需在动力与储能两大场景中做出差异化选择，单一技术路线风险加大。 推测：未使用推测</a:t>
            </a:r>
            <a:endParaRPr lang="en-US" sz="910" dirty="0"/>
          </a:p>
        </p:txBody>
      </p:sp>
      <p:sp>
        <p:nvSpPr>
          <p:cNvPr id="17" name="Text 15"/>
          <p:cNvSpPr/>
          <p:nvPr/>
        </p:nvSpPr>
        <p:spPr>
          <a:xfrm>
            <a:off x="2788920" y="3840480"/>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依据：[1][6][7]</a:t>
            </a:r>
            <a:endParaRPr lang="en-US" sz="740" dirty="0"/>
          </a:p>
        </p:txBody>
      </p:sp>
      <p:sp>
        <p:nvSpPr>
          <p:cNvPr id="18" name="Shape 16"/>
          <p:cNvSpPr/>
          <p:nvPr/>
        </p:nvSpPr>
        <p:spPr>
          <a:xfrm>
            <a:off x="658368" y="4407408"/>
            <a:ext cx="10881360" cy="1225296"/>
          </a:xfrm>
          <a:prstGeom prst="roundRect">
            <a:avLst>
              <a:gd name="adj" fmla="val 5970"/>
            </a:avLst>
          </a:prstGeom>
          <a:solidFill>
            <a:srgbClr val="F4FAF6"/>
          </a:solidFill>
          <a:ln w="10160">
            <a:solidFill>
              <a:srgbClr val="DADADA"/>
            </a:solidFill>
            <a:prstDash val="solid"/>
          </a:ln>
        </p:spPr>
      </p:sp>
      <p:sp>
        <p:nvSpPr>
          <p:cNvPr id="19" name="Text 17"/>
          <p:cNvSpPr/>
          <p:nvPr/>
        </p:nvSpPr>
        <p:spPr>
          <a:xfrm>
            <a:off x="932688" y="4572000"/>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产能/客户/订单 1/2</a:t>
            </a:r>
            <a:endParaRPr lang="en-US" sz="1250" dirty="0"/>
          </a:p>
        </p:txBody>
      </p:sp>
      <p:sp>
        <p:nvSpPr>
          <p:cNvPr id="20" name="Text 18"/>
          <p:cNvSpPr/>
          <p:nvPr/>
        </p:nvSpPr>
        <p:spPr>
          <a:xfrm>
            <a:off x="2788920" y="4572000"/>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正极材料项目呈现一边扩产一边叫停的态势，钠电正极市场规模化出货企业较少，预计下半年供应紧张。贵州毕节百万吨级磷酸铁锂项目刷新进展，显示头部企业仍在扩张。富临精工持续加码前驱体项目，产业链向上游延伸。 [2][5] 分析：扩产与叫停并存反映行业产能过剩风险与结构性机会并存。</a:t>
            </a:r>
            <a:endParaRPr lang="en-US" sz="910" dirty="0"/>
          </a:p>
        </p:txBody>
      </p:sp>
      <p:sp>
        <p:nvSpPr>
          <p:cNvPr id="21" name="Text 19"/>
          <p:cNvSpPr/>
          <p:nvPr/>
        </p:nvSpPr>
        <p:spPr>
          <a:xfrm>
            <a:off x="2788920" y="5358384"/>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依据：[2][5]</a:t>
            </a:r>
            <a:endParaRPr lang="en-US" sz="740" dirty="0"/>
          </a:p>
        </p:txBody>
      </p:sp>
      <p:sp>
        <p:nvSpPr>
          <p:cNvPr id="22" name="Shape 20"/>
          <p:cNvSpPr/>
          <p:nvPr/>
        </p:nvSpPr>
        <p:spPr>
          <a:xfrm>
            <a:off x="658368" y="5779008"/>
            <a:ext cx="1463040" cy="292608"/>
          </a:xfrm>
          <a:prstGeom prst="rect">
            <a:avLst/>
          </a:prstGeom>
          <a:solidFill>
            <a:srgbClr val="121212"/>
          </a:solidFill>
          <a:ln w="12700">
            <a:solidFill>
              <a:srgbClr val="121212"/>
            </a:solidFill>
            <a:prstDash val="solid"/>
          </a:ln>
        </p:spPr>
      </p:sp>
      <p:sp>
        <p:nvSpPr>
          <p:cNvPr id="23" name="Text 21"/>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分页规则</a:t>
            </a:r>
            <a:endParaRPr lang="en-US" sz="780" dirty="0"/>
          </a:p>
        </p:txBody>
      </p:sp>
      <p:sp>
        <p:nvSpPr>
          <p:cNvPr id="24" name="Text 22"/>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信息多的板块会自动拆成续页；正文保留引用编号，完整链接集中在来源索引。</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DYNAMIC SIGNALS</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1143000" y="932688"/>
            <a:ext cx="256032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重点板块</a:t>
            </a:r>
            <a:endParaRPr lang="en-US" sz="2000" dirty="0"/>
          </a:p>
        </p:txBody>
      </p:sp>
      <p:sp>
        <p:nvSpPr>
          <p:cNvPr id="10" name="Shape 8"/>
          <p:cNvSpPr/>
          <p:nvPr/>
        </p:nvSpPr>
        <p:spPr>
          <a:xfrm>
            <a:off x="658368" y="1371600"/>
            <a:ext cx="10881360" cy="1225296"/>
          </a:xfrm>
          <a:prstGeom prst="roundRect">
            <a:avLst>
              <a:gd name="adj" fmla="val 5970"/>
            </a:avLst>
          </a:prstGeom>
          <a:solidFill>
            <a:srgbClr val="F4FAF6"/>
          </a:solidFill>
          <a:ln w="10160">
            <a:solidFill>
              <a:srgbClr val="DADADA"/>
            </a:solidFill>
            <a:prstDash val="solid"/>
          </a:ln>
        </p:spPr>
      </p:sp>
      <p:sp>
        <p:nvSpPr>
          <p:cNvPr id="11" name="Text 9"/>
          <p:cNvSpPr/>
          <p:nvPr/>
        </p:nvSpPr>
        <p:spPr>
          <a:xfrm>
            <a:off x="932688" y="1536192"/>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产能/客户/订单 2/2</a:t>
            </a:r>
            <a:endParaRPr lang="en-US" sz="1250" dirty="0"/>
          </a:p>
        </p:txBody>
      </p:sp>
      <p:sp>
        <p:nvSpPr>
          <p:cNvPr id="12" name="Text 10"/>
          <p:cNvSpPr/>
          <p:nvPr/>
        </p:nvSpPr>
        <p:spPr>
          <a:xfrm>
            <a:off x="2788920" y="1536192"/>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钠电正极供应紧张可能为磷酸铁锂带来替代需求，但需关注钠电技术成熟度。富临精工向上游延伸表明前驱体环节利润空间较大，可能引发更多企业跟进。 推测：未使用推测</a:t>
            </a:r>
            <a:endParaRPr lang="en-US" sz="910" dirty="0"/>
          </a:p>
        </p:txBody>
      </p:sp>
      <p:sp>
        <p:nvSpPr>
          <p:cNvPr id="13" name="Text 11"/>
          <p:cNvSpPr/>
          <p:nvPr/>
        </p:nvSpPr>
        <p:spPr>
          <a:xfrm>
            <a:off x="2788920" y="2322576"/>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依据：[2][5]</a:t>
            </a:r>
            <a:endParaRPr lang="en-US" sz="740" dirty="0"/>
          </a:p>
        </p:txBody>
      </p:sp>
      <p:sp>
        <p:nvSpPr>
          <p:cNvPr id="14" name="Shape 12"/>
          <p:cNvSpPr/>
          <p:nvPr/>
        </p:nvSpPr>
        <p:spPr>
          <a:xfrm>
            <a:off x="658368" y="2889504"/>
            <a:ext cx="10881360" cy="1225296"/>
          </a:xfrm>
          <a:prstGeom prst="roundRect">
            <a:avLst>
              <a:gd name="adj" fmla="val 5970"/>
            </a:avLst>
          </a:prstGeom>
          <a:solidFill>
            <a:srgbClr val="FFFFFF"/>
          </a:solidFill>
          <a:ln w="10160">
            <a:solidFill>
              <a:srgbClr val="DADADA"/>
            </a:solidFill>
            <a:prstDash val="solid"/>
          </a:ln>
        </p:spPr>
      </p:sp>
      <p:sp>
        <p:nvSpPr>
          <p:cNvPr id="15" name="Text 13"/>
          <p:cNvSpPr/>
          <p:nvPr/>
        </p:nvSpPr>
        <p:spPr>
          <a:xfrm>
            <a:off x="932688" y="3054096"/>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价格/盈利压力 1/2</a:t>
            </a:r>
            <a:endParaRPr lang="en-US" sz="1250" dirty="0"/>
          </a:p>
        </p:txBody>
      </p:sp>
      <p:sp>
        <p:nvSpPr>
          <p:cNvPr id="16" name="Text 14"/>
          <p:cNvSpPr/>
          <p:nvPr/>
        </p:nvSpPr>
        <p:spPr>
          <a:xfrm>
            <a:off x="2788920" y="3054096"/>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广期所碳酸锂期货及期权自7月3日起对境外交易者开放，国际化将增加价格波动性。正极材料供应紧张态势预计下半年显现，局部环节或出现供需缺口，可能推升价格。但项目叫停也反映部分企业盈利承压，行业利润分化加剧。 [5][2] 分析：碳酸锂期货国际化引入境外交易者，将增加价格发现功能，但也可能放大投机性波动，</a:t>
            </a:r>
            <a:endParaRPr lang="en-US" sz="910" dirty="0"/>
          </a:p>
        </p:txBody>
      </p:sp>
      <p:sp>
        <p:nvSpPr>
          <p:cNvPr id="17" name="Text 15"/>
          <p:cNvSpPr/>
          <p:nvPr/>
        </p:nvSpPr>
        <p:spPr>
          <a:xfrm>
            <a:off x="2788920" y="3840480"/>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依据：[5][2]</a:t>
            </a:r>
            <a:endParaRPr lang="en-US" sz="740" dirty="0"/>
          </a:p>
        </p:txBody>
      </p:sp>
      <p:sp>
        <p:nvSpPr>
          <p:cNvPr id="18" name="Shape 16"/>
          <p:cNvSpPr/>
          <p:nvPr/>
        </p:nvSpPr>
        <p:spPr>
          <a:xfrm>
            <a:off x="658368" y="4407408"/>
            <a:ext cx="10881360" cy="1225296"/>
          </a:xfrm>
          <a:prstGeom prst="roundRect">
            <a:avLst>
              <a:gd name="adj" fmla="val 5970"/>
            </a:avLst>
          </a:prstGeom>
          <a:solidFill>
            <a:srgbClr val="F4FAF6"/>
          </a:solidFill>
          <a:ln w="10160">
            <a:solidFill>
              <a:srgbClr val="DADADA"/>
            </a:solidFill>
            <a:prstDash val="solid"/>
          </a:ln>
        </p:spPr>
      </p:sp>
      <p:sp>
        <p:nvSpPr>
          <p:cNvPr id="19" name="Text 17"/>
          <p:cNvSpPr/>
          <p:nvPr/>
        </p:nvSpPr>
        <p:spPr>
          <a:xfrm>
            <a:off x="932688" y="4572000"/>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价格/盈利压力 2/2</a:t>
            </a:r>
            <a:endParaRPr lang="en-US" sz="1250" dirty="0"/>
          </a:p>
        </p:txBody>
      </p:sp>
      <p:sp>
        <p:nvSpPr>
          <p:cNvPr id="20" name="Text 18"/>
          <p:cNvSpPr/>
          <p:nvPr/>
        </p:nvSpPr>
        <p:spPr>
          <a:xfrm>
            <a:off x="2788920" y="4572000"/>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对中游材料企业成本控制构成挑战。供应紧张与项目叫停并存，表明行业正经历洗牌期，具备成本优势和技术壁垒的企业将受益。 推测：未使用推测</a:t>
            </a:r>
            <a:endParaRPr lang="en-US" sz="910" dirty="0"/>
          </a:p>
        </p:txBody>
      </p:sp>
      <p:sp>
        <p:nvSpPr>
          <p:cNvPr id="21" name="Text 19"/>
          <p:cNvSpPr/>
          <p:nvPr/>
        </p:nvSpPr>
        <p:spPr>
          <a:xfrm>
            <a:off x="2788920" y="5358384"/>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依据：[5][2]</a:t>
            </a:r>
            <a:endParaRPr lang="en-US" sz="740" dirty="0"/>
          </a:p>
        </p:txBody>
      </p:sp>
      <p:sp>
        <p:nvSpPr>
          <p:cNvPr id="22" name="Shape 20"/>
          <p:cNvSpPr/>
          <p:nvPr/>
        </p:nvSpPr>
        <p:spPr>
          <a:xfrm>
            <a:off x="658368" y="5779008"/>
            <a:ext cx="1463040" cy="292608"/>
          </a:xfrm>
          <a:prstGeom prst="rect">
            <a:avLst/>
          </a:prstGeom>
          <a:solidFill>
            <a:srgbClr val="121212"/>
          </a:solidFill>
          <a:ln w="12700">
            <a:solidFill>
              <a:srgbClr val="121212"/>
            </a:solidFill>
            <a:prstDash val="solid"/>
          </a:ln>
        </p:spPr>
      </p:sp>
      <p:sp>
        <p:nvSpPr>
          <p:cNvPr id="23" name="Text 21"/>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分页规则</a:t>
            </a:r>
            <a:endParaRPr lang="en-US" sz="780" dirty="0"/>
          </a:p>
        </p:txBody>
      </p:sp>
      <p:sp>
        <p:nvSpPr>
          <p:cNvPr id="24" name="Text 22"/>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信息多的板块会自动拆成续页；正文保留引用编号，完整链接集中在来源索引。</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DYNAMIC SIGNALS</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1143000" y="932688"/>
            <a:ext cx="256032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重点板块</a:t>
            </a:r>
            <a:endParaRPr lang="en-US" sz="2000" dirty="0"/>
          </a:p>
        </p:txBody>
      </p:sp>
      <p:sp>
        <p:nvSpPr>
          <p:cNvPr id="10" name="Shape 8"/>
          <p:cNvSpPr/>
          <p:nvPr/>
        </p:nvSpPr>
        <p:spPr>
          <a:xfrm>
            <a:off x="658368" y="1371600"/>
            <a:ext cx="10881360" cy="1225296"/>
          </a:xfrm>
          <a:prstGeom prst="roundRect">
            <a:avLst>
              <a:gd name="adj" fmla="val 5970"/>
            </a:avLst>
          </a:prstGeom>
          <a:solidFill>
            <a:srgbClr val="F4FAF6"/>
          </a:solidFill>
          <a:ln w="10160">
            <a:solidFill>
              <a:srgbClr val="DADADA"/>
            </a:solidFill>
            <a:prstDash val="solid"/>
          </a:ln>
        </p:spPr>
      </p:sp>
      <p:sp>
        <p:nvSpPr>
          <p:cNvPr id="11" name="Text 9"/>
          <p:cNvSpPr/>
          <p:nvPr/>
        </p:nvSpPr>
        <p:spPr>
          <a:xfrm>
            <a:off x="932688" y="1536192"/>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政策/合规风险 1/2</a:t>
            </a:r>
            <a:endParaRPr lang="en-US" sz="1250" dirty="0"/>
          </a:p>
        </p:txBody>
      </p:sp>
      <p:sp>
        <p:nvSpPr>
          <p:cNvPr id="12" name="Text 10"/>
          <p:cNvSpPr/>
          <p:nvPr/>
        </p:nvSpPr>
        <p:spPr>
          <a:xfrm>
            <a:off x="2788920" y="1536192"/>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工信部发布2026年首台套重大技术装备保险补偿政策，支持新技术推广；同时就《车用动力电池拆解破碎安全要求》等两项强制性国标征求意见，将规范回收环节安全。云南省强调系统提升固废综合治理能力，可能影响磷酸铁锂生产企业的环保合规成本。 [3][4][8] 分析：首台套保险补偿将降低下游用户采用新技术的风险，</a:t>
            </a:r>
            <a:endParaRPr lang="en-US" sz="910" dirty="0"/>
          </a:p>
        </p:txBody>
      </p:sp>
      <p:sp>
        <p:nvSpPr>
          <p:cNvPr id="13" name="Text 11"/>
          <p:cNvSpPr/>
          <p:nvPr/>
        </p:nvSpPr>
        <p:spPr>
          <a:xfrm>
            <a:off x="2788920" y="2322576"/>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依据：[3][4][8]</a:t>
            </a:r>
            <a:endParaRPr lang="en-US" sz="740" dirty="0"/>
          </a:p>
        </p:txBody>
      </p:sp>
      <p:sp>
        <p:nvSpPr>
          <p:cNvPr id="14" name="Shape 12"/>
          <p:cNvSpPr/>
          <p:nvPr/>
        </p:nvSpPr>
        <p:spPr>
          <a:xfrm>
            <a:off x="658368" y="2889504"/>
            <a:ext cx="10881360" cy="1225296"/>
          </a:xfrm>
          <a:prstGeom prst="roundRect">
            <a:avLst>
              <a:gd name="adj" fmla="val 5970"/>
            </a:avLst>
          </a:prstGeom>
          <a:solidFill>
            <a:srgbClr val="FFFFFF"/>
          </a:solidFill>
          <a:ln w="10160">
            <a:solidFill>
              <a:srgbClr val="DADADA"/>
            </a:solidFill>
            <a:prstDash val="solid"/>
          </a:ln>
        </p:spPr>
      </p:sp>
      <p:sp>
        <p:nvSpPr>
          <p:cNvPr id="15" name="Text 13"/>
          <p:cNvSpPr/>
          <p:nvPr/>
        </p:nvSpPr>
        <p:spPr>
          <a:xfrm>
            <a:off x="932688" y="3054096"/>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政策/合规风险 2/2</a:t>
            </a:r>
            <a:endParaRPr lang="en-US" sz="1250" dirty="0"/>
          </a:p>
        </p:txBody>
      </p:sp>
      <p:sp>
        <p:nvSpPr>
          <p:cNvPr id="16" name="Text 14"/>
          <p:cNvSpPr/>
          <p:nvPr/>
        </p:nvSpPr>
        <p:spPr>
          <a:xfrm>
            <a:off x="2788920" y="3054096"/>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利好技术领先企业。动力电池拆解国标将提高回收门槛，利好合规回收企业，但可能增加中小电池厂的合规成本。云南省固废治理政策可能对当地磷酸铁锂项目产生约束。 推测：未使用推测</a:t>
            </a:r>
            <a:endParaRPr lang="en-US" sz="910" dirty="0"/>
          </a:p>
        </p:txBody>
      </p:sp>
      <p:sp>
        <p:nvSpPr>
          <p:cNvPr id="17" name="Text 15"/>
          <p:cNvSpPr/>
          <p:nvPr/>
        </p:nvSpPr>
        <p:spPr>
          <a:xfrm>
            <a:off x="2788920" y="3840480"/>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依据：[3][4][8]</a:t>
            </a:r>
            <a:endParaRPr lang="en-US" sz="740" dirty="0"/>
          </a:p>
        </p:txBody>
      </p:sp>
      <p:sp>
        <p:nvSpPr>
          <p:cNvPr id="18" name="Shape 16"/>
          <p:cNvSpPr/>
          <p:nvPr/>
        </p:nvSpPr>
        <p:spPr>
          <a:xfrm>
            <a:off x="658368" y="4407408"/>
            <a:ext cx="10881360" cy="1225296"/>
          </a:xfrm>
          <a:prstGeom prst="roundRect">
            <a:avLst>
              <a:gd name="adj" fmla="val 5970"/>
            </a:avLst>
          </a:prstGeom>
          <a:solidFill>
            <a:srgbClr val="F4FAF6"/>
          </a:solidFill>
          <a:ln w="10160">
            <a:solidFill>
              <a:srgbClr val="DADADA"/>
            </a:solidFill>
            <a:prstDash val="solid"/>
          </a:ln>
        </p:spPr>
      </p:sp>
      <p:sp>
        <p:nvSpPr>
          <p:cNvPr id="19" name="Text 17"/>
          <p:cNvSpPr/>
          <p:nvPr/>
        </p:nvSpPr>
        <p:spPr>
          <a:xfrm>
            <a:off x="932688" y="4572000"/>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竞品观察 1/2</a:t>
            </a:r>
            <a:endParaRPr lang="en-US" sz="1250" dirty="0"/>
          </a:p>
        </p:txBody>
      </p:sp>
      <p:sp>
        <p:nvSpPr>
          <p:cNvPr id="20" name="Text 18"/>
          <p:cNvSpPr/>
          <p:nvPr/>
        </p:nvSpPr>
        <p:spPr>
          <a:xfrm>
            <a:off x="2788920" y="4572000"/>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多氟多在大圆柱换电领域实现技术突破；万润新能源展示高能量密度LFP材料；宁德时代三元材料供应商冲刺创业板IPO，显示三元与磷酸铁锂路线竞争持续。富临精工加码前驱体项目，向上游延伸。 [1][6][5][2] 分析：多氟多的技术突破可能改变换电市场竞争格局，对现有换电方案形成挑战。</a:t>
            </a:r>
            <a:endParaRPr lang="en-US" sz="910" dirty="0"/>
          </a:p>
        </p:txBody>
      </p:sp>
      <p:sp>
        <p:nvSpPr>
          <p:cNvPr id="21" name="Text 19"/>
          <p:cNvSpPr/>
          <p:nvPr/>
        </p:nvSpPr>
        <p:spPr>
          <a:xfrm>
            <a:off x="2788920" y="5358384"/>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依据：[1][6][5][2]</a:t>
            </a:r>
            <a:endParaRPr lang="en-US" sz="740" dirty="0"/>
          </a:p>
        </p:txBody>
      </p:sp>
      <p:sp>
        <p:nvSpPr>
          <p:cNvPr id="22" name="Shape 20"/>
          <p:cNvSpPr/>
          <p:nvPr/>
        </p:nvSpPr>
        <p:spPr>
          <a:xfrm>
            <a:off x="658368" y="5779008"/>
            <a:ext cx="1463040" cy="292608"/>
          </a:xfrm>
          <a:prstGeom prst="rect">
            <a:avLst/>
          </a:prstGeom>
          <a:solidFill>
            <a:srgbClr val="121212"/>
          </a:solidFill>
          <a:ln w="12700">
            <a:solidFill>
              <a:srgbClr val="121212"/>
            </a:solidFill>
            <a:prstDash val="solid"/>
          </a:ln>
        </p:spPr>
      </p:sp>
      <p:sp>
        <p:nvSpPr>
          <p:cNvPr id="23" name="Text 21"/>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分页规则</a:t>
            </a:r>
            <a:endParaRPr lang="en-US" sz="780" dirty="0"/>
          </a:p>
        </p:txBody>
      </p:sp>
      <p:sp>
        <p:nvSpPr>
          <p:cNvPr id="24" name="Text 22"/>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信息多的板块会自动拆成续页；正文保留引用编号，完整链接集中在来源索引。</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DYNAMIC SIGNALS</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1143000" y="932688"/>
            <a:ext cx="256032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重点板块</a:t>
            </a:r>
            <a:endParaRPr lang="en-US" sz="2000" dirty="0"/>
          </a:p>
        </p:txBody>
      </p:sp>
      <p:sp>
        <p:nvSpPr>
          <p:cNvPr id="10" name="Shape 8"/>
          <p:cNvSpPr/>
          <p:nvPr/>
        </p:nvSpPr>
        <p:spPr>
          <a:xfrm>
            <a:off x="658368" y="1371600"/>
            <a:ext cx="10881360" cy="1225296"/>
          </a:xfrm>
          <a:prstGeom prst="roundRect">
            <a:avLst>
              <a:gd name="adj" fmla="val 5970"/>
            </a:avLst>
          </a:prstGeom>
          <a:solidFill>
            <a:srgbClr val="F4FAF6"/>
          </a:solidFill>
          <a:ln w="10160">
            <a:solidFill>
              <a:srgbClr val="DADADA"/>
            </a:solidFill>
            <a:prstDash val="solid"/>
          </a:ln>
        </p:spPr>
      </p:sp>
      <p:sp>
        <p:nvSpPr>
          <p:cNvPr id="11" name="Text 9"/>
          <p:cNvSpPr/>
          <p:nvPr/>
        </p:nvSpPr>
        <p:spPr>
          <a:xfrm>
            <a:off x="932688" y="1536192"/>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竞品观察 2/2</a:t>
            </a:r>
            <a:endParaRPr lang="en-US" sz="1250" dirty="0"/>
          </a:p>
        </p:txBody>
      </p:sp>
      <p:sp>
        <p:nvSpPr>
          <p:cNvPr id="12" name="Text 10"/>
          <p:cNvSpPr/>
          <p:nvPr/>
        </p:nvSpPr>
        <p:spPr>
          <a:xfrm>
            <a:off x="2788920" y="1536192"/>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万润新能源的材料性能提升将增强其在动力电池领域的竞争力。宁德时代供应商IPO表明三元材料仍有资本关注，但磷酸铁锂在成本和安全上的优势使其在储能和低端动力市场更具吸引力。 推测：未使用推测</a:t>
            </a:r>
            <a:endParaRPr lang="en-US" sz="910" dirty="0"/>
          </a:p>
        </p:txBody>
      </p:sp>
      <p:sp>
        <p:nvSpPr>
          <p:cNvPr id="13" name="Text 11"/>
          <p:cNvSpPr/>
          <p:nvPr/>
        </p:nvSpPr>
        <p:spPr>
          <a:xfrm>
            <a:off x="2788920" y="2322576"/>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依据：[1][6][5][2]</a:t>
            </a:r>
            <a:endParaRPr lang="en-US" sz="740" dirty="0"/>
          </a:p>
        </p:txBody>
      </p:sp>
      <p:sp>
        <p:nvSpPr>
          <p:cNvPr id="14" name="Shape 12"/>
          <p:cNvSpPr/>
          <p:nvPr/>
        </p:nvSpPr>
        <p:spPr>
          <a:xfrm>
            <a:off x="658368" y="2889504"/>
            <a:ext cx="10881360" cy="1225296"/>
          </a:xfrm>
          <a:prstGeom prst="roundRect">
            <a:avLst>
              <a:gd name="adj" fmla="val 5970"/>
            </a:avLst>
          </a:prstGeom>
          <a:solidFill>
            <a:srgbClr val="FFFFFF"/>
          </a:solidFill>
          <a:ln w="10160">
            <a:solidFill>
              <a:srgbClr val="DADADA"/>
            </a:solidFill>
            <a:prstDash val="solid"/>
          </a:ln>
        </p:spPr>
      </p:sp>
      <p:sp>
        <p:nvSpPr>
          <p:cNvPr id="15" name="Text 13"/>
          <p:cNvSpPr/>
          <p:nvPr/>
        </p:nvSpPr>
        <p:spPr>
          <a:xfrm>
            <a:off x="932688" y="3054096"/>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风险/机会/观察 1/2</a:t>
            </a:r>
            <a:endParaRPr lang="en-US" sz="1250" dirty="0"/>
          </a:p>
        </p:txBody>
      </p:sp>
      <p:sp>
        <p:nvSpPr>
          <p:cNvPr id="16" name="Text 14"/>
          <p:cNvSpPr/>
          <p:nvPr/>
        </p:nvSpPr>
        <p:spPr>
          <a:xfrm>
            <a:off x="2788920" y="3054096"/>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风险：碳酸锂期货国际化增加价格波动风险；项目叫停反映产能过剩风险；动力电池拆解国标提高合规成本。机会：多氟多大圆柱换电技术突破带来新增长点；首台套保险补偿利好新技术推广；下半年正极供应紧张可能推升价格。观察点：钠电正极规模化进展；贵州百万吨级项目投产进度；境外交易者参与碳酸锂期货后的价格走势。</a:t>
            </a:r>
            <a:endParaRPr lang="en-US" sz="910" dirty="0"/>
          </a:p>
        </p:txBody>
      </p:sp>
      <p:sp>
        <p:nvSpPr>
          <p:cNvPr id="17" name="Text 15"/>
          <p:cNvSpPr/>
          <p:nvPr/>
        </p:nvSpPr>
        <p:spPr>
          <a:xfrm>
            <a:off x="2788920" y="3840480"/>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依据：[1][5][2][3][4]</a:t>
            </a:r>
            <a:endParaRPr lang="en-US" sz="740" dirty="0"/>
          </a:p>
        </p:txBody>
      </p:sp>
      <p:sp>
        <p:nvSpPr>
          <p:cNvPr id="18" name="Shape 16"/>
          <p:cNvSpPr/>
          <p:nvPr/>
        </p:nvSpPr>
        <p:spPr>
          <a:xfrm>
            <a:off x="658368" y="4407408"/>
            <a:ext cx="10881360" cy="1225296"/>
          </a:xfrm>
          <a:prstGeom prst="roundRect">
            <a:avLst>
              <a:gd name="adj" fmla="val 5970"/>
            </a:avLst>
          </a:prstGeom>
          <a:solidFill>
            <a:srgbClr val="F4FAF6"/>
          </a:solidFill>
          <a:ln w="10160">
            <a:solidFill>
              <a:srgbClr val="DADADA"/>
            </a:solidFill>
            <a:prstDash val="solid"/>
          </a:ln>
        </p:spPr>
      </p:sp>
      <p:sp>
        <p:nvSpPr>
          <p:cNvPr id="19" name="Text 17"/>
          <p:cNvSpPr/>
          <p:nvPr/>
        </p:nvSpPr>
        <p:spPr>
          <a:xfrm>
            <a:off x="932688" y="4572000"/>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风险/机会/观察 2/2</a:t>
            </a:r>
            <a:endParaRPr lang="en-US" sz="1250" dirty="0"/>
          </a:p>
        </p:txBody>
      </p:sp>
      <p:sp>
        <p:nvSpPr>
          <p:cNvPr id="20" name="Text 18"/>
          <p:cNvSpPr/>
          <p:nvPr/>
        </p:nvSpPr>
        <p:spPr>
          <a:xfrm>
            <a:off x="2788920" y="4572000"/>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[1][5][2][3][4] 分析：行业正经历从规模扩张向技术驱动的转型期，风险与机会并存。投资者应重点关注技术领先企业的产品落地情况，以及政策对回收和环保的约束力度。碳酸锂期货国际化后的价格波动将是短期核心变量。 推测：未使用推测</a:t>
            </a:r>
            <a:endParaRPr lang="en-US" sz="910" dirty="0"/>
          </a:p>
        </p:txBody>
      </p:sp>
      <p:sp>
        <p:nvSpPr>
          <p:cNvPr id="21" name="Text 19"/>
          <p:cNvSpPr/>
          <p:nvPr/>
        </p:nvSpPr>
        <p:spPr>
          <a:xfrm>
            <a:off x="2788920" y="5358384"/>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依据：[1][5][2][3][4]</a:t>
            </a:r>
            <a:endParaRPr lang="en-US" sz="740" dirty="0"/>
          </a:p>
        </p:txBody>
      </p:sp>
      <p:sp>
        <p:nvSpPr>
          <p:cNvPr id="22" name="Shape 20"/>
          <p:cNvSpPr/>
          <p:nvPr/>
        </p:nvSpPr>
        <p:spPr>
          <a:xfrm>
            <a:off x="658368" y="5779008"/>
            <a:ext cx="1463040" cy="292608"/>
          </a:xfrm>
          <a:prstGeom prst="rect">
            <a:avLst/>
          </a:prstGeom>
          <a:solidFill>
            <a:srgbClr val="121212"/>
          </a:solidFill>
          <a:ln w="12700">
            <a:solidFill>
              <a:srgbClr val="121212"/>
            </a:solidFill>
            <a:prstDash val="solid"/>
          </a:ln>
        </p:spPr>
      </p:sp>
      <p:sp>
        <p:nvSpPr>
          <p:cNvPr id="23" name="Text 21"/>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分页规则</a:t>
            </a:r>
            <a:endParaRPr lang="en-US" sz="780" dirty="0"/>
          </a:p>
        </p:txBody>
      </p:sp>
      <p:sp>
        <p:nvSpPr>
          <p:cNvPr id="24" name="Text 22"/>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信息多的板块会自动拆成续页；正文保留引用编号，完整链接集中在来源索引。</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【正极材料周报】磷酸铁锂项目一边扩产一边叫停！富临精工持续加码前驱体项</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https://www.itdcw.com/news/dczk/06291563622026.html</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公开来源</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公开来源</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https://www.miit.gov.cn/zwgk/zcwj/wjfb/tz/art/2026/art_fefca99ac5934ebd905b2232e417e317.html</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公开征求《车用动力电池拆解破碎安全要求》等两项强制性国家标准的意见</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https://www.miit.gov.cn/gzcy/yjzj/art/2026/art_6ee188a6acf34735a568af7ebdc507b5.html</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【正极材料周报】贵州毕节百万吨级磷酸铁锂项目刷新进展！宁德时代三元材料</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https://www.itdcw.com/news/dczk/0F61564b2026.html</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万润新能源</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磷酸铁锂-湖北万润新能源科技股份有限公司_动力电池材料_消费电池材料_</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https://www.hbwanrun.com/application_details/1.html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磷酸铁锂动力型电池与磷酸铁锂储能型电池的区别分析_电池网</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https://www.itdcw.com/news/dianchibaike/06301359262023.html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云南省省长王予波强调 系统提升固废综合治理能力水平_中华人民共和国生态</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https://www.mee.gov.cn/ywdt/dfnews/202607/t20260708_1161158.shtml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三部门关于组织实施2026年首台（套）重大技术装备保险补偿政策的通知</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http://www.miit.gov.cn/zwgk/zcwj/wjfb/tz/art/2026/art_fefca99ac5934ebd905b2232e417e317.html</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湖南裕能</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湖南裕能</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https://www.yunengchem.com/</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友山科技</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友山科技</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https://www.youshan-tech.com/</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江西升华</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江西升华</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https://www.shenghuaxc.com/</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当升科技</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当升科技</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https://www.easpring.com/</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公众号：锂电材料工艺｜磷酸</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公众号：锂电材料工艺｜磷酸铁成本管控实战：一个工厂管理者的降本全景复盘</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https://mp.weixin.qq.com/s/8oXDBs6C-HcC_VCkF43EEw</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公众号：锂电材料工艺｜磷酸</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公众号：锂电材料工艺｜磷酸锰铁锂正极材料工艺技术</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https://mp.weixin.qq.com/s/5pCAvHQp-hA9ydVKZ9jurA</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2026-07-08</dc:title>
  <dc:subject>LFP daily briefing</dc:subject>
  <dc:creator>lifepo4_brief</dc:creator>
  <cp:lastModifiedBy>lifepo4_brief</cp:lastModifiedBy>
  <cp:revision>1</cp:revision>
  <dcterms:created xsi:type="dcterms:W3CDTF">2026-07-08T03:59:24Z</dcterms:created>
  <dcterms:modified xsi:type="dcterms:W3CDTF">2026-07-08T03:59:24Z</dcterms:modified>
</cp:coreProperties>
</file>